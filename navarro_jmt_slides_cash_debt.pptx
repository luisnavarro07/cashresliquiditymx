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sldIdLst>
    <p:sldId id="314" r:id="rId2"/>
    <p:sldId id="398" r:id="rId3"/>
    <p:sldId id="431" r:id="rId4"/>
    <p:sldId id="478" r:id="rId5"/>
    <p:sldId id="444" r:id="rId6"/>
    <p:sldId id="445" r:id="rId7"/>
    <p:sldId id="446" r:id="rId8"/>
    <p:sldId id="447" r:id="rId9"/>
    <p:sldId id="450" r:id="rId10"/>
    <p:sldId id="406" r:id="rId11"/>
    <p:sldId id="404" r:id="rId12"/>
    <p:sldId id="405" r:id="rId13"/>
    <p:sldId id="400" r:id="rId14"/>
    <p:sldId id="453" r:id="rId15"/>
    <p:sldId id="455" r:id="rId16"/>
    <p:sldId id="408" r:id="rId17"/>
    <p:sldId id="456" r:id="rId18"/>
    <p:sldId id="410" r:id="rId19"/>
    <p:sldId id="479" r:id="rId20"/>
    <p:sldId id="451" r:id="rId21"/>
    <p:sldId id="452" r:id="rId22"/>
    <p:sldId id="427" r:id="rId23"/>
    <p:sldId id="465" r:id="rId24"/>
    <p:sldId id="464" r:id="rId25"/>
    <p:sldId id="411" r:id="rId26"/>
    <p:sldId id="412" r:id="rId27"/>
    <p:sldId id="457" r:id="rId28"/>
    <p:sldId id="458" r:id="rId29"/>
    <p:sldId id="459" r:id="rId30"/>
    <p:sldId id="385" r:id="rId31"/>
    <p:sldId id="415" r:id="rId32"/>
    <p:sldId id="460" r:id="rId33"/>
    <p:sldId id="461" r:id="rId34"/>
    <p:sldId id="462" r:id="rId35"/>
    <p:sldId id="463" r:id="rId36"/>
    <p:sldId id="414" r:id="rId37"/>
    <p:sldId id="466" r:id="rId38"/>
    <p:sldId id="467" r:id="rId39"/>
    <p:sldId id="438" r:id="rId40"/>
    <p:sldId id="439" r:id="rId41"/>
    <p:sldId id="440" r:id="rId42"/>
    <p:sldId id="379" r:id="rId43"/>
    <p:sldId id="389" r:id="rId44"/>
    <p:sldId id="468" r:id="rId45"/>
    <p:sldId id="363" r:id="rId46"/>
    <p:sldId id="469" r:id="rId47"/>
    <p:sldId id="470" r:id="rId48"/>
    <p:sldId id="368" r:id="rId49"/>
    <p:sldId id="436" r:id="rId50"/>
    <p:sldId id="471" r:id="rId51"/>
    <p:sldId id="421" r:id="rId52"/>
    <p:sldId id="473" r:id="rId53"/>
    <p:sldId id="472" r:id="rId54"/>
    <p:sldId id="422" r:id="rId55"/>
    <p:sldId id="429" r:id="rId56"/>
    <p:sldId id="475" r:id="rId57"/>
    <p:sldId id="474" r:id="rId58"/>
    <p:sldId id="476" r:id="rId59"/>
    <p:sldId id="430" r:id="rId60"/>
    <p:sldId id="349" r:id="rId61"/>
    <p:sldId id="477" r:id="rId62"/>
    <p:sldId id="395" r:id="rId63"/>
    <p:sldId id="423" r:id="rId64"/>
    <p:sldId id="434" r:id="rId65"/>
    <p:sldId id="433" r:id="rId66"/>
    <p:sldId id="358" r:id="rId67"/>
    <p:sldId id="357" r:id="rId68"/>
    <p:sldId id="425" r:id="rId69"/>
    <p:sldId id="441" r:id="rId70"/>
    <p:sldId id="443" r:id="rId71"/>
    <p:sldId id="424" r:id="rId72"/>
    <p:sldId id="378" r:id="rId73"/>
    <p:sldId id="377" r:id="rId74"/>
    <p:sldId id="373" r:id="rId75"/>
    <p:sldId id="375" r:id="rId76"/>
    <p:sldId id="426" r:id="rId77"/>
    <p:sldId id="381" r:id="rId78"/>
    <p:sldId id="428" r:id="rId79"/>
    <p:sldId id="370" r:id="rId80"/>
    <p:sldId id="372" r:id="rId81"/>
    <p:sldId id="374" r:id="rId82"/>
    <p:sldId id="376" r:id="rId83"/>
    <p:sldId id="448" r:id="rId84"/>
    <p:sldId id="394" r:id="rId85"/>
  </p:sldIdLst>
  <p:sldSz cx="6153150" cy="3460750"/>
  <p:notesSz cx="4610100" cy="346075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78"/>
    <a:srgbClr val="690204"/>
    <a:srgbClr val="4F6228"/>
    <a:srgbClr val="FF8500"/>
    <a:srgbClr val="244061"/>
    <a:srgbClr val="403152"/>
    <a:srgbClr val="EBE5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32"/>
    <p:restoredTop sz="94887"/>
  </p:normalViewPr>
  <p:slideViewPr>
    <p:cSldViewPr>
      <p:cViewPr varScale="1">
        <p:scale>
          <a:sx n="216" d="100"/>
          <a:sy n="216" d="100"/>
        </p:scale>
        <p:origin x="800" y="176"/>
      </p:cViewPr>
      <p:guideLst>
        <p:guide orient="horz" pos="2880"/>
        <p:guide pos="288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458B89FD-DEFD-464D-881E-D6CF4A54EC43}" type="datetimeFigureOut">
              <a:rPr lang="en-US" smtClean="0"/>
              <a:t>10/8/24</a:t>
            </a:fld>
            <a:endParaRPr lang="en-US"/>
          </a:p>
        </p:txBody>
      </p:sp>
      <p:sp>
        <p:nvSpPr>
          <p:cNvPr id="4" name="Slide Image Placeholder 3"/>
          <p:cNvSpPr>
            <a:spLocks noGrp="1" noRot="1" noChangeAspect="1"/>
          </p:cNvSpPr>
          <p:nvPr>
            <p:ph type="sldImg" idx="2"/>
          </p:nvPr>
        </p:nvSpPr>
        <p:spPr>
          <a:xfrm>
            <a:off x="1268413" y="433388"/>
            <a:ext cx="2073275"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470E3EB-C477-B84B-B5B4-E74DB90D46C8}" type="slidenum">
              <a:rPr lang="en-US" smtClean="0"/>
              <a:t>‹#›</a:t>
            </a:fld>
            <a:endParaRPr lang="en-US"/>
          </a:p>
        </p:txBody>
      </p:sp>
    </p:spTree>
    <p:extLst>
      <p:ext uri="{BB962C8B-B14F-4D97-AF65-F5344CB8AC3E}">
        <p14:creationId xmlns:p14="http://schemas.microsoft.com/office/powerpoint/2010/main" val="1841535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EF4B4-6AC5-BDA6-5190-21056DF4D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E11F3-FA17-A53B-8614-AC0A34813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77BEE-623F-BC7B-5D51-EDA0A2693D3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8717F96C-3D95-EFD8-6D1A-D47CB4A0E2DA}"/>
              </a:ext>
            </a:extLst>
          </p:cNvPr>
          <p:cNvSpPr>
            <a:spLocks noGrp="1"/>
          </p:cNvSpPr>
          <p:nvPr>
            <p:ph type="sldNum" sz="quarter" idx="5"/>
          </p:nvPr>
        </p:nvSpPr>
        <p:spPr/>
        <p:txBody>
          <a:bodyPr/>
          <a:lstStyle/>
          <a:p>
            <a:fld id="{A470E3EB-C477-B84B-B5B4-E74DB90D46C8}" type="slidenum">
              <a:rPr lang="en-US" smtClean="0"/>
              <a:t>2</a:t>
            </a:fld>
            <a:endParaRPr lang="en-US"/>
          </a:p>
        </p:txBody>
      </p:sp>
    </p:spTree>
    <p:extLst>
      <p:ext uri="{BB962C8B-B14F-4D97-AF65-F5344CB8AC3E}">
        <p14:creationId xmlns:p14="http://schemas.microsoft.com/office/powerpoint/2010/main" val="1554370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5C5B-D5D1-4A37-D03A-D654B3EFA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6BCC1-88E2-0892-B7A4-94604BBCD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860CB-082A-F409-8BE1-F15731F02EBB}"/>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AF583613-F4AB-B33C-9B5A-7B9D1E8A4978}"/>
              </a:ext>
            </a:extLst>
          </p:cNvPr>
          <p:cNvSpPr>
            <a:spLocks noGrp="1"/>
          </p:cNvSpPr>
          <p:nvPr>
            <p:ph type="sldNum" sz="quarter" idx="5"/>
          </p:nvPr>
        </p:nvSpPr>
        <p:spPr/>
        <p:txBody>
          <a:bodyPr/>
          <a:lstStyle/>
          <a:p>
            <a:fld id="{A470E3EB-C477-B84B-B5B4-E74DB90D46C8}" type="slidenum">
              <a:rPr lang="en-US" smtClean="0"/>
              <a:t>5</a:t>
            </a:fld>
            <a:endParaRPr lang="en-US"/>
          </a:p>
        </p:txBody>
      </p:sp>
    </p:spTree>
    <p:extLst>
      <p:ext uri="{BB962C8B-B14F-4D97-AF65-F5344CB8AC3E}">
        <p14:creationId xmlns:p14="http://schemas.microsoft.com/office/powerpoint/2010/main" val="2402404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4633F-3C03-1C33-B1ED-F44B90662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9E908-B23E-A55D-1922-D8938A00A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A17E3-A3BE-981E-3E5B-B8D8798C83D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CD8B8B7D-74FF-0F87-9292-6066BDD0FEEC}"/>
              </a:ext>
            </a:extLst>
          </p:cNvPr>
          <p:cNvSpPr>
            <a:spLocks noGrp="1"/>
          </p:cNvSpPr>
          <p:nvPr>
            <p:ph type="sldNum" sz="quarter" idx="5"/>
          </p:nvPr>
        </p:nvSpPr>
        <p:spPr/>
        <p:txBody>
          <a:bodyPr/>
          <a:lstStyle/>
          <a:p>
            <a:fld id="{A470E3EB-C477-B84B-B5B4-E74DB90D46C8}" type="slidenum">
              <a:rPr lang="en-US" smtClean="0"/>
              <a:t>6</a:t>
            </a:fld>
            <a:endParaRPr lang="en-US"/>
          </a:p>
        </p:txBody>
      </p:sp>
    </p:spTree>
    <p:extLst>
      <p:ext uri="{BB962C8B-B14F-4D97-AF65-F5344CB8AC3E}">
        <p14:creationId xmlns:p14="http://schemas.microsoft.com/office/powerpoint/2010/main" val="72642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774E-E7B3-D9CD-C2F2-18120BFA7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B42C3-5F80-4E7C-0F60-A4E31EB26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947C6-9364-EC2F-86BA-0D80D5B80BC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4B6DF24-C009-22B5-D962-EDA2B3AE59A6}"/>
              </a:ext>
            </a:extLst>
          </p:cNvPr>
          <p:cNvSpPr>
            <a:spLocks noGrp="1"/>
          </p:cNvSpPr>
          <p:nvPr>
            <p:ph type="sldNum" sz="quarter" idx="5"/>
          </p:nvPr>
        </p:nvSpPr>
        <p:spPr/>
        <p:txBody>
          <a:bodyPr/>
          <a:lstStyle/>
          <a:p>
            <a:fld id="{A470E3EB-C477-B84B-B5B4-E74DB90D46C8}" type="slidenum">
              <a:rPr lang="en-US" smtClean="0"/>
              <a:t>7</a:t>
            </a:fld>
            <a:endParaRPr lang="en-US"/>
          </a:p>
        </p:txBody>
      </p:sp>
    </p:spTree>
    <p:extLst>
      <p:ext uri="{BB962C8B-B14F-4D97-AF65-F5344CB8AC3E}">
        <p14:creationId xmlns:p14="http://schemas.microsoft.com/office/powerpoint/2010/main" val="2172297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135A5-D0B7-B966-E2C1-3C1F8F4B3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887B0-BCE7-5D2A-E226-FB0C15DA0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237E7-8AAE-AC57-7A01-B0867624977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23AFB6EF-958B-8736-443E-328F91243C30}"/>
              </a:ext>
            </a:extLst>
          </p:cNvPr>
          <p:cNvSpPr>
            <a:spLocks noGrp="1"/>
          </p:cNvSpPr>
          <p:nvPr>
            <p:ph type="sldNum" sz="quarter" idx="5"/>
          </p:nvPr>
        </p:nvSpPr>
        <p:spPr/>
        <p:txBody>
          <a:bodyPr/>
          <a:lstStyle/>
          <a:p>
            <a:fld id="{A470E3EB-C477-B84B-B5B4-E74DB90D46C8}" type="slidenum">
              <a:rPr lang="en-US" smtClean="0"/>
              <a:t>8</a:t>
            </a:fld>
            <a:endParaRPr lang="en-US"/>
          </a:p>
        </p:txBody>
      </p:sp>
    </p:spTree>
    <p:extLst>
      <p:ext uri="{BB962C8B-B14F-4D97-AF65-F5344CB8AC3E}">
        <p14:creationId xmlns:p14="http://schemas.microsoft.com/office/powerpoint/2010/main" val="3744771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A830-FF85-370C-065E-AE164C7E2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6F048-7F49-84F1-274A-9E0A70F60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97A2D-F4CE-3ACA-FBD8-1B53A46983E9}"/>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EA492422-399C-6F09-7E45-99B22ED7C705}"/>
              </a:ext>
            </a:extLst>
          </p:cNvPr>
          <p:cNvSpPr>
            <a:spLocks noGrp="1"/>
          </p:cNvSpPr>
          <p:nvPr>
            <p:ph type="sldNum" sz="quarter" idx="5"/>
          </p:nvPr>
        </p:nvSpPr>
        <p:spPr/>
        <p:txBody>
          <a:bodyPr/>
          <a:lstStyle/>
          <a:p>
            <a:fld id="{A470E3EB-C477-B84B-B5B4-E74DB90D46C8}" type="slidenum">
              <a:rPr lang="en-US" smtClean="0"/>
              <a:t>9</a:t>
            </a:fld>
            <a:endParaRPr lang="en-US"/>
          </a:p>
        </p:txBody>
      </p:sp>
    </p:spTree>
    <p:extLst>
      <p:ext uri="{BB962C8B-B14F-4D97-AF65-F5344CB8AC3E}">
        <p14:creationId xmlns:p14="http://schemas.microsoft.com/office/powerpoint/2010/main" val="1919793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68336-294F-2518-264A-01FE9DAFE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FEDD9-BD38-52FB-6C3A-480E587D7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3493F-B502-C446-763A-8A7920916D34}"/>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38777B50-F374-F4B6-CB60-376DF67DB09E}"/>
              </a:ext>
            </a:extLst>
          </p:cNvPr>
          <p:cNvSpPr>
            <a:spLocks noGrp="1"/>
          </p:cNvSpPr>
          <p:nvPr>
            <p:ph type="sldNum" sz="quarter" idx="5"/>
          </p:nvPr>
        </p:nvSpPr>
        <p:spPr/>
        <p:txBody>
          <a:bodyPr/>
          <a:lstStyle/>
          <a:p>
            <a:fld id="{A470E3EB-C477-B84B-B5B4-E74DB90D46C8}" type="slidenum">
              <a:rPr lang="en-US" smtClean="0"/>
              <a:t>10</a:t>
            </a:fld>
            <a:endParaRPr lang="en-US"/>
          </a:p>
        </p:txBody>
      </p:sp>
    </p:spTree>
    <p:extLst>
      <p:ext uri="{BB962C8B-B14F-4D97-AF65-F5344CB8AC3E}">
        <p14:creationId xmlns:p14="http://schemas.microsoft.com/office/powerpoint/2010/main" val="1768660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3832-C44D-2F2B-9C05-F6E488F22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F95DC-C36E-8BBE-ECC5-98D4F8262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3CD6E-E1E4-4A92-0C53-D1AF37A3BE78}"/>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34241DA-F6F6-3689-AF30-2B7583D58D5D}"/>
              </a:ext>
            </a:extLst>
          </p:cNvPr>
          <p:cNvSpPr>
            <a:spLocks noGrp="1"/>
          </p:cNvSpPr>
          <p:nvPr>
            <p:ph type="sldNum" sz="quarter" idx="5"/>
          </p:nvPr>
        </p:nvSpPr>
        <p:spPr/>
        <p:txBody>
          <a:bodyPr/>
          <a:lstStyle/>
          <a:p>
            <a:fld id="{A470E3EB-C477-B84B-B5B4-E74DB90D46C8}" type="slidenum">
              <a:rPr lang="en-US" smtClean="0"/>
              <a:t>11</a:t>
            </a:fld>
            <a:endParaRPr lang="en-US"/>
          </a:p>
        </p:txBody>
      </p:sp>
    </p:spTree>
    <p:extLst>
      <p:ext uri="{BB962C8B-B14F-4D97-AF65-F5344CB8AC3E}">
        <p14:creationId xmlns:p14="http://schemas.microsoft.com/office/powerpoint/2010/main" val="302690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E5CCC-4C02-9FAF-D9AD-EDB5EA6FD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65E66-2277-E290-69AC-6B118531C6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F2DDC-827A-B010-5D68-AFBA667F437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88D6C9E-8163-8901-3923-8A3926952868}"/>
              </a:ext>
            </a:extLst>
          </p:cNvPr>
          <p:cNvSpPr>
            <a:spLocks noGrp="1"/>
          </p:cNvSpPr>
          <p:nvPr>
            <p:ph type="sldNum" sz="quarter" idx="5"/>
          </p:nvPr>
        </p:nvSpPr>
        <p:spPr/>
        <p:txBody>
          <a:bodyPr/>
          <a:lstStyle/>
          <a:p>
            <a:fld id="{A470E3EB-C477-B84B-B5B4-E74DB90D46C8}" type="slidenum">
              <a:rPr lang="en-US" smtClean="0"/>
              <a:t>12</a:t>
            </a:fld>
            <a:endParaRPr lang="en-US"/>
          </a:p>
        </p:txBody>
      </p:sp>
    </p:spTree>
    <p:extLst>
      <p:ext uri="{BB962C8B-B14F-4D97-AF65-F5344CB8AC3E}">
        <p14:creationId xmlns:p14="http://schemas.microsoft.com/office/powerpoint/2010/main" val="2380279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E4E8E-E3D4-849F-5684-CE2535311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2B779-3F9C-ACEF-BFF8-175909E18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AE3A2-D3AC-3488-3400-304BD74A66A3}"/>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D6487D4-8605-5CCB-D5A1-E32C1EA8BBC8}"/>
              </a:ext>
            </a:extLst>
          </p:cNvPr>
          <p:cNvSpPr>
            <a:spLocks noGrp="1"/>
          </p:cNvSpPr>
          <p:nvPr>
            <p:ph type="sldNum" sz="quarter" idx="5"/>
          </p:nvPr>
        </p:nvSpPr>
        <p:spPr/>
        <p:txBody>
          <a:bodyPr/>
          <a:lstStyle/>
          <a:p>
            <a:fld id="{A470E3EB-C477-B84B-B5B4-E74DB90D46C8}" type="slidenum">
              <a:rPr lang="en-US" smtClean="0"/>
              <a:t>13</a:t>
            </a:fld>
            <a:endParaRPr lang="en-US"/>
          </a:p>
        </p:txBody>
      </p:sp>
    </p:spTree>
    <p:extLst>
      <p:ext uri="{BB962C8B-B14F-4D97-AF65-F5344CB8AC3E}">
        <p14:creationId xmlns:p14="http://schemas.microsoft.com/office/powerpoint/2010/main" val="3114282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F43CB-7007-E820-0F97-EE5A64D55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F5A39-6C5D-AD6E-D515-E95C267EC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E4378-6EA7-1555-C7E5-28444A7CE57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948ABFF-651D-0DE3-08C5-A1ECA715F834}"/>
              </a:ext>
            </a:extLst>
          </p:cNvPr>
          <p:cNvSpPr>
            <a:spLocks noGrp="1"/>
          </p:cNvSpPr>
          <p:nvPr>
            <p:ph type="sldNum" sz="quarter" idx="5"/>
          </p:nvPr>
        </p:nvSpPr>
        <p:spPr/>
        <p:txBody>
          <a:bodyPr/>
          <a:lstStyle/>
          <a:p>
            <a:fld id="{A470E3EB-C477-B84B-B5B4-E74DB90D46C8}" type="slidenum">
              <a:rPr lang="en-US" smtClean="0"/>
              <a:t>14</a:t>
            </a:fld>
            <a:endParaRPr lang="en-US"/>
          </a:p>
        </p:txBody>
      </p:sp>
    </p:spTree>
    <p:extLst>
      <p:ext uri="{BB962C8B-B14F-4D97-AF65-F5344CB8AC3E}">
        <p14:creationId xmlns:p14="http://schemas.microsoft.com/office/powerpoint/2010/main" val="3565132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58887-9660-A602-8D0B-E3758A4D0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E294C-3137-8034-E91B-4E9E1F70B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74CBE-E99C-8865-A83D-56C5CC8B3010}"/>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02CDCEF-FD42-95E0-D8B5-652E9191B415}"/>
              </a:ext>
            </a:extLst>
          </p:cNvPr>
          <p:cNvSpPr>
            <a:spLocks noGrp="1"/>
          </p:cNvSpPr>
          <p:nvPr>
            <p:ph type="sldNum" sz="quarter" idx="5"/>
          </p:nvPr>
        </p:nvSpPr>
        <p:spPr/>
        <p:txBody>
          <a:bodyPr/>
          <a:lstStyle/>
          <a:p>
            <a:fld id="{A470E3EB-C477-B84B-B5B4-E74DB90D46C8}" type="slidenum">
              <a:rPr lang="en-US" smtClean="0"/>
              <a:t>15</a:t>
            </a:fld>
            <a:endParaRPr lang="en-US"/>
          </a:p>
        </p:txBody>
      </p:sp>
    </p:spTree>
    <p:extLst>
      <p:ext uri="{BB962C8B-B14F-4D97-AF65-F5344CB8AC3E}">
        <p14:creationId xmlns:p14="http://schemas.microsoft.com/office/powerpoint/2010/main" val="719315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57176-21B4-CDE1-8717-8E1ABDBA6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00A72-5CAC-4FE4-9A27-4B1AD952A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EB7FF-018F-2681-9F0E-56E9D0F50DEC}"/>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AD011FFF-7062-7C57-B6FA-4A1C08B87E96}"/>
              </a:ext>
            </a:extLst>
          </p:cNvPr>
          <p:cNvSpPr>
            <a:spLocks noGrp="1"/>
          </p:cNvSpPr>
          <p:nvPr>
            <p:ph type="sldNum" sz="quarter" idx="5"/>
          </p:nvPr>
        </p:nvSpPr>
        <p:spPr/>
        <p:txBody>
          <a:bodyPr/>
          <a:lstStyle/>
          <a:p>
            <a:fld id="{A470E3EB-C477-B84B-B5B4-E74DB90D46C8}" type="slidenum">
              <a:rPr lang="en-US" smtClean="0"/>
              <a:t>16</a:t>
            </a:fld>
            <a:endParaRPr lang="en-US"/>
          </a:p>
        </p:txBody>
      </p:sp>
    </p:spTree>
    <p:extLst>
      <p:ext uri="{BB962C8B-B14F-4D97-AF65-F5344CB8AC3E}">
        <p14:creationId xmlns:p14="http://schemas.microsoft.com/office/powerpoint/2010/main" val="1391521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FAB5-175D-7232-7C0E-BC5A0577F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8688A-76C5-2B5C-A48E-7270DCB47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F316D-07B4-8E1F-A50C-56F7D3AFB3F6}"/>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F92FA384-7933-8BDC-6518-06AF3917F867}"/>
              </a:ext>
            </a:extLst>
          </p:cNvPr>
          <p:cNvSpPr>
            <a:spLocks noGrp="1"/>
          </p:cNvSpPr>
          <p:nvPr>
            <p:ph type="sldNum" sz="quarter" idx="5"/>
          </p:nvPr>
        </p:nvSpPr>
        <p:spPr/>
        <p:txBody>
          <a:bodyPr/>
          <a:lstStyle/>
          <a:p>
            <a:fld id="{A470E3EB-C477-B84B-B5B4-E74DB90D46C8}" type="slidenum">
              <a:rPr lang="en-US" smtClean="0"/>
              <a:t>17</a:t>
            </a:fld>
            <a:endParaRPr lang="en-US"/>
          </a:p>
        </p:txBody>
      </p:sp>
    </p:spTree>
    <p:extLst>
      <p:ext uri="{BB962C8B-B14F-4D97-AF65-F5344CB8AC3E}">
        <p14:creationId xmlns:p14="http://schemas.microsoft.com/office/powerpoint/2010/main" val="1476818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60E95-484E-412F-3C22-F021A322C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0A409-21F4-CC62-4A7B-47E01447E2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8D446-7832-4FA6-BDFE-39335BE22D27}"/>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BA2E2C8B-5033-5931-559D-A1ADB355B257}"/>
              </a:ext>
            </a:extLst>
          </p:cNvPr>
          <p:cNvSpPr>
            <a:spLocks noGrp="1"/>
          </p:cNvSpPr>
          <p:nvPr>
            <p:ph type="sldNum" sz="quarter" idx="5"/>
          </p:nvPr>
        </p:nvSpPr>
        <p:spPr/>
        <p:txBody>
          <a:bodyPr/>
          <a:lstStyle/>
          <a:p>
            <a:fld id="{A470E3EB-C477-B84B-B5B4-E74DB90D46C8}" type="slidenum">
              <a:rPr lang="en-US" smtClean="0"/>
              <a:t>19</a:t>
            </a:fld>
            <a:endParaRPr lang="en-US"/>
          </a:p>
        </p:txBody>
      </p:sp>
    </p:spTree>
    <p:extLst>
      <p:ext uri="{BB962C8B-B14F-4D97-AF65-F5344CB8AC3E}">
        <p14:creationId xmlns:p14="http://schemas.microsoft.com/office/powerpoint/2010/main" val="2935201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4B6FA-FE78-D09D-F1AE-E5CD245D9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8997F-178D-75DD-E002-455F60B8C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5E356-65EE-CAEC-46B3-4C502A372E16}"/>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978FCEAD-F473-A0AC-8344-7AEE01A9F513}"/>
              </a:ext>
            </a:extLst>
          </p:cNvPr>
          <p:cNvSpPr>
            <a:spLocks noGrp="1"/>
          </p:cNvSpPr>
          <p:nvPr>
            <p:ph type="sldNum" sz="quarter" idx="5"/>
          </p:nvPr>
        </p:nvSpPr>
        <p:spPr/>
        <p:txBody>
          <a:bodyPr/>
          <a:lstStyle/>
          <a:p>
            <a:fld id="{A470E3EB-C477-B84B-B5B4-E74DB90D46C8}" type="slidenum">
              <a:rPr lang="en-US" smtClean="0"/>
              <a:t>20</a:t>
            </a:fld>
            <a:endParaRPr lang="en-US"/>
          </a:p>
        </p:txBody>
      </p:sp>
    </p:spTree>
    <p:extLst>
      <p:ext uri="{BB962C8B-B14F-4D97-AF65-F5344CB8AC3E}">
        <p14:creationId xmlns:p14="http://schemas.microsoft.com/office/powerpoint/2010/main" val="1961234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26</a:t>
            </a:fld>
            <a:endParaRPr lang="en-US"/>
          </a:p>
        </p:txBody>
      </p:sp>
    </p:spTree>
    <p:extLst>
      <p:ext uri="{BB962C8B-B14F-4D97-AF65-F5344CB8AC3E}">
        <p14:creationId xmlns:p14="http://schemas.microsoft.com/office/powerpoint/2010/main" val="2122460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A677E-B32E-57D9-F634-1949F40A1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342F3-50A4-20C5-CA21-4102D7483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5AEB7-6984-5242-065E-07452CC6B9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B39BCF-F0EA-B63E-18D3-63C3DAA56650}"/>
              </a:ext>
            </a:extLst>
          </p:cNvPr>
          <p:cNvSpPr>
            <a:spLocks noGrp="1"/>
          </p:cNvSpPr>
          <p:nvPr>
            <p:ph type="sldNum" sz="quarter" idx="5"/>
          </p:nvPr>
        </p:nvSpPr>
        <p:spPr/>
        <p:txBody>
          <a:bodyPr/>
          <a:lstStyle/>
          <a:p>
            <a:fld id="{A470E3EB-C477-B84B-B5B4-E74DB90D46C8}" type="slidenum">
              <a:rPr lang="en-US" smtClean="0"/>
              <a:t>27</a:t>
            </a:fld>
            <a:endParaRPr lang="en-US"/>
          </a:p>
        </p:txBody>
      </p:sp>
    </p:spTree>
    <p:extLst>
      <p:ext uri="{BB962C8B-B14F-4D97-AF65-F5344CB8AC3E}">
        <p14:creationId xmlns:p14="http://schemas.microsoft.com/office/powerpoint/2010/main" val="1731282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4FB30-26C2-F408-ACBE-11C44A3A5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A5463-34EC-702C-0506-4F52FDE71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63F93-A428-6088-0A68-A203AD9B67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CA7A6-B5CC-238B-2DA9-BC82C0535515}"/>
              </a:ext>
            </a:extLst>
          </p:cNvPr>
          <p:cNvSpPr>
            <a:spLocks noGrp="1"/>
          </p:cNvSpPr>
          <p:nvPr>
            <p:ph type="sldNum" sz="quarter" idx="5"/>
          </p:nvPr>
        </p:nvSpPr>
        <p:spPr/>
        <p:txBody>
          <a:bodyPr/>
          <a:lstStyle/>
          <a:p>
            <a:fld id="{A470E3EB-C477-B84B-B5B4-E74DB90D46C8}" type="slidenum">
              <a:rPr lang="en-US" smtClean="0"/>
              <a:t>28</a:t>
            </a:fld>
            <a:endParaRPr lang="en-US"/>
          </a:p>
        </p:txBody>
      </p:sp>
    </p:spTree>
    <p:extLst>
      <p:ext uri="{BB962C8B-B14F-4D97-AF65-F5344CB8AC3E}">
        <p14:creationId xmlns:p14="http://schemas.microsoft.com/office/powerpoint/2010/main" val="1095786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EF7E-7AE7-6F0B-70B5-BD3FC3000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77A15-4E43-F575-FD07-4BC047CEC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33DD0-C536-77C0-8E7A-78B83C9B6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96301-DAEA-80A2-F329-AAC3E441008D}"/>
              </a:ext>
            </a:extLst>
          </p:cNvPr>
          <p:cNvSpPr>
            <a:spLocks noGrp="1"/>
          </p:cNvSpPr>
          <p:nvPr>
            <p:ph type="sldNum" sz="quarter" idx="5"/>
          </p:nvPr>
        </p:nvSpPr>
        <p:spPr/>
        <p:txBody>
          <a:bodyPr/>
          <a:lstStyle/>
          <a:p>
            <a:fld id="{A470E3EB-C477-B84B-B5B4-E74DB90D46C8}" type="slidenum">
              <a:rPr lang="en-US" smtClean="0"/>
              <a:t>29</a:t>
            </a:fld>
            <a:endParaRPr lang="en-US"/>
          </a:p>
        </p:txBody>
      </p:sp>
    </p:spTree>
    <p:extLst>
      <p:ext uri="{BB962C8B-B14F-4D97-AF65-F5344CB8AC3E}">
        <p14:creationId xmlns:p14="http://schemas.microsoft.com/office/powerpoint/2010/main" val="4200592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30</a:t>
            </a:fld>
            <a:endParaRPr lang="en-US"/>
          </a:p>
        </p:txBody>
      </p:sp>
    </p:spTree>
    <p:extLst>
      <p:ext uri="{BB962C8B-B14F-4D97-AF65-F5344CB8AC3E}">
        <p14:creationId xmlns:p14="http://schemas.microsoft.com/office/powerpoint/2010/main" val="2989933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31</a:t>
            </a:fld>
            <a:endParaRPr lang="en-US"/>
          </a:p>
        </p:txBody>
      </p:sp>
    </p:spTree>
    <p:extLst>
      <p:ext uri="{BB962C8B-B14F-4D97-AF65-F5344CB8AC3E}">
        <p14:creationId xmlns:p14="http://schemas.microsoft.com/office/powerpoint/2010/main" val="2706764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13A6-79EF-C683-C197-88A5A8A1A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D4534-2C4B-BC2C-2D1A-CC44D9AD4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DD1E7-CAAE-F7CE-7E11-97B94A94B9BE}"/>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0334CC4-940F-FC26-54C7-6FC2681CAAF1}"/>
              </a:ext>
            </a:extLst>
          </p:cNvPr>
          <p:cNvSpPr>
            <a:spLocks noGrp="1"/>
          </p:cNvSpPr>
          <p:nvPr>
            <p:ph type="sldNum" sz="quarter" idx="5"/>
          </p:nvPr>
        </p:nvSpPr>
        <p:spPr/>
        <p:txBody>
          <a:bodyPr/>
          <a:lstStyle/>
          <a:p>
            <a:fld id="{A470E3EB-C477-B84B-B5B4-E74DB90D46C8}" type="slidenum">
              <a:rPr lang="en-US" smtClean="0"/>
              <a:t>32</a:t>
            </a:fld>
            <a:endParaRPr lang="en-US"/>
          </a:p>
        </p:txBody>
      </p:sp>
    </p:spTree>
    <p:extLst>
      <p:ext uri="{BB962C8B-B14F-4D97-AF65-F5344CB8AC3E}">
        <p14:creationId xmlns:p14="http://schemas.microsoft.com/office/powerpoint/2010/main" val="1473028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B1E0F-0577-4729-60EF-79B9041B2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A6AB3-688C-8689-8F84-6B46859FA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A48B2-925E-EE21-58B0-7D144AF25CB7}"/>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C00CA5CD-41F2-97C3-2681-5E2CD56A9B9B}"/>
              </a:ext>
            </a:extLst>
          </p:cNvPr>
          <p:cNvSpPr>
            <a:spLocks noGrp="1"/>
          </p:cNvSpPr>
          <p:nvPr>
            <p:ph type="sldNum" sz="quarter" idx="5"/>
          </p:nvPr>
        </p:nvSpPr>
        <p:spPr/>
        <p:txBody>
          <a:bodyPr/>
          <a:lstStyle/>
          <a:p>
            <a:fld id="{A470E3EB-C477-B84B-B5B4-E74DB90D46C8}" type="slidenum">
              <a:rPr lang="en-US" smtClean="0"/>
              <a:t>33</a:t>
            </a:fld>
            <a:endParaRPr lang="en-US"/>
          </a:p>
        </p:txBody>
      </p:sp>
    </p:spTree>
    <p:extLst>
      <p:ext uri="{BB962C8B-B14F-4D97-AF65-F5344CB8AC3E}">
        <p14:creationId xmlns:p14="http://schemas.microsoft.com/office/powerpoint/2010/main" val="34650426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63AF-8DF8-C792-3A9D-B9CC0416D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2C14A-DDFF-1D29-03E2-EA44E7A7FA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B694E-767C-2EE1-547B-788D339375B7}"/>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44426557-8423-95E6-6320-047166FC89C4}"/>
              </a:ext>
            </a:extLst>
          </p:cNvPr>
          <p:cNvSpPr>
            <a:spLocks noGrp="1"/>
          </p:cNvSpPr>
          <p:nvPr>
            <p:ph type="sldNum" sz="quarter" idx="5"/>
          </p:nvPr>
        </p:nvSpPr>
        <p:spPr/>
        <p:txBody>
          <a:bodyPr/>
          <a:lstStyle/>
          <a:p>
            <a:fld id="{A470E3EB-C477-B84B-B5B4-E74DB90D46C8}" type="slidenum">
              <a:rPr lang="en-US" smtClean="0"/>
              <a:t>34</a:t>
            </a:fld>
            <a:endParaRPr lang="en-US"/>
          </a:p>
        </p:txBody>
      </p:sp>
    </p:spTree>
    <p:extLst>
      <p:ext uri="{BB962C8B-B14F-4D97-AF65-F5344CB8AC3E}">
        <p14:creationId xmlns:p14="http://schemas.microsoft.com/office/powerpoint/2010/main" val="66537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4A29A-C85E-1EC0-783C-90C4B9940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31DEF-6FC0-2E55-F48E-495A89116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4B4FC-0DFA-0551-2453-43627E69379A}"/>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6104A5FC-8F16-6331-FD39-AFA4B1EA6465}"/>
              </a:ext>
            </a:extLst>
          </p:cNvPr>
          <p:cNvSpPr>
            <a:spLocks noGrp="1"/>
          </p:cNvSpPr>
          <p:nvPr>
            <p:ph type="sldNum" sz="quarter" idx="5"/>
          </p:nvPr>
        </p:nvSpPr>
        <p:spPr/>
        <p:txBody>
          <a:bodyPr/>
          <a:lstStyle/>
          <a:p>
            <a:fld id="{A470E3EB-C477-B84B-B5B4-E74DB90D46C8}" type="slidenum">
              <a:rPr lang="en-US" smtClean="0"/>
              <a:t>35</a:t>
            </a:fld>
            <a:endParaRPr lang="en-US"/>
          </a:p>
        </p:txBody>
      </p:sp>
    </p:spTree>
    <p:extLst>
      <p:ext uri="{BB962C8B-B14F-4D97-AF65-F5344CB8AC3E}">
        <p14:creationId xmlns:p14="http://schemas.microsoft.com/office/powerpoint/2010/main" val="2671765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70E3EB-C477-B84B-B5B4-E74DB90D46C8}" type="slidenum">
              <a:rPr lang="en-US" smtClean="0"/>
              <a:t>36</a:t>
            </a:fld>
            <a:endParaRPr lang="en-US"/>
          </a:p>
        </p:txBody>
      </p:sp>
    </p:spTree>
    <p:extLst>
      <p:ext uri="{BB962C8B-B14F-4D97-AF65-F5344CB8AC3E}">
        <p14:creationId xmlns:p14="http://schemas.microsoft.com/office/powerpoint/2010/main" val="3826921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8AC46-F5AE-2C45-3E35-F6C6A2A39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B9275-990F-7585-E385-27306B9F0E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A4366-4620-8F6F-813B-75AAC9ED6F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D2531-0D15-F985-E7F6-9B7107BD307B}"/>
              </a:ext>
            </a:extLst>
          </p:cNvPr>
          <p:cNvSpPr>
            <a:spLocks noGrp="1"/>
          </p:cNvSpPr>
          <p:nvPr>
            <p:ph type="sldNum" sz="quarter" idx="5"/>
          </p:nvPr>
        </p:nvSpPr>
        <p:spPr/>
        <p:txBody>
          <a:bodyPr/>
          <a:lstStyle/>
          <a:p>
            <a:fld id="{A470E3EB-C477-B84B-B5B4-E74DB90D46C8}" type="slidenum">
              <a:rPr lang="en-US" smtClean="0"/>
              <a:t>37</a:t>
            </a:fld>
            <a:endParaRPr lang="en-US"/>
          </a:p>
        </p:txBody>
      </p:sp>
    </p:spTree>
    <p:extLst>
      <p:ext uri="{BB962C8B-B14F-4D97-AF65-F5344CB8AC3E}">
        <p14:creationId xmlns:p14="http://schemas.microsoft.com/office/powerpoint/2010/main" val="4230148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FD4F0-3F73-D4E2-B97B-F58E1A8CD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7673F-3795-CA9E-CB86-3E315EC59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78833-D7F4-33CD-F310-64A1A66A4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6A83A-EB77-8432-CD88-A3DAD972C9B3}"/>
              </a:ext>
            </a:extLst>
          </p:cNvPr>
          <p:cNvSpPr>
            <a:spLocks noGrp="1"/>
          </p:cNvSpPr>
          <p:nvPr>
            <p:ph type="sldNum" sz="quarter" idx="5"/>
          </p:nvPr>
        </p:nvSpPr>
        <p:spPr/>
        <p:txBody>
          <a:bodyPr/>
          <a:lstStyle/>
          <a:p>
            <a:fld id="{A470E3EB-C477-B84B-B5B4-E74DB90D46C8}" type="slidenum">
              <a:rPr lang="en-US" smtClean="0"/>
              <a:t>38</a:t>
            </a:fld>
            <a:endParaRPr lang="en-US"/>
          </a:p>
        </p:txBody>
      </p:sp>
    </p:spTree>
    <p:extLst>
      <p:ext uri="{BB962C8B-B14F-4D97-AF65-F5344CB8AC3E}">
        <p14:creationId xmlns:p14="http://schemas.microsoft.com/office/powerpoint/2010/main" val="2660176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43</a:t>
            </a:fld>
            <a:endParaRPr lang="en-US"/>
          </a:p>
        </p:txBody>
      </p:sp>
    </p:spTree>
    <p:extLst>
      <p:ext uri="{BB962C8B-B14F-4D97-AF65-F5344CB8AC3E}">
        <p14:creationId xmlns:p14="http://schemas.microsoft.com/office/powerpoint/2010/main" val="2347793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E0D4-24C8-1230-7363-6835B02CA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CCC01-550D-61CD-DB4A-C9A601120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CF7FC-9A65-3CB5-B432-1B5DE5EC53A9}"/>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3A3F753-AC71-1B8F-F12C-4073B74A94EF}"/>
              </a:ext>
            </a:extLst>
          </p:cNvPr>
          <p:cNvSpPr>
            <a:spLocks noGrp="1"/>
          </p:cNvSpPr>
          <p:nvPr>
            <p:ph type="sldNum" sz="quarter" idx="5"/>
          </p:nvPr>
        </p:nvSpPr>
        <p:spPr/>
        <p:txBody>
          <a:bodyPr/>
          <a:lstStyle/>
          <a:p>
            <a:fld id="{A470E3EB-C477-B84B-B5B4-E74DB90D46C8}" type="slidenum">
              <a:rPr lang="en-US" smtClean="0"/>
              <a:t>44</a:t>
            </a:fld>
            <a:endParaRPr lang="en-US"/>
          </a:p>
        </p:txBody>
      </p:sp>
    </p:spTree>
    <p:extLst>
      <p:ext uri="{BB962C8B-B14F-4D97-AF65-F5344CB8AC3E}">
        <p14:creationId xmlns:p14="http://schemas.microsoft.com/office/powerpoint/2010/main" val="1219676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p:cNvSpPr>
            <a:spLocks noGrp="1"/>
          </p:cNvSpPr>
          <p:nvPr>
            <p:ph type="sldNum" sz="quarter" idx="5"/>
          </p:nvPr>
        </p:nvSpPr>
        <p:spPr/>
        <p:txBody>
          <a:bodyPr/>
          <a:lstStyle/>
          <a:p>
            <a:fld id="{A470E3EB-C477-B84B-B5B4-E74DB90D46C8}" type="slidenum">
              <a:rPr lang="en-US" smtClean="0"/>
              <a:t>45</a:t>
            </a:fld>
            <a:endParaRPr lang="en-US"/>
          </a:p>
        </p:txBody>
      </p:sp>
    </p:spTree>
    <p:extLst>
      <p:ext uri="{BB962C8B-B14F-4D97-AF65-F5344CB8AC3E}">
        <p14:creationId xmlns:p14="http://schemas.microsoft.com/office/powerpoint/2010/main" val="1805463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3409-B17F-F54E-27B5-EBD098D4F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83E93-CC58-0025-2A0E-5BDC931D8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0AFB3-831D-A4E7-8419-1B3F01B9EF8E}"/>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9E5D5CD3-B351-80C7-6A60-0A980F54413B}"/>
              </a:ext>
            </a:extLst>
          </p:cNvPr>
          <p:cNvSpPr>
            <a:spLocks noGrp="1"/>
          </p:cNvSpPr>
          <p:nvPr>
            <p:ph type="sldNum" sz="quarter" idx="5"/>
          </p:nvPr>
        </p:nvSpPr>
        <p:spPr/>
        <p:txBody>
          <a:bodyPr/>
          <a:lstStyle/>
          <a:p>
            <a:fld id="{A470E3EB-C477-B84B-B5B4-E74DB90D46C8}" type="slidenum">
              <a:rPr lang="en-US" smtClean="0"/>
              <a:t>46</a:t>
            </a:fld>
            <a:endParaRPr lang="en-US"/>
          </a:p>
        </p:txBody>
      </p:sp>
    </p:spTree>
    <p:extLst>
      <p:ext uri="{BB962C8B-B14F-4D97-AF65-F5344CB8AC3E}">
        <p14:creationId xmlns:p14="http://schemas.microsoft.com/office/powerpoint/2010/main" val="1656585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7AFF9-71D9-68BF-07E6-765F6F5C5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0E2BC-6E1B-6CEC-00AD-BBAF85555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68BF2B-4ED3-FF91-550E-F677FE5B4F51}"/>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49DD9B2-1368-D4D4-8D60-BDEA494B489C}"/>
              </a:ext>
            </a:extLst>
          </p:cNvPr>
          <p:cNvSpPr>
            <a:spLocks noGrp="1"/>
          </p:cNvSpPr>
          <p:nvPr>
            <p:ph type="sldNum" sz="quarter" idx="5"/>
          </p:nvPr>
        </p:nvSpPr>
        <p:spPr/>
        <p:txBody>
          <a:bodyPr/>
          <a:lstStyle/>
          <a:p>
            <a:fld id="{A470E3EB-C477-B84B-B5B4-E74DB90D46C8}" type="slidenum">
              <a:rPr lang="en-US" smtClean="0"/>
              <a:t>47</a:t>
            </a:fld>
            <a:endParaRPr lang="en-US"/>
          </a:p>
        </p:txBody>
      </p:sp>
    </p:spTree>
    <p:extLst>
      <p:ext uri="{BB962C8B-B14F-4D97-AF65-F5344CB8AC3E}">
        <p14:creationId xmlns:p14="http://schemas.microsoft.com/office/powerpoint/2010/main" val="30629388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16A5F-1C0B-5431-9C79-C1FC298E8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21A22-A6B5-4FBF-5B19-EE85AD1EB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73C7F-75EB-1394-E3BE-14F7B3437E18}"/>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B181E384-1E5A-FC9E-7661-1994993EA871}"/>
              </a:ext>
            </a:extLst>
          </p:cNvPr>
          <p:cNvSpPr>
            <a:spLocks noGrp="1"/>
          </p:cNvSpPr>
          <p:nvPr>
            <p:ph type="sldNum" sz="quarter" idx="5"/>
          </p:nvPr>
        </p:nvSpPr>
        <p:spPr/>
        <p:txBody>
          <a:bodyPr/>
          <a:lstStyle/>
          <a:p>
            <a:fld id="{A470E3EB-C477-B84B-B5B4-E74DB90D46C8}" type="slidenum">
              <a:rPr lang="en-US" smtClean="0"/>
              <a:t>49</a:t>
            </a:fld>
            <a:endParaRPr lang="en-US"/>
          </a:p>
        </p:txBody>
      </p:sp>
    </p:spTree>
    <p:extLst>
      <p:ext uri="{BB962C8B-B14F-4D97-AF65-F5344CB8AC3E}">
        <p14:creationId xmlns:p14="http://schemas.microsoft.com/office/powerpoint/2010/main" val="35749532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EF315-337B-1DE8-A6E3-7C6C35BE9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17571-135E-EF20-6CF0-0E0C6DAF5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E6820-4491-C428-24B0-D5898BCE31FF}"/>
              </a:ext>
            </a:extLst>
          </p:cNvPr>
          <p:cNvSpPr>
            <a:spLocks noGrp="1"/>
          </p:cNvSpPr>
          <p:nvPr>
            <p:ph type="body" idx="1"/>
          </p:nvPr>
        </p:nvSpPr>
        <p:spPr/>
        <p:txBody>
          <a:bodyPr/>
          <a:lstStyle/>
          <a:p>
            <a:r>
              <a:rPr lang="en-US" dirty="0"/>
              <a:t>I study the quasi-experimental setting created by the CRF using the intuition behind a Regression Discontinuity Design. </a:t>
            </a:r>
          </a:p>
        </p:txBody>
      </p:sp>
      <p:sp>
        <p:nvSpPr>
          <p:cNvPr id="4" name="Slide Number Placeholder 3">
            <a:extLst>
              <a:ext uri="{FF2B5EF4-FFF2-40B4-BE49-F238E27FC236}">
                <a16:creationId xmlns:a16="http://schemas.microsoft.com/office/drawing/2014/main" id="{26185E46-9A78-5CA3-1967-FCAC3F227C79}"/>
              </a:ext>
            </a:extLst>
          </p:cNvPr>
          <p:cNvSpPr>
            <a:spLocks noGrp="1"/>
          </p:cNvSpPr>
          <p:nvPr>
            <p:ph type="sldNum" sz="quarter" idx="5"/>
          </p:nvPr>
        </p:nvSpPr>
        <p:spPr/>
        <p:txBody>
          <a:bodyPr/>
          <a:lstStyle/>
          <a:p>
            <a:fld id="{A470E3EB-C477-B84B-B5B4-E74DB90D46C8}" type="slidenum">
              <a:rPr lang="en-US" smtClean="0"/>
              <a:t>50</a:t>
            </a:fld>
            <a:endParaRPr lang="en-US"/>
          </a:p>
        </p:txBody>
      </p:sp>
    </p:spTree>
    <p:extLst>
      <p:ext uri="{BB962C8B-B14F-4D97-AF65-F5344CB8AC3E}">
        <p14:creationId xmlns:p14="http://schemas.microsoft.com/office/powerpoint/2010/main" val="40278738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782E9-BF20-1A28-AB6D-8252C4AA6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3ECC5-9496-E199-55F3-3F564743D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91EE5-EAA1-DFFA-0ACA-D48B3255C6F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2E4FF74D-366C-F16A-3EB6-7DD4282F4241}"/>
              </a:ext>
            </a:extLst>
          </p:cNvPr>
          <p:cNvSpPr>
            <a:spLocks noGrp="1"/>
          </p:cNvSpPr>
          <p:nvPr>
            <p:ph type="sldNum" sz="quarter" idx="5"/>
          </p:nvPr>
        </p:nvSpPr>
        <p:spPr/>
        <p:txBody>
          <a:bodyPr/>
          <a:lstStyle/>
          <a:p>
            <a:fld id="{A470E3EB-C477-B84B-B5B4-E74DB90D46C8}" type="slidenum">
              <a:rPr lang="en-US" smtClean="0"/>
              <a:t>69</a:t>
            </a:fld>
            <a:endParaRPr lang="en-US"/>
          </a:p>
        </p:txBody>
      </p:sp>
    </p:spTree>
    <p:extLst>
      <p:ext uri="{BB962C8B-B14F-4D97-AF65-F5344CB8AC3E}">
        <p14:creationId xmlns:p14="http://schemas.microsoft.com/office/powerpoint/2010/main" val="13987660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4797-B098-A19C-E581-4720F3322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5A44F-06C0-1876-1062-1DC5BE887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F5EF8-CF9A-C265-FE1C-BA503EDDAD2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E64D3B7A-2632-658B-3255-2383F26BA3CC}"/>
              </a:ext>
            </a:extLst>
          </p:cNvPr>
          <p:cNvSpPr>
            <a:spLocks noGrp="1"/>
          </p:cNvSpPr>
          <p:nvPr>
            <p:ph type="sldNum" sz="quarter" idx="5"/>
          </p:nvPr>
        </p:nvSpPr>
        <p:spPr/>
        <p:txBody>
          <a:bodyPr/>
          <a:lstStyle/>
          <a:p>
            <a:fld id="{A470E3EB-C477-B84B-B5B4-E74DB90D46C8}" type="slidenum">
              <a:rPr lang="en-US" smtClean="0"/>
              <a:t>70</a:t>
            </a:fld>
            <a:endParaRPr lang="en-US"/>
          </a:p>
        </p:txBody>
      </p:sp>
    </p:spTree>
    <p:extLst>
      <p:ext uri="{BB962C8B-B14F-4D97-AF65-F5344CB8AC3E}">
        <p14:creationId xmlns:p14="http://schemas.microsoft.com/office/powerpoint/2010/main" val="21762340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1B24-3D46-A83D-43B8-A077392BF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4BE57-0998-0081-C097-B9B60772B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4562B-26EC-2654-ED02-58BAB05AE38E}"/>
              </a:ext>
            </a:extLst>
          </p:cNvPr>
          <p:cNvSpPr>
            <a:spLocks noGrp="1"/>
          </p:cNvSpPr>
          <p:nvPr>
            <p:ph type="body" idx="1"/>
          </p:nvPr>
        </p:nvSpPr>
        <p:spPr/>
        <p:txBody>
          <a:bodyPr/>
          <a:lstStyle/>
          <a:p>
            <a:r>
              <a:rPr lang="en-US" dirty="0"/>
              <a:t>At first sight, the relationship between these variables is not straightforward. </a:t>
            </a:r>
          </a:p>
          <a:p>
            <a:endParaRPr lang="en-US" dirty="0"/>
          </a:p>
          <a:p>
            <a:r>
              <a:rPr lang="en-US" dirty="0"/>
              <a:t>If the government is helping you, is because you might need it. </a:t>
            </a:r>
          </a:p>
        </p:txBody>
      </p:sp>
      <p:sp>
        <p:nvSpPr>
          <p:cNvPr id="4" name="Slide Number Placeholder 3">
            <a:extLst>
              <a:ext uri="{FF2B5EF4-FFF2-40B4-BE49-F238E27FC236}">
                <a16:creationId xmlns:a16="http://schemas.microsoft.com/office/drawing/2014/main" id="{CB635DF8-33FC-FF0B-BBCD-0D8C25398D1E}"/>
              </a:ext>
            </a:extLst>
          </p:cNvPr>
          <p:cNvSpPr>
            <a:spLocks noGrp="1"/>
          </p:cNvSpPr>
          <p:nvPr>
            <p:ph type="sldNum" sz="quarter" idx="5"/>
          </p:nvPr>
        </p:nvSpPr>
        <p:spPr/>
        <p:txBody>
          <a:bodyPr/>
          <a:lstStyle/>
          <a:p>
            <a:fld id="{A470E3EB-C477-B84B-B5B4-E74DB90D46C8}" type="slidenum">
              <a:rPr lang="en-US" smtClean="0"/>
              <a:t>83</a:t>
            </a:fld>
            <a:endParaRPr lang="en-US"/>
          </a:p>
        </p:txBody>
      </p:sp>
    </p:spTree>
    <p:extLst>
      <p:ext uri="{BB962C8B-B14F-4D97-AF65-F5344CB8AC3E}">
        <p14:creationId xmlns:p14="http://schemas.microsoft.com/office/powerpoint/2010/main" val="3514880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426161" y="-436253"/>
            <a:ext cx="493561" cy="1592961"/>
            <a:chOff x="685136" y="-246616"/>
            <a:chExt cx="733465" cy="2367520"/>
          </a:xfrm>
        </p:grpSpPr>
        <p:sp>
          <p:nvSpPr>
            <p:cNvPr id="6" name="Rectangle 5"/>
            <p:cNvSpPr/>
            <p:nvPr userDrawn="1"/>
          </p:nvSpPr>
          <p:spPr>
            <a:xfrm>
              <a:off x="685136" y="-24661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308" y="1380149"/>
              <a:ext cx="489120" cy="620806"/>
            </a:xfrm>
            <a:prstGeom prst="rect">
              <a:avLst/>
            </a:prstGeom>
          </p:spPr>
        </p:pic>
      </p:grpSp>
      <p:sp>
        <p:nvSpPr>
          <p:cNvPr id="2" name="Title 1"/>
          <p:cNvSpPr>
            <a:spLocks noGrp="1"/>
          </p:cNvSpPr>
          <p:nvPr userDrawn="1">
            <p:ph type="title" hasCustomPrompt="1"/>
          </p:nvPr>
        </p:nvSpPr>
        <p:spPr>
          <a:xfrm>
            <a:off x="338412" y="1861426"/>
            <a:ext cx="5204486" cy="749876"/>
          </a:xfrm>
          <a:prstGeom prst="rect">
            <a:avLst/>
          </a:prstGeom>
        </p:spPr>
        <p:txBody>
          <a:bodyPr anchor="ctr">
            <a:normAutofit/>
          </a:bodyPr>
          <a:lstStyle>
            <a:lvl1pPr>
              <a:lnSpc>
                <a:spcPct val="90000"/>
              </a:lnSpc>
              <a:defRPr sz="2691" b="1" i="0" spc="0" baseline="0">
                <a:solidFill>
                  <a:schemeClr val="bg1"/>
                </a:solidFill>
                <a:latin typeface="Arial"/>
                <a:cs typeface="Arial"/>
              </a:defRPr>
            </a:lvl1pPr>
          </a:lstStyle>
          <a:p>
            <a:r>
              <a:rPr lang="en-US"/>
              <a:t>Unnecessarily extra long title of presentation</a:t>
            </a:r>
          </a:p>
        </p:txBody>
      </p:sp>
      <p:sp>
        <p:nvSpPr>
          <p:cNvPr id="11" name="Text Placeholder 19"/>
          <p:cNvSpPr>
            <a:spLocks noGrp="1"/>
          </p:cNvSpPr>
          <p:nvPr userDrawn="1">
            <p:ph type="body" sz="quarter" idx="10" hasCustomPrompt="1"/>
          </p:nvPr>
        </p:nvSpPr>
        <p:spPr>
          <a:xfrm>
            <a:off x="357113" y="3168953"/>
            <a:ext cx="5204487" cy="186817"/>
          </a:xfrm>
          <a:prstGeom prst="rect">
            <a:avLst/>
          </a:prstGeom>
        </p:spPr>
        <p:txBody>
          <a:bodyPr anchor="ctr">
            <a:noAutofit/>
          </a:bodyPr>
          <a:lstStyle>
            <a:lvl1pPr marL="0" indent="0">
              <a:buNone/>
              <a:defRPr sz="740" b="1" spc="54" baseline="0">
                <a:solidFill>
                  <a:srgbClr val="A6A6A6"/>
                </a:solidFill>
                <a:latin typeface="Arial"/>
                <a:cs typeface="Arial"/>
              </a:defRPr>
            </a:lvl1pPr>
          </a:lstStyle>
          <a:p>
            <a:pPr lvl="0"/>
            <a:r>
              <a:rPr lang="en-US"/>
              <a:t>INDIANA UNIVERSITY BLOOMINGTON</a:t>
            </a:r>
          </a:p>
        </p:txBody>
      </p:sp>
      <p:sp>
        <p:nvSpPr>
          <p:cNvPr id="9" name="Text Placeholder 19"/>
          <p:cNvSpPr>
            <a:spLocks noGrp="1"/>
          </p:cNvSpPr>
          <p:nvPr>
            <p:ph type="body" sz="quarter" idx="11" hasCustomPrompt="1"/>
          </p:nvPr>
        </p:nvSpPr>
        <p:spPr>
          <a:xfrm>
            <a:off x="357113" y="1644325"/>
            <a:ext cx="5204487" cy="169833"/>
          </a:xfrm>
          <a:prstGeom prst="rect">
            <a:avLst/>
          </a:prstGeom>
        </p:spPr>
        <p:txBody>
          <a:bodyPr anchor="ctr">
            <a:noAutofit/>
          </a:bodyPr>
          <a:lstStyle>
            <a:lvl1pPr marL="0" indent="0">
              <a:buNone/>
              <a:defRPr sz="1211" b="0" spc="0" baseline="0">
                <a:solidFill>
                  <a:srgbClr val="A6A6A6"/>
                </a:solidFill>
                <a:latin typeface="Arial"/>
                <a:cs typeface="Arial"/>
              </a:defRPr>
            </a:lvl1pPr>
          </a:lstStyle>
          <a:p>
            <a:pPr lvl="0"/>
            <a:r>
              <a:rPr lang="en-US"/>
              <a:t>SUBHEAD OR NAME OF SCHOOL, DEPARTMENT, OR UNIT</a:t>
            </a:r>
          </a:p>
        </p:txBody>
      </p:sp>
    </p:spTree>
    <p:extLst>
      <p:ext uri="{BB962C8B-B14F-4D97-AF65-F5344CB8AC3E}">
        <p14:creationId xmlns:p14="http://schemas.microsoft.com/office/powerpoint/2010/main" val="23622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927743" y="1608429"/>
            <a:ext cx="184731" cy="369332"/>
          </a:xfrm>
          <a:prstGeom prst="rect">
            <a:avLst/>
          </a:prstGeom>
          <a:noFill/>
        </p:spPr>
        <p:txBody>
          <a:bodyPr wrap="none" rtlCol="0">
            <a:spAutoFit/>
          </a:bodyPr>
          <a:lstStyle/>
          <a:p>
            <a:endParaRPr lang="en-US"/>
          </a:p>
        </p:txBody>
      </p:sp>
      <p:sp>
        <p:nvSpPr>
          <p:cNvPr id="10" name="TextBox 9"/>
          <p:cNvSpPr txBox="1"/>
          <p:nvPr userDrawn="1"/>
        </p:nvSpPr>
        <p:spPr>
          <a:xfrm>
            <a:off x="927743" y="1608429"/>
            <a:ext cx="184731" cy="369332"/>
          </a:xfrm>
          <a:prstGeom prst="rect">
            <a:avLst/>
          </a:prstGeom>
          <a:noFill/>
        </p:spPr>
        <p:txBody>
          <a:bodyPr wrap="none" rtlCol="0">
            <a:spAutoFit/>
          </a:bodyPr>
          <a:lstStyle/>
          <a:p>
            <a:endParaRPr lang="en-US"/>
          </a:p>
        </p:txBody>
      </p:sp>
      <p:sp>
        <p:nvSpPr>
          <p:cNvPr id="11" name="TextBox 10"/>
          <p:cNvSpPr txBox="1"/>
          <p:nvPr userDrawn="1"/>
        </p:nvSpPr>
        <p:spPr>
          <a:xfrm>
            <a:off x="927743" y="1608429"/>
            <a:ext cx="184731" cy="369332"/>
          </a:xfrm>
          <a:prstGeom prst="rect">
            <a:avLst/>
          </a:prstGeom>
          <a:noFill/>
        </p:spPr>
        <p:txBody>
          <a:bodyPr wrap="none" rtlCol="0">
            <a:spAutoFit/>
          </a:bodyPr>
          <a:lstStyle/>
          <a:p>
            <a:endParaRPr lang="en-US"/>
          </a:p>
        </p:txBody>
      </p:sp>
      <p:sp>
        <p:nvSpPr>
          <p:cNvPr id="14" name="Title 13"/>
          <p:cNvSpPr>
            <a:spLocks noGrp="1"/>
          </p:cNvSpPr>
          <p:nvPr>
            <p:ph type="title" hasCustomPrompt="1"/>
          </p:nvPr>
        </p:nvSpPr>
        <p:spPr>
          <a:xfrm>
            <a:off x="340963" y="1530388"/>
            <a:ext cx="4577504" cy="441995"/>
          </a:xfrm>
          <a:prstGeom prst="rect">
            <a:avLst/>
          </a:prstGeom>
        </p:spPr>
        <p:txBody>
          <a:bodyPr anchor="ctr">
            <a:noAutofit/>
          </a:bodyPr>
          <a:lstStyle>
            <a:lvl1pPr>
              <a:defRPr sz="2691" b="1" i="0" spc="0" baseline="0">
                <a:solidFill>
                  <a:srgbClr val="FFFFFF"/>
                </a:solidFill>
                <a:latin typeface="Arial"/>
                <a:cs typeface="Arial"/>
              </a:defRPr>
            </a:lvl1pPr>
          </a:lstStyle>
          <a:p>
            <a:r>
              <a:rPr lang="en-US"/>
              <a:t>Section Heading</a:t>
            </a:r>
          </a:p>
        </p:txBody>
      </p:sp>
      <p:sp>
        <p:nvSpPr>
          <p:cNvPr id="20" name="Text Placeholder 19"/>
          <p:cNvSpPr>
            <a:spLocks noGrp="1"/>
          </p:cNvSpPr>
          <p:nvPr>
            <p:ph type="body" sz="quarter" idx="10" hasCustomPrompt="1"/>
          </p:nvPr>
        </p:nvSpPr>
        <p:spPr>
          <a:xfrm>
            <a:off x="354042" y="1366765"/>
            <a:ext cx="2490103" cy="169833"/>
          </a:xfrm>
          <a:prstGeom prst="rect">
            <a:avLst/>
          </a:prstGeom>
        </p:spPr>
        <p:txBody>
          <a:bodyPr anchor="ctr">
            <a:noAutofit/>
          </a:bodyPr>
          <a:lstStyle>
            <a:lvl1pPr marL="0" indent="0">
              <a:buNone/>
              <a:defRPr sz="942" b="1" i="0" spc="34" baseline="0">
                <a:solidFill>
                  <a:srgbClr val="A6A6A6"/>
                </a:solidFill>
                <a:latin typeface="Arial"/>
                <a:cs typeface="Arial"/>
              </a:defRPr>
            </a:lvl1pPr>
          </a:lstStyle>
          <a:p>
            <a:pPr lvl="0"/>
            <a:r>
              <a:rPr lang="en-US"/>
              <a:t>SECTION NUMBER OR SUBTITLE</a:t>
            </a:r>
          </a:p>
        </p:txBody>
      </p:sp>
      <p:sp>
        <p:nvSpPr>
          <p:cNvPr id="4" name="Rectangle 3"/>
          <p:cNvSpPr/>
          <p:nvPr userDrawn="1"/>
        </p:nvSpPr>
        <p:spPr>
          <a:xfrm>
            <a:off x="-10055" y="1367210"/>
            <a:ext cx="100005" cy="562969"/>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6018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892" y="5531"/>
            <a:ext cx="5734926" cy="470359"/>
          </a:xfrm>
          <a:prstGeom prst="rect">
            <a:avLst/>
          </a:prstGeom>
        </p:spPr>
        <p:txBody>
          <a:bodyPr>
            <a:normAutofit/>
          </a:bodyPr>
          <a:lstStyle>
            <a:lvl1pPr>
              <a:defRPr sz="2018" b="1" i="0" cap="none" spc="0">
                <a:solidFill>
                  <a:srgbClr val="404041"/>
                </a:solidFill>
                <a:latin typeface="Arial"/>
                <a:cs typeface="Arial"/>
              </a:defRPr>
            </a:lvl1pPr>
          </a:lstStyle>
          <a:p>
            <a:r>
              <a:rPr lang="en-US"/>
              <a:t>Click to edit master title style</a:t>
            </a:r>
          </a:p>
        </p:txBody>
      </p:sp>
      <p:sp>
        <p:nvSpPr>
          <p:cNvPr id="4" name="TextBox 3"/>
          <p:cNvSpPr txBox="1"/>
          <p:nvPr userDrawn="1"/>
        </p:nvSpPr>
        <p:spPr>
          <a:xfrm>
            <a:off x="2392892" y="2382564"/>
            <a:ext cx="184731" cy="369332"/>
          </a:xfrm>
          <a:prstGeom prst="rect">
            <a:avLst/>
          </a:prstGeom>
          <a:noFill/>
        </p:spPr>
        <p:txBody>
          <a:bodyPr wrap="none" rtlCol="0">
            <a:spAutoFit/>
          </a:bodyPr>
          <a:lstStyle/>
          <a:p>
            <a:endParaRPr lang="en-US"/>
          </a:p>
        </p:txBody>
      </p:sp>
      <p:sp>
        <p:nvSpPr>
          <p:cNvPr id="7" name="Text Placeholder 2"/>
          <p:cNvSpPr>
            <a:spLocks noGrp="1"/>
          </p:cNvSpPr>
          <p:nvPr>
            <p:ph idx="1" hasCustomPrompt="1"/>
          </p:nvPr>
        </p:nvSpPr>
        <p:spPr>
          <a:xfrm>
            <a:off x="0" y="519857"/>
            <a:ext cx="5742952" cy="2467576"/>
          </a:xfrm>
          <a:prstGeom prst="rect">
            <a:avLst/>
          </a:prstGeom>
        </p:spPr>
        <p:txBody>
          <a:bodyPr vert="horz" lIns="91440" tIns="45720" rIns="91440" bIns="45720" rtlCol="0">
            <a:normAutofit/>
          </a:bodyPr>
          <a:lstStyle>
            <a:lvl1pPr marL="230703" marR="0" indent="-230703" algn="l" defTabSz="307604" rtl="0" eaLnBrk="1" fontAlgn="auto" latinLnBrk="0" hangingPunct="1">
              <a:lnSpc>
                <a:spcPct val="100000"/>
              </a:lnSpc>
              <a:spcBef>
                <a:spcPts val="0"/>
              </a:spcBef>
              <a:spcAft>
                <a:spcPts val="1211"/>
              </a:spcAft>
              <a:buClr>
                <a:schemeClr val="tx1">
                  <a:lumMod val="50000"/>
                  <a:lumOff val="50000"/>
                </a:schemeClr>
              </a:buClr>
              <a:buSzPct val="100000"/>
              <a:buFont typeface="+mj-lt"/>
              <a:buAutoNum type="arabicPeriod"/>
              <a:tabLst/>
              <a:defRPr sz="1211">
                <a:solidFill>
                  <a:srgbClr val="404041"/>
                </a:solidFill>
                <a:latin typeface="Arial"/>
                <a:cs typeface="Arial"/>
              </a:defRPr>
            </a:lvl1pPr>
            <a:lvl2pPr>
              <a:lnSpc>
                <a:spcPct val="100000"/>
              </a:lnSpc>
              <a:defRPr sz="1076">
                <a:solidFill>
                  <a:srgbClr val="404041"/>
                </a:solidFill>
                <a:latin typeface="Arial"/>
                <a:cs typeface="Arial"/>
              </a:defRPr>
            </a:lvl2pPr>
            <a:lvl3pPr>
              <a:lnSpc>
                <a:spcPct val="100000"/>
              </a:lnSpc>
              <a:defRPr sz="1076">
                <a:solidFill>
                  <a:srgbClr val="404041"/>
                </a:solidFill>
                <a:latin typeface="Arial"/>
                <a:cs typeface="Arial"/>
              </a:defRPr>
            </a:lvl3pPr>
            <a:lvl4pPr>
              <a:lnSpc>
                <a:spcPct val="100000"/>
              </a:lnSpc>
              <a:defRPr sz="1076">
                <a:solidFill>
                  <a:srgbClr val="404041"/>
                </a:solidFill>
                <a:latin typeface="Arial"/>
                <a:cs typeface="Arial"/>
              </a:defRPr>
            </a:lvl4pPr>
            <a:lvl5pPr>
              <a:lnSpc>
                <a:spcPct val="100000"/>
              </a:lnSpc>
              <a:defRPr sz="1076">
                <a:solidFill>
                  <a:srgbClr val="404041"/>
                </a:solidFill>
                <a:latin typeface="Arial"/>
                <a:cs typeface="Arial"/>
              </a:defRPr>
            </a:lvl5pPr>
          </a:lstStyle>
          <a:p>
            <a:pPr lvl="0"/>
            <a:r>
              <a:rPr lang="en-US"/>
              <a:t>Click to edit master subtitle style</a:t>
            </a:r>
          </a:p>
        </p:txBody>
      </p:sp>
      <p:grpSp>
        <p:nvGrpSpPr>
          <p:cNvPr id="12" name="Group 11"/>
          <p:cNvGrpSpPr/>
          <p:nvPr userDrawn="1"/>
        </p:nvGrpSpPr>
        <p:grpSpPr>
          <a:xfrm>
            <a:off x="-20718" y="3136453"/>
            <a:ext cx="6210124" cy="355907"/>
            <a:chOff x="-30788" y="4661517"/>
            <a:chExt cx="9228667" cy="528963"/>
          </a:xfrm>
        </p:grpSpPr>
        <p:sp>
          <p:nvSpPr>
            <p:cNvPr id="14" name="Rectangle 13"/>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21" name="TextBox 20"/>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669767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53485" y="312457"/>
            <a:ext cx="3068890" cy="524356"/>
          </a:xfrm>
          <a:prstGeom prst="rect">
            <a:avLst/>
          </a:prstGeom>
        </p:spPr>
        <p:txBody>
          <a:bodyPr vert="horz" lIns="91440" tIns="45720" rIns="91440" bIns="45720" rtlCol="0" anchor="ctr">
            <a:noAutofit/>
          </a:bodyPr>
          <a:lstStyle>
            <a:lvl1pPr>
              <a:defRPr sz="2018" b="1" i="0" spc="0">
                <a:solidFill>
                  <a:srgbClr val="404041"/>
                </a:solidFill>
                <a:latin typeface="Arial"/>
                <a:cs typeface="Arial"/>
              </a:defRPr>
            </a:lvl1pPr>
          </a:lstStyle>
          <a:p>
            <a:r>
              <a:rPr lang="en-US"/>
              <a:t>Click to edit master title style</a:t>
            </a:r>
          </a:p>
        </p:txBody>
      </p:sp>
      <p:sp>
        <p:nvSpPr>
          <p:cNvPr id="8" name="Text Placeholder 2"/>
          <p:cNvSpPr>
            <a:spLocks noGrp="1"/>
          </p:cNvSpPr>
          <p:nvPr>
            <p:ph idx="1"/>
          </p:nvPr>
        </p:nvSpPr>
        <p:spPr>
          <a:xfrm>
            <a:off x="353485" y="1096328"/>
            <a:ext cx="3068890" cy="1878811"/>
          </a:xfrm>
          <a:prstGeom prst="rect">
            <a:avLst/>
          </a:prstGeom>
        </p:spPr>
        <p:txBody>
          <a:bodyPr vert="horz" lIns="91440" tIns="45720" rIns="91440" bIns="45720" rtlCol="0">
            <a:normAutofit/>
          </a:bodyPr>
          <a:lstStyle>
            <a:lvl1pPr marL="230703" indent="-230703">
              <a:lnSpc>
                <a:spcPct val="100000"/>
              </a:lnSpc>
              <a:buFont typeface="Arial"/>
              <a:buChar char="•"/>
              <a:defRPr sz="1211">
                <a:solidFill>
                  <a:srgbClr val="404041"/>
                </a:solidFill>
                <a:latin typeface="Arial"/>
                <a:cs typeface="Arial"/>
              </a:defRPr>
            </a:lvl1pPr>
            <a:lvl2pPr marL="499857" indent="-192253">
              <a:lnSpc>
                <a:spcPct val="100000"/>
              </a:lnSpc>
              <a:buFont typeface="Arial"/>
              <a:buChar char="•"/>
              <a:defRPr sz="1211">
                <a:solidFill>
                  <a:srgbClr val="404041"/>
                </a:solidFill>
                <a:latin typeface="Arial"/>
                <a:cs typeface="Arial"/>
              </a:defRPr>
            </a:lvl2pPr>
            <a:lvl3pPr marL="769010" indent="-153802">
              <a:lnSpc>
                <a:spcPct val="100000"/>
              </a:lnSpc>
              <a:buFont typeface="Arial"/>
              <a:buChar char="•"/>
              <a:defRPr sz="1211">
                <a:solidFill>
                  <a:srgbClr val="404041"/>
                </a:solidFill>
                <a:latin typeface="Arial"/>
                <a:cs typeface="Arial"/>
              </a:defRPr>
            </a:lvl3pPr>
            <a:lvl4pPr marL="1076615" indent="-153802">
              <a:lnSpc>
                <a:spcPct val="100000"/>
              </a:lnSpc>
              <a:buFont typeface="Arial"/>
              <a:buChar char="•"/>
              <a:defRPr sz="1211">
                <a:solidFill>
                  <a:srgbClr val="404041"/>
                </a:solidFill>
                <a:latin typeface="Arial"/>
                <a:cs typeface="Arial"/>
              </a:defRPr>
            </a:lvl4pPr>
            <a:lvl5pPr marL="1384219" indent="-153802">
              <a:lnSpc>
                <a:spcPct val="100000"/>
              </a:lnSpc>
              <a:buFont typeface="Arial"/>
              <a:buChar char="•"/>
              <a:defRPr sz="1211">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0"/>
          </p:nvPr>
        </p:nvSpPr>
        <p:spPr>
          <a:xfrm>
            <a:off x="3750204" y="0"/>
            <a:ext cx="2402946" cy="276999"/>
          </a:xfrm>
          <a:prstGeom prst="rect">
            <a:avLst/>
          </a:prstGeom>
        </p:spPr>
        <p:txBody>
          <a:bodyPr/>
          <a:lstStyle/>
          <a:p>
            <a:r>
              <a:rPr lang="en-US"/>
              <a:t>Click icon to add picture</a:t>
            </a:r>
          </a:p>
        </p:txBody>
      </p:sp>
      <p:sp>
        <p:nvSpPr>
          <p:cNvPr id="17" name="Rectangle 16"/>
          <p:cNvSpPr/>
          <p:nvPr userDrawn="1"/>
        </p:nvSpPr>
        <p:spPr>
          <a:xfrm>
            <a:off x="0" y="32753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427506" y="3136453"/>
            <a:ext cx="260551" cy="355907"/>
            <a:chOff x="635303" y="4661517"/>
            <a:chExt cx="387197" cy="528963"/>
          </a:xfrm>
        </p:grpSpPr>
        <p:sp>
          <p:nvSpPr>
            <p:cNvPr id="11" name="Rectangle 10"/>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062382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only: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170" y="510732"/>
            <a:ext cx="5386300" cy="470359"/>
          </a:xfrm>
          <a:prstGeom prst="rect">
            <a:avLst/>
          </a:prstGeom>
        </p:spPr>
        <p:txBody>
          <a:bodyPr>
            <a:normAutofit/>
          </a:bodyPr>
          <a:lstStyle>
            <a:lvl1pPr>
              <a:defRPr sz="2018" b="1" i="0" cap="none" spc="0">
                <a:solidFill>
                  <a:schemeClr val="bg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352170" y="1097001"/>
            <a:ext cx="5390782" cy="1896579"/>
          </a:xfrm>
          <a:prstGeom prst="rect">
            <a:avLst/>
          </a:prstGeom>
        </p:spPr>
        <p:txBody>
          <a:bodyPr>
            <a:normAutofit/>
          </a:bodyPr>
          <a:lstStyle>
            <a:lvl1pPr marL="230703" indent="-230703" algn="l">
              <a:lnSpc>
                <a:spcPct val="100000"/>
              </a:lnSpc>
              <a:buFont typeface="+mj-lt"/>
              <a:buAutoNum type="arabicPeriod"/>
              <a:defRPr sz="1211" spc="0">
                <a:solidFill>
                  <a:schemeClr val="bg1"/>
                </a:solidFill>
                <a:latin typeface="Arial"/>
                <a:cs typeface="Arial"/>
              </a:defRPr>
            </a:lvl1pPr>
            <a:lvl2pPr marL="307604" indent="0" algn="ctr">
              <a:buNone/>
              <a:defRPr>
                <a:solidFill>
                  <a:schemeClr val="tx1">
                    <a:tint val="75000"/>
                  </a:schemeClr>
                </a:solidFill>
              </a:defRPr>
            </a:lvl2pPr>
            <a:lvl3pPr marL="615208" indent="0" algn="ctr">
              <a:buNone/>
              <a:defRPr>
                <a:solidFill>
                  <a:schemeClr val="tx1">
                    <a:tint val="75000"/>
                  </a:schemeClr>
                </a:solidFill>
              </a:defRPr>
            </a:lvl3pPr>
            <a:lvl4pPr marL="922812" indent="0" algn="ctr">
              <a:buNone/>
              <a:defRPr>
                <a:solidFill>
                  <a:schemeClr val="tx1">
                    <a:tint val="75000"/>
                  </a:schemeClr>
                </a:solidFill>
              </a:defRPr>
            </a:lvl4pPr>
            <a:lvl5pPr marL="1230417" indent="0" algn="ctr">
              <a:buNone/>
              <a:defRPr>
                <a:solidFill>
                  <a:schemeClr val="tx1">
                    <a:tint val="75000"/>
                  </a:schemeClr>
                </a:solidFill>
              </a:defRPr>
            </a:lvl5pPr>
            <a:lvl6pPr marL="1538021" indent="0" algn="ctr">
              <a:buNone/>
              <a:defRPr>
                <a:solidFill>
                  <a:schemeClr val="tx1">
                    <a:tint val="75000"/>
                  </a:schemeClr>
                </a:solidFill>
              </a:defRPr>
            </a:lvl6pPr>
            <a:lvl7pPr marL="1845625" indent="0" algn="ctr">
              <a:buNone/>
              <a:defRPr>
                <a:solidFill>
                  <a:schemeClr val="tx1">
                    <a:tint val="75000"/>
                  </a:schemeClr>
                </a:solidFill>
              </a:defRPr>
            </a:lvl7pPr>
            <a:lvl8pPr marL="2153229" indent="0" algn="ctr">
              <a:buNone/>
              <a:defRPr>
                <a:solidFill>
                  <a:schemeClr val="tx1">
                    <a:tint val="75000"/>
                  </a:schemeClr>
                </a:solidFill>
              </a:defRPr>
            </a:lvl8pPr>
            <a:lvl9pPr marL="2460833" indent="0" algn="ctr">
              <a:buNone/>
              <a:defRPr>
                <a:solidFill>
                  <a:schemeClr val="tx1">
                    <a:tint val="75000"/>
                  </a:schemeClr>
                </a:solidFill>
              </a:defRPr>
            </a:lvl9pPr>
          </a:lstStyle>
          <a:p>
            <a:r>
              <a:rPr lang="en-US"/>
              <a:t>Click to edit Master subtitle style</a:t>
            </a:r>
          </a:p>
        </p:txBody>
      </p:sp>
      <p:sp>
        <p:nvSpPr>
          <p:cNvPr id="13" name="Text Placeholder 19"/>
          <p:cNvSpPr>
            <a:spLocks noGrp="1"/>
          </p:cNvSpPr>
          <p:nvPr>
            <p:ph type="body" sz="quarter" idx="10" hasCustomPrompt="1"/>
          </p:nvPr>
        </p:nvSpPr>
        <p:spPr>
          <a:xfrm>
            <a:off x="3252849" y="191723"/>
            <a:ext cx="2490103" cy="169833"/>
          </a:xfrm>
          <a:prstGeom prst="rect">
            <a:avLst/>
          </a:prstGeom>
        </p:spPr>
        <p:txBody>
          <a:bodyPr>
            <a:noAutofit/>
          </a:bodyPr>
          <a:lstStyle>
            <a:lvl1pPr marL="0" indent="0" algn="r">
              <a:buNone/>
              <a:defRPr sz="740" b="0" i="0" spc="0" baseline="0">
                <a:solidFill>
                  <a:srgbClr val="A6A6A6"/>
                </a:solidFill>
                <a:latin typeface="Arial"/>
                <a:cs typeface="Arial"/>
              </a:defRPr>
            </a:lvl1pPr>
          </a:lstStyle>
          <a:p>
            <a:pPr lvl="0"/>
            <a:r>
              <a:rPr lang="en-US"/>
              <a:t>SECTION TITLE OR SUBTITLE</a:t>
            </a:r>
          </a:p>
        </p:txBody>
      </p:sp>
      <p:sp>
        <p:nvSpPr>
          <p:cNvPr id="23" name="Rectangle 22"/>
          <p:cNvSpPr/>
          <p:nvPr userDrawn="1"/>
        </p:nvSpPr>
        <p:spPr>
          <a:xfrm>
            <a:off x="0" y="64446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20718" y="3136453"/>
            <a:ext cx="6210124" cy="355907"/>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56338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photo: black">
    <p:bg>
      <p:bgPr>
        <a:solidFill>
          <a:srgbClr val="252626"/>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356729" y="312457"/>
            <a:ext cx="3068890" cy="524356"/>
          </a:xfrm>
          <a:prstGeom prst="rect">
            <a:avLst/>
          </a:prstGeom>
        </p:spPr>
        <p:txBody>
          <a:bodyPr vert="horz" lIns="91440" tIns="45720" rIns="91440" bIns="45720" rtlCol="0" anchor="ctr">
            <a:noAutofit/>
          </a:bodyPr>
          <a:lstStyle>
            <a:lvl1pPr>
              <a:defRPr sz="2018" b="1" i="0" spc="0">
                <a:solidFill>
                  <a:schemeClr val="bg1"/>
                </a:solidFill>
                <a:latin typeface="Arial"/>
                <a:cs typeface="Arial"/>
              </a:defRPr>
            </a:lvl1pPr>
          </a:lstStyle>
          <a:p>
            <a:r>
              <a:rPr lang="en-US"/>
              <a:t>Click to edit master title style</a:t>
            </a:r>
          </a:p>
        </p:txBody>
      </p:sp>
      <p:sp>
        <p:nvSpPr>
          <p:cNvPr id="8" name="Text Placeholder 2"/>
          <p:cNvSpPr>
            <a:spLocks noGrp="1"/>
          </p:cNvSpPr>
          <p:nvPr>
            <p:ph idx="1"/>
          </p:nvPr>
        </p:nvSpPr>
        <p:spPr>
          <a:xfrm>
            <a:off x="356729" y="1096328"/>
            <a:ext cx="3068890" cy="1884958"/>
          </a:xfrm>
          <a:prstGeom prst="rect">
            <a:avLst/>
          </a:prstGeom>
        </p:spPr>
        <p:txBody>
          <a:bodyPr vert="horz" lIns="91440" tIns="45720" rIns="91440" bIns="45720" rtlCol="0">
            <a:normAutofit/>
          </a:bodyPr>
          <a:lstStyle>
            <a:lvl1pPr marL="230703" indent="-230703">
              <a:lnSpc>
                <a:spcPct val="100000"/>
              </a:lnSpc>
              <a:buFont typeface="Arial"/>
              <a:buChar char="•"/>
              <a:defRPr sz="1211">
                <a:solidFill>
                  <a:schemeClr val="bg1"/>
                </a:solidFill>
                <a:latin typeface="Arial"/>
                <a:cs typeface="Arial"/>
              </a:defRPr>
            </a:lvl1pPr>
            <a:lvl2pPr marL="499857" indent="-192253">
              <a:lnSpc>
                <a:spcPct val="100000"/>
              </a:lnSpc>
              <a:buFont typeface="Arial"/>
              <a:buChar char="•"/>
              <a:defRPr sz="1211">
                <a:solidFill>
                  <a:schemeClr val="bg1"/>
                </a:solidFill>
                <a:latin typeface="Arial"/>
                <a:cs typeface="Arial"/>
              </a:defRPr>
            </a:lvl2pPr>
            <a:lvl3pPr marL="769010" indent="-153802">
              <a:lnSpc>
                <a:spcPct val="100000"/>
              </a:lnSpc>
              <a:buFont typeface="Arial"/>
              <a:buChar char="•"/>
              <a:defRPr sz="1211">
                <a:solidFill>
                  <a:schemeClr val="bg1"/>
                </a:solidFill>
                <a:latin typeface="Arial"/>
                <a:cs typeface="Arial"/>
              </a:defRPr>
            </a:lvl3pPr>
            <a:lvl4pPr marL="1076615" indent="-153802">
              <a:lnSpc>
                <a:spcPct val="100000"/>
              </a:lnSpc>
              <a:buFont typeface="Arial"/>
              <a:buChar char="•"/>
              <a:defRPr sz="1211">
                <a:solidFill>
                  <a:schemeClr val="bg1"/>
                </a:solidFill>
                <a:latin typeface="Arial"/>
                <a:cs typeface="Arial"/>
              </a:defRPr>
            </a:lvl4pPr>
            <a:lvl5pPr marL="1384219" indent="-153802">
              <a:lnSpc>
                <a:spcPct val="100000"/>
              </a:lnSpc>
              <a:buFont typeface="Arial"/>
              <a:buChar char="•"/>
              <a:defRPr sz="1211">
                <a:solidFill>
                  <a:schemeClr val="bg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0"/>
          </p:nvPr>
        </p:nvSpPr>
        <p:spPr>
          <a:xfrm>
            <a:off x="3744720" y="0"/>
            <a:ext cx="2402946" cy="276999"/>
          </a:xfrm>
          <a:prstGeom prst="rect">
            <a:avLst/>
          </a:prstGeom>
        </p:spPr>
        <p:txBody>
          <a:bodyPr/>
          <a:lstStyle/>
          <a:p>
            <a:r>
              <a:rPr lang="en-US"/>
              <a:t>Click icon to add picture</a:t>
            </a:r>
          </a:p>
        </p:txBody>
      </p:sp>
      <p:sp>
        <p:nvSpPr>
          <p:cNvPr id="13" name="Rectangle 12"/>
          <p:cNvSpPr/>
          <p:nvPr userDrawn="1"/>
        </p:nvSpPr>
        <p:spPr>
          <a:xfrm>
            <a:off x="-10664" y="327538"/>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427506" y="3136453"/>
            <a:ext cx="260551" cy="355907"/>
            <a:chOff x="635303" y="4661517"/>
            <a:chExt cx="387197" cy="528963"/>
          </a:xfrm>
        </p:grpSpPr>
        <p:sp>
          <p:nvSpPr>
            <p:cNvPr id="12" name="Rectangle 11"/>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37827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grpSp>
        <p:nvGrpSpPr>
          <p:cNvPr id="8" name="Group 7"/>
          <p:cNvGrpSpPr/>
          <p:nvPr userDrawn="1"/>
        </p:nvGrpSpPr>
        <p:grpSpPr>
          <a:xfrm>
            <a:off x="-20718" y="3136453"/>
            <a:ext cx="6210124" cy="355907"/>
            <a:chOff x="-30788" y="4661517"/>
            <a:chExt cx="9228667" cy="528963"/>
          </a:xfrm>
        </p:grpSpPr>
        <p:sp>
          <p:nvSpPr>
            <p:cNvPr id="9" name="Rectangle 8"/>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2" name="TextBox 11"/>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886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with footer: black">
    <p:bg>
      <p:bgPr>
        <a:solidFill>
          <a:srgbClr val="25262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20718" y="3136453"/>
            <a:ext cx="6210124" cy="355907"/>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01258"/>
              <a:ext cx="3613600" cy="275793"/>
            </a:xfrm>
            <a:prstGeom prst="rect">
              <a:avLst/>
            </a:prstGeom>
            <a:noFill/>
          </p:spPr>
          <p:txBody>
            <a:bodyPr wrap="square" rtlCol="0" anchor="ctr">
              <a:spAutoFit/>
            </a:bodyPr>
            <a:lstStyle/>
            <a:p>
              <a:r>
                <a:rPr lang="en-US" sz="606">
                  <a:solidFill>
                    <a:srgbClr val="FFFFFF"/>
                  </a:solidFill>
                </a:rPr>
                <a:t>INDIANA UNIVERSITY BLOOMINGTON</a:t>
              </a:r>
            </a:p>
          </p:txBody>
        </p:sp>
      </p:grpSp>
    </p:spTree>
    <p:extLst>
      <p:ext uri="{BB962C8B-B14F-4D97-AF65-F5344CB8AC3E}">
        <p14:creationId xmlns:p14="http://schemas.microsoft.com/office/powerpoint/2010/main" val="1665751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slide with IUPUI lockup">
    <p:bg>
      <p:bgPr>
        <a:solidFill>
          <a:srgbClr val="690304"/>
        </a:solidFill>
        <a:effectLst/>
      </p:bgPr>
    </p:bg>
    <p:spTree>
      <p:nvGrpSpPr>
        <p:cNvPr id="1" name=""/>
        <p:cNvGrpSpPr/>
        <p:nvPr/>
      </p:nvGrpSpPr>
      <p:grpSpPr>
        <a:xfrm>
          <a:off x="0" y="0"/>
          <a:ext cx="0" cy="0"/>
          <a:chOff x="0" y="0"/>
          <a:chExt cx="0" cy="0"/>
        </a:xfrm>
      </p:grpSpPr>
      <p:sp>
        <p:nvSpPr>
          <p:cNvPr id="8" name="Text Placeholder 2"/>
          <p:cNvSpPr>
            <a:spLocks noGrp="1"/>
          </p:cNvSpPr>
          <p:nvPr userDrawn="1">
            <p:ph idx="1"/>
          </p:nvPr>
        </p:nvSpPr>
        <p:spPr>
          <a:xfrm>
            <a:off x="361089" y="457798"/>
            <a:ext cx="5288577" cy="1831244"/>
          </a:xfrm>
          <a:prstGeom prst="rect">
            <a:avLst/>
          </a:prstGeom>
        </p:spPr>
        <p:txBody>
          <a:bodyPr vert="horz" lIns="91440" tIns="45720" rIns="91440" bIns="45720" rtlCol="0">
            <a:normAutofit/>
          </a:bodyPr>
          <a:lstStyle>
            <a:lvl1pPr marL="0" indent="0">
              <a:lnSpc>
                <a:spcPct val="100000"/>
              </a:lnSpc>
              <a:buNone/>
              <a:defRPr sz="1211">
                <a:solidFill>
                  <a:schemeClr val="bg1"/>
                </a:solidFill>
                <a:latin typeface="Arial"/>
                <a:cs typeface="Arial"/>
              </a:defRPr>
            </a:lvl1pPr>
            <a:lvl2pPr marL="307604" indent="0">
              <a:lnSpc>
                <a:spcPct val="100000"/>
              </a:lnSpc>
              <a:buNone/>
              <a:defRPr sz="1076">
                <a:solidFill>
                  <a:schemeClr val="bg1"/>
                </a:solidFill>
                <a:latin typeface="Arial"/>
                <a:cs typeface="Arial"/>
              </a:defRPr>
            </a:lvl2pPr>
            <a:lvl3pPr marL="615208" indent="0">
              <a:lnSpc>
                <a:spcPct val="100000"/>
              </a:lnSpc>
              <a:buNone/>
              <a:defRPr sz="1076">
                <a:solidFill>
                  <a:schemeClr val="bg1"/>
                </a:solidFill>
                <a:latin typeface="Arial"/>
                <a:cs typeface="Arial"/>
              </a:defRPr>
            </a:lvl3pPr>
            <a:lvl4pPr marL="922812" indent="0">
              <a:lnSpc>
                <a:spcPct val="100000"/>
              </a:lnSpc>
              <a:buNone/>
              <a:defRPr sz="1076">
                <a:solidFill>
                  <a:schemeClr val="bg1"/>
                </a:solidFill>
                <a:latin typeface="Arial"/>
                <a:cs typeface="Arial"/>
              </a:defRPr>
            </a:lvl4pPr>
            <a:lvl5pPr>
              <a:lnSpc>
                <a:spcPct val="100000"/>
              </a:lnSpc>
              <a:defRPr sz="1076">
                <a:solidFill>
                  <a:schemeClr val="bg1"/>
                </a:solidFill>
                <a:latin typeface="Arial"/>
                <a:cs typeface="Arial"/>
              </a:defRPr>
            </a:lvl5pPr>
          </a:lstStyle>
          <a:p>
            <a:pPr lvl="0"/>
            <a:r>
              <a:rPr lang="en-US"/>
              <a:t>Click to edit Master text styles</a:t>
            </a:r>
          </a:p>
        </p:txBody>
      </p:sp>
      <p:sp>
        <p:nvSpPr>
          <p:cNvPr id="10" name="Rectangle 9"/>
          <p:cNvSpPr/>
          <p:nvPr userDrawn="1"/>
        </p:nvSpPr>
        <p:spPr>
          <a:xfrm>
            <a:off x="-10664" y="457799"/>
            <a:ext cx="55626" cy="26052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424639" y="2849869"/>
            <a:ext cx="360771" cy="62041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8D10E6-FF8A-CC4E-B6D5-BFBD2D0FEC82}"/>
              </a:ext>
            </a:extLst>
          </p:cNvPr>
          <p:cNvPicPr>
            <a:picLocks noChangeAspect="1"/>
          </p:cNvPicPr>
          <p:nvPr userDrawn="1"/>
        </p:nvPicPr>
        <p:blipFill rotWithShape="1">
          <a:blip r:embed="rId2"/>
          <a:srcRect l="11083" t="-148" r="-1556" b="28718"/>
          <a:stretch/>
        </p:blipFill>
        <p:spPr>
          <a:xfrm>
            <a:off x="834742" y="2790450"/>
            <a:ext cx="3110374" cy="307622"/>
          </a:xfrm>
          <a:prstGeom prst="rect">
            <a:avLst/>
          </a:prstGeom>
        </p:spPr>
      </p:pic>
      <p:pic>
        <p:nvPicPr>
          <p:cNvPr id="13" name="Picture 12" descr="tab-rgb.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4732" y="2910749"/>
            <a:ext cx="240585" cy="305323"/>
          </a:xfrm>
          <a:prstGeom prst="rect">
            <a:avLst/>
          </a:prstGeom>
        </p:spPr>
      </p:pic>
    </p:spTree>
    <p:extLst>
      <p:ext uri="{BB962C8B-B14F-4D97-AF65-F5344CB8AC3E}">
        <p14:creationId xmlns:p14="http://schemas.microsoft.com/office/powerpoint/2010/main" val="307404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hyperlink" Target="https://www.jpmorganchase.com/institute/all-topics/financial-health-wealth-creation/household-cash-buffer-management-from-the-great-recession-through-covid-19" TargetMode="External"/><Relationship Id="rId5" Type="http://schemas.openxmlformats.org/officeDocument/2006/relationships/image" Target="../media/image6.png"/><Relationship Id="rId4" Type="http://schemas.openxmlformats.org/officeDocument/2006/relationships/hyperlink" Target="https://www.cnbc.com/select/cash-debit-or-credit-for-everyday-purchase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kff.org/health-costs/issue-brief/most-nonprofit-hospitals-and-health-systems-analyzed-had-adequate-or-strong-days-of-cash-on-hand-in-2022-though-about-one-in-ten-did-not/"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hyperlink" Target="https://blogs.lse.ac.uk/businessreview/2022/11/01/why-some-businesses-prefer-cash-over-credit-lines/"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schoolboardspotlight.org/silver-falls-school-board-approves-taking-out-short-term-loan-to-avoid-running-out-of-cash/"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9.xml"/><Relationship Id="rId5" Type="http://schemas.openxmlformats.org/officeDocument/2006/relationships/image" Target="../media/image130.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9.xml"/><Relationship Id="rId5" Type="http://schemas.openxmlformats.org/officeDocument/2006/relationships/image" Target="../media/image130.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slide" Target="slide7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slide" Target="slide79.xml"/><Relationship Id="rId2" Type="http://schemas.openxmlformats.org/officeDocument/2006/relationships/slide" Target="slide52.xml"/><Relationship Id="rId1" Type="http://schemas.openxmlformats.org/officeDocument/2006/relationships/slideLayout" Target="../slideLayouts/slideLayout9.xml"/><Relationship Id="rId5" Type="http://schemas.openxmlformats.org/officeDocument/2006/relationships/slide" Target="slide80.xml"/><Relationship Id="rId4" Type="http://schemas.openxmlformats.org/officeDocument/2006/relationships/slide" Target="slide8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hyperlink" Target="mailto://lunavarr@iu.edu" TargetMode="External"/><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31.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80.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33.png"/><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81.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35.png"/><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8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84" y="1645716"/>
            <a:ext cx="5450404" cy="965586"/>
          </a:xfrm>
        </p:spPr>
        <p:txBody>
          <a:bodyPr vert="horz" wrap="square" lIns="61524" tIns="30762" rIns="61524" bIns="30762" rtlCol="0" anchor="ctr">
            <a:noAutofit/>
          </a:bodyPr>
          <a:lstStyle/>
          <a:p>
            <a:r>
              <a:rPr lang="en-US" sz="1600" dirty="0"/>
              <a:t>Cash Reserves and Short-Term Debt Under Liquidity Constraints</a:t>
            </a:r>
          </a:p>
        </p:txBody>
      </p:sp>
      <p:sp>
        <p:nvSpPr>
          <p:cNvPr id="3" name="Text Placeholder 2"/>
          <p:cNvSpPr>
            <a:spLocks noGrp="1"/>
          </p:cNvSpPr>
          <p:nvPr>
            <p:ph type="body" sz="quarter" idx="10"/>
          </p:nvPr>
        </p:nvSpPr>
        <p:spPr/>
        <p:txBody>
          <a:bodyPr/>
          <a:lstStyle/>
          <a:p>
            <a:r>
              <a:rPr lang="en-US" sz="500" dirty="0"/>
              <a:t>INDIANA UNIVERSITY BLOOMINGTON</a:t>
            </a:r>
          </a:p>
        </p:txBody>
      </p:sp>
      <p:sp>
        <p:nvSpPr>
          <p:cNvPr id="4" name="Text Placeholder 3"/>
          <p:cNvSpPr>
            <a:spLocks noGrp="1"/>
          </p:cNvSpPr>
          <p:nvPr>
            <p:ph type="body" sz="quarter" idx="11"/>
          </p:nvPr>
        </p:nvSpPr>
        <p:spPr>
          <a:xfrm>
            <a:off x="357425" y="1409856"/>
            <a:ext cx="5203890" cy="169833"/>
          </a:xfrm>
        </p:spPr>
        <p:txBody>
          <a:bodyPr/>
          <a:lstStyle/>
          <a:p>
            <a:r>
              <a:rPr lang="en-US" sz="1100"/>
              <a:t>O’Neill School of Public and Environmental Affairs</a:t>
            </a:r>
          </a:p>
        </p:txBody>
      </p:sp>
      <p:sp>
        <p:nvSpPr>
          <p:cNvPr id="5" name="TextBox 4">
            <a:extLst>
              <a:ext uri="{FF2B5EF4-FFF2-40B4-BE49-F238E27FC236}">
                <a16:creationId xmlns:a16="http://schemas.microsoft.com/office/drawing/2014/main" id="{E22B7186-A936-9746-A155-796B13E0033F}"/>
              </a:ext>
            </a:extLst>
          </p:cNvPr>
          <p:cNvSpPr txBox="1"/>
          <p:nvPr/>
        </p:nvSpPr>
        <p:spPr>
          <a:xfrm>
            <a:off x="357425" y="2611302"/>
            <a:ext cx="1354912" cy="277568"/>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r>
              <a:rPr lang="en-US" sz="1400" b="1" dirty="0">
                <a:solidFill>
                  <a:schemeClr val="bg1">
                    <a:lumMod val="65000"/>
                  </a:schemeClr>
                </a:solidFill>
                <a:cs typeface="Arial"/>
              </a:rPr>
              <a:t>Luis Navarro</a:t>
            </a:r>
          </a:p>
        </p:txBody>
      </p:sp>
      <p:sp>
        <p:nvSpPr>
          <p:cNvPr id="6" name="TextBox 5">
            <a:extLst>
              <a:ext uri="{FF2B5EF4-FFF2-40B4-BE49-F238E27FC236}">
                <a16:creationId xmlns:a16="http://schemas.microsoft.com/office/drawing/2014/main" id="{F8B69257-E43E-F056-0981-6299885388AA}"/>
              </a:ext>
            </a:extLst>
          </p:cNvPr>
          <p:cNvSpPr txBox="1"/>
          <p:nvPr/>
        </p:nvSpPr>
        <p:spPr>
          <a:xfrm>
            <a:off x="4034217" y="2649458"/>
            <a:ext cx="1848571" cy="308346"/>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pPr algn="r"/>
            <a:r>
              <a:rPr lang="en-US" sz="800" dirty="0">
                <a:solidFill>
                  <a:schemeClr val="bg1"/>
                </a:solidFill>
                <a:cs typeface="Arial"/>
              </a:rPr>
              <a:t>Job Market Talk</a:t>
            </a:r>
          </a:p>
          <a:p>
            <a:pPr algn="r"/>
            <a:r>
              <a:rPr lang="en-US" sz="800" dirty="0">
                <a:solidFill>
                  <a:schemeClr val="bg1"/>
                </a:solidFill>
                <a:cs typeface="Arial"/>
              </a:rPr>
              <a:t>October 2024</a:t>
            </a:r>
          </a:p>
        </p:txBody>
      </p:sp>
    </p:spTree>
    <p:extLst>
      <p:ext uri="{BB962C8B-B14F-4D97-AF65-F5344CB8AC3E}">
        <p14:creationId xmlns:p14="http://schemas.microsoft.com/office/powerpoint/2010/main" val="9190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923EF-11A1-2DB9-A84D-52F4A133B02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C1F4859-9FE5-72FD-D2B4-60DBDC01818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Introduction – Luis Navarro</a:t>
            </a:r>
          </a:p>
        </p:txBody>
      </p:sp>
      <p:grpSp>
        <p:nvGrpSpPr>
          <p:cNvPr id="3" name="Group 2">
            <a:extLst>
              <a:ext uri="{FF2B5EF4-FFF2-40B4-BE49-F238E27FC236}">
                <a16:creationId xmlns:a16="http://schemas.microsoft.com/office/drawing/2014/main" id="{994E8809-B53D-CA28-5585-44C23110C954}"/>
              </a:ext>
            </a:extLst>
          </p:cNvPr>
          <p:cNvGrpSpPr/>
          <p:nvPr/>
        </p:nvGrpSpPr>
        <p:grpSpPr>
          <a:xfrm>
            <a:off x="1669210" y="295337"/>
            <a:ext cx="2849793" cy="2870069"/>
            <a:chOff x="3678665" y="1101437"/>
            <a:chExt cx="4834674" cy="4834677"/>
          </a:xfrm>
        </p:grpSpPr>
        <p:sp>
          <p:nvSpPr>
            <p:cNvPr id="5" name="Freeform: Shape 48">
              <a:extLst>
                <a:ext uri="{FF2B5EF4-FFF2-40B4-BE49-F238E27FC236}">
                  <a16:creationId xmlns:a16="http://schemas.microsoft.com/office/drawing/2014/main" id="{5E3F3668-3BB9-AE69-B182-8BFB3DD4AE15}"/>
                </a:ext>
              </a:extLst>
            </p:cNvPr>
            <p:cNvSpPr/>
            <p:nvPr/>
          </p:nvSpPr>
          <p:spPr>
            <a:xfrm rot="5400000">
              <a:off x="6095999" y="2137440"/>
              <a:ext cx="1381337" cy="1381335"/>
            </a:xfrm>
            <a:custGeom>
              <a:avLst/>
              <a:gdLst>
                <a:gd name="connsiteX0" fmla="*/ 0 w 1011382"/>
                <a:gd name="connsiteY0" fmla="*/ 252844 h 1011381"/>
                <a:gd name="connsiteX1" fmla="*/ 20548 w 1011382"/>
                <a:gd name="connsiteY1" fmla="*/ 49015 h 1011381"/>
                <a:gd name="connsiteX2" fmla="*/ 26370 w 1011382"/>
                <a:gd name="connsiteY2" fmla="*/ 26371 h 1011381"/>
                <a:gd name="connsiteX3" fmla="*/ 49017 w 1011382"/>
                <a:gd name="connsiteY3" fmla="*/ 20548 h 1011381"/>
                <a:gd name="connsiteX4" fmla="*/ 252846 w 1011382"/>
                <a:gd name="connsiteY4" fmla="*/ 0 h 1011381"/>
                <a:gd name="connsiteX5" fmla="*/ 968001 w 1011382"/>
                <a:gd name="connsiteY5" fmla="*/ 296227 h 1011381"/>
                <a:gd name="connsiteX6" fmla="*/ 1011382 w 1011382"/>
                <a:gd name="connsiteY6" fmla="*/ 343958 h 1011381"/>
                <a:gd name="connsiteX7" fmla="*/ 989487 w 1011382"/>
                <a:gd name="connsiteY7" fmla="*/ 368048 h 1011381"/>
                <a:gd name="connsiteX8" fmla="*/ 804007 w 1011382"/>
                <a:gd name="connsiteY8" fmla="*/ 710627 h 1011381"/>
                <a:gd name="connsiteX9" fmla="*/ 784908 w 1011382"/>
                <a:gd name="connsiteY9" fmla="*/ 784906 h 1011381"/>
                <a:gd name="connsiteX10" fmla="*/ 710629 w 1011382"/>
                <a:gd name="connsiteY10" fmla="*/ 804005 h 1011381"/>
                <a:gd name="connsiteX11" fmla="*/ 368050 w 1011382"/>
                <a:gd name="connsiteY11" fmla="*/ 989485 h 1011381"/>
                <a:gd name="connsiteX12" fmla="*/ 343959 w 1011382"/>
                <a:gd name="connsiteY12" fmla="*/ 1011381 h 1011381"/>
                <a:gd name="connsiteX13" fmla="*/ 296227 w 1011382"/>
                <a:gd name="connsiteY13" fmla="*/ 967999 h 1011381"/>
                <a:gd name="connsiteX14" fmla="*/ 0 w 1011382"/>
                <a:gd name="connsiteY14" fmla="*/ 252844 h 10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1">
                  <a:moveTo>
                    <a:pt x="0" y="252844"/>
                  </a:moveTo>
                  <a:cubicBezTo>
                    <a:pt x="0" y="183023"/>
                    <a:pt x="7075" y="114854"/>
                    <a:pt x="20548" y="49015"/>
                  </a:cubicBezTo>
                  <a:lnTo>
                    <a:pt x="26370" y="26371"/>
                  </a:lnTo>
                  <a:lnTo>
                    <a:pt x="49017" y="20548"/>
                  </a:lnTo>
                  <a:cubicBezTo>
                    <a:pt x="114856" y="7075"/>
                    <a:pt x="183024" y="0"/>
                    <a:pt x="252846" y="0"/>
                  </a:cubicBezTo>
                  <a:cubicBezTo>
                    <a:pt x="532131" y="0"/>
                    <a:pt x="784977" y="113203"/>
                    <a:pt x="968001" y="296227"/>
                  </a:cubicBezTo>
                  <a:lnTo>
                    <a:pt x="1011382" y="343958"/>
                  </a:lnTo>
                  <a:lnTo>
                    <a:pt x="989487" y="368048"/>
                  </a:lnTo>
                  <a:cubicBezTo>
                    <a:pt x="907042" y="467949"/>
                    <a:pt x="843408" y="583950"/>
                    <a:pt x="804007" y="710627"/>
                  </a:cubicBezTo>
                  <a:lnTo>
                    <a:pt x="784908" y="784906"/>
                  </a:lnTo>
                  <a:lnTo>
                    <a:pt x="710629" y="804005"/>
                  </a:lnTo>
                  <a:cubicBezTo>
                    <a:pt x="583951" y="843406"/>
                    <a:pt x="467951" y="907040"/>
                    <a:pt x="368050" y="989485"/>
                  </a:cubicBezTo>
                  <a:lnTo>
                    <a:pt x="343959" y="1011381"/>
                  </a:lnTo>
                  <a:lnTo>
                    <a:pt x="296227" y="967999"/>
                  </a:lnTo>
                  <a:cubicBezTo>
                    <a:pt x="113203" y="784975"/>
                    <a:pt x="0" y="532130"/>
                    <a:pt x="0" y="252844"/>
                  </a:cubicBezTo>
                  <a:close/>
                </a:path>
              </a:pathLst>
            </a:custGeom>
            <a:solidFill>
              <a:schemeClr val="accent1">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49">
              <a:extLst>
                <a:ext uri="{FF2B5EF4-FFF2-40B4-BE49-F238E27FC236}">
                  <a16:creationId xmlns:a16="http://schemas.microsoft.com/office/drawing/2014/main" id="{8A87BD0B-8033-10CE-3856-E2D89DC3FB20}"/>
                </a:ext>
              </a:extLst>
            </p:cNvPr>
            <p:cNvSpPr/>
            <p:nvPr/>
          </p:nvSpPr>
          <p:spPr>
            <a:xfrm rot="5400000">
              <a:off x="4714663" y="2137440"/>
              <a:ext cx="1381337" cy="1381338"/>
            </a:xfrm>
            <a:custGeom>
              <a:avLst/>
              <a:gdLst>
                <a:gd name="connsiteX0" fmla="*/ 0 w 1011382"/>
                <a:gd name="connsiteY0" fmla="*/ 758536 h 1011383"/>
                <a:gd name="connsiteX1" fmla="*/ 296227 w 1011382"/>
                <a:gd name="connsiteY1" fmla="*/ 43381 h 1011383"/>
                <a:gd name="connsiteX2" fmla="*/ 343958 w 1011382"/>
                <a:gd name="connsiteY2" fmla="*/ 0 h 1011383"/>
                <a:gd name="connsiteX3" fmla="*/ 368048 w 1011382"/>
                <a:gd name="connsiteY3" fmla="*/ 21895 h 1011383"/>
                <a:gd name="connsiteX4" fmla="*/ 710627 w 1011382"/>
                <a:gd name="connsiteY4" fmla="*/ 207375 h 1011383"/>
                <a:gd name="connsiteX5" fmla="*/ 784907 w 1011382"/>
                <a:gd name="connsiteY5" fmla="*/ 226475 h 1011383"/>
                <a:gd name="connsiteX6" fmla="*/ 804006 w 1011382"/>
                <a:gd name="connsiteY6" fmla="*/ 300754 h 1011383"/>
                <a:gd name="connsiteX7" fmla="*/ 989486 w 1011382"/>
                <a:gd name="connsiteY7" fmla="*/ 643333 h 1011383"/>
                <a:gd name="connsiteX8" fmla="*/ 1011382 w 1011382"/>
                <a:gd name="connsiteY8" fmla="*/ 667425 h 1011383"/>
                <a:gd name="connsiteX9" fmla="*/ 968000 w 1011382"/>
                <a:gd name="connsiteY9" fmla="*/ 715156 h 1011383"/>
                <a:gd name="connsiteX10" fmla="*/ 252845 w 1011382"/>
                <a:gd name="connsiteY10" fmla="*/ 1011383 h 1011383"/>
                <a:gd name="connsiteX11" fmla="*/ 49016 w 1011382"/>
                <a:gd name="connsiteY11" fmla="*/ 990835 h 1011383"/>
                <a:gd name="connsiteX12" fmla="*/ 26371 w 1011382"/>
                <a:gd name="connsiteY12" fmla="*/ 985013 h 1011383"/>
                <a:gd name="connsiteX13" fmla="*/ 20548 w 1011382"/>
                <a:gd name="connsiteY13" fmla="*/ 962365 h 1011383"/>
                <a:gd name="connsiteX14" fmla="*/ 0 w 1011382"/>
                <a:gd name="connsiteY14" fmla="*/ 758536 h 101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3">
                  <a:moveTo>
                    <a:pt x="0" y="758536"/>
                  </a:moveTo>
                  <a:cubicBezTo>
                    <a:pt x="0" y="479251"/>
                    <a:pt x="113203" y="226405"/>
                    <a:pt x="296227" y="43381"/>
                  </a:cubicBezTo>
                  <a:lnTo>
                    <a:pt x="343958" y="0"/>
                  </a:lnTo>
                  <a:lnTo>
                    <a:pt x="368048" y="21895"/>
                  </a:lnTo>
                  <a:cubicBezTo>
                    <a:pt x="467949" y="104340"/>
                    <a:pt x="583949" y="167975"/>
                    <a:pt x="710627" y="207375"/>
                  </a:cubicBezTo>
                  <a:lnTo>
                    <a:pt x="784907" y="226475"/>
                  </a:lnTo>
                  <a:lnTo>
                    <a:pt x="804006" y="300754"/>
                  </a:lnTo>
                  <a:cubicBezTo>
                    <a:pt x="843407" y="427432"/>
                    <a:pt x="907041" y="543432"/>
                    <a:pt x="989486" y="643333"/>
                  </a:cubicBezTo>
                  <a:lnTo>
                    <a:pt x="1011382" y="667425"/>
                  </a:lnTo>
                  <a:lnTo>
                    <a:pt x="968000" y="715156"/>
                  </a:lnTo>
                  <a:cubicBezTo>
                    <a:pt x="784976" y="898180"/>
                    <a:pt x="532130" y="1011383"/>
                    <a:pt x="252845" y="1011383"/>
                  </a:cubicBezTo>
                  <a:cubicBezTo>
                    <a:pt x="183023" y="1011383"/>
                    <a:pt x="114855" y="1004308"/>
                    <a:pt x="49016" y="990835"/>
                  </a:cubicBezTo>
                  <a:lnTo>
                    <a:pt x="26371" y="985013"/>
                  </a:lnTo>
                  <a:lnTo>
                    <a:pt x="20548" y="962365"/>
                  </a:lnTo>
                  <a:cubicBezTo>
                    <a:pt x="7075" y="896526"/>
                    <a:pt x="0" y="828358"/>
                    <a:pt x="0" y="758536"/>
                  </a:cubicBezTo>
                  <a:close/>
                </a:path>
              </a:pathLst>
            </a:custGeom>
            <a:solidFill>
              <a:schemeClr val="accent4">
                <a:lumMod val="5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50">
              <a:extLst>
                <a:ext uri="{FF2B5EF4-FFF2-40B4-BE49-F238E27FC236}">
                  <a16:creationId xmlns:a16="http://schemas.microsoft.com/office/drawing/2014/main" id="{4A8633A4-A000-33A9-8B20-211E99B2E18D}"/>
                </a:ext>
              </a:extLst>
            </p:cNvPr>
            <p:cNvSpPr/>
            <p:nvPr/>
          </p:nvSpPr>
          <p:spPr>
            <a:xfrm rot="5400000">
              <a:off x="5750667" y="3173442"/>
              <a:ext cx="690668" cy="690668"/>
            </a:xfrm>
            <a:custGeom>
              <a:avLst/>
              <a:gdLst>
                <a:gd name="connsiteX0" fmla="*/ 0 w 505691"/>
                <a:gd name="connsiteY0" fmla="*/ 252846 h 505691"/>
                <a:gd name="connsiteX1" fmla="*/ 20548 w 505691"/>
                <a:gd name="connsiteY1" fmla="*/ 49017 h 505691"/>
                <a:gd name="connsiteX2" fmla="*/ 26371 w 505691"/>
                <a:gd name="connsiteY2" fmla="*/ 26371 h 505691"/>
                <a:gd name="connsiteX3" fmla="*/ 49017 w 505691"/>
                <a:gd name="connsiteY3" fmla="*/ 20548 h 505691"/>
                <a:gd name="connsiteX4" fmla="*/ 252846 w 505691"/>
                <a:gd name="connsiteY4" fmla="*/ 0 h 505691"/>
                <a:gd name="connsiteX5" fmla="*/ 456675 w 505691"/>
                <a:gd name="connsiteY5" fmla="*/ 20548 h 505691"/>
                <a:gd name="connsiteX6" fmla="*/ 479320 w 505691"/>
                <a:gd name="connsiteY6" fmla="*/ 26371 h 505691"/>
                <a:gd name="connsiteX7" fmla="*/ 485143 w 505691"/>
                <a:gd name="connsiteY7" fmla="*/ 49018 h 505691"/>
                <a:gd name="connsiteX8" fmla="*/ 505691 w 505691"/>
                <a:gd name="connsiteY8" fmla="*/ 252847 h 505691"/>
                <a:gd name="connsiteX9" fmla="*/ 485143 w 505691"/>
                <a:gd name="connsiteY9" fmla="*/ 456676 h 505691"/>
                <a:gd name="connsiteX10" fmla="*/ 479321 w 505691"/>
                <a:gd name="connsiteY10" fmla="*/ 479320 h 505691"/>
                <a:gd name="connsiteX11" fmla="*/ 456674 w 505691"/>
                <a:gd name="connsiteY11" fmla="*/ 485143 h 505691"/>
                <a:gd name="connsiteX12" fmla="*/ 252845 w 505691"/>
                <a:gd name="connsiteY12" fmla="*/ 505691 h 505691"/>
                <a:gd name="connsiteX13" fmla="*/ 49016 w 505691"/>
                <a:gd name="connsiteY13" fmla="*/ 485143 h 505691"/>
                <a:gd name="connsiteX14" fmla="*/ 26371 w 505691"/>
                <a:gd name="connsiteY14" fmla="*/ 479321 h 505691"/>
                <a:gd name="connsiteX15" fmla="*/ 20548 w 505691"/>
                <a:gd name="connsiteY15" fmla="*/ 456675 h 505691"/>
                <a:gd name="connsiteX16" fmla="*/ 0 w 505691"/>
                <a:gd name="connsiteY16" fmla="*/ 252846 h 50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5691" h="505691">
                  <a:moveTo>
                    <a:pt x="0" y="252846"/>
                  </a:moveTo>
                  <a:cubicBezTo>
                    <a:pt x="0" y="183025"/>
                    <a:pt x="7075" y="114856"/>
                    <a:pt x="20548" y="49017"/>
                  </a:cubicBezTo>
                  <a:lnTo>
                    <a:pt x="26371" y="26371"/>
                  </a:lnTo>
                  <a:lnTo>
                    <a:pt x="49017" y="20548"/>
                  </a:lnTo>
                  <a:cubicBezTo>
                    <a:pt x="114856" y="7075"/>
                    <a:pt x="183025" y="0"/>
                    <a:pt x="252846" y="0"/>
                  </a:cubicBezTo>
                  <a:cubicBezTo>
                    <a:pt x="322668" y="0"/>
                    <a:pt x="390836" y="7075"/>
                    <a:pt x="456675" y="20548"/>
                  </a:cubicBezTo>
                  <a:lnTo>
                    <a:pt x="479320" y="26371"/>
                  </a:lnTo>
                  <a:lnTo>
                    <a:pt x="485143" y="49018"/>
                  </a:lnTo>
                  <a:cubicBezTo>
                    <a:pt x="498616" y="114857"/>
                    <a:pt x="505691" y="183026"/>
                    <a:pt x="505691" y="252847"/>
                  </a:cubicBezTo>
                  <a:cubicBezTo>
                    <a:pt x="505691" y="322669"/>
                    <a:pt x="498616" y="390837"/>
                    <a:pt x="485143" y="456676"/>
                  </a:cubicBezTo>
                  <a:lnTo>
                    <a:pt x="479321" y="479320"/>
                  </a:lnTo>
                  <a:lnTo>
                    <a:pt x="456674" y="485143"/>
                  </a:lnTo>
                  <a:cubicBezTo>
                    <a:pt x="390835" y="498616"/>
                    <a:pt x="322667" y="505691"/>
                    <a:pt x="252845" y="505691"/>
                  </a:cubicBezTo>
                  <a:cubicBezTo>
                    <a:pt x="183024" y="505691"/>
                    <a:pt x="114855" y="498616"/>
                    <a:pt x="49016" y="485143"/>
                  </a:cubicBezTo>
                  <a:lnTo>
                    <a:pt x="26371" y="479321"/>
                  </a:lnTo>
                  <a:lnTo>
                    <a:pt x="20548" y="456675"/>
                  </a:lnTo>
                  <a:cubicBezTo>
                    <a:pt x="7075" y="390836"/>
                    <a:pt x="0" y="322668"/>
                    <a:pt x="0" y="252846"/>
                  </a:cubicBezTo>
                  <a:close/>
                </a:path>
              </a:pathLst>
            </a:custGeom>
            <a:solidFill>
              <a:srgbClr val="FFC000"/>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51">
              <a:extLst>
                <a:ext uri="{FF2B5EF4-FFF2-40B4-BE49-F238E27FC236}">
                  <a16:creationId xmlns:a16="http://schemas.microsoft.com/office/drawing/2014/main" id="{A364CC5D-84A6-93C0-FC12-24EFA5850B19}"/>
                </a:ext>
              </a:extLst>
            </p:cNvPr>
            <p:cNvSpPr/>
            <p:nvPr/>
          </p:nvSpPr>
          <p:spPr>
            <a:xfrm rot="5400000">
              <a:off x="6096000" y="3518777"/>
              <a:ext cx="1381337" cy="1381335"/>
            </a:xfrm>
            <a:custGeom>
              <a:avLst/>
              <a:gdLst>
                <a:gd name="connsiteX0" fmla="*/ 0 w 1011382"/>
                <a:gd name="connsiteY0" fmla="*/ 343959 h 1011381"/>
                <a:gd name="connsiteX1" fmla="*/ 43382 w 1011382"/>
                <a:gd name="connsiteY1" fmla="*/ 296227 h 1011381"/>
                <a:gd name="connsiteX2" fmla="*/ 758537 w 1011382"/>
                <a:gd name="connsiteY2" fmla="*/ 0 h 1011381"/>
                <a:gd name="connsiteX3" fmla="*/ 962366 w 1011382"/>
                <a:gd name="connsiteY3" fmla="*/ 20548 h 1011381"/>
                <a:gd name="connsiteX4" fmla="*/ 985011 w 1011382"/>
                <a:gd name="connsiteY4" fmla="*/ 26371 h 1011381"/>
                <a:gd name="connsiteX5" fmla="*/ 990834 w 1011382"/>
                <a:gd name="connsiteY5" fmla="*/ 49016 h 1011381"/>
                <a:gd name="connsiteX6" fmla="*/ 1011382 w 1011382"/>
                <a:gd name="connsiteY6" fmla="*/ 252845 h 1011381"/>
                <a:gd name="connsiteX7" fmla="*/ 715155 w 1011382"/>
                <a:gd name="connsiteY7" fmla="*/ 968000 h 1011381"/>
                <a:gd name="connsiteX8" fmla="*/ 667424 w 1011382"/>
                <a:gd name="connsiteY8" fmla="*/ 1011381 h 1011381"/>
                <a:gd name="connsiteX9" fmla="*/ 643334 w 1011382"/>
                <a:gd name="connsiteY9" fmla="*/ 989486 h 1011381"/>
                <a:gd name="connsiteX10" fmla="*/ 300755 w 1011382"/>
                <a:gd name="connsiteY10" fmla="*/ 804006 h 1011381"/>
                <a:gd name="connsiteX11" fmla="*/ 226475 w 1011382"/>
                <a:gd name="connsiteY11" fmla="*/ 784907 h 1011381"/>
                <a:gd name="connsiteX12" fmla="*/ 207376 w 1011382"/>
                <a:gd name="connsiteY12" fmla="*/ 710629 h 1011381"/>
                <a:gd name="connsiteX13" fmla="*/ 21896 w 1011382"/>
                <a:gd name="connsiteY13" fmla="*/ 368050 h 1011381"/>
                <a:gd name="connsiteX14" fmla="*/ 0 w 1011382"/>
                <a:gd name="connsiteY14" fmla="*/ 343959 h 101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1">
                  <a:moveTo>
                    <a:pt x="0" y="343959"/>
                  </a:moveTo>
                  <a:lnTo>
                    <a:pt x="43382" y="296227"/>
                  </a:lnTo>
                  <a:cubicBezTo>
                    <a:pt x="226406" y="113203"/>
                    <a:pt x="479252" y="0"/>
                    <a:pt x="758537" y="0"/>
                  </a:cubicBezTo>
                  <a:cubicBezTo>
                    <a:pt x="828358" y="0"/>
                    <a:pt x="896527" y="7075"/>
                    <a:pt x="962366" y="20548"/>
                  </a:cubicBezTo>
                  <a:lnTo>
                    <a:pt x="985011" y="26371"/>
                  </a:lnTo>
                  <a:lnTo>
                    <a:pt x="990834" y="49016"/>
                  </a:lnTo>
                  <a:cubicBezTo>
                    <a:pt x="1004307" y="114855"/>
                    <a:pt x="1011382" y="183024"/>
                    <a:pt x="1011382" y="252845"/>
                  </a:cubicBezTo>
                  <a:cubicBezTo>
                    <a:pt x="1011382" y="532131"/>
                    <a:pt x="898179" y="784976"/>
                    <a:pt x="715155" y="968000"/>
                  </a:cubicBezTo>
                  <a:lnTo>
                    <a:pt x="667424" y="1011381"/>
                  </a:lnTo>
                  <a:lnTo>
                    <a:pt x="643334" y="989486"/>
                  </a:lnTo>
                  <a:cubicBezTo>
                    <a:pt x="543433" y="907041"/>
                    <a:pt x="427433" y="843407"/>
                    <a:pt x="300755" y="804006"/>
                  </a:cubicBezTo>
                  <a:lnTo>
                    <a:pt x="226475" y="784907"/>
                  </a:lnTo>
                  <a:lnTo>
                    <a:pt x="207376" y="710629"/>
                  </a:lnTo>
                  <a:cubicBezTo>
                    <a:pt x="167976" y="583952"/>
                    <a:pt x="104341" y="467951"/>
                    <a:pt x="21896" y="368050"/>
                  </a:cubicBezTo>
                  <a:lnTo>
                    <a:pt x="0" y="343959"/>
                  </a:lnTo>
                  <a:close/>
                </a:path>
              </a:pathLst>
            </a:custGeom>
            <a:solidFill>
              <a:schemeClr val="accent2">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52">
              <a:extLst>
                <a:ext uri="{FF2B5EF4-FFF2-40B4-BE49-F238E27FC236}">
                  <a16:creationId xmlns:a16="http://schemas.microsoft.com/office/drawing/2014/main" id="{948E231E-4ACB-7BD6-4108-F9479D4F21B7}"/>
                </a:ext>
              </a:extLst>
            </p:cNvPr>
            <p:cNvSpPr/>
            <p:nvPr/>
          </p:nvSpPr>
          <p:spPr>
            <a:xfrm rot="5400000">
              <a:off x="4714664" y="3518777"/>
              <a:ext cx="1381337" cy="1381338"/>
            </a:xfrm>
            <a:custGeom>
              <a:avLst/>
              <a:gdLst>
                <a:gd name="connsiteX0" fmla="*/ 0 w 1011382"/>
                <a:gd name="connsiteY0" fmla="*/ 667426 h 1011383"/>
                <a:gd name="connsiteX1" fmla="*/ 21895 w 1011382"/>
                <a:gd name="connsiteY1" fmla="*/ 643335 h 1011383"/>
                <a:gd name="connsiteX2" fmla="*/ 207375 w 1011382"/>
                <a:gd name="connsiteY2" fmla="*/ 300756 h 1011383"/>
                <a:gd name="connsiteX3" fmla="*/ 226475 w 1011382"/>
                <a:gd name="connsiteY3" fmla="*/ 226475 h 1011383"/>
                <a:gd name="connsiteX4" fmla="*/ 300753 w 1011382"/>
                <a:gd name="connsiteY4" fmla="*/ 207376 h 1011383"/>
                <a:gd name="connsiteX5" fmla="*/ 643332 w 1011382"/>
                <a:gd name="connsiteY5" fmla="*/ 21896 h 1011383"/>
                <a:gd name="connsiteX6" fmla="*/ 667423 w 1011382"/>
                <a:gd name="connsiteY6" fmla="*/ 0 h 1011383"/>
                <a:gd name="connsiteX7" fmla="*/ 715155 w 1011382"/>
                <a:gd name="connsiteY7" fmla="*/ 43382 h 1011383"/>
                <a:gd name="connsiteX8" fmla="*/ 1011382 w 1011382"/>
                <a:gd name="connsiteY8" fmla="*/ 758537 h 1011383"/>
                <a:gd name="connsiteX9" fmla="*/ 990834 w 1011382"/>
                <a:gd name="connsiteY9" fmla="*/ 962366 h 1011383"/>
                <a:gd name="connsiteX10" fmla="*/ 985011 w 1011382"/>
                <a:gd name="connsiteY10" fmla="*/ 985012 h 1011383"/>
                <a:gd name="connsiteX11" fmla="*/ 962365 w 1011382"/>
                <a:gd name="connsiteY11" fmla="*/ 990835 h 1011383"/>
                <a:gd name="connsiteX12" fmla="*/ 758536 w 1011382"/>
                <a:gd name="connsiteY12" fmla="*/ 1011383 h 1011383"/>
                <a:gd name="connsiteX13" fmla="*/ 43381 w 1011382"/>
                <a:gd name="connsiteY13" fmla="*/ 715156 h 1011383"/>
                <a:gd name="connsiteX14" fmla="*/ 0 w 1011382"/>
                <a:gd name="connsiteY14" fmla="*/ 667426 h 1011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1382" h="1011383">
                  <a:moveTo>
                    <a:pt x="0" y="667426"/>
                  </a:moveTo>
                  <a:lnTo>
                    <a:pt x="21895" y="643335"/>
                  </a:lnTo>
                  <a:cubicBezTo>
                    <a:pt x="104340" y="543434"/>
                    <a:pt x="167975" y="427434"/>
                    <a:pt x="207375" y="300756"/>
                  </a:cubicBezTo>
                  <a:lnTo>
                    <a:pt x="226475" y="226475"/>
                  </a:lnTo>
                  <a:lnTo>
                    <a:pt x="300753" y="207376"/>
                  </a:lnTo>
                  <a:cubicBezTo>
                    <a:pt x="427431" y="167976"/>
                    <a:pt x="543431" y="104341"/>
                    <a:pt x="643332" y="21896"/>
                  </a:cubicBezTo>
                  <a:lnTo>
                    <a:pt x="667423" y="0"/>
                  </a:lnTo>
                  <a:lnTo>
                    <a:pt x="715155" y="43382"/>
                  </a:lnTo>
                  <a:cubicBezTo>
                    <a:pt x="898179" y="226406"/>
                    <a:pt x="1011382" y="479252"/>
                    <a:pt x="1011382" y="758537"/>
                  </a:cubicBezTo>
                  <a:cubicBezTo>
                    <a:pt x="1011382" y="828359"/>
                    <a:pt x="1004307" y="896527"/>
                    <a:pt x="990834" y="962366"/>
                  </a:cubicBezTo>
                  <a:lnTo>
                    <a:pt x="985011" y="985012"/>
                  </a:lnTo>
                  <a:lnTo>
                    <a:pt x="962365" y="990835"/>
                  </a:lnTo>
                  <a:cubicBezTo>
                    <a:pt x="896526" y="1004308"/>
                    <a:pt x="828357" y="1011383"/>
                    <a:pt x="758536" y="1011383"/>
                  </a:cubicBezTo>
                  <a:cubicBezTo>
                    <a:pt x="479251" y="1011383"/>
                    <a:pt x="226405" y="898180"/>
                    <a:pt x="43381" y="715156"/>
                  </a:cubicBezTo>
                  <a:lnTo>
                    <a:pt x="0" y="667426"/>
                  </a:lnTo>
                  <a:close/>
                </a:path>
              </a:pathLst>
            </a:custGeom>
            <a:solidFill>
              <a:schemeClr val="accent3">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53">
              <a:extLst>
                <a:ext uri="{FF2B5EF4-FFF2-40B4-BE49-F238E27FC236}">
                  <a16:creationId xmlns:a16="http://schemas.microsoft.com/office/drawing/2014/main" id="{867B950A-3033-27E6-5AC3-57880EB4E038}"/>
                </a:ext>
              </a:extLst>
            </p:cNvPr>
            <p:cNvSpPr/>
            <p:nvPr/>
          </p:nvSpPr>
          <p:spPr>
            <a:xfrm rot="5400000">
              <a:off x="5343109" y="509006"/>
              <a:ext cx="1505778" cy="2690640"/>
            </a:xfrm>
            <a:custGeom>
              <a:avLst/>
              <a:gdLst>
                <a:gd name="connsiteX0" fmla="*/ 0 w 1102495"/>
                <a:gd name="connsiteY0" fmla="*/ 985011 h 1970023"/>
                <a:gd name="connsiteX1" fmla="*/ 710628 w 1102495"/>
                <a:gd name="connsiteY1" fmla="*/ 19099 h 1970023"/>
                <a:gd name="connsiteX2" fmla="*/ 784906 w 1102495"/>
                <a:gd name="connsiteY2" fmla="*/ 0 h 1970023"/>
                <a:gd name="connsiteX3" fmla="*/ 779084 w 1102495"/>
                <a:gd name="connsiteY3" fmla="*/ 22644 h 1970023"/>
                <a:gd name="connsiteX4" fmla="*/ 758536 w 1102495"/>
                <a:gd name="connsiteY4" fmla="*/ 226473 h 1970023"/>
                <a:gd name="connsiteX5" fmla="*/ 1054763 w 1102495"/>
                <a:gd name="connsiteY5" fmla="*/ 941628 h 1970023"/>
                <a:gd name="connsiteX6" fmla="*/ 1102495 w 1102495"/>
                <a:gd name="connsiteY6" fmla="*/ 985010 h 1970023"/>
                <a:gd name="connsiteX7" fmla="*/ 1054764 w 1102495"/>
                <a:gd name="connsiteY7" fmla="*/ 1028391 h 1970023"/>
                <a:gd name="connsiteX8" fmla="*/ 758537 w 1102495"/>
                <a:gd name="connsiteY8" fmla="*/ 1743546 h 1970023"/>
                <a:gd name="connsiteX9" fmla="*/ 779085 w 1102495"/>
                <a:gd name="connsiteY9" fmla="*/ 1947375 h 1970023"/>
                <a:gd name="connsiteX10" fmla="*/ 784908 w 1102495"/>
                <a:gd name="connsiteY10" fmla="*/ 1970023 h 1970023"/>
                <a:gd name="connsiteX11" fmla="*/ 710628 w 1102495"/>
                <a:gd name="connsiteY11" fmla="*/ 1950923 h 1970023"/>
                <a:gd name="connsiteX12" fmla="*/ 0 w 1102495"/>
                <a:gd name="connsiteY12" fmla="*/ 985011 h 197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2495" h="1970023">
                  <a:moveTo>
                    <a:pt x="0" y="985011"/>
                  </a:moveTo>
                  <a:cubicBezTo>
                    <a:pt x="0" y="531172"/>
                    <a:pt x="298926" y="147151"/>
                    <a:pt x="710628" y="19099"/>
                  </a:cubicBezTo>
                  <a:lnTo>
                    <a:pt x="784906" y="0"/>
                  </a:lnTo>
                  <a:lnTo>
                    <a:pt x="779084" y="22644"/>
                  </a:lnTo>
                  <a:cubicBezTo>
                    <a:pt x="765611" y="88483"/>
                    <a:pt x="758536" y="156652"/>
                    <a:pt x="758536" y="226473"/>
                  </a:cubicBezTo>
                  <a:cubicBezTo>
                    <a:pt x="758536" y="505759"/>
                    <a:pt x="871739" y="758604"/>
                    <a:pt x="1054763" y="941628"/>
                  </a:cubicBezTo>
                  <a:lnTo>
                    <a:pt x="1102495" y="985010"/>
                  </a:lnTo>
                  <a:lnTo>
                    <a:pt x="1054764" y="1028391"/>
                  </a:lnTo>
                  <a:cubicBezTo>
                    <a:pt x="871740" y="1211415"/>
                    <a:pt x="758537" y="1464261"/>
                    <a:pt x="758537" y="1743546"/>
                  </a:cubicBezTo>
                  <a:cubicBezTo>
                    <a:pt x="758537" y="1813368"/>
                    <a:pt x="765612" y="1881536"/>
                    <a:pt x="779085" y="1947375"/>
                  </a:cubicBezTo>
                  <a:lnTo>
                    <a:pt x="784908" y="1970023"/>
                  </a:lnTo>
                  <a:lnTo>
                    <a:pt x="710628" y="1950923"/>
                  </a:lnTo>
                  <a:cubicBezTo>
                    <a:pt x="298926" y="1822871"/>
                    <a:pt x="0" y="1438850"/>
                    <a:pt x="0" y="985011"/>
                  </a:cubicBezTo>
                  <a:close/>
                </a:path>
              </a:pathLst>
            </a:custGeom>
            <a:solidFill>
              <a:schemeClr val="tx2">
                <a:lumMod val="20000"/>
                <a:lumOff val="8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54">
              <a:extLst>
                <a:ext uri="{FF2B5EF4-FFF2-40B4-BE49-F238E27FC236}">
                  <a16:creationId xmlns:a16="http://schemas.microsoft.com/office/drawing/2014/main" id="{CACBD849-B3D5-1F54-37BF-3E79F6FBE7A5}"/>
                </a:ext>
              </a:extLst>
            </p:cNvPr>
            <p:cNvSpPr/>
            <p:nvPr/>
          </p:nvSpPr>
          <p:spPr>
            <a:xfrm rot="5400000">
              <a:off x="6415130" y="2765885"/>
              <a:ext cx="2690640" cy="1505779"/>
            </a:xfrm>
            <a:custGeom>
              <a:avLst/>
              <a:gdLst>
                <a:gd name="connsiteX0" fmla="*/ 0 w 1970023"/>
                <a:gd name="connsiteY0" fmla="*/ 784909 h 1102496"/>
                <a:gd name="connsiteX1" fmla="*/ 19100 w 1970023"/>
                <a:gd name="connsiteY1" fmla="*/ 710628 h 1102496"/>
                <a:gd name="connsiteX2" fmla="*/ 985012 w 1970023"/>
                <a:gd name="connsiteY2" fmla="*/ 0 h 1102496"/>
                <a:gd name="connsiteX3" fmla="*/ 1950924 w 1970023"/>
                <a:gd name="connsiteY3" fmla="*/ 710628 h 1102496"/>
                <a:gd name="connsiteX4" fmla="*/ 1970023 w 1970023"/>
                <a:gd name="connsiteY4" fmla="*/ 784908 h 1102496"/>
                <a:gd name="connsiteX5" fmla="*/ 1947378 w 1970023"/>
                <a:gd name="connsiteY5" fmla="*/ 779085 h 1102496"/>
                <a:gd name="connsiteX6" fmla="*/ 1743549 w 1970023"/>
                <a:gd name="connsiteY6" fmla="*/ 758537 h 1102496"/>
                <a:gd name="connsiteX7" fmla="*/ 1028394 w 1970023"/>
                <a:gd name="connsiteY7" fmla="*/ 1054764 h 1102496"/>
                <a:gd name="connsiteX8" fmla="*/ 985012 w 1970023"/>
                <a:gd name="connsiteY8" fmla="*/ 1102496 h 1102496"/>
                <a:gd name="connsiteX9" fmla="*/ 941631 w 1970023"/>
                <a:gd name="connsiteY9" fmla="*/ 1054765 h 1102496"/>
                <a:gd name="connsiteX10" fmla="*/ 226476 w 1970023"/>
                <a:gd name="connsiteY10" fmla="*/ 758538 h 1102496"/>
                <a:gd name="connsiteX11" fmla="*/ 22647 w 1970023"/>
                <a:gd name="connsiteY11" fmla="*/ 779086 h 1102496"/>
                <a:gd name="connsiteX12" fmla="*/ 0 w 1970023"/>
                <a:gd name="connsiteY12" fmla="*/ 784909 h 110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023" h="1102496">
                  <a:moveTo>
                    <a:pt x="0" y="784909"/>
                  </a:moveTo>
                  <a:lnTo>
                    <a:pt x="19100" y="710628"/>
                  </a:lnTo>
                  <a:cubicBezTo>
                    <a:pt x="147152" y="298926"/>
                    <a:pt x="531173" y="0"/>
                    <a:pt x="985012" y="0"/>
                  </a:cubicBezTo>
                  <a:cubicBezTo>
                    <a:pt x="1438851" y="0"/>
                    <a:pt x="1822872" y="298926"/>
                    <a:pt x="1950924" y="710628"/>
                  </a:cubicBezTo>
                  <a:lnTo>
                    <a:pt x="1970023" y="784908"/>
                  </a:lnTo>
                  <a:lnTo>
                    <a:pt x="1947378" y="779085"/>
                  </a:lnTo>
                  <a:cubicBezTo>
                    <a:pt x="1881539" y="765612"/>
                    <a:pt x="1813370" y="758537"/>
                    <a:pt x="1743549" y="758537"/>
                  </a:cubicBezTo>
                  <a:cubicBezTo>
                    <a:pt x="1464264" y="758537"/>
                    <a:pt x="1211418" y="871740"/>
                    <a:pt x="1028394" y="1054764"/>
                  </a:cubicBezTo>
                  <a:lnTo>
                    <a:pt x="985012" y="1102496"/>
                  </a:lnTo>
                  <a:lnTo>
                    <a:pt x="941631" y="1054765"/>
                  </a:lnTo>
                  <a:cubicBezTo>
                    <a:pt x="758607" y="871741"/>
                    <a:pt x="505761" y="758538"/>
                    <a:pt x="226476" y="758538"/>
                  </a:cubicBezTo>
                  <a:cubicBezTo>
                    <a:pt x="156654" y="758538"/>
                    <a:pt x="88486" y="765613"/>
                    <a:pt x="22647" y="779086"/>
                  </a:cubicBezTo>
                  <a:lnTo>
                    <a:pt x="0" y="784909"/>
                  </a:lnTo>
                  <a:close/>
                </a:path>
              </a:pathLst>
            </a:custGeom>
            <a:solidFill>
              <a:schemeClr val="accent2">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55">
              <a:extLst>
                <a:ext uri="{FF2B5EF4-FFF2-40B4-BE49-F238E27FC236}">
                  <a16:creationId xmlns:a16="http://schemas.microsoft.com/office/drawing/2014/main" id="{EF16866C-DB87-60AB-5DB7-EA4B3E998E62}"/>
                </a:ext>
              </a:extLst>
            </p:cNvPr>
            <p:cNvSpPr/>
            <p:nvPr/>
          </p:nvSpPr>
          <p:spPr>
            <a:xfrm rot="5400000">
              <a:off x="3086232" y="2765888"/>
              <a:ext cx="2690639" cy="1505774"/>
            </a:xfrm>
            <a:custGeom>
              <a:avLst/>
              <a:gdLst>
                <a:gd name="connsiteX0" fmla="*/ 0 w 1970022"/>
                <a:gd name="connsiteY0" fmla="*/ 317588 h 1102493"/>
                <a:gd name="connsiteX1" fmla="*/ 22645 w 1970022"/>
                <a:gd name="connsiteY1" fmla="*/ 323410 h 1102493"/>
                <a:gd name="connsiteX2" fmla="*/ 226474 w 1970022"/>
                <a:gd name="connsiteY2" fmla="*/ 343958 h 1102493"/>
                <a:gd name="connsiteX3" fmla="*/ 941629 w 1970022"/>
                <a:gd name="connsiteY3" fmla="*/ 47731 h 1102493"/>
                <a:gd name="connsiteX4" fmla="*/ 985011 w 1970022"/>
                <a:gd name="connsiteY4" fmla="*/ 0 h 1102493"/>
                <a:gd name="connsiteX5" fmla="*/ 1028392 w 1970022"/>
                <a:gd name="connsiteY5" fmla="*/ 47730 h 1102493"/>
                <a:gd name="connsiteX6" fmla="*/ 1743547 w 1970022"/>
                <a:gd name="connsiteY6" fmla="*/ 343957 h 1102493"/>
                <a:gd name="connsiteX7" fmla="*/ 1947376 w 1970022"/>
                <a:gd name="connsiteY7" fmla="*/ 323409 h 1102493"/>
                <a:gd name="connsiteX8" fmla="*/ 1970022 w 1970022"/>
                <a:gd name="connsiteY8" fmla="*/ 317586 h 1102493"/>
                <a:gd name="connsiteX9" fmla="*/ 1950923 w 1970022"/>
                <a:gd name="connsiteY9" fmla="*/ 391865 h 1102493"/>
                <a:gd name="connsiteX10" fmla="*/ 985011 w 1970022"/>
                <a:gd name="connsiteY10" fmla="*/ 1102493 h 1102493"/>
                <a:gd name="connsiteX11" fmla="*/ 19099 w 1970022"/>
                <a:gd name="connsiteY11" fmla="*/ 391865 h 1102493"/>
                <a:gd name="connsiteX12" fmla="*/ 0 w 1970022"/>
                <a:gd name="connsiteY12" fmla="*/ 317588 h 110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70022" h="1102493">
                  <a:moveTo>
                    <a:pt x="0" y="317588"/>
                  </a:moveTo>
                  <a:lnTo>
                    <a:pt x="22645" y="323410"/>
                  </a:lnTo>
                  <a:cubicBezTo>
                    <a:pt x="88484" y="336883"/>
                    <a:pt x="156652" y="343958"/>
                    <a:pt x="226474" y="343958"/>
                  </a:cubicBezTo>
                  <a:cubicBezTo>
                    <a:pt x="505759" y="343958"/>
                    <a:pt x="758605" y="230755"/>
                    <a:pt x="941629" y="47731"/>
                  </a:cubicBezTo>
                  <a:lnTo>
                    <a:pt x="985011" y="0"/>
                  </a:lnTo>
                  <a:lnTo>
                    <a:pt x="1028392" y="47730"/>
                  </a:lnTo>
                  <a:cubicBezTo>
                    <a:pt x="1211416" y="230754"/>
                    <a:pt x="1464262" y="343957"/>
                    <a:pt x="1743547" y="343957"/>
                  </a:cubicBezTo>
                  <a:cubicBezTo>
                    <a:pt x="1813368" y="343957"/>
                    <a:pt x="1881537" y="336882"/>
                    <a:pt x="1947376" y="323409"/>
                  </a:cubicBezTo>
                  <a:lnTo>
                    <a:pt x="1970022" y="317586"/>
                  </a:lnTo>
                  <a:lnTo>
                    <a:pt x="1950923" y="391865"/>
                  </a:lnTo>
                  <a:cubicBezTo>
                    <a:pt x="1822871" y="803567"/>
                    <a:pt x="1438850" y="1102493"/>
                    <a:pt x="985011" y="1102493"/>
                  </a:cubicBezTo>
                  <a:cubicBezTo>
                    <a:pt x="531172" y="1102493"/>
                    <a:pt x="147151" y="803567"/>
                    <a:pt x="19099" y="391865"/>
                  </a:cubicBezTo>
                  <a:lnTo>
                    <a:pt x="0" y="317588"/>
                  </a:lnTo>
                  <a:close/>
                </a:path>
              </a:pathLst>
            </a:custGeom>
            <a:solidFill>
              <a:schemeClr val="accent4">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56">
              <a:extLst>
                <a:ext uri="{FF2B5EF4-FFF2-40B4-BE49-F238E27FC236}">
                  <a16:creationId xmlns:a16="http://schemas.microsoft.com/office/drawing/2014/main" id="{5BB4F565-3218-EA84-FE2F-15912F305216}"/>
                </a:ext>
              </a:extLst>
            </p:cNvPr>
            <p:cNvSpPr/>
            <p:nvPr/>
          </p:nvSpPr>
          <p:spPr>
            <a:xfrm rot="5400000">
              <a:off x="5794878" y="2599019"/>
              <a:ext cx="602244" cy="618635"/>
            </a:xfrm>
            <a:custGeom>
              <a:avLst/>
              <a:gdLst>
                <a:gd name="connsiteX0" fmla="*/ 0 w 440949"/>
                <a:gd name="connsiteY0" fmla="*/ 226475 h 452950"/>
                <a:gd name="connsiteX1" fmla="*/ 24091 w 440949"/>
                <a:gd name="connsiteY1" fmla="*/ 204579 h 452950"/>
                <a:gd name="connsiteX2" fmla="*/ 366670 w 440949"/>
                <a:gd name="connsiteY2" fmla="*/ 19099 h 452950"/>
                <a:gd name="connsiteX3" fmla="*/ 440949 w 440949"/>
                <a:gd name="connsiteY3" fmla="*/ 0 h 452950"/>
                <a:gd name="connsiteX4" fmla="*/ 435126 w 440949"/>
                <a:gd name="connsiteY4" fmla="*/ 22646 h 452950"/>
                <a:gd name="connsiteX5" fmla="*/ 414578 w 440949"/>
                <a:gd name="connsiteY5" fmla="*/ 226475 h 452950"/>
                <a:gd name="connsiteX6" fmla="*/ 435126 w 440949"/>
                <a:gd name="connsiteY6" fmla="*/ 430304 h 452950"/>
                <a:gd name="connsiteX7" fmla="*/ 440949 w 440949"/>
                <a:gd name="connsiteY7" fmla="*/ 452950 h 452950"/>
                <a:gd name="connsiteX8" fmla="*/ 366669 w 440949"/>
                <a:gd name="connsiteY8" fmla="*/ 433850 h 452950"/>
                <a:gd name="connsiteX9" fmla="*/ 24090 w 440949"/>
                <a:gd name="connsiteY9" fmla="*/ 248370 h 452950"/>
                <a:gd name="connsiteX10" fmla="*/ 0 w 440949"/>
                <a:gd name="connsiteY10" fmla="*/ 226475 h 45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949" h="452950">
                  <a:moveTo>
                    <a:pt x="0" y="226475"/>
                  </a:moveTo>
                  <a:lnTo>
                    <a:pt x="24091" y="204579"/>
                  </a:lnTo>
                  <a:cubicBezTo>
                    <a:pt x="123992" y="122134"/>
                    <a:pt x="239992" y="58500"/>
                    <a:pt x="366670" y="19099"/>
                  </a:cubicBezTo>
                  <a:lnTo>
                    <a:pt x="440949" y="0"/>
                  </a:lnTo>
                  <a:lnTo>
                    <a:pt x="435126" y="22646"/>
                  </a:lnTo>
                  <a:cubicBezTo>
                    <a:pt x="421653" y="88485"/>
                    <a:pt x="414578" y="156654"/>
                    <a:pt x="414578" y="226475"/>
                  </a:cubicBezTo>
                  <a:cubicBezTo>
                    <a:pt x="414578" y="296297"/>
                    <a:pt x="421653" y="364465"/>
                    <a:pt x="435126" y="430304"/>
                  </a:cubicBezTo>
                  <a:lnTo>
                    <a:pt x="440949" y="452950"/>
                  </a:lnTo>
                  <a:lnTo>
                    <a:pt x="366669" y="433850"/>
                  </a:lnTo>
                  <a:cubicBezTo>
                    <a:pt x="239991" y="394450"/>
                    <a:pt x="123991" y="330815"/>
                    <a:pt x="24090" y="248370"/>
                  </a:cubicBezTo>
                  <a:lnTo>
                    <a:pt x="0" y="226475"/>
                  </a:lnTo>
                  <a:close/>
                </a:path>
              </a:pathLst>
            </a:custGeom>
            <a:solidFill>
              <a:srgbClr val="403152"/>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57">
              <a:extLst>
                <a:ext uri="{FF2B5EF4-FFF2-40B4-BE49-F238E27FC236}">
                  <a16:creationId xmlns:a16="http://schemas.microsoft.com/office/drawing/2014/main" id="{50B095CB-55AF-F194-0F48-C570DAF888E8}"/>
                </a:ext>
              </a:extLst>
            </p:cNvPr>
            <p:cNvSpPr/>
            <p:nvPr/>
          </p:nvSpPr>
          <p:spPr>
            <a:xfrm rot="5400000">
              <a:off x="5176243" y="3217654"/>
              <a:ext cx="618635" cy="602247"/>
            </a:xfrm>
            <a:custGeom>
              <a:avLst/>
              <a:gdLst>
                <a:gd name="connsiteX0" fmla="*/ 0 w 452950"/>
                <a:gd name="connsiteY0" fmla="*/ 1 h 440951"/>
                <a:gd name="connsiteX1" fmla="*/ 22645 w 452950"/>
                <a:gd name="connsiteY1" fmla="*/ 5823 h 440951"/>
                <a:gd name="connsiteX2" fmla="*/ 226474 w 452950"/>
                <a:gd name="connsiteY2" fmla="*/ 26371 h 440951"/>
                <a:gd name="connsiteX3" fmla="*/ 430303 w 452950"/>
                <a:gd name="connsiteY3" fmla="*/ 5823 h 440951"/>
                <a:gd name="connsiteX4" fmla="*/ 452950 w 452950"/>
                <a:gd name="connsiteY4" fmla="*/ 0 h 440951"/>
                <a:gd name="connsiteX5" fmla="*/ 433850 w 452950"/>
                <a:gd name="connsiteY5" fmla="*/ 74281 h 440951"/>
                <a:gd name="connsiteX6" fmla="*/ 248370 w 452950"/>
                <a:gd name="connsiteY6" fmla="*/ 416860 h 440951"/>
                <a:gd name="connsiteX7" fmla="*/ 226475 w 452950"/>
                <a:gd name="connsiteY7" fmla="*/ 440951 h 440951"/>
                <a:gd name="connsiteX8" fmla="*/ 204579 w 452950"/>
                <a:gd name="connsiteY8" fmla="*/ 416859 h 440951"/>
                <a:gd name="connsiteX9" fmla="*/ 19099 w 452950"/>
                <a:gd name="connsiteY9" fmla="*/ 74280 h 440951"/>
                <a:gd name="connsiteX10" fmla="*/ 0 w 452950"/>
                <a:gd name="connsiteY10" fmla="*/ 1 h 44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2950" h="440951">
                  <a:moveTo>
                    <a:pt x="0" y="1"/>
                  </a:moveTo>
                  <a:lnTo>
                    <a:pt x="22645" y="5823"/>
                  </a:lnTo>
                  <a:cubicBezTo>
                    <a:pt x="88484" y="19296"/>
                    <a:pt x="156653" y="26371"/>
                    <a:pt x="226474" y="26371"/>
                  </a:cubicBezTo>
                  <a:cubicBezTo>
                    <a:pt x="296296" y="26371"/>
                    <a:pt x="364464" y="19296"/>
                    <a:pt x="430303" y="5823"/>
                  </a:cubicBezTo>
                  <a:lnTo>
                    <a:pt x="452950" y="0"/>
                  </a:lnTo>
                  <a:lnTo>
                    <a:pt x="433850" y="74281"/>
                  </a:lnTo>
                  <a:cubicBezTo>
                    <a:pt x="394450" y="200959"/>
                    <a:pt x="330815" y="316959"/>
                    <a:pt x="248370" y="416860"/>
                  </a:cubicBezTo>
                  <a:lnTo>
                    <a:pt x="226475" y="440951"/>
                  </a:lnTo>
                  <a:lnTo>
                    <a:pt x="204579" y="416859"/>
                  </a:lnTo>
                  <a:cubicBezTo>
                    <a:pt x="122134" y="316958"/>
                    <a:pt x="58500" y="200958"/>
                    <a:pt x="19099" y="74280"/>
                  </a:cubicBezTo>
                  <a:lnTo>
                    <a:pt x="0" y="1"/>
                  </a:lnTo>
                  <a:close/>
                </a:path>
              </a:pathLst>
            </a:custGeom>
            <a:solidFill>
              <a:schemeClr val="accent3">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58">
              <a:extLst>
                <a:ext uri="{FF2B5EF4-FFF2-40B4-BE49-F238E27FC236}">
                  <a16:creationId xmlns:a16="http://schemas.microsoft.com/office/drawing/2014/main" id="{7B4FCFE7-A2C8-9ED4-B0C6-B6222C27E954}"/>
                </a:ext>
              </a:extLst>
            </p:cNvPr>
            <p:cNvSpPr/>
            <p:nvPr/>
          </p:nvSpPr>
          <p:spPr>
            <a:xfrm rot="5400000">
              <a:off x="6397122" y="3217654"/>
              <a:ext cx="618634" cy="602243"/>
            </a:xfrm>
            <a:custGeom>
              <a:avLst/>
              <a:gdLst>
                <a:gd name="connsiteX0" fmla="*/ 0 w 452949"/>
                <a:gd name="connsiteY0" fmla="*/ 440948 h 440948"/>
                <a:gd name="connsiteX1" fmla="*/ 19099 w 452949"/>
                <a:gd name="connsiteY1" fmla="*/ 366669 h 440948"/>
                <a:gd name="connsiteX2" fmla="*/ 204579 w 452949"/>
                <a:gd name="connsiteY2" fmla="*/ 24090 h 440948"/>
                <a:gd name="connsiteX3" fmla="*/ 226474 w 452949"/>
                <a:gd name="connsiteY3" fmla="*/ 0 h 440948"/>
                <a:gd name="connsiteX4" fmla="*/ 248370 w 452949"/>
                <a:gd name="connsiteY4" fmla="*/ 24091 h 440948"/>
                <a:gd name="connsiteX5" fmla="*/ 433850 w 452949"/>
                <a:gd name="connsiteY5" fmla="*/ 366670 h 440948"/>
                <a:gd name="connsiteX6" fmla="*/ 452949 w 452949"/>
                <a:gd name="connsiteY6" fmla="*/ 440948 h 440948"/>
                <a:gd name="connsiteX7" fmla="*/ 430304 w 452949"/>
                <a:gd name="connsiteY7" fmla="*/ 435125 h 440948"/>
                <a:gd name="connsiteX8" fmla="*/ 226475 w 452949"/>
                <a:gd name="connsiteY8" fmla="*/ 414577 h 440948"/>
                <a:gd name="connsiteX9" fmla="*/ 22646 w 452949"/>
                <a:gd name="connsiteY9" fmla="*/ 435125 h 440948"/>
                <a:gd name="connsiteX10" fmla="*/ 0 w 452949"/>
                <a:gd name="connsiteY10" fmla="*/ 440948 h 44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2949" h="440948">
                  <a:moveTo>
                    <a:pt x="0" y="440948"/>
                  </a:moveTo>
                  <a:lnTo>
                    <a:pt x="19099" y="366669"/>
                  </a:lnTo>
                  <a:cubicBezTo>
                    <a:pt x="58500" y="239992"/>
                    <a:pt x="122134" y="123991"/>
                    <a:pt x="204579" y="24090"/>
                  </a:cubicBezTo>
                  <a:lnTo>
                    <a:pt x="226474" y="0"/>
                  </a:lnTo>
                  <a:lnTo>
                    <a:pt x="248370" y="24091"/>
                  </a:lnTo>
                  <a:cubicBezTo>
                    <a:pt x="330815" y="123992"/>
                    <a:pt x="394450" y="239993"/>
                    <a:pt x="433850" y="366670"/>
                  </a:cubicBezTo>
                  <a:lnTo>
                    <a:pt x="452949" y="440948"/>
                  </a:lnTo>
                  <a:lnTo>
                    <a:pt x="430304" y="435125"/>
                  </a:lnTo>
                  <a:cubicBezTo>
                    <a:pt x="364465" y="421652"/>
                    <a:pt x="296297" y="414577"/>
                    <a:pt x="226475" y="414577"/>
                  </a:cubicBezTo>
                  <a:cubicBezTo>
                    <a:pt x="156654" y="414577"/>
                    <a:pt x="88485" y="421652"/>
                    <a:pt x="22646" y="435125"/>
                  </a:cubicBezTo>
                  <a:lnTo>
                    <a:pt x="0" y="440948"/>
                  </a:lnTo>
                  <a:close/>
                </a:path>
              </a:pathLst>
            </a:custGeom>
            <a:solidFill>
              <a:schemeClr val="accent1">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59">
              <a:extLst>
                <a:ext uri="{FF2B5EF4-FFF2-40B4-BE49-F238E27FC236}">
                  <a16:creationId xmlns:a16="http://schemas.microsoft.com/office/drawing/2014/main" id="{C6D5EF24-D8F3-2E5F-129D-D0A58D4AE9AC}"/>
                </a:ext>
              </a:extLst>
            </p:cNvPr>
            <p:cNvSpPr/>
            <p:nvPr/>
          </p:nvSpPr>
          <p:spPr>
            <a:xfrm rot="5400000">
              <a:off x="5794879" y="3819898"/>
              <a:ext cx="602244" cy="618634"/>
            </a:xfrm>
            <a:custGeom>
              <a:avLst/>
              <a:gdLst>
                <a:gd name="connsiteX0" fmla="*/ 0 w 440949"/>
                <a:gd name="connsiteY0" fmla="*/ 0 h 452949"/>
                <a:gd name="connsiteX1" fmla="*/ 74280 w 440949"/>
                <a:gd name="connsiteY1" fmla="*/ 19099 h 452949"/>
                <a:gd name="connsiteX2" fmla="*/ 416859 w 440949"/>
                <a:gd name="connsiteY2" fmla="*/ 204579 h 452949"/>
                <a:gd name="connsiteX3" fmla="*/ 440949 w 440949"/>
                <a:gd name="connsiteY3" fmla="*/ 226474 h 452949"/>
                <a:gd name="connsiteX4" fmla="*/ 416858 w 440949"/>
                <a:gd name="connsiteY4" fmla="*/ 248370 h 452949"/>
                <a:gd name="connsiteX5" fmla="*/ 74279 w 440949"/>
                <a:gd name="connsiteY5" fmla="*/ 433850 h 452949"/>
                <a:gd name="connsiteX6" fmla="*/ 1 w 440949"/>
                <a:gd name="connsiteY6" fmla="*/ 452949 h 452949"/>
                <a:gd name="connsiteX7" fmla="*/ 5823 w 440949"/>
                <a:gd name="connsiteY7" fmla="*/ 430305 h 452949"/>
                <a:gd name="connsiteX8" fmla="*/ 26371 w 440949"/>
                <a:gd name="connsiteY8" fmla="*/ 226476 h 452949"/>
                <a:gd name="connsiteX9" fmla="*/ 5823 w 440949"/>
                <a:gd name="connsiteY9" fmla="*/ 22647 h 452949"/>
                <a:gd name="connsiteX10" fmla="*/ 0 w 440949"/>
                <a:gd name="connsiteY10" fmla="*/ 0 h 452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949" h="452949">
                  <a:moveTo>
                    <a:pt x="0" y="0"/>
                  </a:moveTo>
                  <a:lnTo>
                    <a:pt x="74280" y="19099"/>
                  </a:lnTo>
                  <a:cubicBezTo>
                    <a:pt x="200958" y="58500"/>
                    <a:pt x="316958" y="122134"/>
                    <a:pt x="416859" y="204579"/>
                  </a:cubicBezTo>
                  <a:lnTo>
                    <a:pt x="440949" y="226474"/>
                  </a:lnTo>
                  <a:lnTo>
                    <a:pt x="416858" y="248370"/>
                  </a:lnTo>
                  <a:cubicBezTo>
                    <a:pt x="316957" y="330815"/>
                    <a:pt x="200957" y="394450"/>
                    <a:pt x="74279" y="433850"/>
                  </a:cubicBezTo>
                  <a:lnTo>
                    <a:pt x="1" y="452949"/>
                  </a:lnTo>
                  <a:lnTo>
                    <a:pt x="5823" y="430305"/>
                  </a:lnTo>
                  <a:cubicBezTo>
                    <a:pt x="19296" y="364466"/>
                    <a:pt x="26371" y="296298"/>
                    <a:pt x="26371" y="226476"/>
                  </a:cubicBezTo>
                  <a:cubicBezTo>
                    <a:pt x="26371" y="156655"/>
                    <a:pt x="19296" y="88486"/>
                    <a:pt x="5823" y="22647"/>
                  </a:cubicBezTo>
                  <a:lnTo>
                    <a:pt x="0" y="0"/>
                  </a:lnTo>
                  <a:close/>
                </a:path>
              </a:pathLst>
            </a:custGeom>
            <a:solidFill>
              <a:schemeClr val="accent2">
                <a:lumMod val="75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60">
              <a:extLst>
                <a:ext uri="{FF2B5EF4-FFF2-40B4-BE49-F238E27FC236}">
                  <a16:creationId xmlns:a16="http://schemas.microsoft.com/office/drawing/2014/main" id="{E6B499B0-BB75-FE67-074B-E8390F3685EE}"/>
                </a:ext>
              </a:extLst>
            </p:cNvPr>
            <p:cNvSpPr/>
            <p:nvPr/>
          </p:nvSpPr>
          <p:spPr>
            <a:xfrm rot="5400000">
              <a:off x="5343111" y="3837906"/>
              <a:ext cx="1505778" cy="2690638"/>
            </a:xfrm>
            <a:custGeom>
              <a:avLst/>
              <a:gdLst>
                <a:gd name="connsiteX0" fmla="*/ 0 w 1102495"/>
                <a:gd name="connsiteY0" fmla="*/ 985010 h 1970022"/>
                <a:gd name="connsiteX1" fmla="*/ 47731 w 1102495"/>
                <a:gd name="connsiteY1" fmla="*/ 941629 h 1970022"/>
                <a:gd name="connsiteX2" fmla="*/ 343958 w 1102495"/>
                <a:gd name="connsiteY2" fmla="*/ 226474 h 1970022"/>
                <a:gd name="connsiteX3" fmla="*/ 323410 w 1102495"/>
                <a:gd name="connsiteY3" fmla="*/ 22645 h 1970022"/>
                <a:gd name="connsiteX4" fmla="*/ 317587 w 1102495"/>
                <a:gd name="connsiteY4" fmla="*/ 0 h 1970022"/>
                <a:gd name="connsiteX5" fmla="*/ 391867 w 1102495"/>
                <a:gd name="connsiteY5" fmla="*/ 19099 h 1970022"/>
                <a:gd name="connsiteX6" fmla="*/ 1102495 w 1102495"/>
                <a:gd name="connsiteY6" fmla="*/ 985011 h 1970022"/>
                <a:gd name="connsiteX7" fmla="*/ 391867 w 1102495"/>
                <a:gd name="connsiteY7" fmla="*/ 1950923 h 1970022"/>
                <a:gd name="connsiteX8" fmla="*/ 317588 w 1102495"/>
                <a:gd name="connsiteY8" fmla="*/ 1970022 h 1970022"/>
                <a:gd name="connsiteX9" fmla="*/ 323411 w 1102495"/>
                <a:gd name="connsiteY9" fmla="*/ 1947376 h 1970022"/>
                <a:gd name="connsiteX10" fmla="*/ 343959 w 1102495"/>
                <a:gd name="connsiteY10" fmla="*/ 1743547 h 1970022"/>
                <a:gd name="connsiteX11" fmla="*/ 47732 w 1102495"/>
                <a:gd name="connsiteY11" fmla="*/ 1028392 h 1970022"/>
                <a:gd name="connsiteX12" fmla="*/ 0 w 1102495"/>
                <a:gd name="connsiteY12" fmla="*/ 985010 h 197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2495" h="1970022">
                  <a:moveTo>
                    <a:pt x="0" y="985010"/>
                  </a:moveTo>
                  <a:lnTo>
                    <a:pt x="47731" y="941629"/>
                  </a:lnTo>
                  <a:cubicBezTo>
                    <a:pt x="230755" y="758605"/>
                    <a:pt x="343958" y="505760"/>
                    <a:pt x="343958" y="226474"/>
                  </a:cubicBezTo>
                  <a:cubicBezTo>
                    <a:pt x="343958" y="156653"/>
                    <a:pt x="336883" y="88484"/>
                    <a:pt x="323410" y="22645"/>
                  </a:cubicBezTo>
                  <a:lnTo>
                    <a:pt x="317587" y="0"/>
                  </a:lnTo>
                  <a:lnTo>
                    <a:pt x="391867" y="19099"/>
                  </a:lnTo>
                  <a:cubicBezTo>
                    <a:pt x="803569" y="147151"/>
                    <a:pt x="1102495" y="531172"/>
                    <a:pt x="1102495" y="985011"/>
                  </a:cubicBezTo>
                  <a:cubicBezTo>
                    <a:pt x="1102495" y="1438850"/>
                    <a:pt x="803569" y="1822871"/>
                    <a:pt x="391867" y="1950923"/>
                  </a:cubicBezTo>
                  <a:lnTo>
                    <a:pt x="317588" y="1970022"/>
                  </a:lnTo>
                  <a:lnTo>
                    <a:pt x="323411" y="1947376"/>
                  </a:lnTo>
                  <a:cubicBezTo>
                    <a:pt x="336884" y="1881537"/>
                    <a:pt x="343959" y="1813369"/>
                    <a:pt x="343959" y="1743547"/>
                  </a:cubicBezTo>
                  <a:cubicBezTo>
                    <a:pt x="343959" y="1464262"/>
                    <a:pt x="230756" y="1211416"/>
                    <a:pt x="47732" y="1028392"/>
                  </a:cubicBezTo>
                  <a:lnTo>
                    <a:pt x="0" y="985010"/>
                  </a:lnTo>
                  <a:close/>
                </a:path>
              </a:pathLst>
            </a:custGeom>
            <a:solidFill>
              <a:schemeClr val="accent3">
                <a:lumMod val="40000"/>
                <a:lumOff val="60000"/>
              </a:schemeClr>
            </a:solidFill>
            <a:ln w="19050">
              <a:solidFill>
                <a:srgbClr val="F0EE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object 3">
            <a:extLst>
              <a:ext uri="{FF2B5EF4-FFF2-40B4-BE49-F238E27FC236}">
                <a16:creationId xmlns:a16="http://schemas.microsoft.com/office/drawing/2014/main" id="{05392CB5-8527-543A-B873-3300224B74CA}"/>
              </a:ext>
            </a:extLst>
          </p:cNvPr>
          <p:cNvSpPr txBox="1"/>
          <p:nvPr/>
        </p:nvSpPr>
        <p:spPr>
          <a:xfrm>
            <a:off x="1562268" y="1556190"/>
            <a:ext cx="818469" cy="348365"/>
          </a:xfrm>
          <a:prstGeom prst="rect">
            <a:avLst/>
          </a:prstGeom>
        </p:spPr>
        <p:txBody>
          <a:bodyPr vert="horz" wrap="square" lIns="0" tIns="12065" rIns="0" bIns="0" rtlCol="0">
            <a:spAutoFit/>
          </a:bodyPr>
          <a:lstStyle/>
          <a:p>
            <a:pPr marL="50801" algn="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Financial Management</a:t>
            </a:r>
            <a:endParaRPr lang="en-US" sz="1000" spc="-45" dirty="0">
              <a:latin typeface="Arial" panose="020B0604020202020204" pitchFamily="34" charset="0"/>
              <a:cs typeface="Arial" panose="020B0604020202020204" pitchFamily="34" charset="0"/>
            </a:endParaRPr>
          </a:p>
        </p:txBody>
      </p:sp>
      <p:sp>
        <p:nvSpPr>
          <p:cNvPr id="47" name="object 3">
            <a:extLst>
              <a:ext uri="{FF2B5EF4-FFF2-40B4-BE49-F238E27FC236}">
                <a16:creationId xmlns:a16="http://schemas.microsoft.com/office/drawing/2014/main" id="{AF2DCB37-0982-D227-0F30-B5C2FA189B31}"/>
              </a:ext>
            </a:extLst>
          </p:cNvPr>
          <p:cNvSpPr txBox="1"/>
          <p:nvPr/>
        </p:nvSpPr>
        <p:spPr>
          <a:xfrm>
            <a:off x="2689818" y="367589"/>
            <a:ext cx="773507" cy="348365"/>
          </a:xfrm>
          <a:prstGeom prst="rect">
            <a:avLst/>
          </a:prstGeom>
        </p:spPr>
        <p:txBody>
          <a:bodyPr vert="horz" wrap="square" lIns="0" tIns="12065" rIns="0" bIns="0" rtlCol="0">
            <a:spAutoFit/>
          </a:bodyPr>
          <a:lstStyle/>
          <a:p>
            <a:pPr marL="50801" algn="ct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Fiscal Federalism</a:t>
            </a:r>
            <a:endParaRPr lang="en-US" sz="1000" spc="-45" dirty="0">
              <a:latin typeface="Arial" panose="020B0604020202020204" pitchFamily="34" charset="0"/>
              <a:cs typeface="Arial" panose="020B0604020202020204" pitchFamily="34" charset="0"/>
            </a:endParaRPr>
          </a:p>
        </p:txBody>
      </p:sp>
      <p:sp>
        <p:nvSpPr>
          <p:cNvPr id="48" name="object 3">
            <a:extLst>
              <a:ext uri="{FF2B5EF4-FFF2-40B4-BE49-F238E27FC236}">
                <a16:creationId xmlns:a16="http://schemas.microsoft.com/office/drawing/2014/main" id="{96002398-782E-05C4-3640-F3B50FBF63ED}"/>
              </a:ext>
            </a:extLst>
          </p:cNvPr>
          <p:cNvSpPr txBox="1"/>
          <p:nvPr/>
        </p:nvSpPr>
        <p:spPr>
          <a:xfrm>
            <a:off x="3778172" y="1534346"/>
            <a:ext cx="672138" cy="348365"/>
          </a:xfrm>
          <a:prstGeom prst="rect">
            <a:avLst/>
          </a:prstGeom>
        </p:spPr>
        <p:txBody>
          <a:bodyPr vert="horz" wrap="square" lIns="0" tIns="12065" rIns="0" bIns="0" rtlCol="0">
            <a:spAutoFit/>
          </a:bodyPr>
          <a:lstStyle/>
          <a:p>
            <a:pPr marL="50801" algn="l">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State/Local Tax Policy</a:t>
            </a:r>
            <a:endParaRPr lang="en-US" sz="1000" spc="-45" dirty="0">
              <a:latin typeface="Arial" panose="020B0604020202020204" pitchFamily="34" charset="0"/>
              <a:cs typeface="Arial" panose="020B0604020202020204" pitchFamily="34" charset="0"/>
            </a:endParaRPr>
          </a:p>
        </p:txBody>
      </p:sp>
      <p:sp>
        <p:nvSpPr>
          <p:cNvPr id="49" name="object 3">
            <a:extLst>
              <a:ext uri="{FF2B5EF4-FFF2-40B4-BE49-F238E27FC236}">
                <a16:creationId xmlns:a16="http://schemas.microsoft.com/office/drawing/2014/main" id="{FC92E652-409A-F9BC-DEA3-924721C240D8}"/>
              </a:ext>
            </a:extLst>
          </p:cNvPr>
          <p:cNvSpPr txBox="1"/>
          <p:nvPr/>
        </p:nvSpPr>
        <p:spPr>
          <a:xfrm>
            <a:off x="2675818" y="2638478"/>
            <a:ext cx="836579" cy="348365"/>
          </a:xfrm>
          <a:prstGeom prst="rect">
            <a:avLst/>
          </a:prstGeom>
        </p:spPr>
        <p:txBody>
          <a:bodyPr vert="horz" wrap="square" lIns="0" tIns="12065" rIns="0" bIns="0" rtlCol="0">
            <a:spAutoFit/>
          </a:bodyPr>
          <a:lstStyle/>
          <a:p>
            <a:pPr marL="50801" algn="ctr">
              <a:lnSpc>
                <a:spcPct val="114000"/>
              </a:lnSpc>
              <a:spcBef>
                <a:spcPts val="600"/>
              </a:spcBef>
              <a:spcAft>
                <a:spcPts val="600"/>
              </a:spcAft>
              <a:tabLst>
                <a:tab pos="167640" algn="l"/>
              </a:tabLst>
            </a:pPr>
            <a:r>
              <a:rPr lang="en-US" sz="1000" b="1" spc="-45" dirty="0">
                <a:latin typeface="Arial" panose="020B0604020202020204" pitchFamily="34" charset="0"/>
                <a:cs typeface="Arial" panose="020B0604020202020204" pitchFamily="34" charset="0"/>
              </a:rPr>
              <a:t>Subnational Debt</a:t>
            </a:r>
            <a:endParaRPr lang="en-US" sz="1000" spc="-45" dirty="0">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D01A41A7-2861-6BC6-81C5-B7CAEC2B95AF}"/>
              </a:ext>
            </a:extLst>
          </p:cNvPr>
          <p:cNvSpPr/>
          <p:nvPr/>
        </p:nvSpPr>
        <p:spPr>
          <a:xfrm>
            <a:off x="2704148" y="1350174"/>
            <a:ext cx="760396" cy="760396"/>
          </a:xfrm>
          <a:prstGeom prst="ellipse">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Research with solid fill">
            <a:extLst>
              <a:ext uri="{FF2B5EF4-FFF2-40B4-BE49-F238E27FC236}">
                <a16:creationId xmlns:a16="http://schemas.microsoft.com/office/drawing/2014/main" id="{EF26D448-CAC6-EF9A-56E7-826C74405A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5690" y="1479740"/>
            <a:ext cx="558138" cy="558138"/>
          </a:xfrm>
          <a:prstGeom prst="rect">
            <a:avLst/>
          </a:prstGeom>
        </p:spPr>
      </p:pic>
    </p:spTree>
    <p:extLst>
      <p:ext uri="{BB962C8B-B14F-4D97-AF65-F5344CB8AC3E}">
        <p14:creationId xmlns:p14="http://schemas.microsoft.com/office/powerpoint/2010/main" val="3604292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5607-8648-1D24-4743-171EF436F607}"/>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3960D75C-3637-7AA0-0113-21F7E68FDAC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Work</a:t>
            </a:r>
          </a:p>
        </p:txBody>
      </p:sp>
      <p:sp>
        <p:nvSpPr>
          <p:cNvPr id="4" name="object 3">
            <a:extLst>
              <a:ext uri="{FF2B5EF4-FFF2-40B4-BE49-F238E27FC236}">
                <a16:creationId xmlns:a16="http://schemas.microsoft.com/office/drawing/2014/main" id="{469A5233-1B53-181B-F698-EF4C6B7E7441}"/>
              </a:ext>
            </a:extLst>
          </p:cNvPr>
          <p:cNvSpPr txBox="1"/>
          <p:nvPr/>
        </p:nvSpPr>
        <p:spPr>
          <a:xfrm>
            <a:off x="104775" y="358775"/>
            <a:ext cx="5943600" cy="2566728"/>
          </a:xfrm>
          <a:prstGeom prst="rect">
            <a:avLst/>
          </a:prstGeom>
        </p:spPr>
        <p:txBody>
          <a:bodyPr vert="horz" wrap="square" lIns="0" tIns="12065" rIns="0" bIns="0" rtlCol="0">
            <a:spAutoFit/>
          </a:bodyPr>
          <a:lstStyle/>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In Progress</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Cash Reserves </a:t>
            </a:r>
            <a:r>
              <a:rPr lang="en-US" sz="900" i="1" dirty="0"/>
              <a:t>and</a:t>
            </a:r>
            <a:r>
              <a:rPr lang="en-US" sz="900" b="1" i="1" dirty="0"/>
              <a:t> Short-Term Borrowing </a:t>
            </a:r>
            <a:r>
              <a:rPr lang="en-US" sz="900" i="1" dirty="0"/>
              <a:t>under</a:t>
            </a:r>
            <a:r>
              <a:rPr lang="en-US" sz="900" b="1" i="1" dirty="0"/>
              <a:t> Liquidity Constraints</a:t>
            </a:r>
            <a:r>
              <a:rPr lang="en-US" sz="900" i="1" dirty="0"/>
              <a:t>. </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Federal Assistance and Municipal Borrowing</a:t>
            </a:r>
            <a:r>
              <a:rPr lang="en-US" sz="900" i="1" dirty="0"/>
              <a:t>: Unpacking the effects of the </a:t>
            </a:r>
            <a:r>
              <a:rPr lang="en-US" sz="900" b="1" i="1" dirty="0"/>
              <a:t>CARES Act </a:t>
            </a:r>
            <a:r>
              <a:rPr lang="en-US" sz="900" i="1" dirty="0"/>
              <a:t>on Government Liquidity Management. - </a:t>
            </a:r>
            <a:r>
              <a:rPr lang="en-US" sz="900" b="1" i="1" dirty="0" err="1">
                <a:solidFill>
                  <a:srgbClr val="690204"/>
                </a:solidFill>
              </a:rPr>
              <a:t>Curro</a:t>
            </a:r>
            <a:r>
              <a:rPr lang="en-US" sz="900" b="1" i="1" dirty="0">
                <a:solidFill>
                  <a:srgbClr val="690204"/>
                </a:solidFill>
              </a:rPr>
              <a:t> Award, Best Graduate Student Paper, ABFM 2024</a:t>
            </a:r>
          </a:p>
          <a:p>
            <a:pPr marL="167640" indent="-116839">
              <a:spcBef>
                <a:spcPts val="300"/>
              </a:spcBef>
              <a:spcAft>
                <a:spcPts val="300"/>
              </a:spcAft>
              <a:buFont typeface="Arial"/>
              <a:buChar char="•"/>
              <a:tabLst>
                <a:tab pos="167640" algn="l"/>
              </a:tabLst>
            </a:pPr>
            <a:r>
              <a:rPr lang="en-US" sz="900" dirty="0"/>
              <a:t>Navarro, Luis (2024). </a:t>
            </a:r>
            <a:r>
              <a:rPr lang="en-US" sz="900" i="1" dirty="0"/>
              <a:t>Preferences for </a:t>
            </a:r>
            <a:r>
              <a:rPr lang="en-US" sz="900" b="1" i="1" dirty="0"/>
              <a:t>Local Public Goods</a:t>
            </a:r>
            <a:r>
              <a:rPr lang="en-US" sz="900" i="1" dirty="0"/>
              <a:t> and the </a:t>
            </a:r>
            <a:r>
              <a:rPr lang="en-US" sz="900" b="1" i="1" dirty="0"/>
              <a:t>Gig Economy </a:t>
            </a:r>
          </a:p>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Published, Under Review </a:t>
            </a:r>
          </a:p>
          <a:p>
            <a:pPr marL="222251" indent="-171450">
              <a:spcBef>
                <a:spcPts val="300"/>
              </a:spcBef>
              <a:spcAft>
                <a:spcPts val="300"/>
              </a:spcAft>
              <a:buFont typeface="Arial" panose="020B0604020202020204" pitchFamily="34" charset="0"/>
              <a:buChar char="•"/>
              <a:tabLst>
                <a:tab pos="167640" algn="l"/>
              </a:tabLst>
            </a:pPr>
            <a:r>
              <a:rPr lang="en-US" sz="900" dirty="0"/>
              <a:t>Johnson, Craig L., </a:t>
            </a:r>
            <a:r>
              <a:rPr lang="en-US" sz="900" b="1" dirty="0"/>
              <a:t>Luis Navarro</a:t>
            </a:r>
            <a:r>
              <a:rPr lang="en-US" sz="900" dirty="0"/>
              <a:t>, &amp; Andrey Yushkov (2023). </a:t>
            </a:r>
            <a:r>
              <a:rPr lang="en-US" sz="900" i="1" dirty="0"/>
              <a:t>The </a:t>
            </a:r>
            <a:r>
              <a:rPr lang="en-US" sz="900" b="1" i="1" dirty="0"/>
              <a:t>fiscal structure of county governments </a:t>
            </a:r>
            <a:r>
              <a:rPr lang="en-US" sz="900" i="1" dirty="0"/>
              <a:t>from 2002 to 2019: the impact of the Great Recession and the run-up to the COVID-19</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Johnson, Craig L., Andrey Yushkov &amp; </a:t>
            </a:r>
            <a:r>
              <a:rPr lang="en-US" sz="900" b="1" dirty="0"/>
              <a:t>Luis Navarro </a:t>
            </a:r>
            <a:r>
              <a:rPr lang="en-US" sz="900" dirty="0"/>
              <a:t>(2023). </a:t>
            </a:r>
            <a:r>
              <a:rPr lang="en-US" sz="900" i="1" dirty="0"/>
              <a:t>The </a:t>
            </a:r>
            <a:r>
              <a:rPr lang="en-US" sz="900" b="1" i="1" dirty="0"/>
              <a:t>structure of county government debt </a:t>
            </a:r>
            <a:r>
              <a:rPr lang="en-US" sz="900" i="1" dirty="0"/>
              <a:t>from 2002 to 2020: the financial crisis, the Great Recession, and the COVID-19 pandemic</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Lozano-Rojas, Felipe &amp; </a:t>
            </a:r>
            <a:r>
              <a:rPr lang="en-US" sz="900" b="1" dirty="0"/>
              <a:t>Luis Navarro </a:t>
            </a:r>
            <a:r>
              <a:rPr lang="en-US" sz="900" dirty="0"/>
              <a:t>(2024) </a:t>
            </a:r>
            <a:r>
              <a:rPr lang="en-US" sz="900" b="1" i="1" dirty="0"/>
              <a:t>Liquidity and Volatility in the Municipal Bond Market</a:t>
            </a:r>
            <a:r>
              <a:rPr lang="en-US" sz="900" i="1" dirty="0"/>
              <a:t>: Evidence from the Municipal Liquidity Facility and other early interventions </a:t>
            </a:r>
          </a:p>
          <a:p>
            <a:pPr marL="222251" indent="-171450">
              <a:spcBef>
                <a:spcPts val="300"/>
              </a:spcBef>
              <a:spcAft>
                <a:spcPts val="300"/>
              </a:spcAft>
              <a:buFont typeface="Arial" panose="020B0604020202020204" pitchFamily="34" charset="0"/>
              <a:buChar char="•"/>
              <a:tabLst>
                <a:tab pos="167640" algn="l"/>
              </a:tabLst>
            </a:pPr>
            <a:r>
              <a:rPr lang="en-US" sz="900" dirty="0"/>
              <a:t>Duncan, Denvil, </a:t>
            </a:r>
            <a:r>
              <a:rPr lang="en-US" sz="900" b="1" dirty="0"/>
              <a:t>Luis Navarro </a:t>
            </a:r>
            <a:r>
              <a:rPr lang="en-US" sz="900" dirty="0"/>
              <a:t>&amp; Shellye Suttles (2024) </a:t>
            </a:r>
            <a:r>
              <a:rPr lang="en-US" sz="900" i="1" dirty="0"/>
              <a:t>Automatic Nutritional Stabilizers and the Role of the </a:t>
            </a:r>
            <a:r>
              <a:rPr lang="en-US" sz="900" b="1" i="1" dirty="0"/>
              <a:t>Charitable Food Assistance during Times of Crisis </a:t>
            </a:r>
          </a:p>
        </p:txBody>
      </p:sp>
    </p:spTree>
    <p:extLst>
      <p:ext uri="{BB962C8B-B14F-4D97-AF65-F5344CB8AC3E}">
        <p14:creationId xmlns:p14="http://schemas.microsoft.com/office/powerpoint/2010/main" val="352302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49F9B-D8A4-5D88-E938-DDC2172E76C8}"/>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0615713B-B23E-0E1B-EEDC-8C0F6157C719}"/>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Today’s Talk: Cash Reserves and Short-Term Borrowing</a:t>
            </a:r>
          </a:p>
        </p:txBody>
      </p:sp>
      <p:sp>
        <p:nvSpPr>
          <p:cNvPr id="4" name="object 3">
            <a:extLst>
              <a:ext uri="{FF2B5EF4-FFF2-40B4-BE49-F238E27FC236}">
                <a16:creationId xmlns:a16="http://schemas.microsoft.com/office/drawing/2014/main" id="{40DBCB8D-BFF1-6E5D-C345-F91E9FAE40CB}"/>
              </a:ext>
            </a:extLst>
          </p:cNvPr>
          <p:cNvSpPr txBox="1"/>
          <p:nvPr/>
        </p:nvSpPr>
        <p:spPr>
          <a:xfrm>
            <a:off x="104775" y="358775"/>
            <a:ext cx="5943600" cy="2582117"/>
          </a:xfrm>
          <a:prstGeom prst="rect">
            <a:avLst/>
          </a:prstGeom>
        </p:spPr>
        <p:txBody>
          <a:bodyPr vert="horz" wrap="square" lIns="0" tIns="12065" rIns="0" bIns="0" rtlCol="0">
            <a:spAutoFit/>
          </a:bodyPr>
          <a:lstStyle/>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In Progress </a:t>
            </a:r>
          </a:p>
          <a:p>
            <a:pPr marL="167640" indent="-116839">
              <a:spcBef>
                <a:spcPts val="300"/>
              </a:spcBef>
              <a:spcAft>
                <a:spcPts val="300"/>
              </a:spcAft>
              <a:buFont typeface="Arial"/>
              <a:buChar char="•"/>
              <a:tabLst>
                <a:tab pos="167640" algn="l"/>
              </a:tabLst>
            </a:pPr>
            <a:r>
              <a:rPr lang="en-US" sz="1000" b="1" dirty="0">
                <a:highlight>
                  <a:srgbClr val="FFFF00"/>
                </a:highlight>
              </a:rPr>
              <a:t>Navarro, Luis </a:t>
            </a:r>
            <a:r>
              <a:rPr lang="en-US" sz="1000" dirty="0">
                <a:highlight>
                  <a:srgbClr val="FFFF00"/>
                </a:highlight>
              </a:rPr>
              <a:t>(2024). </a:t>
            </a:r>
            <a:r>
              <a:rPr lang="en-US" sz="1000" b="1" i="1" dirty="0">
                <a:highlight>
                  <a:srgbClr val="FFFF00"/>
                </a:highlight>
              </a:rPr>
              <a:t>Cash Reserves </a:t>
            </a:r>
            <a:r>
              <a:rPr lang="en-US" sz="1000" i="1" dirty="0">
                <a:highlight>
                  <a:srgbClr val="FFFF00"/>
                </a:highlight>
              </a:rPr>
              <a:t>and</a:t>
            </a:r>
            <a:r>
              <a:rPr lang="en-US" sz="1000" b="1" i="1" dirty="0">
                <a:highlight>
                  <a:srgbClr val="FFFF00"/>
                </a:highlight>
              </a:rPr>
              <a:t> Short-Term Borrowing </a:t>
            </a:r>
            <a:r>
              <a:rPr lang="en-US" sz="1000" i="1" dirty="0">
                <a:highlight>
                  <a:srgbClr val="FFFF00"/>
                </a:highlight>
              </a:rPr>
              <a:t>under</a:t>
            </a:r>
            <a:r>
              <a:rPr lang="en-US" sz="1000" b="1" i="1" dirty="0">
                <a:highlight>
                  <a:srgbClr val="FFFF00"/>
                </a:highlight>
              </a:rPr>
              <a:t> Liquidity Constraints</a:t>
            </a:r>
            <a:r>
              <a:rPr lang="en-US" sz="1000" i="1" dirty="0">
                <a:highlight>
                  <a:srgbClr val="FFFF00"/>
                </a:highlight>
              </a:rPr>
              <a:t>. </a:t>
            </a:r>
          </a:p>
          <a:p>
            <a:pPr marL="167640" indent="-116839">
              <a:spcBef>
                <a:spcPts val="300"/>
              </a:spcBef>
              <a:spcAft>
                <a:spcPts val="300"/>
              </a:spcAft>
              <a:buFont typeface="Arial"/>
              <a:buChar char="•"/>
              <a:tabLst>
                <a:tab pos="167640" algn="l"/>
              </a:tabLst>
            </a:pPr>
            <a:r>
              <a:rPr lang="en-US" sz="900" b="1" dirty="0"/>
              <a:t>Navarro, Luis </a:t>
            </a:r>
            <a:r>
              <a:rPr lang="en-US" sz="900" dirty="0"/>
              <a:t>(2024). </a:t>
            </a:r>
            <a:r>
              <a:rPr lang="en-US" sz="900" b="1" i="1" dirty="0"/>
              <a:t>Federal Assistance and Municipal Borrowing</a:t>
            </a:r>
            <a:r>
              <a:rPr lang="en-US" sz="900" i="1" dirty="0"/>
              <a:t>: Unpacking the effects of the </a:t>
            </a:r>
            <a:r>
              <a:rPr lang="en-US" sz="900" b="1" i="1" dirty="0"/>
              <a:t>CARES Act </a:t>
            </a:r>
            <a:r>
              <a:rPr lang="en-US" sz="900" i="1" dirty="0"/>
              <a:t>on Government Liquidity Management. - </a:t>
            </a:r>
            <a:r>
              <a:rPr lang="en-US" sz="900" b="1" i="1" dirty="0" err="1">
                <a:solidFill>
                  <a:srgbClr val="690204"/>
                </a:solidFill>
              </a:rPr>
              <a:t>Curro</a:t>
            </a:r>
            <a:r>
              <a:rPr lang="en-US" sz="900" b="1" i="1" dirty="0">
                <a:solidFill>
                  <a:srgbClr val="690204"/>
                </a:solidFill>
              </a:rPr>
              <a:t> Award, Best Graduate Student Paper, ABFM 2024</a:t>
            </a:r>
          </a:p>
          <a:p>
            <a:pPr marL="167640" indent="-116839">
              <a:spcBef>
                <a:spcPts val="300"/>
              </a:spcBef>
              <a:spcAft>
                <a:spcPts val="300"/>
              </a:spcAft>
              <a:buFont typeface="Arial"/>
              <a:buChar char="•"/>
              <a:tabLst>
                <a:tab pos="167640" algn="l"/>
              </a:tabLst>
            </a:pPr>
            <a:r>
              <a:rPr lang="en-US" sz="900" dirty="0"/>
              <a:t>Navarro, Luis (2024). </a:t>
            </a:r>
            <a:r>
              <a:rPr lang="en-US" sz="900" i="1" dirty="0"/>
              <a:t>Preferences for </a:t>
            </a:r>
            <a:r>
              <a:rPr lang="en-US" sz="900" b="1" i="1" dirty="0"/>
              <a:t>Local Public Goods</a:t>
            </a:r>
            <a:r>
              <a:rPr lang="en-US" sz="900" i="1" dirty="0"/>
              <a:t> and the </a:t>
            </a:r>
            <a:r>
              <a:rPr lang="en-US" sz="900" b="1" i="1" dirty="0"/>
              <a:t>Gig Economy </a:t>
            </a:r>
          </a:p>
          <a:p>
            <a:pPr marL="50801">
              <a:spcBef>
                <a:spcPts val="300"/>
              </a:spcBef>
              <a:spcAft>
                <a:spcPts val="300"/>
              </a:spcAft>
              <a:tabLst>
                <a:tab pos="167640" algn="l"/>
              </a:tabLst>
            </a:pPr>
            <a:r>
              <a:rPr lang="en-US" sz="900" b="1" spc="-45" dirty="0">
                <a:latin typeface="Arial" panose="020B0604020202020204" pitchFamily="34" charset="0"/>
                <a:cs typeface="Arial" panose="020B0604020202020204" pitchFamily="34" charset="0"/>
              </a:rPr>
              <a:t>Published, Under Review </a:t>
            </a:r>
          </a:p>
          <a:p>
            <a:pPr marL="222251" indent="-171450">
              <a:spcBef>
                <a:spcPts val="300"/>
              </a:spcBef>
              <a:spcAft>
                <a:spcPts val="300"/>
              </a:spcAft>
              <a:buFont typeface="Arial" panose="020B0604020202020204" pitchFamily="34" charset="0"/>
              <a:buChar char="•"/>
              <a:tabLst>
                <a:tab pos="167640" algn="l"/>
              </a:tabLst>
            </a:pPr>
            <a:r>
              <a:rPr lang="en-US" sz="900" dirty="0"/>
              <a:t>Johnson, Craig L., </a:t>
            </a:r>
            <a:r>
              <a:rPr lang="en-US" sz="900" b="1" dirty="0"/>
              <a:t>Luis Navarro</a:t>
            </a:r>
            <a:r>
              <a:rPr lang="en-US" sz="900" dirty="0"/>
              <a:t>, &amp; Andrey Yushkov (2023). </a:t>
            </a:r>
            <a:r>
              <a:rPr lang="en-US" sz="900" i="1" dirty="0"/>
              <a:t>The </a:t>
            </a:r>
            <a:r>
              <a:rPr lang="en-US" sz="900" b="1" i="1" dirty="0"/>
              <a:t>fiscal structure of county governments </a:t>
            </a:r>
            <a:r>
              <a:rPr lang="en-US" sz="900" i="1" dirty="0"/>
              <a:t>from 2002 to 2019: the impact of the Great Recession and the run-up to the COVID-19</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Johnson, Craig L., Andrey Yushkov &amp; </a:t>
            </a:r>
            <a:r>
              <a:rPr lang="en-US" sz="900" b="1" dirty="0"/>
              <a:t>Luis Navarro </a:t>
            </a:r>
            <a:r>
              <a:rPr lang="en-US" sz="900" dirty="0"/>
              <a:t>(2023). </a:t>
            </a:r>
            <a:r>
              <a:rPr lang="en-US" sz="900" i="1" dirty="0"/>
              <a:t>The </a:t>
            </a:r>
            <a:r>
              <a:rPr lang="en-US" sz="900" b="1" i="1" dirty="0"/>
              <a:t>structure of county government debt </a:t>
            </a:r>
            <a:r>
              <a:rPr lang="en-US" sz="900" i="1" dirty="0"/>
              <a:t>from 2002 to 2020: the financial crisis, the Great Recession, and the COVID-19 pandemic</a:t>
            </a:r>
            <a:endParaRPr lang="en-US" sz="900" b="1" i="1" spc="-45" dirty="0">
              <a:latin typeface="Arial" panose="020B0604020202020204" pitchFamily="34" charset="0"/>
              <a:cs typeface="Arial" panose="020B0604020202020204" pitchFamily="34" charset="0"/>
            </a:endParaRPr>
          </a:p>
          <a:p>
            <a:pPr marL="222251" indent="-171450">
              <a:spcBef>
                <a:spcPts val="300"/>
              </a:spcBef>
              <a:spcAft>
                <a:spcPts val="300"/>
              </a:spcAft>
              <a:buFont typeface="Arial" panose="020B0604020202020204" pitchFamily="34" charset="0"/>
              <a:buChar char="•"/>
              <a:tabLst>
                <a:tab pos="167640" algn="l"/>
              </a:tabLst>
            </a:pPr>
            <a:r>
              <a:rPr lang="en-US" sz="900" dirty="0"/>
              <a:t>Lozano-Rojas, Felipe &amp; </a:t>
            </a:r>
            <a:r>
              <a:rPr lang="en-US" sz="900" b="1" dirty="0"/>
              <a:t>Luis Navarro </a:t>
            </a:r>
            <a:r>
              <a:rPr lang="en-US" sz="900" dirty="0"/>
              <a:t>(2024) </a:t>
            </a:r>
            <a:r>
              <a:rPr lang="en-US" sz="900" b="1" i="1" dirty="0"/>
              <a:t>Liquidity and Volatility in the Municipal Bond Market</a:t>
            </a:r>
            <a:r>
              <a:rPr lang="en-US" sz="900" i="1" dirty="0"/>
              <a:t>: Evidence from the Municipal Liquidity Facility and other early interventions </a:t>
            </a:r>
          </a:p>
          <a:p>
            <a:pPr marL="222251" indent="-171450">
              <a:spcBef>
                <a:spcPts val="300"/>
              </a:spcBef>
              <a:spcAft>
                <a:spcPts val="300"/>
              </a:spcAft>
              <a:buFont typeface="Arial" panose="020B0604020202020204" pitchFamily="34" charset="0"/>
              <a:buChar char="•"/>
              <a:tabLst>
                <a:tab pos="167640" algn="l"/>
              </a:tabLst>
            </a:pPr>
            <a:r>
              <a:rPr lang="en-US" sz="900" dirty="0"/>
              <a:t>Duncan, Denvil, </a:t>
            </a:r>
            <a:r>
              <a:rPr lang="en-US" sz="900" b="1" dirty="0"/>
              <a:t>Luis Navarro </a:t>
            </a:r>
            <a:r>
              <a:rPr lang="en-US" sz="900" dirty="0"/>
              <a:t>&amp; Shellye Suttles (2024) </a:t>
            </a:r>
            <a:r>
              <a:rPr lang="en-US" sz="900" i="1" dirty="0"/>
              <a:t>Automatic Nutritional Stabilizers and the Role of the </a:t>
            </a:r>
            <a:r>
              <a:rPr lang="en-US" sz="900" b="1" i="1" dirty="0"/>
              <a:t>Charitable Food Assistance during Times of Crisis </a:t>
            </a:r>
          </a:p>
        </p:txBody>
      </p:sp>
    </p:spTree>
    <p:extLst>
      <p:ext uri="{BB962C8B-B14F-4D97-AF65-F5344CB8AC3E}">
        <p14:creationId xmlns:p14="http://schemas.microsoft.com/office/powerpoint/2010/main" val="3889614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7527-A6E0-A2D8-B2AD-6DBBAA5311A4}"/>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3040363-9396-805F-D270-D51489134B2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Question</a:t>
            </a:r>
          </a:p>
        </p:txBody>
      </p:sp>
      <p:sp>
        <p:nvSpPr>
          <p:cNvPr id="2" name="TextBox 1">
            <a:extLst>
              <a:ext uri="{FF2B5EF4-FFF2-40B4-BE49-F238E27FC236}">
                <a16:creationId xmlns:a16="http://schemas.microsoft.com/office/drawing/2014/main" id="{4D0E973E-693B-AC23-3DD0-8E310475BFC8}"/>
              </a:ext>
            </a:extLst>
          </p:cNvPr>
          <p:cNvSpPr txBox="1"/>
          <p:nvPr/>
        </p:nvSpPr>
        <p:spPr>
          <a:xfrm>
            <a:off x="162635" y="1349375"/>
            <a:ext cx="5827880" cy="495777"/>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r>
              <a:rPr lang="en-US" sz="1200" b="1" spc="-45" dirty="0">
                <a:latin typeface="Arial" panose="020B0604020202020204" pitchFamily="34" charset="0"/>
                <a:cs typeface="Arial" panose="020B0604020202020204" pitchFamily="34" charset="0"/>
              </a:rPr>
              <a:t>My Research Question: </a:t>
            </a:r>
            <a:r>
              <a:rPr lang="en-US" sz="1200" spc="-45" dirty="0">
                <a:latin typeface="Arial" panose="020B0604020202020204" pitchFamily="34" charset="0"/>
                <a:cs typeface="Arial" panose="020B0604020202020204" pitchFamily="34" charset="0"/>
              </a:rPr>
              <a:t>how does the level of cash reserves influences the reliance on short-term borrowing to cope with revenue/expenditure uncertainty? </a:t>
            </a:r>
          </a:p>
        </p:txBody>
      </p:sp>
    </p:spTree>
    <p:extLst>
      <p:ext uri="{BB962C8B-B14F-4D97-AF65-F5344CB8AC3E}">
        <p14:creationId xmlns:p14="http://schemas.microsoft.com/office/powerpoint/2010/main" val="2220185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C8A6-EC64-BB47-572F-AAB2B6A8E4C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3EA82FF2-D090-C902-697D-60EDF31D751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Cash-flow management is daily task for households…</a:t>
            </a:r>
          </a:p>
        </p:txBody>
      </p:sp>
      <p:pic>
        <p:nvPicPr>
          <p:cNvPr id="3" name="Picture 2">
            <a:extLst>
              <a:ext uri="{FF2B5EF4-FFF2-40B4-BE49-F238E27FC236}">
                <a16:creationId xmlns:a16="http://schemas.microsoft.com/office/drawing/2014/main" id="{283CF34A-EB23-F097-6332-1D348EFF07BE}"/>
              </a:ext>
            </a:extLst>
          </p:cNvPr>
          <p:cNvPicPr>
            <a:picLocks noChangeAspect="1"/>
          </p:cNvPicPr>
          <p:nvPr/>
        </p:nvPicPr>
        <p:blipFill>
          <a:blip r:embed="rId3"/>
          <a:stretch>
            <a:fillRect/>
          </a:stretch>
        </p:blipFill>
        <p:spPr>
          <a:xfrm>
            <a:off x="51475" y="280922"/>
            <a:ext cx="3368130" cy="2286000"/>
          </a:xfrm>
          <a:prstGeom prst="rect">
            <a:avLst/>
          </a:prstGeom>
          <a:ln w="28575">
            <a:solidFill>
              <a:srgbClr val="690204"/>
            </a:solidFill>
          </a:ln>
        </p:spPr>
      </p:pic>
      <p:sp>
        <p:nvSpPr>
          <p:cNvPr id="5" name="TextBox 4">
            <a:extLst>
              <a:ext uri="{FF2B5EF4-FFF2-40B4-BE49-F238E27FC236}">
                <a16:creationId xmlns:a16="http://schemas.microsoft.com/office/drawing/2014/main" id="{36278D40-0C5D-7348-A884-90C40E70074B}"/>
              </a:ext>
            </a:extLst>
          </p:cNvPr>
          <p:cNvSpPr txBox="1"/>
          <p:nvPr/>
        </p:nvSpPr>
        <p:spPr>
          <a:xfrm>
            <a:off x="-17851" y="2570485"/>
            <a:ext cx="2484826"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CNBC </a:t>
            </a:r>
            <a:r>
              <a:rPr lang="en-US" sz="500" spc="-45" dirty="0">
                <a:latin typeface="Arial" panose="020B0604020202020204" pitchFamily="34" charset="0"/>
                <a:cs typeface="Arial" panose="020B0604020202020204" pitchFamily="34" charset="0"/>
                <a:hlinkClick r:id="rId4"/>
              </a:rPr>
              <a:t>https://www.cnbc.com/select/cash-debit-or-credit-for-everyday-purchases/</a:t>
            </a:r>
            <a:r>
              <a:rPr lang="en-US" sz="500" spc="-45" dirty="0">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6FD9456E-86B7-2478-AAEC-5718AAAA8068}"/>
              </a:ext>
            </a:extLst>
          </p:cNvPr>
          <p:cNvPicPr>
            <a:picLocks noChangeAspect="1"/>
          </p:cNvPicPr>
          <p:nvPr/>
        </p:nvPicPr>
        <p:blipFill>
          <a:blip r:embed="rId5"/>
          <a:stretch>
            <a:fillRect/>
          </a:stretch>
        </p:blipFill>
        <p:spPr>
          <a:xfrm>
            <a:off x="2466975" y="868188"/>
            <a:ext cx="3446504" cy="2137311"/>
          </a:xfrm>
          <a:prstGeom prst="rect">
            <a:avLst/>
          </a:prstGeom>
          <a:ln w="28575">
            <a:solidFill>
              <a:srgbClr val="690204"/>
            </a:solidFill>
          </a:ln>
        </p:spPr>
      </p:pic>
      <p:sp>
        <p:nvSpPr>
          <p:cNvPr id="9" name="TextBox 8">
            <a:extLst>
              <a:ext uri="{FF2B5EF4-FFF2-40B4-BE49-F238E27FC236}">
                <a16:creationId xmlns:a16="http://schemas.microsoft.com/office/drawing/2014/main" id="{7C15DE0B-F0AD-DA9D-57D0-C8E9F17DB7B9}"/>
              </a:ext>
            </a:extLst>
          </p:cNvPr>
          <p:cNvSpPr txBox="1"/>
          <p:nvPr/>
        </p:nvSpPr>
        <p:spPr>
          <a:xfrm>
            <a:off x="1552575" y="3005499"/>
            <a:ext cx="5638800"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JP Morgan Chase </a:t>
            </a:r>
            <a:r>
              <a:rPr lang="en-US" sz="500" spc="-45" dirty="0">
                <a:latin typeface="Arial" panose="020B0604020202020204" pitchFamily="34" charset="0"/>
                <a:cs typeface="Arial" panose="020B0604020202020204" pitchFamily="34" charset="0"/>
                <a:hlinkClick r:id="rId6"/>
              </a:rPr>
              <a:t>https://www.jpmorganchase.com/institute/all-topics/financial-health-wealth-creation/household-cash-buffer-management-from-the-great-recession-through-covid-19</a:t>
            </a:r>
            <a:r>
              <a:rPr lang="en-US" sz="500" spc="-45"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9372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DF58-7CC6-18C1-B167-E6FBF509E9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3F8D8563-FB1B-5DFF-BD3C-74DC85B8FB2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 also for businesses, non-profits, …</a:t>
            </a:r>
          </a:p>
        </p:txBody>
      </p:sp>
      <p:sp>
        <p:nvSpPr>
          <p:cNvPr id="9" name="TextBox 8">
            <a:extLst>
              <a:ext uri="{FF2B5EF4-FFF2-40B4-BE49-F238E27FC236}">
                <a16:creationId xmlns:a16="http://schemas.microsoft.com/office/drawing/2014/main" id="{5478AA06-FFDE-AEC9-F3D5-6AC357706450}"/>
              </a:ext>
            </a:extLst>
          </p:cNvPr>
          <p:cNvSpPr txBox="1"/>
          <p:nvPr/>
        </p:nvSpPr>
        <p:spPr>
          <a:xfrm>
            <a:off x="3228162" y="2851723"/>
            <a:ext cx="2867762" cy="260392"/>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hlinkClick r:id="rId3"/>
              </a:rPr>
              <a:t>https://www.kff.org/health-costs/issue-brief/most-nonprofit-hospitals-and-health-systems-analyzed-had-adequate-or-strong-days-of-cash-on-hand-in-2022-though-about-one-in-ten-did-not/</a:t>
            </a:r>
            <a:r>
              <a:rPr lang="en-US" sz="500" spc="-45" dirty="0">
                <a:latin typeface="Arial" panose="020B0604020202020204" pitchFamily="34" charset="0"/>
                <a:cs typeface="Arial" panose="020B0604020202020204" pitchFamily="34" charset="0"/>
              </a:rPr>
              <a:t> </a:t>
            </a:r>
          </a:p>
        </p:txBody>
      </p:sp>
      <p:pic>
        <p:nvPicPr>
          <p:cNvPr id="4" name="Picture 3">
            <a:extLst>
              <a:ext uri="{FF2B5EF4-FFF2-40B4-BE49-F238E27FC236}">
                <a16:creationId xmlns:a16="http://schemas.microsoft.com/office/drawing/2014/main" id="{C3774B54-EA8A-2A46-9209-4AE400C99388}"/>
              </a:ext>
            </a:extLst>
          </p:cNvPr>
          <p:cNvPicPr>
            <a:picLocks noChangeAspect="1"/>
          </p:cNvPicPr>
          <p:nvPr/>
        </p:nvPicPr>
        <p:blipFill>
          <a:blip r:embed="rId4"/>
          <a:stretch>
            <a:fillRect/>
          </a:stretch>
        </p:blipFill>
        <p:spPr>
          <a:xfrm>
            <a:off x="3228162" y="815975"/>
            <a:ext cx="2867762" cy="2032705"/>
          </a:xfrm>
          <a:prstGeom prst="rect">
            <a:avLst/>
          </a:prstGeom>
          <a:ln w="28575">
            <a:solidFill>
              <a:srgbClr val="690204"/>
            </a:solidFill>
          </a:ln>
        </p:spPr>
      </p:pic>
      <p:pic>
        <p:nvPicPr>
          <p:cNvPr id="3" name="Picture 2">
            <a:extLst>
              <a:ext uri="{FF2B5EF4-FFF2-40B4-BE49-F238E27FC236}">
                <a16:creationId xmlns:a16="http://schemas.microsoft.com/office/drawing/2014/main" id="{D42156AB-5C57-27B6-E62C-4123881541C0}"/>
              </a:ext>
            </a:extLst>
          </p:cNvPr>
          <p:cNvPicPr>
            <a:picLocks noChangeAspect="1"/>
          </p:cNvPicPr>
          <p:nvPr/>
        </p:nvPicPr>
        <p:blipFill>
          <a:blip r:embed="rId5"/>
          <a:stretch>
            <a:fillRect/>
          </a:stretch>
        </p:blipFill>
        <p:spPr>
          <a:xfrm>
            <a:off x="21891" y="290107"/>
            <a:ext cx="3101649" cy="2133600"/>
          </a:xfrm>
          <a:prstGeom prst="rect">
            <a:avLst/>
          </a:prstGeom>
          <a:ln w="28575">
            <a:solidFill>
              <a:srgbClr val="690204"/>
            </a:solidFill>
          </a:ln>
        </p:spPr>
      </p:pic>
      <p:sp>
        <p:nvSpPr>
          <p:cNvPr id="6" name="TextBox 5">
            <a:extLst>
              <a:ext uri="{FF2B5EF4-FFF2-40B4-BE49-F238E27FC236}">
                <a16:creationId xmlns:a16="http://schemas.microsoft.com/office/drawing/2014/main" id="{B808C1FF-4FC0-E0C9-99D3-99A7682E7AC0}"/>
              </a:ext>
            </a:extLst>
          </p:cNvPr>
          <p:cNvSpPr txBox="1"/>
          <p:nvPr/>
        </p:nvSpPr>
        <p:spPr>
          <a:xfrm>
            <a:off x="-50968" y="2432312"/>
            <a:ext cx="3247365" cy="172740"/>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Blog LSE </a:t>
            </a:r>
            <a:r>
              <a:rPr lang="en-US" sz="500" spc="-45" dirty="0">
                <a:latin typeface="Arial" panose="020B0604020202020204" pitchFamily="34" charset="0"/>
                <a:cs typeface="Arial" panose="020B0604020202020204" pitchFamily="34" charset="0"/>
                <a:hlinkClick r:id="rId6"/>
              </a:rPr>
              <a:t>https://blogs.lse.ac.uk/businessreview/2022/11/01/why-some-businesses-prefer-cash-over-credit-lines/</a:t>
            </a:r>
            <a:r>
              <a:rPr lang="en-US" sz="500" spc="-45"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55424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7365-ED43-0BF6-B65D-5989046677B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2497C9A9-2532-05FC-C492-823F36F8C79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 and for state and local governments! </a:t>
            </a:r>
          </a:p>
        </p:txBody>
      </p:sp>
      <p:sp>
        <p:nvSpPr>
          <p:cNvPr id="9" name="TextBox 8">
            <a:extLst>
              <a:ext uri="{FF2B5EF4-FFF2-40B4-BE49-F238E27FC236}">
                <a16:creationId xmlns:a16="http://schemas.microsoft.com/office/drawing/2014/main" id="{4410CA4C-ECBB-D52C-ECCF-3F46C68A6164}"/>
              </a:ext>
            </a:extLst>
          </p:cNvPr>
          <p:cNvSpPr txBox="1"/>
          <p:nvPr/>
        </p:nvSpPr>
        <p:spPr>
          <a:xfrm>
            <a:off x="1077124" y="2980366"/>
            <a:ext cx="5638800" cy="172676"/>
          </a:xfrm>
          <a:prstGeom prst="rect">
            <a:avLst/>
          </a:prstGeom>
          <a:noFill/>
        </p:spPr>
        <p:txBody>
          <a:bodyPr wrap="square">
            <a:spAutoFit/>
          </a:bodyPr>
          <a:lstStyle/>
          <a:p>
            <a:pPr marL="50801" algn="l">
              <a:lnSpc>
                <a:spcPct val="114000"/>
              </a:lnSpc>
              <a:spcBef>
                <a:spcPts val="800"/>
              </a:spcBef>
              <a:spcAft>
                <a:spcPts val="800"/>
              </a:spcAft>
              <a:tabLst>
                <a:tab pos="167640" algn="l"/>
              </a:tabLst>
            </a:pPr>
            <a:r>
              <a:rPr lang="en-US" sz="500" b="1" spc="-45" dirty="0">
                <a:latin typeface="Arial" panose="020B0604020202020204" pitchFamily="34" charset="0"/>
                <a:cs typeface="Arial" panose="020B0604020202020204" pitchFamily="34" charset="0"/>
              </a:rPr>
              <a:t>Source: </a:t>
            </a:r>
            <a:r>
              <a:rPr lang="en-US" sz="500" spc="-45" dirty="0">
                <a:latin typeface="Arial" panose="020B0604020202020204" pitchFamily="34" charset="0"/>
                <a:cs typeface="Arial" panose="020B0604020202020204" pitchFamily="34" charset="0"/>
              </a:rPr>
              <a:t> </a:t>
            </a:r>
            <a:r>
              <a:rPr lang="en-US" sz="500" spc="-45" dirty="0">
                <a:latin typeface="Arial" panose="020B0604020202020204" pitchFamily="34" charset="0"/>
                <a:cs typeface="Arial" panose="020B0604020202020204" pitchFamily="34" charset="0"/>
                <a:hlinkClick r:id="rId3"/>
              </a:rPr>
              <a:t>https://schoolboardspotlight.org/silver-falls-school-board-approves-taking-out-short-term-loan-to-avoid-running-out-of-cash/</a:t>
            </a:r>
            <a:r>
              <a:rPr lang="en-US" sz="500" spc="-45"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F6D73F31-0BAD-FB84-5697-ABE01792CA49}"/>
              </a:ext>
            </a:extLst>
          </p:cNvPr>
          <p:cNvPicPr>
            <a:picLocks noChangeAspect="1"/>
          </p:cNvPicPr>
          <p:nvPr/>
        </p:nvPicPr>
        <p:blipFill>
          <a:blip r:embed="rId4"/>
          <a:stretch>
            <a:fillRect/>
          </a:stretch>
        </p:blipFill>
        <p:spPr>
          <a:xfrm>
            <a:off x="1095375" y="358775"/>
            <a:ext cx="3362236" cy="2621591"/>
          </a:xfrm>
          <a:prstGeom prst="rect">
            <a:avLst/>
          </a:prstGeom>
          <a:ln w="28575">
            <a:solidFill>
              <a:srgbClr val="690204"/>
            </a:solidFill>
          </a:ln>
        </p:spPr>
      </p:pic>
    </p:spTree>
    <p:extLst>
      <p:ext uri="{BB962C8B-B14F-4D97-AF65-F5344CB8AC3E}">
        <p14:creationId xmlns:p14="http://schemas.microsoft.com/office/powerpoint/2010/main" val="2364982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E92B6-AE7B-F921-F948-7E20B72E1EFD}"/>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B52088F0-4698-21A6-BC84-4BC176E8C07A}"/>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Roles of Cash and Liquidity Constraints</a:t>
            </a:r>
          </a:p>
        </p:txBody>
      </p:sp>
      <p:sp>
        <p:nvSpPr>
          <p:cNvPr id="6" name="object 3">
            <a:extLst>
              <a:ext uri="{FF2B5EF4-FFF2-40B4-BE49-F238E27FC236}">
                <a16:creationId xmlns:a16="http://schemas.microsoft.com/office/drawing/2014/main" id="{E3095E39-B516-F756-3634-00C2DA9D4D7E}"/>
              </a:ext>
            </a:extLst>
          </p:cNvPr>
          <p:cNvSpPr txBox="1"/>
          <p:nvPr/>
        </p:nvSpPr>
        <p:spPr>
          <a:xfrm>
            <a:off x="104775" y="663575"/>
            <a:ext cx="5827880" cy="88287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Dual role of cash: </a:t>
            </a:r>
            <a:r>
              <a:rPr lang="en-US" sz="1100" spc="-45" dirty="0">
                <a:latin typeface="Arial" panose="020B0604020202020204" pitchFamily="34" charset="0"/>
                <a:cs typeface="Arial" panose="020B0604020202020204" pitchFamily="34" charset="0"/>
              </a:rPr>
              <a:t>operational and precautionary (Kling, 2018)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Operational: </a:t>
            </a:r>
            <a:r>
              <a:rPr lang="en-US" sz="1100" spc="-45" dirty="0">
                <a:latin typeface="Arial" panose="020B0604020202020204" pitchFamily="34" charset="0"/>
                <a:cs typeface="Arial" panose="020B0604020202020204" pitchFamily="34" charset="0"/>
              </a:rPr>
              <a:t>finance expenses.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Precautionary:</a:t>
            </a:r>
            <a:r>
              <a:rPr lang="en-US" sz="1100" spc="-45" dirty="0">
                <a:latin typeface="Arial" panose="020B0604020202020204" pitchFamily="34" charset="0"/>
                <a:cs typeface="Arial" panose="020B0604020202020204" pitchFamily="34" charset="0"/>
              </a:rPr>
              <a:t> signal solvency to lenders (banks, investors) .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094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9CDC-3968-B73E-1A10-92918A0CD5E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71C020F1-606E-E222-464C-2B26EF2EA764}"/>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Roles of Cash and Liquidity Constraints</a:t>
            </a:r>
          </a:p>
        </p:txBody>
      </p:sp>
      <p:sp>
        <p:nvSpPr>
          <p:cNvPr id="6" name="object 3">
            <a:extLst>
              <a:ext uri="{FF2B5EF4-FFF2-40B4-BE49-F238E27FC236}">
                <a16:creationId xmlns:a16="http://schemas.microsoft.com/office/drawing/2014/main" id="{AFAFD77B-47A9-64EA-5281-246664AA6524}"/>
              </a:ext>
            </a:extLst>
          </p:cNvPr>
          <p:cNvSpPr txBox="1"/>
          <p:nvPr/>
        </p:nvSpPr>
        <p:spPr>
          <a:xfrm>
            <a:off x="104775" y="663575"/>
            <a:ext cx="5827880" cy="192354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Dual role of cash: </a:t>
            </a:r>
            <a:r>
              <a:rPr lang="en-US" sz="1100" spc="-45" dirty="0">
                <a:latin typeface="Arial" panose="020B0604020202020204" pitchFamily="34" charset="0"/>
                <a:cs typeface="Arial" panose="020B0604020202020204" pitchFamily="34" charset="0"/>
              </a:rPr>
              <a:t>operational and precautionary (Kling, 2018)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Operational: </a:t>
            </a:r>
            <a:r>
              <a:rPr lang="en-US" sz="1100" spc="-45" dirty="0">
                <a:latin typeface="Arial" panose="020B0604020202020204" pitchFamily="34" charset="0"/>
                <a:cs typeface="Arial" panose="020B0604020202020204" pitchFamily="34" charset="0"/>
              </a:rPr>
              <a:t>finance expenses. </a:t>
            </a:r>
          </a:p>
          <a:p>
            <a:pPr marL="167640" lvl="3"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Precautionary:</a:t>
            </a:r>
            <a:r>
              <a:rPr lang="en-US" sz="1100" spc="-45" dirty="0">
                <a:latin typeface="Arial" panose="020B0604020202020204" pitchFamily="34" charset="0"/>
                <a:cs typeface="Arial" panose="020B0604020202020204" pitchFamily="34" charset="0"/>
              </a:rPr>
              <a:t> signal solvency to lenders (banks, investors) . </a:t>
            </a:r>
            <a:endParaRPr lang="en-US" sz="1100" b="1" spc="-45" dirty="0">
              <a:latin typeface="Arial" panose="020B0604020202020204" pitchFamily="34" charset="0"/>
              <a:cs typeface="Arial" panose="020B0604020202020204" pitchFamily="34" charset="0"/>
            </a:endParaRPr>
          </a:p>
          <a:p>
            <a:pPr marL="50801">
              <a:lnSpc>
                <a:spcPct val="114000"/>
              </a:lnSpc>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Key concept for this talk</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Liquidity</a:t>
            </a:r>
            <a:r>
              <a:rPr lang="en-US" sz="1100" spc="-45" dirty="0">
                <a:latin typeface="Arial" panose="020B0604020202020204" pitchFamily="34" charset="0"/>
                <a:cs typeface="Arial" panose="020B0604020202020204" pitchFamily="34" charset="0"/>
              </a:rPr>
              <a:t> = level of cash reserves.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Liquidity constrained </a:t>
            </a:r>
            <a:r>
              <a:rPr lang="en-US" sz="1100" spc="-45" dirty="0">
                <a:latin typeface="Arial" panose="020B0604020202020204" pitchFamily="34" charset="0"/>
                <a:cs typeface="Arial" panose="020B0604020202020204" pitchFamily="34" charset="0"/>
              </a:rPr>
              <a:t>= low levels of cash reserves.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1730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1DE80-7BA4-59D2-4AA7-7EC666BBEBD7}"/>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3F8D5218-024D-447B-ADAA-E694CEC2F613}"/>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Example: State of Washington (Financial Indicators, FY 2022)</a:t>
            </a:r>
          </a:p>
        </p:txBody>
      </p:sp>
      <p:graphicFrame>
        <p:nvGraphicFramePr>
          <p:cNvPr id="22" name="Table 21">
            <a:extLst>
              <a:ext uri="{FF2B5EF4-FFF2-40B4-BE49-F238E27FC236}">
                <a16:creationId xmlns:a16="http://schemas.microsoft.com/office/drawing/2014/main" id="{299CFB39-0661-D67A-20BD-E88ACFEA3043}"/>
              </a:ext>
            </a:extLst>
          </p:cNvPr>
          <p:cNvGraphicFramePr>
            <a:graphicFrameLocks noGrp="1"/>
          </p:cNvGraphicFramePr>
          <p:nvPr>
            <p:extLst>
              <p:ext uri="{D42A27DB-BD31-4B8C-83A1-F6EECF244321}">
                <p14:modId xmlns:p14="http://schemas.microsoft.com/office/powerpoint/2010/main" val="2640983812"/>
              </p:ext>
            </p:extLst>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BF86AD9C-946A-94DF-572C-B44C7E1DD8EA}"/>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6" name="TextBox 25">
            <a:extLst>
              <a:ext uri="{FF2B5EF4-FFF2-40B4-BE49-F238E27FC236}">
                <a16:creationId xmlns:a16="http://schemas.microsoft.com/office/drawing/2014/main" id="{AC31EAD7-F49C-AEF6-3F59-9C3F60AE703B}"/>
              </a:ext>
            </a:extLst>
          </p:cNvPr>
          <p:cNvSpPr txBox="1"/>
          <p:nvPr/>
        </p:nvSpPr>
        <p:spPr>
          <a:xfrm>
            <a:off x="3227205" y="739775"/>
            <a:ext cx="2860677" cy="2274918"/>
          </a:xfrm>
          <a:prstGeom prst="rect">
            <a:avLst/>
          </a:prstGeom>
          <a:noFill/>
        </p:spPr>
        <p:txBody>
          <a:bodyPr wrap="square">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Suppose the state of Washington experiences a revenue shock of $10 billion.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Broad Research Question: </a:t>
            </a:r>
            <a:r>
              <a:rPr lang="en-US" sz="1100" spc="-45" dirty="0">
                <a:latin typeface="Arial" panose="020B0604020202020204" pitchFamily="34" charset="0"/>
                <a:cs typeface="Arial" panose="020B0604020202020204" pitchFamily="34" charset="0"/>
              </a:rPr>
              <a:t>What determines the balance between the use of cash and debt to cope with the uncertainty of revenues and expenses?  In other words: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A) </a:t>
            </a:r>
            <a:r>
              <a:rPr lang="en-US" sz="1100" spc="-45" dirty="0">
                <a:latin typeface="Arial" panose="020B0604020202020204" pitchFamily="34" charset="0"/>
                <a:cs typeface="Arial" panose="020B0604020202020204" pitchFamily="34" charset="0"/>
              </a:rPr>
              <a:t>How much cash should organizations save?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B) </a:t>
            </a:r>
            <a:r>
              <a:rPr lang="en-US" sz="1100" spc="-45" dirty="0">
                <a:latin typeface="Arial" panose="020B0604020202020204" pitchFamily="34" charset="0"/>
                <a:cs typeface="Arial" panose="020B0604020202020204" pitchFamily="34" charset="0"/>
              </a:rPr>
              <a:t>How much debt should they issue? </a:t>
            </a:r>
          </a:p>
        </p:txBody>
      </p:sp>
      <p:sp>
        <p:nvSpPr>
          <p:cNvPr id="2" name="Rectangle 1">
            <a:extLst>
              <a:ext uri="{FF2B5EF4-FFF2-40B4-BE49-F238E27FC236}">
                <a16:creationId xmlns:a16="http://schemas.microsoft.com/office/drawing/2014/main" id="{AA9D79B1-5520-3F9A-FCDC-A28A5A724DC9}"/>
              </a:ext>
            </a:extLst>
          </p:cNvPr>
          <p:cNvSpPr/>
          <p:nvPr/>
        </p:nvSpPr>
        <p:spPr>
          <a:xfrm>
            <a:off x="2162175" y="288243"/>
            <a:ext cx="3925707" cy="27375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2401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22440-BC28-8EB4-C6DF-755CCE80B71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83159CE7-057E-F8A3-5F9A-DFA07A1F5D6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Example: State of Washington (Financial Indicators, FY 2022)</a:t>
            </a:r>
          </a:p>
        </p:txBody>
      </p:sp>
      <p:graphicFrame>
        <p:nvGraphicFramePr>
          <p:cNvPr id="22" name="Table 21">
            <a:extLst>
              <a:ext uri="{FF2B5EF4-FFF2-40B4-BE49-F238E27FC236}">
                <a16:creationId xmlns:a16="http://schemas.microsoft.com/office/drawing/2014/main" id="{76F0F163-604B-3AC7-04DC-A9134047D833}"/>
              </a:ext>
            </a:extLst>
          </p:cNvPr>
          <p:cNvGraphicFramePr>
            <a:graphicFrameLocks noGrp="1"/>
          </p:cNvGraphicFramePr>
          <p:nvPr>
            <p:extLst>
              <p:ext uri="{D42A27DB-BD31-4B8C-83A1-F6EECF244321}">
                <p14:modId xmlns:p14="http://schemas.microsoft.com/office/powerpoint/2010/main" val="92888687"/>
              </p:ext>
            </p:extLst>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800" b="1" i="1"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800" b="1" i="1"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97A8F9EF-F944-39AA-4353-CA98DFD14010}"/>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 name="TextBox 1">
            <a:extLst>
              <a:ext uri="{FF2B5EF4-FFF2-40B4-BE49-F238E27FC236}">
                <a16:creationId xmlns:a16="http://schemas.microsoft.com/office/drawing/2014/main" id="{2C254C98-F9F2-AD63-BE30-7237EFDD2A8F}"/>
              </a:ext>
            </a:extLst>
          </p:cNvPr>
          <p:cNvSpPr txBox="1"/>
          <p:nvPr/>
        </p:nvSpPr>
        <p:spPr>
          <a:xfrm>
            <a:off x="3219447" y="434975"/>
            <a:ext cx="2860677" cy="462242"/>
          </a:xfrm>
          <a:prstGeom prst="rect">
            <a:avLst/>
          </a:prstGeom>
          <a:noFill/>
        </p:spPr>
        <p:txBody>
          <a:bodyPr wrap="square">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Suppose the state of Washington experiences a revenue shock of $10 billion. </a:t>
            </a:r>
          </a:p>
        </p:txBody>
      </p:sp>
    </p:spTree>
    <p:extLst>
      <p:ext uri="{BB962C8B-B14F-4D97-AF65-F5344CB8AC3E}">
        <p14:creationId xmlns:p14="http://schemas.microsoft.com/office/powerpoint/2010/main" val="1722880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7DF92-EAF7-12DE-50CB-FFDE120B941B}"/>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AFE717B4-BF73-9E17-B879-B564A829476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Example: State of Washington (Financial Indicators, FY 2022)</a:t>
            </a:r>
          </a:p>
        </p:txBody>
      </p:sp>
      <p:graphicFrame>
        <p:nvGraphicFramePr>
          <p:cNvPr id="22" name="Table 21">
            <a:extLst>
              <a:ext uri="{FF2B5EF4-FFF2-40B4-BE49-F238E27FC236}">
                <a16:creationId xmlns:a16="http://schemas.microsoft.com/office/drawing/2014/main" id="{AE73FE44-0EAD-D78C-1311-6689694C36F8}"/>
              </a:ext>
            </a:extLst>
          </p:cNvPr>
          <p:cNvGraphicFramePr>
            <a:graphicFrameLocks noGrp="1"/>
          </p:cNvGraphicFramePr>
          <p:nvPr>
            <p:extLst>
              <p:ext uri="{D42A27DB-BD31-4B8C-83A1-F6EECF244321}">
                <p14:modId xmlns:p14="http://schemas.microsoft.com/office/powerpoint/2010/main" val="2003601799"/>
              </p:ext>
            </p:extLst>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EB63A44F-D6F5-95F1-E8AE-48068220A6D9}"/>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6" name="TextBox 25">
            <a:extLst>
              <a:ext uri="{FF2B5EF4-FFF2-40B4-BE49-F238E27FC236}">
                <a16:creationId xmlns:a16="http://schemas.microsoft.com/office/drawing/2014/main" id="{DD28BDF4-AD33-16A4-4C0D-4D706CBED13B}"/>
              </a:ext>
            </a:extLst>
          </p:cNvPr>
          <p:cNvSpPr txBox="1"/>
          <p:nvPr/>
        </p:nvSpPr>
        <p:spPr>
          <a:xfrm>
            <a:off x="3219447" y="434975"/>
            <a:ext cx="2860677" cy="462242"/>
          </a:xfrm>
          <a:prstGeom prst="rect">
            <a:avLst/>
          </a:prstGeom>
          <a:noFill/>
        </p:spPr>
        <p:txBody>
          <a:bodyPr wrap="square">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Suppose the state of Washington experiences a revenue shock of $10 billion. </a:t>
            </a:r>
          </a:p>
        </p:txBody>
      </p:sp>
      <p:sp>
        <p:nvSpPr>
          <p:cNvPr id="27" name="TextBox 26">
            <a:extLst>
              <a:ext uri="{FF2B5EF4-FFF2-40B4-BE49-F238E27FC236}">
                <a16:creationId xmlns:a16="http://schemas.microsoft.com/office/drawing/2014/main" id="{A7F06313-5AF1-7A07-E7A2-DAE2494115EB}"/>
              </a:ext>
            </a:extLst>
          </p:cNvPr>
          <p:cNvSpPr txBox="1"/>
          <p:nvPr/>
        </p:nvSpPr>
        <p:spPr>
          <a:xfrm>
            <a:off x="3219447" y="2111375"/>
            <a:ext cx="2860677" cy="770019"/>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A)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cash</a:t>
            </a:r>
            <a:r>
              <a:rPr lang="en-US" sz="1100" spc="-45" dirty="0">
                <a:latin typeface="Arial" panose="020B0604020202020204" pitchFamily="34" charset="0"/>
                <a:cs typeface="Arial" panose="020B0604020202020204" pitchFamily="34" charset="0"/>
              </a:rPr>
              <a:t> should they save/use? </a:t>
            </a:r>
          </a:p>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B) </a:t>
            </a:r>
            <a:r>
              <a:rPr lang="en-US" sz="1100" spc="-45" dirty="0">
                <a:latin typeface="Arial" panose="020B0604020202020204" pitchFamily="34" charset="0"/>
                <a:cs typeface="Arial" panose="020B0604020202020204" pitchFamily="34" charset="0"/>
              </a:rPr>
              <a:t>How much </a:t>
            </a:r>
            <a:r>
              <a:rPr lang="en-US" sz="1100" b="1" spc="-45" dirty="0">
                <a:latin typeface="Arial" panose="020B0604020202020204" pitchFamily="34" charset="0"/>
                <a:cs typeface="Arial" panose="020B0604020202020204" pitchFamily="34" charset="0"/>
              </a:rPr>
              <a:t>debt</a:t>
            </a:r>
            <a:r>
              <a:rPr lang="en-US" sz="1100" spc="-45" dirty="0">
                <a:latin typeface="Arial" panose="020B0604020202020204" pitchFamily="34" charset="0"/>
                <a:cs typeface="Arial" panose="020B0604020202020204" pitchFamily="34" charset="0"/>
              </a:rPr>
              <a:t> should they issue? </a:t>
            </a:r>
          </a:p>
        </p:txBody>
      </p:sp>
      <p:sp>
        <p:nvSpPr>
          <p:cNvPr id="28" name="Right Arrow 27">
            <a:extLst>
              <a:ext uri="{FF2B5EF4-FFF2-40B4-BE49-F238E27FC236}">
                <a16:creationId xmlns:a16="http://schemas.microsoft.com/office/drawing/2014/main" id="{46844A46-D352-09E5-7AF6-16519C063378}"/>
              </a:ext>
            </a:extLst>
          </p:cNvPr>
          <p:cNvSpPr/>
          <p:nvPr/>
        </p:nvSpPr>
        <p:spPr>
          <a:xfrm>
            <a:off x="2847975" y="2218056"/>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a:extLst>
              <a:ext uri="{FF2B5EF4-FFF2-40B4-BE49-F238E27FC236}">
                <a16:creationId xmlns:a16="http://schemas.microsoft.com/office/drawing/2014/main" id="{9ED65A42-E88C-6C19-0693-8F0819114B45}"/>
              </a:ext>
            </a:extLst>
          </p:cNvPr>
          <p:cNvSpPr/>
          <p:nvPr/>
        </p:nvSpPr>
        <p:spPr>
          <a:xfrm>
            <a:off x="2847975" y="2720975"/>
            <a:ext cx="457200" cy="45719"/>
          </a:xfrm>
          <a:prstGeom prst="rightArrow">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145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3DC28-564B-E4C0-E20D-8A328113965D}"/>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7E7E4A38-AD0C-D21E-D318-ED08939D16AE}"/>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
        <p:nvSpPr>
          <p:cNvPr id="6" name="object 3">
            <a:extLst>
              <a:ext uri="{FF2B5EF4-FFF2-40B4-BE49-F238E27FC236}">
                <a16:creationId xmlns:a16="http://schemas.microsoft.com/office/drawing/2014/main" id="{F8EC8471-F751-2D27-9DFC-CD3537B96FB4}"/>
              </a:ext>
            </a:extLst>
          </p:cNvPr>
          <p:cNvSpPr txBox="1"/>
          <p:nvPr/>
        </p:nvSpPr>
        <p:spPr>
          <a:xfrm>
            <a:off x="104775" y="434975"/>
            <a:ext cx="5827880" cy="88287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Without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latin typeface="Arial" panose="020B0604020202020204" pitchFamily="34" charset="0"/>
                <a:cs typeface="Arial" panose="020B0604020202020204" pitchFamily="34" charset="0"/>
              </a:rPr>
              <a:t>Cash and debt behave like substitutes.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Pecking order theory (Jensen, 1986; Myers, 1984).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281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C099-7D6B-CEB1-425A-9E14AB006B22}"/>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CCA32414-8471-5779-9FC2-25FF404C01C2}"/>
              </a:ext>
            </a:extLst>
          </p:cNvPr>
          <p:cNvSpPr txBox="1"/>
          <p:nvPr/>
        </p:nvSpPr>
        <p:spPr>
          <a:xfrm>
            <a:off x="104775" y="434975"/>
            <a:ext cx="5827880" cy="157665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Without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latin typeface="Arial" panose="020B0604020202020204" pitchFamily="34" charset="0"/>
                <a:cs typeface="Arial" panose="020B0604020202020204" pitchFamily="34" charset="0"/>
              </a:rPr>
              <a:t>Cash and debt behave like substitutes.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Pecking order theory (Jensen, 1986; Myers, 1984). </a:t>
            </a:r>
            <a:endParaRPr lang="en-US" sz="1100" b="1" spc="-45" dirty="0">
              <a:latin typeface="Arial" panose="020B0604020202020204" pitchFamily="34" charset="0"/>
              <a:cs typeface="Arial" panose="020B0604020202020204" pitchFamily="34" charset="0"/>
            </a:endParaRP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debt carries interest and requires opening the books to lenders. </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Implication: </a:t>
            </a:r>
            <a:r>
              <a:rPr lang="en-US" sz="1100" spc="-45" dirty="0">
                <a:latin typeface="Arial" panose="020B0604020202020204" pitchFamily="34" charset="0"/>
                <a:cs typeface="Arial" panose="020B0604020202020204" pitchFamily="34" charset="0"/>
              </a:rPr>
              <a:t>Upon a </a:t>
            </a:r>
            <a:r>
              <a:rPr lang="en-US" sz="1100" b="1" spc="-45" dirty="0">
                <a:latin typeface="Arial" panose="020B0604020202020204" pitchFamily="34" charset="0"/>
                <a:cs typeface="Arial" panose="020B0604020202020204" pitchFamily="34" charset="0"/>
              </a:rPr>
              <a:t>cash windfall</a:t>
            </a:r>
            <a:r>
              <a:rPr lang="en-US" sz="1100" spc="-45" dirty="0">
                <a:latin typeface="Arial" panose="020B0604020202020204" pitchFamily="34" charset="0"/>
                <a:cs typeface="Arial" panose="020B0604020202020204" pitchFamily="34" charset="0"/>
              </a:rPr>
              <a:t>, governments will </a:t>
            </a:r>
            <a:r>
              <a:rPr lang="en-US" sz="1100" b="1" spc="-45" dirty="0">
                <a:solidFill>
                  <a:srgbClr val="690204"/>
                </a:solidFill>
                <a:latin typeface="Arial" panose="020B0604020202020204" pitchFamily="34" charset="0"/>
                <a:cs typeface="Arial" panose="020B0604020202020204" pitchFamily="34" charset="0"/>
              </a:rPr>
              <a:t>reduce</a:t>
            </a:r>
            <a:r>
              <a:rPr lang="en-US" sz="1100" spc="-45" dirty="0">
                <a:latin typeface="Arial" panose="020B0604020202020204" pitchFamily="34" charset="0"/>
                <a:cs typeface="Arial" panose="020B0604020202020204" pitchFamily="34" charset="0"/>
              </a:rPr>
              <a:t> their reliance on </a:t>
            </a:r>
            <a:r>
              <a:rPr lang="en-US" sz="1100" b="1" spc="-45" dirty="0">
                <a:latin typeface="Arial" panose="020B0604020202020204" pitchFamily="34" charset="0"/>
                <a:cs typeface="Arial" panose="020B0604020202020204" pitchFamily="34" charset="0"/>
              </a:rPr>
              <a:t>debt.</a:t>
            </a:r>
          </a:p>
        </p:txBody>
      </p:sp>
      <p:sp>
        <p:nvSpPr>
          <p:cNvPr id="2" name="object 2">
            <a:extLst>
              <a:ext uri="{FF2B5EF4-FFF2-40B4-BE49-F238E27FC236}">
                <a16:creationId xmlns:a16="http://schemas.microsoft.com/office/drawing/2014/main" id="{E05B0E20-20BA-700F-3926-9D7FC84399AE}"/>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1776972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2C672-F921-B6E0-87C7-702EF07D6D50}"/>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6E3E3F59-FD72-7562-E369-E1E9A19343BF}"/>
              </a:ext>
            </a:extLst>
          </p:cNvPr>
          <p:cNvSpPr txBox="1"/>
          <p:nvPr/>
        </p:nvSpPr>
        <p:spPr>
          <a:xfrm>
            <a:off x="104775" y="434975"/>
            <a:ext cx="5827880" cy="88287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highlight>
                  <a:srgbClr val="FFFD78"/>
                </a:highlight>
                <a:latin typeface="Arial" panose="020B0604020202020204" pitchFamily="34" charset="0"/>
                <a:cs typeface="Arial" panose="020B0604020202020204" pitchFamily="34" charset="0"/>
              </a:rPr>
              <a:t>Cash and debt might behave like complements!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Hold cash to maintain creditworthiness (Marlowe, 2011). </a:t>
            </a:r>
            <a:endParaRPr lang="en-US" sz="1100" b="1" spc="-45" dirty="0">
              <a:latin typeface="Arial" panose="020B0604020202020204" pitchFamily="34" charset="0"/>
              <a:cs typeface="Arial" panose="020B0604020202020204" pitchFamily="34" charset="0"/>
            </a:endParaRPr>
          </a:p>
        </p:txBody>
      </p:sp>
      <p:sp>
        <p:nvSpPr>
          <p:cNvPr id="2" name="object 2">
            <a:extLst>
              <a:ext uri="{FF2B5EF4-FFF2-40B4-BE49-F238E27FC236}">
                <a16:creationId xmlns:a16="http://schemas.microsoft.com/office/drawing/2014/main" id="{8BCC9E9B-DE14-14DF-5865-D2C7943562CF}"/>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221766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1E7C1-46D3-9549-8368-A99645522942}"/>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A58F7F8B-D1EB-D7E3-F926-57B9242A813E}"/>
              </a:ext>
            </a:extLst>
          </p:cNvPr>
          <p:cNvSpPr txBox="1"/>
          <p:nvPr/>
        </p:nvSpPr>
        <p:spPr>
          <a:xfrm>
            <a:off x="104775" y="434975"/>
            <a:ext cx="5827880" cy="1576650"/>
          </a:xfrm>
          <a:prstGeom prst="rect">
            <a:avLst/>
          </a:prstGeom>
        </p:spPr>
        <p:txBody>
          <a:bodyPr vert="horz" wrap="square" lIns="0" tIns="12065" rIns="0" bIns="0" rtlCol="0">
            <a:spAutoFit/>
          </a:bodyPr>
          <a:lstStyle/>
          <a:p>
            <a:pPr marL="50801">
              <a:lnSpc>
                <a:spcPct val="114000"/>
              </a:lnSpc>
              <a:spcBef>
                <a:spcPts val="600"/>
              </a:spcBef>
              <a:spcAft>
                <a:spcPts val="600"/>
              </a:spcAft>
              <a:tabLst>
                <a:tab pos="167640" algn="l"/>
              </a:tabLst>
            </a:pPr>
            <a:r>
              <a:rPr lang="en-US" sz="1100" b="1" u="sng" spc="-45" dirty="0">
                <a:solidFill>
                  <a:schemeClr val="tx1"/>
                </a:solidFill>
                <a:latin typeface="Arial" panose="020B0604020202020204" pitchFamily="34" charset="0"/>
                <a:cs typeface="Arial" panose="020B0604020202020204" pitchFamily="34" charset="0"/>
              </a:rPr>
              <a:t>With liquidity constraints</a:t>
            </a:r>
          </a:p>
          <a:p>
            <a:pPr marL="167640" indent="-116839">
              <a:lnSpc>
                <a:spcPct val="114000"/>
              </a:lnSpc>
              <a:spcBef>
                <a:spcPts val="600"/>
              </a:spcBef>
              <a:spcAft>
                <a:spcPts val="600"/>
              </a:spcAft>
              <a:buFont typeface="Arial"/>
              <a:buChar char="•"/>
              <a:tabLst>
                <a:tab pos="167640" algn="l"/>
              </a:tabLst>
            </a:pPr>
            <a:r>
              <a:rPr lang="en-US" sz="1100" b="1" spc="-45" dirty="0">
                <a:solidFill>
                  <a:srgbClr val="690204"/>
                </a:solidFill>
                <a:highlight>
                  <a:srgbClr val="FFFD78"/>
                </a:highlight>
                <a:latin typeface="Arial" panose="020B0604020202020204" pitchFamily="34" charset="0"/>
                <a:cs typeface="Arial" panose="020B0604020202020204" pitchFamily="34" charset="0"/>
              </a:rPr>
              <a:t>Cash and debt might behave like complements!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Link with the literature: </a:t>
            </a:r>
            <a:r>
              <a:rPr lang="en-US" sz="1100" spc="-45" dirty="0">
                <a:latin typeface="Arial" panose="020B0604020202020204" pitchFamily="34" charset="0"/>
                <a:cs typeface="Arial" panose="020B0604020202020204" pitchFamily="34" charset="0"/>
              </a:rPr>
              <a:t>Hold cash to maintain creditworthiness (Marlowe, 2011). </a:t>
            </a:r>
            <a:endParaRPr lang="en-US" sz="1100" b="1" spc="-45" dirty="0">
              <a:latin typeface="Arial" panose="020B0604020202020204" pitchFamily="34" charset="0"/>
              <a:cs typeface="Arial" panose="020B0604020202020204" pitchFamily="34" charset="0"/>
            </a:endParaRP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when cash reserves are low, governments might use debt and not deplete the reserves.</a:t>
            </a:r>
          </a:p>
          <a:p>
            <a:pPr marL="167640" indent="-116839">
              <a:lnSpc>
                <a:spcPct val="114000"/>
              </a:lnSpc>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Implication: </a:t>
            </a:r>
            <a:r>
              <a:rPr lang="en-US" sz="1100" spc="-45" dirty="0">
                <a:latin typeface="Arial" panose="020B0604020202020204" pitchFamily="34" charset="0"/>
                <a:cs typeface="Arial" panose="020B0604020202020204" pitchFamily="34" charset="0"/>
              </a:rPr>
              <a:t>Upon a </a:t>
            </a:r>
            <a:r>
              <a:rPr lang="en-US" sz="1100" b="1" spc="-45" dirty="0">
                <a:latin typeface="Arial" panose="020B0604020202020204" pitchFamily="34" charset="0"/>
                <a:cs typeface="Arial" panose="020B0604020202020204" pitchFamily="34" charset="0"/>
              </a:rPr>
              <a:t>cash windfall</a:t>
            </a:r>
            <a:r>
              <a:rPr lang="en-US" sz="1100" spc="-45" dirty="0">
                <a:latin typeface="Arial" panose="020B0604020202020204" pitchFamily="34" charset="0"/>
                <a:cs typeface="Arial" panose="020B0604020202020204" pitchFamily="34" charset="0"/>
              </a:rPr>
              <a:t>, governments will </a:t>
            </a:r>
            <a:r>
              <a:rPr lang="en-US" sz="1100" b="1" spc="-45" dirty="0">
                <a:solidFill>
                  <a:srgbClr val="4F6228"/>
                </a:solidFill>
                <a:latin typeface="Arial" panose="020B0604020202020204" pitchFamily="34" charset="0"/>
                <a:cs typeface="Arial" panose="020B0604020202020204" pitchFamily="34" charset="0"/>
              </a:rPr>
              <a:t>increase</a:t>
            </a:r>
            <a:r>
              <a:rPr lang="en-US" sz="1100" spc="-45" dirty="0">
                <a:latin typeface="Arial" panose="020B0604020202020204" pitchFamily="34" charset="0"/>
                <a:cs typeface="Arial" panose="020B0604020202020204" pitchFamily="34" charset="0"/>
              </a:rPr>
              <a:t> their reliance on </a:t>
            </a:r>
            <a:r>
              <a:rPr lang="en-US" sz="1100" b="1" spc="-45" dirty="0">
                <a:solidFill>
                  <a:srgbClr val="4F6228"/>
                </a:solidFill>
                <a:latin typeface="Arial" panose="020B0604020202020204" pitchFamily="34" charset="0"/>
                <a:cs typeface="Arial" panose="020B0604020202020204" pitchFamily="34" charset="0"/>
              </a:rPr>
              <a:t>debt</a:t>
            </a:r>
            <a:r>
              <a:rPr lang="en-US" sz="1100" b="1" spc="-45" dirty="0">
                <a:latin typeface="Arial" panose="020B0604020202020204" pitchFamily="34" charset="0"/>
                <a:cs typeface="Arial" panose="020B0604020202020204" pitchFamily="34" charset="0"/>
              </a:rPr>
              <a:t>.</a:t>
            </a:r>
          </a:p>
        </p:txBody>
      </p:sp>
      <p:sp>
        <p:nvSpPr>
          <p:cNvPr id="2" name="object 2">
            <a:extLst>
              <a:ext uri="{FF2B5EF4-FFF2-40B4-BE49-F238E27FC236}">
                <a16:creationId xmlns:a16="http://schemas.microsoft.com/office/drawing/2014/main" id="{17C8BCC0-C450-9EF3-C04F-3F112F38E365}"/>
              </a:ext>
            </a:extLst>
          </p:cNvPr>
          <p:cNvSpPr txBox="1">
            <a:spLocks/>
          </p:cNvSpPr>
          <p:nvPr/>
        </p:nvSpPr>
        <p:spPr>
          <a:xfrm>
            <a:off x="21891" y="12411"/>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Theory: Economic Model of Government Liquidity Management</a:t>
            </a:r>
          </a:p>
        </p:txBody>
      </p:sp>
    </p:spTree>
    <p:extLst>
      <p:ext uri="{BB962C8B-B14F-4D97-AF65-F5344CB8AC3E}">
        <p14:creationId xmlns:p14="http://schemas.microsoft.com/office/powerpoint/2010/main" val="2375500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29E05-501A-2C52-4AD2-1EA9BE63DFC4}"/>
              </a:ext>
            </a:extLst>
          </p:cNvPr>
          <p:cNvSpPr txBox="1"/>
          <p:nvPr/>
        </p:nvSpPr>
        <p:spPr>
          <a:xfrm>
            <a:off x="173580" y="657044"/>
            <a:ext cx="5827880" cy="616131"/>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p:txBody>
      </p:sp>
      <p:sp>
        <p:nvSpPr>
          <p:cNvPr id="5" name="object 2">
            <a:extLst>
              <a:ext uri="{FF2B5EF4-FFF2-40B4-BE49-F238E27FC236}">
                <a16:creationId xmlns:a16="http://schemas.microsoft.com/office/drawing/2014/main" id="{717B5A64-A7FD-5A5A-9C32-B1B8FC1EE4B8}"/>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Reduced Form Model of Interest</a:t>
            </a: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4FF66C07-6109-C3FC-2968-D3CB9C112BA6}"/>
                  </a:ext>
                </a:extLst>
              </p:cNvPr>
              <p:cNvSpPr txBox="1"/>
              <p:nvPr/>
            </p:nvSpPr>
            <p:spPr>
              <a:xfrm>
                <a:off x="96854" y="804390"/>
                <a:ext cx="5775370" cy="245388"/>
              </a:xfrm>
              <a:prstGeom prst="rect">
                <a:avLst/>
              </a:prstGeom>
            </p:spPr>
            <p:txBody>
              <a:bodyPr vert="horz" wrap="square" lIns="0" tIns="12065" rIns="0" bIns="0" rtlCol="0">
                <a:spAutoFit/>
              </a:bodyPr>
              <a:lstStyle/>
              <a:p>
                <a:pPr marL="50165" marR="30480">
                  <a:lnSpc>
                    <a:spcPct val="101000"/>
                  </a:lnSpc>
                  <a:spcBef>
                    <a:spcPts val="600"/>
                  </a:spcBef>
                  <a:spcAft>
                    <a:spcPts val="600"/>
                  </a:spcAft>
                  <a:tabLst>
                    <a:tab pos="167640" algn="l"/>
                  </a:tabLst>
                </a:pPr>
                <a:r>
                  <a:rPr lang="en-US" sz="1600" dirty="0">
                    <a:latin typeface="Arial" panose="020B0604020202020204" pitchFamily="34" charset="0"/>
                    <a:cs typeface="Arial" panose="020B0604020202020204" pitchFamily="34" charset="0"/>
                  </a:rPr>
                  <a:t>	 </a:t>
                </a:r>
                <a14:m>
                  <m:oMath xmlns:m="http://schemas.openxmlformats.org/officeDocument/2006/math">
                    <m:r>
                      <a:rPr lang="en-US" sz="1600" b="0" i="0"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𝑆h𝑜𝑟𝑡𝑇𝑒𝑟𝑚𝐷𝑒𝑏</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𝑡</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1" i="1" smtClean="0">
                        <a:solidFill>
                          <a:srgbClr val="690204"/>
                        </a:solidFill>
                        <a:latin typeface="Cambria Math" panose="02040503050406030204" pitchFamily="18" charset="0"/>
                        <a:cs typeface="Arial" panose="020B0604020202020204" pitchFamily="34" charset="0"/>
                      </a:rPr>
                      <m:t>𝜹</m:t>
                    </m:r>
                    <m:r>
                      <a:rPr lang="en-US" sz="1600" b="0" i="1" smtClean="0">
                        <a:latin typeface="Cambria Math" panose="02040503050406030204" pitchFamily="18" charset="0"/>
                        <a:cs typeface="Arial" panose="020B0604020202020204" pitchFamily="34" charset="0"/>
                      </a:rPr>
                      <m:t>𝐶𝑎𝑠h𝑅𝑒𝑠𝑒𝑟𝑣𝑒</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𝑠</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𝛽</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𝑋</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𝑎</m:t>
                        </m:r>
                      </m:e>
                      <m:sub>
                        <m:r>
                          <a:rPr lang="en-US" sz="1600" b="0" i="1" smtClean="0">
                            <a:latin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𝑏</m:t>
                        </m:r>
                      </m:e>
                      <m:sub>
                        <m:r>
                          <a:rPr lang="en-US" sz="1600" b="0" i="1" smtClean="0">
                            <a:latin typeface="Cambria Math" panose="02040503050406030204" pitchFamily="18" charset="0"/>
                            <a:cs typeface="Arial" panose="020B0604020202020204" pitchFamily="34" charset="0"/>
                          </a:rPr>
                          <m:t>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𝜖</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 </m:t>
                    </m:r>
                  </m:oMath>
                </a14:m>
                <a:r>
                  <a:rPr lang="en-US" sz="1600" dirty="0">
                    <a:latin typeface="Arial" panose="020B0604020202020204" pitchFamily="34" charset="0"/>
                    <a:cs typeface="Arial" panose="020B0604020202020204" pitchFamily="34" charset="0"/>
                  </a:rPr>
                  <a:t>  </a:t>
                </a:r>
              </a:p>
            </p:txBody>
          </p:sp>
        </mc:Choice>
        <mc:Fallback xmlns="">
          <p:sp>
            <p:nvSpPr>
              <p:cNvPr id="6" name="object 3">
                <a:extLst>
                  <a:ext uri="{FF2B5EF4-FFF2-40B4-BE49-F238E27FC236}">
                    <a16:creationId xmlns:a16="http://schemas.microsoft.com/office/drawing/2014/main" id="{4FF66C07-6109-C3FC-2968-D3CB9C112BA6}"/>
                  </a:ext>
                </a:extLst>
              </p:cNvPr>
              <p:cNvSpPr txBox="1">
                <a:spLocks noRot="1" noChangeAspect="1" noMove="1" noResize="1" noEditPoints="1" noAdjustHandles="1" noChangeArrowheads="1" noChangeShapeType="1" noTextEdit="1"/>
              </p:cNvSpPr>
              <p:nvPr/>
            </p:nvSpPr>
            <p:spPr>
              <a:xfrm>
                <a:off x="96854" y="804390"/>
                <a:ext cx="5775370" cy="245388"/>
              </a:xfrm>
              <a:prstGeom prst="rect">
                <a:avLst/>
              </a:prstGeom>
              <a:blipFill>
                <a:blip r:embed="rId2"/>
                <a:stretch>
                  <a:fillRect t="-5000" b="-4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object 3">
                <a:extLst>
                  <a:ext uri="{FF2B5EF4-FFF2-40B4-BE49-F238E27FC236}">
                    <a16:creationId xmlns:a16="http://schemas.microsoft.com/office/drawing/2014/main" id="{E55B9C0B-52CA-6D95-71FE-EF7850C1A240}"/>
                  </a:ext>
                </a:extLst>
              </p:cNvPr>
              <p:cNvSpPr txBox="1"/>
              <p:nvPr/>
            </p:nvSpPr>
            <p:spPr>
              <a:xfrm>
                <a:off x="173580" y="1438613"/>
                <a:ext cx="6026484" cy="189091"/>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0" dirty="0">
                    <a:cs typeface="Arial" panose="020B0604020202020204" pitchFamily="34" charset="0"/>
                  </a:rPr>
                  <a:t>Let </a:t>
                </a:r>
                <a14:m>
                  <m:oMath xmlns:m="http://schemas.openxmlformats.org/officeDocument/2006/math">
                    <m:r>
                      <a:rPr lang="en-US" sz="1100" b="0" i="1" smtClean="0">
                        <a:latin typeface="Cambria Math" panose="02040503050406030204" pitchFamily="18" charset="0"/>
                        <a:cs typeface="Arial" panose="020B0604020202020204" pitchFamily="34" charset="0"/>
                      </a:rPr>
                      <m:t>𝑖</m:t>
                    </m:r>
                    <m:r>
                      <a:rPr lang="en-US" sz="1100" b="0" i="1" smtClean="0">
                        <a:latin typeface="Cambria Math" panose="02040503050406030204" pitchFamily="18" charset="0"/>
                        <a:cs typeface="Arial" panose="020B0604020202020204" pitchFamily="34" charset="0"/>
                      </a:rPr>
                      <m:t> </m:t>
                    </m:r>
                  </m:oMath>
                </a14:m>
                <a:r>
                  <a:rPr lang="en-US" sz="1100" b="0" dirty="0">
                    <a:cs typeface="Arial" panose="020B0604020202020204" pitchFamily="34" charset="0"/>
                  </a:rPr>
                  <a:t>represent a government (states), and </a:t>
                </a:r>
                <a14:m>
                  <m:oMath xmlns:m="http://schemas.openxmlformats.org/officeDocument/2006/math">
                    <m:r>
                      <a:rPr lang="en-US" sz="1100" b="0" i="1" smtClean="0">
                        <a:latin typeface="Cambria Math" panose="02040503050406030204" pitchFamily="18" charset="0"/>
                        <a:cs typeface="Arial" panose="020B0604020202020204" pitchFamily="34" charset="0"/>
                      </a:rPr>
                      <m:t>𝑡</m:t>
                    </m:r>
                  </m:oMath>
                </a14:m>
                <a:r>
                  <a:rPr lang="en-US" sz="1100" b="0" dirty="0">
                    <a:cs typeface="Arial" panose="020B0604020202020204" pitchFamily="34" charset="0"/>
                  </a:rPr>
                  <a:t> </a:t>
                </a:r>
                <a:r>
                  <a:rPr lang="en-US" sz="1100" dirty="0">
                    <a:cs typeface="Arial" panose="020B0604020202020204" pitchFamily="34" charset="0"/>
                  </a:rPr>
                  <a:t>time (quarter). </a:t>
                </a:r>
                <a:endParaRPr lang="en-US" sz="1100" b="0" dirty="0">
                  <a:cs typeface="Arial" panose="020B0604020202020204" pitchFamily="34" charset="0"/>
                </a:endParaRPr>
              </a:p>
            </p:txBody>
          </p:sp>
        </mc:Choice>
        <mc:Fallback>
          <p:sp>
            <p:nvSpPr>
              <p:cNvPr id="3" name="object 3">
                <a:extLst>
                  <a:ext uri="{FF2B5EF4-FFF2-40B4-BE49-F238E27FC236}">
                    <a16:creationId xmlns:a16="http://schemas.microsoft.com/office/drawing/2014/main" id="{E55B9C0B-52CA-6D95-71FE-EF7850C1A240}"/>
                  </a:ext>
                </a:extLst>
              </p:cNvPr>
              <p:cNvSpPr txBox="1">
                <a:spLocks noRot="1" noChangeAspect="1" noMove="1" noResize="1" noEditPoints="1" noAdjustHandles="1" noChangeArrowheads="1" noChangeShapeType="1" noTextEdit="1"/>
              </p:cNvSpPr>
              <p:nvPr/>
            </p:nvSpPr>
            <p:spPr>
              <a:xfrm>
                <a:off x="173580" y="1438613"/>
                <a:ext cx="6026484" cy="189091"/>
              </a:xfrm>
              <a:prstGeom prst="rect">
                <a:avLst/>
              </a:prstGeom>
              <a:blipFill>
                <a:blip r:embed="rId3"/>
                <a:stretch>
                  <a:fillRect l="-420" t="-18750" b="-37500"/>
                </a:stretch>
              </a:blipFill>
            </p:spPr>
            <p:txBody>
              <a:bodyPr/>
              <a:lstStyle/>
              <a:p>
                <a:r>
                  <a:rPr lang="en-US">
                    <a:noFill/>
                  </a:rPr>
                  <a:t> </a:t>
                </a:r>
              </a:p>
            </p:txBody>
          </p:sp>
        </mc:Fallback>
      </mc:AlternateContent>
    </p:spTree>
    <p:extLst>
      <p:ext uri="{BB962C8B-B14F-4D97-AF65-F5344CB8AC3E}">
        <p14:creationId xmlns:p14="http://schemas.microsoft.com/office/powerpoint/2010/main" val="4041018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69C8D-0A63-C9DC-B2B0-EA9042E95F47}"/>
            </a:ext>
          </a:extLst>
        </p:cNvPr>
        <p:cNvGrpSpPr/>
        <p:nvPr/>
      </p:nvGrpSpPr>
      <p:grpSpPr>
        <a:xfrm>
          <a:off x="0" y="0"/>
          <a:ext cx="0" cy="0"/>
          <a:chOff x="0" y="0"/>
          <a:chExt cx="0" cy="0"/>
        </a:xfrm>
      </p:grpSpPr>
      <p:sp>
        <p:nvSpPr>
          <p:cNvPr id="4" name="Right Arrow 3">
            <a:extLst>
              <a:ext uri="{FF2B5EF4-FFF2-40B4-BE49-F238E27FC236}">
                <a16:creationId xmlns:a16="http://schemas.microsoft.com/office/drawing/2014/main" id="{7D43951B-D3B3-F309-E256-DBE101770CBA}"/>
              </a:ext>
            </a:extLst>
          </p:cNvPr>
          <p:cNvSpPr/>
          <p:nvPr/>
        </p:nvSpPr>
        <p:spPr>
          <a:xfrm>
            <a:off x="3000375" y="1996311"/>
            <a:ext cx="703307" cy="541783"/>
          </a:xfrm>
          <a:prstGeom prst="rightArrow">
            <a:avLst>
              <a:gd name="adj1" fmla="val 50000"/>
              <a:gd name="adj2" fmla="val 32027"/>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261E4E0E-7B57-D477-EE60-EA691270DAA3}"/>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Intuition of Research Design</a:t>
            </a:r>
          </a:p>
        </p:txBody>
      </p:sp>
      <p:graphicFrame>
        <p:nvGraphicFramePr>
          <p:cNvPr id="22" name="Table 21">
            <a:extLst>
              <a:ext uri="{FF2B5EF4-FFF2-40B4-BE49-F238E27FC236}">
                <a16:creationId xmlns:a16="http://schemas.microsoft.com/office/drawing/2014/main" id="{6CD55A4D-5467-7446-C131-C169D9B7B28A}"/>
              </a:ext>
            </a:extLst>
          </p:cNvPr>
          <p:cNvGraphicFramePr>
            <a:graphicFrameLocks noGrp="1"/>
          </p:cNvGraphicFramePr>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15999E52-527B-F7B4-8327-42A6445A3F31}"/>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 name="Rectangle 1">
            <a:extLst>
              <a:ext uri="{FF2B5EF4-FFF2-40B4-BE49-F238E27FC236}">
                <a16:creationId xmlns:a16="http://schemas.microsoft.com/office/drawing/2014/main" id="{0244009F-B884-7DFC-818F-7BD8FF5990F3}"/>
              </a:ext>
            </a:extLst>
          </p:cNvPr>
          <p:cNvSpPr/>
          <p:nvPr/>
        </p:nvSpPr>
        <p:spPr>
          <a:xfrm>
            <a:off x="2390775" y="1996311"/>
            <a:ext cx="746834" cy="914400"/>
          </a:xfrm>
          <a:prstGeom prst="rect">
            <a:avLst/>
          </a:prstGeom>
          <a:noFill/>
          <a:ln w="381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EED5000-6E03-0B85-1BB4-4FF00B003BF4}"/>
              </a:ext>
            </a:extLst>
          </p:cNvPr>
          <p:cNvSpPr txBox="1"/>
          <p:nvPr/>
        </p:nvSpPr>
        <p:spPr>
          <a:xfrm>
            <a:off x="3533775" y="1882775"/>
            <a:ext cx="2546350" cy="269241"/>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Regression Model: </a:t>
            </a:r>
            <a:r>
              <a:rPr lang="en-US" sz="1100" spc="-45" dirty="0">
                <a:latin typeface="Arial" panose="020B0604020202020204" pitchFamily="34" charset="0"/>
                <a:cs typeface="Arial" panose="020B0604020202020204" pitchFamily="34" charset="0"/>
              </a:rPr>
              <a:t>Effect of A on B. </a:t>
            </a:r>
          </a:p>
        </p:txBody>
      </p:sp>
    </p:spTree>
    <p:extLst>
      <p:ext uri="{BB962C8B-B14F-4D97-AF65-F5344CB8AC3E}">
        <p14:creationId xmlns:p14="http://schemas.microsoft.com/office/powerpoint/2010/main" val="2547592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0A747-9481-D4C8-E2B8-07AF58458F3D}"/>
            </a:ext>
          </a:extLst>
        </p:cNvPr>
        <p:cNvGrpSpPr/>
        <p:nvPr/>
      </p:nvGrpSpPr>
      <p:grpSpPr>
        <a:xfrm>
          <a:off x="0" y="0"/>
          <a:ext cx="0" cy="0"/>
          <a:chOff x="0" y="0"/>
          <a:chExt cx="0" cy="0"/>
        </a:xfrm>
      </p:grpSpPr>
      <p:sp>
        <p:nvSpPr>
          <p:cNvPr id="4" name="Right Arrow 3">
            <a:extLst>
              <a:ext uri="{FF2B5EF4-FFF2-40B4-BE49-F238E27FC236}">
                <a16:creationId xmlns:a16="http://schemas.microsoft.com/office/drawing/2014/main" id="{2E062A1F-BE55-0F7F-A4D4-74D89A0B2142}"/>
              </a:ext>
            </a:extLst>
          </p:cNvPr>
          <p:cNvSpPr/>
          <p:nvPr/>
        </p:nvSpPr>
        <p:spPr>
          <a:xfrm>
            <a:off x="3000375" y="1996311"/>
            <a:ext cx="703307" cy="541783"/>
          </a:xfrm>
          <a:prstGeom prst="rightArrow">
            <a:avLst>
              <a:gd name="adj1" fmla="val 50000"/>
              <a:gd name="adj2" fmla="val 32027"/>
            </a:avLst>
          </a:prstGeom>
          <a:solidFill>
            <a:srgbClr val="FFC000"/>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F280CA16-30BA-12D5-0F66-88F72C117D81}"/>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Intuition of Research Design</a:t>
            </a:r>
          </a:p>
        </p:txBody>
      </p:sp>
      <p:graphicFrame>
        <p:nvGraphicFramePr>
          <p:cNvPr id="22" name="Table 21">
            <a:extLst>
              <a:ext uri="{FF2B5EF4-FFF2-40B4-BE49-F238E27FC236}">
                <a16:creationId xmlns:a16="http://schemas.microsoft.com/office/drawing/2014/main" id="{70B94F09-B81F-26F5-DB1E-70A127242D7B}"/>
              </a:ext>
            </a:extLst>
          </p:cNvPr>
          <p:cNvGraphicFramePr>
            <a:graphicFrameLocks noGrp="1"/>
          </p:cNvGraphicFramePr>
          <p:nvPr/>
        </p:nvGraphicFramePr>
        <p:xfrm>
          <a:off x="73025" y="374015"/>
          <a:ext cx="3114673" cy="2621280"/>
        </p:xfrm>
        <a:graphic>
          <a:graphicData uri="http://schemas.openxmlformats.org/drawingml/2006/table">
            <a:tbl>
              <a:tblPr firstRow="1" bandRow="1">
                <a:tableStyleId>{5C22544A-7EE6-4342-B048-85BDC9FD1C3A}</a:tableStyleId>
              </a:tblPr>
              <a:tblGrid>
                <a:gridCol w="1174750">
                  <a:extLst>
                    <a:ext uri="{9D8B030D-6E8A-4147-A177-3AD203B41FA5}">
                      <a16:colId xmlns:a16="http://schemas.microsoft.com/office/drawing/2014/main" val="3763093534"/>
                    </a:ext>
                  </a:extLst>
                </a:gridCol>
                <a:gridCol w="914400">
                  <a:extLst>
                    <a:ext uri="{9D8B030D-6E8A-4147-A177-3AD203B41FA5}">
                      <a16:colId xmlns:a16="http://schemas.microsoft.com/office/drawing/2014/main" val="12237081"/>
                    </a:ext>
                  </a:extLst>
                </a:gridCol>
                <a:gridCol w="1025523">
                  <a:extLst>
                    <a:ext uri="{9D8B030D-6E8A-4147-A177-3AD203B41FA5}">
                      <a16:colId xmlns:a16="http://schemas.microsoft.com/office/drawing/2014/main" val="2576239433"/>
                    </a:ext>
                  </a:extLst>
                </a:gridCol>
              </a:tblGrid>
              <a:tr h="182880">
                <a:tc>
                  <a:txBody>
                    <a:bodyPr/>
                    <a:lstStyle/>
                    <a:p>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FY 2022</a:t>
                      </a:r>
                    </a:p>
                    <a:p>
                      <a:pPr algn="r"/>
                      <a:r>
                        <a:rPr lang="en-US" sz="800" b="0" dirty="0">
                          <a:solidFill>
                            <a:schemeClr val="bg1"/>
                          </a:solidFill>
                          <a:latin typeface="Arial" panose="020B0604020202020204" pitchFamily="34" charset="0"/>
                          <a:cs typeface="Arial" panose="020B0604020202020204" pitchFamily="34" charset="0"/>
                        </a:rPr>
                        <a:t>(millions of USD)</a:t>
                      </a:r>
                      <a:endParaRPr lang="en-US" sz="8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r"/>
                      <a:r>
                        <a:rPr lang="en-US" sz="800" dirty="0">
                          <a:solidFill>
                            <a:schemeClr val="bg1"/>
                          </a:solidFill>
                          <a:latin typeface="Arial" panose="020B0604020202020204" pitchFamily="34" charset="0"/>
                          <a:cs typeface="Arial" panose="020B0604020202020204" pitchFamily="34" charset="0"/>
                        </a:rPr>
                        <a:t>Example: Revenue Shock </a:t>
                      </a:r>
                    </a:p>
                    <a:p>
                      <a:pPr algn="r"/>
                      <a:r>
                        <a:rPr lang="en-US" sz="800" dirty="0">
                          <a:solidFill>
                            <a:schemeClr val="bg1"/>
                          </a:solidFill>
                          <a:latin typeface="Arial" panose="020B0604020202020204" pitchFamily="34" charset="0"/>
                          <a:cs typeface="Arial" panose="020B0604020202020204" pitchFamily="34" charset="0"/>
                        </a:rPr>
                        <a:t> -10 billion</a:t>
                      </a: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1317038"/>
                  </a:ext>
                </a:extLst>
              </a:tr>
              <a:tr h="182880">
                <a:tc gridSpan="3">
                  <a:txBody>
                    <a:bodyPr/>
                    <a:lstStyle/>
                    <a:p>
                      <a:pPr algn="l"/>
                      <a:r>
                        <a:rPr lang="en-US" sz="800" dirty="0">
                          <a:solidFill>
                            <a:schemeClr val="tx1"/>
                          </a:solidFill>
                          <a:latin typeface="Arial" panose="020B0604020202020204" pitchFamily="34" charset="0"/>
                          <a:cs typeface="Arial" panose="020B0604020202020204" pitchFamily="34" charset="0"/>
                        </a:rPr>
                        <a:t>Statement of Activities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077239420"/>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Revenues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$72,670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80657"/>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Expenditures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$80,919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682376"/>
                  </a:ext>
                </a:extLst>
              </a:tr>
              <a:tr h="182880">
                <a:tc>
                  <a:txBody>
                    <a:bodyPr/>
                    <a:lstStyle/>
                    <a:p>
                      <a:r>
                        <a:rPr lang="en-US" sz="800" dirty="0">
                          <a:solidFill>
                            <a:schemeClr val="tx1"/>
                          </a:solidFill>
                          <a:latin typeface="Arial" panose="020B0604020202020204" pitchFamily="34" charset="0"/>
                          <a:cs typeface="Arial" panose="020B0604020202020204" pitchFamily="34" charset="0"/>
                        </a:rPr>
                        <a:t>Fiscal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$1,751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b="1" dirty="0">
                          <a:solidFill>
                            <a:srgbClr val="690204"/>
                          </a:solidFill>
                          <a:latin typeface="Arial" panose="020B0604020202020204" pitchFamily="34" charset="0"/>
                          <a:cs typeface="Arial" panose="020B0604020202020204" pitchFamily="34" charset="0"/>
                        </a:rPr>
                        <a:t>-$8,249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9860585"/>
                  </a:ext>
                </a:extLst>
              </a:tr>
              <a:tr h="182880">
                <a:tc gridSpan="3">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Arial" panose="020B0604020202020204" pitchFamily="34" charset="0"/>
                          <a:cs typeface="Arial" panose="020B0604020202020204" pitchFamily="34" charset="0"/>
                        </a:rPr>
                        <a:t>Statement of Net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1870539973"/>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$ 133,313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61327"/>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Cash and Equivalents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$ 26,440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9063848"/>
                  </a:ext>
                </a:extLst>
              </a:tr>
              <a:tr h="182880">
                <a:tc>
                  <a:txBody>
                    <a:bodyPr/>
                    <a:lstStyle/>
                    <a:p>
                      <a:r>
                        <a:rPr lang="en-US" sz="800" dirty="0">
                          <a:solidFill>
                            <a:schemeClr val="tx1"/>
                          </a:solidFill>
                          <a:latin typeface="Arial" panose="020B0604020202020204" pitchFamily="34" charset="0"/>
                          <a:cs typeface="Arial" panose="020B0604020202020204" pitchFamily="34" charset="0"/>
                        </a:rPr>
                        <a:t>Total Liabilities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800" dirty="0">
                          <a:solidFill>
                            <a:schemeClr val="tx1"/>
                          </a:solidFill>
                          <a:latin typeface="Arial" panose="020B0604020202020204" pitchFamily="34" charset="0"/>
                          <a:cs typeface="Arial" panose="020B0604020202020204" pitchFamily="34" charset="0"/>
                        </a:rPr>
                        <a:t>$ 46,661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endParaRPr lang="en-US" sz="8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69721"/>
                  </a:ext>
                </a:extLst>
              </a:tr>
              <a:tr h="182880">
                <a:tc>
                  <a:txBody>
                    <a:bodyPr/>
                    <a:lstStyle/>
                    <a:p>
                      <a:r>
                        <a:rPr lang="en-US" sz="800" i="1" dirty="0">
                          <a:solidFill>
                            <a:schemeClr val="tx1"/>
                          </a:solidFill>
                          <a:latin typeface="Arial" panose="020B0604020202020204" pitchFamily="34" charset="0"/>
                          <a:cs typeface="Arial" panose="020B0604020202020204" pitchFamily="34" charset="0"/>
                        </a:rPr>
                        <a:t>Short-Term Liabilities (&lt; 1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r"/>
                      <a:r>
                        <a:rPr lang="en-US" sz="800" i="1" dirty="0">
                          <a:solidFill>
                            <a:schemeClr val="tx1"/>
                          </a:solidFill>
                          <a:latin typeface="Arial" panose="020B0604020202020204" pitchFamily="34" charset="0"/>
                          <a:cs typeface="Arial" panose="020B0604020202020204" pitchFamily="34" charset="0"/>
                        </a:rPr>
                        <a:t>$3,337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800" b="1" i="1" dirty="0">
                          <a:solidFill>
                            <a:schemeClr val="tx1"/>
                          </a:solidFill>
                          <a:latin typeface="Arial" panose="020B0604020202020204" pitchFamily="34" charset="0"/>
                          <a:cs typeface="Arial" panose="020B0604020202020204" pitchFamily="34" charset="0"/>
                        </a:rPr>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6876599"/>
                  </a:ext>
                </a:extLst>
              </a:tr>
            </a:tbl>
          </a:graphicData>
        </a:graphic>
      </p:graphicFrame>
      <p:sp>
        <p:nvSpPr>
          <p:cNvPr id="24" name="TextBox 23">
            <a:extLst>
              <a:ext uri="{FF2B5EF4-FFF2-40B4-BE49-F238E27FC236}">
                <a16:creationId xmlns:a16="http://schemas.microsoft.com/office/drawing/2014/main" id="{FFAAFA0D-67AF-FAAF-470F-1AE7DF94F988}"/>
              </a:ext>
            </a:extLst>
          </p:cNvPr>
          <p:cNvSpPr txBox="1"/>
          <p:nvPr/>
        </p:nvSpPr>
        <p:spPr>
          <a:xfrm>
            <a:off x="-1407" y="2968837"/>
            <a:ext cx="3139016" cy="184666"/>
          </a:xfrm>
          <a:prstGeom prst="rect">
            <a:avLst/>
          </a:prstGeom>
          <a:noFill/>
        </p:spPr>
        <p:txBody>
          <a:bodyPr wrap="square">
            <a:spAutoFit/>
          </a:bodyPr>
          <a:lstStyle/>
          <a:p>
            <a:r>
              <a:rPr lang="en-US" sz="600" i="1" dirty="0"/>
              <a:t>Source: Annual Comprehensive Financial Report for the State of Washington 2022. </a:t>
            </a:r>
          </a:p>
        </p:txBody>
      </p:sp>
      <p:sp>
        <p:nvSpPr>
          <p:cNvPr id="2" name="Rectangle 1">
            <a:extLst>
              <a:ext uri="{FF2B5EF4-FFF2-40B4-BE49-F238E27FC236}">
                <a16:creationId xmlns:a16="http://schemas.microsoft.com/office/drawing/2014/main" id="{7A456B3E-24E6-07AF-DF5D-2FF4BD220B3B}"/>
              </a:ext>
            </a:extLst>
          </p:cNvPr>
          <p:cNvSpPr/>
          <p:nvPr/>
        </p:nvSpPr>
        <p:spPr>
          <a:xfrm>
            <a:off x="2390775" y="1996311"/>
            <a:ext cx="746834" cy="914400"/>
          </a:xfrm>
          <a:prstGeom prst="rect">
            <a:avLst/>
          </a:prstGeom>
          <a:noFill/>
          <a:ln w="381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40C6640-D435-919A-7C4D-E6B5315532DF}"/>
              </a:ext>
            </a:extLst>
          </p:cNvPr>
          <p:cNvSpPr txBox="1"/>
          <p:nvPr/>
        </p:nvSpPr>
        <p:spPr>
          <a:xfrm>
            <a:off x="3533775" y="1882775"/>
            <a:ext cx="2546350" cy="963021"/>
          </a:xfrm>
          <a:prstGeom prst="rect">
            <a:avLst/>
          </a:prstGeom>
          <a:noFill/>
        </p:spPr>
        <p:txBody>
          <a:bodyPr wrap="square">
            <a:spAutoFit/>
          </a:bodyPr>
          <a:lstStyle/>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Regression Model: </a:t>
            </a:r>
            <a:r>
              <a:rPr lang="en-US" sz="1100" spc="-45" dirty="0">
                <a:latin typeface="Arial" panose="020B0604020202020204" pitchFamily="34" charset="0"/>
                <a:cs typeface="Arial" panose="020B0604020202020204" pitchFamily="34" charset="0"/>
              </a:rPr>
              <a:t>Effect of A on B. </a:t>
            </a:r>
          </a:p>
          <a:p>
            <a:pPr marL="167640" indent="-116839">
              <a:lnSpc>
                <a:spcPct val="114000"/>
              </a:lnSpc>
              <a:spcBef>
                <a:spcPts val="1200"/>
              </a:spcBef>
              <a:spcAft>
                <a:spcPts val="1200"/>
              </a:spcAft>
              <a:buFont typeface="Arial"/>
              <a:buChar char="•"/>
              <a:tabLst>
                <a:tab pos="167640" algn="l"/>
              </a:tabLst>
            </a:pPr>
            <a:r>
              <a:rPr lang="en-US" sz="1100" b="1" spc="-45" dirty="0">
                <a:latin typeface="Arial" panose="020B0604020202020204" pitchFamily="34" charset="0"/>
                <a:cs typeface="Arial" panose="020B0604020202020204" pitchFamily="34" charset="0"/>
              </a:rPr>
              <a:t>Problem: </a:t>
            </a:r>
            <a:r>
              <a:rPr lang="en-US" sz="1100" spc="-45" dirty="0">
                <a:latin typeface="Arial" panose="020B0604020202020204" pitchFamily="34" charset="0"/>
                <a:cs typeface="Arial" panose="020B0604020202020204" pitchFamily="34" charset="0"/>
              </a:rPr>
              <a:t>these are simultaneously determined. Endogeneity. </a:t>
            </a:r>
          </a:p>
        </p:txBody>
      </p:sp>
    </p:spTree>
    <p:extLst>
      <p:ext uri="{BB962C8B-B14F-4D97-AF65-F5344CB8AC3E}">
        <p14:creationId xmlns:p14="http://schemas.microsoft.com/office/powerpoint/2010/main" val="1825516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14659-EA07-410E-89B8-0420977AC7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69BA9F-1548-E50E-FE4B-32969709CB7F}"/>
              </a:ext>
            </a:extLst>
          </p:cNvPr>
          <p:cNvSpPr txBox="1"/>
          <p:nvPr/>
        </p:nvSpPr>
        <p:spPr>
          <a:xfrm>
            <a:off x="173580" y="657044"/>
            <a:ext cx="5827880" cy="616131"/>
          </a:xfrm>
          <a:prstGeom prst="rect">
            <a:avLst/>
          </a:prstGeom>
          <a:solidFill>
            <a:schemeClr val="bg1">
              <a:lumMod val="85000"/>
            </a:schemeClr>
          </a:solidFill>
          <a:ln>
            <a:solidFill>
              <a:srgbClr val="690204"/>
            </a:solidFill>
          </a:ln>
        </p:spPr>
        <p:txBody>
          <a:bodyPr wrap="square">
            <a:spAutoFit/>
          </a:bodyPr>
          <a:lstStyle/>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a:p>
            <a:pPr marL="50801" algn="l">
              <a:lnSpc>
                <a:spcPct val="114000"/>
              </a:lnSpc>
              <a:spcBef>
                <a:spcPts val="600"/>
              </a:spcBef>
              <a:spcAft>
                <a:spcPts val="600"/>
              </a:spcAft>
              <a:tabLst>
                <a:tab pos="167640" algn="l"/>
              </a:tabLst>
            </a:pPr>
            <a:endParaRPr lang="en-US" sz="1100" spc="-45" dirty="0">
              <a:latin typeface="Arial" panose="020B0604020202020204" pitchFamily="34" charset="0"/>
              <a:cs typeface="Arial" panose="020B0604020202020204" pitchFamily="34" charset="0"/>
            </a:endParaRPr>
          </a:p>
        </p:txBody>
      </p:sp>
      <p:sp>
        <p:nvSpPr>
          <p:cNvPr id="5" name="object 2">
            <a:extLst>
              <a:ext uri="{FF2B5EF4-FFF2-40B4-BE49-F238E27FC236}">
                <a16:creationId xmlns:a16="http://schemas.microsoft.com/office/drawing/2014/main" id="{79DFA695-33AA-9ABF-BAE9-0D32F2F7833F}"/>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Reduced Form Model of Interest</a:t>
            </a:r>
          </a:p>
        </p:txBody>
      </p:sp>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8A0ABE12-FD2D-60A5-3E77-213C6368DD23}"/>
                  </a:ext>
                </a:extLst>
              </p:cNvPr>
              <p:cNvSpPr txBox="1"/>
              <p:nvPr/>
            </p:nvSpPr>
            <p:spPr>
              <a:xfrm>
                <a:off x="96854" y="804390"/>
                <a:ext cx="5775370" cy="245388"/>
              </a:xfrm>
              <a:prstGeom prst="rect">
                <a:avLst/>
              </a:prstGeom>
            </p:spPr>
            <p:txBody>
              <a:bodyPr vert="horz" wrap="square" lIns="0" tIns="12065" rIns="0" bIns="0" rtlCol="0">
                <a:spAutoFit/>
              </a:bodyPr>
              <a:lstStyle/>
              <a:p>
                <a:pPr marL="50165" marR="30480">
                  <a:lnSpc>
                    <a:spcPct val="101000"/>
                  </a:lnSpc>
                  <a:spcBef>
                    <a:spcPts val="600"/>
                  </a:spcBef>
                  <a:spcAft>
                    <a:spcPts val="600"/>
                  </a:spcAft>
                  <a:tabLst>
                    <a:tab pos="167640" algn="l"/>
                  </a:tabLst>
                </a:pPr>
                <a:r>
                  <a:rPr lang="en-US" sz="1600" dirty="0">
                    <a:latin typeface="Arial" panose="020B0604020202020204" pitchFamily="34" charset="0"/>
                    <a:cs typeface="Arial" panose="020B0604020202020204" pitchFamily="34" charset="0"/>
                  </a:rPr>
                  <a:t>	 </a:t>
                </a:r>
                <a14:m>
                  <m:oMath xmlns:m="http://schemas.openxmlformats.org/officeDocument/2006/math">
                    <m:r>
                      <a:rPr lang="en-US" sz="1600" b="0" i="0" smtClean="0">
                        <a:latin typeface="Cambria Math" panose="02040503050406030204" pitchFamily="18" charset="0"/>
                        <a:cs typeface="Arial" panose="020B0604020202020204" pitchFamily="34" charset="0"/>
                      </a:rPr>
                      <m:t>  </m:t>
                    </m:r>
                    <m:r>
                      <a:rPr lang="en-US" sz="1600" b="0" i="1" smtClean="0">
                        <a:latin typeface="Cambria Math" panose="02040503050406030204" pitchFamily="18" charset="0"/>
                        <a:cs typeface="Arial" panose="020B0604020202020204" pitchFamily="34" charset="0"/>
                      </a:rPr>
                      <m:t>𝑆h𝑜𝑟𝑡𝑇𝑒𝑟𝑚𝐷𝑒𝑏</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𝑡</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1" i="1" smtClean="0">
                        <a:solidFill>
                          <a:srgbClr val="690204"/>
                        </a:solidFill>
                        <a:latin typeface="Cambria Math" panose="02040503050406030204" pitchFamily="18" charset="0"/>
                        <a:cs typeface="Arial" panose="020B0604020202020204" pitchFamily="34" charset="0"/>
                      </a:rPr>
                      <m:t>𝜹</m:t>
                    </m:r>
                    <m:r>
                      <a:rPr lang="en-US" sz="1600" b="0" i="1" smtClean="0">
                        <a:latin typeface="Cambria Math" panose="02040503050406030204" pitchFamily="18" charset="0"/>
                        <a:cs typeface="Arial" panose="020B0604020202020204" pitchFamily="34" charset="0"/>
                      </a:rPr>
                      <m:t>𝐶𝑎𝑠h𝑅𝑒𝑠𝑒𝑟𝑣𝑒</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𝑠</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r>
                      <a:rPr lang="en-US" sz="1600" b="0" i="1" smtClean="0">
                        <a:latin typeface="Cambria Math" panose="02040503050406030204" pitchFamily="18" charset="0"/>
                        <a:cs typeface="Arial" panose="020B0604020202020204" pitchFamily="34" charset="0"/>
                      </a:rPr>
                      <m:t>𝛽</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𝑋</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𝑎</m:t>
                        </m:r>
                      </m:e>
                      <m:sub>
                        <m:r>
                          <a:rPr lang="en-US" sz="1600" b="0" i="1" smtClean="0">
                            <a:latin typeface="Cambria Math" panose="02040503050406030204" pitchFamily="18" charset="0"/>
                            <a:cs typeface="Arial" panose="020B0604020202020204" pitchFamily="34" charset="0"/>
                          </a:rPr>
                          <m:t>𝑖</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𝑏</m:t>
                        </m:r>
                      </m:e>
                      <m:sub>
                        <m:r>
                          <a:rPr lang="en-US" sz="1600" b="0" i="1" smtClean="0">
                            <a:latin typeface="Cambria Math" panose="02040503050406030204" pitchFamily="18" charset="0"/>
                            <a:cs typeface="Arial" panose="020B0604020202020204" pitchFamily="34" charset="0"/>
                          </a:rPr>
                          <m:t>𝑡</m:t>
                        </m:r>
                      </m:sub>
                    </m:sSub>
                    <m:r>
                      <a:rPr lang="en-US" sz="1600" b="0" i="1" smtClean="0">
                        <a:latin typeface="Cambria Math" panose="02040503050406030204" pitchFamily="18" charset="0"/>
                        <a:cs typeface="Arial" panose="020B0604020202020204" pitchFamily="34" charset="0"/>
                      </a:rPr>
                      <m:t>+</m:t>
                    </m:r>
                    <m:sSub>
                      <m:sSubPr>
                        <m:ctrlPr>
                          <a:rPr lang="en-US" sz="1600" b="0" i="1" smtClean="0">
                            <a:latin typeface="Cambria Math" panose="02040503050406030204" pitchFamily="18" charset="0"/>
                            <a:cs typeface="Arial" panose="020B0604020202020204" pitchFamily="34" charset="0"/>
                          </a:rPr>
                        </m:ctrlPr>
                      </m:sSubPr>
                      <m:e>
                        <m:r>
                          <a:rPr lang="en-US" sz="1600" b="0" i="1" smtClean="0">
                            <a:latin typeface="Cambria Math" panose="02040503050406030204" pitchFamily="18" charset="0"/>
                            <a:cs typeface="Arial" panose="020B0604020202020204" pitchFamily="34" charset="0"/>
                          </a:rPr>
                          <m:t>𝜖</m:t>
                        </m:r>
                      </m:e>
                      <m:sub>
                        <m:r>
                          <a:rPr lang="en-US" sz="1600" b="0" i="1" smtClean="0">
                            <a:latin typeface="Cambria Math" panose="02040503050406030204" pitchFamily="18" charset="0"/>
                            <a:cs typeface="Arial" panose="020B0604020202020204" pitchFamily="34" charset="0"/>
                          </a:rPr>
                          <m:t>𝑖𝑡</m:t>
                        </m:r>
                      </m:sub>
                    </m:sSub>
                    <m:r>
                      <a:rPr lang="en-US" sz="1600" b="0" i="1" smtClean="0">
                        <a:latin typeface="Cambria Math" panose="02040503050406030204" pitchFamily="18" charset="0"/>
                        <a:cs typeface="Arial" panose="020B0604020202020204" pitchFamily="34" charset="0"/>
                      </a:rPr>
                      <m:t> </m:t>
                    </m:r>
                  </m:oMath>
                </a14:m>
                <a:r>
                  <a:rPr lang="en-US" sz="1600" dirty="0">
                    <a:latin typeface="Arial" panose="020B0604020202020204" pitchFamily="34" charset="0"/>
                    <a:cs typeface="Arial" panose="020B0604020202020204" pitchFamily="34" charset="0"/>
                  </a:rPr>
                  <a:t>  </a:t>
                </a:r>
              </a:p>
            </p:txBody>
          </p:sp>
        </mc:Choice>
        <mc:Fallback xmlns="">
          <p:sp>
            <p:nvSpPr>
              <p:cNvPr id="6" name="object 3">
                <a:extLst>
                  <a:ext uri="{FF2B5EF4-FFF2-40B4-BE49-F238E27FC236}">
                    <a16:creationId xmlns:a16="http://schemas.microsoft.com/office/drawing/2014/main" id="{4FF66C07-6109-C3FC-2968-D3CB9C112BA6}"/>
                  </a:ext>
                </a:extLst>
              </p:cNvPr>
              <p:cNvSpPr txBox="1">
                <a:spLocks noRot="1" noChangeAspect="1" noMove="1" noResize="1" noEditPoints="1" noAdjustHandles="1" noChangeArrowheads="1" noChangeShapeType="1" noTextEdit="1"/>
              </p:cNvSpPr>
              <p:nvPr/>
            </p:nvSpPr>
            <p:spPr>
              <a:xfrm>
                <a:off x="96854" y="804390"/>
                <a:ext cx="5775370" cy="245388"/>
              </a:xfrm>
              <a:prstGeom prst="rect">
                <a:avLst/>
              </a:prstGeom>
              <a:blipFill>
                <a:blip r:embed="rId2"/>
                <a:stretch>
                  <a:fillRect t="-5000" b="-4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bject 3">
                <a:extLst>
                  <a:ext uri="{FF2B5EF4-FFF2-40B4-BE49-F238E27FC236}">
                    <a16:creationId xmlns:a16="http://schemas.microsoft.com/office/drawing/2014/main" id="{48FCD314-76BE-75F3-EC9E-AE8C4054102B}"/>
                  </a:ext>
                </a:extLst>
              </p:cNvPr>
              <p:cNvSpPr txBox="1"/>
              <p:nvPr/>
            </p:nvSpPr>
            <p:spPr>
              <a:xfrm>
                <a:off x="126666" y="1448766"/>
                <a:ext cx="6026484" cy="882870"/>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OLS estimation of </a:t>
                </a:r>
                <a14:m>
                  <m:oMath xmlns:m="http://schemas.openxmlformats.org/officeDocument/2006/math">
                    <m:r>
                      <a:rPr lang="en-US" sz="1100" b="1" i="1" smtClean="0">
                        <a:solidFill>
                          <a:srgbClr val="690204"/>
                        </a:solidFill>
                        <a:latin typeface="Cambria Math" panose="02040503050406030204" pitchFamily="18" charset="0"/>
                        <a:cs typeface="Arial" panose="020B0604020202020204" pitchFamily="34" charset="0"/>
                      </a:rPr>
                      <m:t>𝜹</m:t>
                    </m:r>
                  </m:oMath>
                </a14:m>
                <a:r>
                  <a:rPr lang="en-US" sz="1100" b="1" dirty="0">
                    <a:solidFill>
                      <a:srgbClr val="690204"/>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is likely biased due to endogeneity between cash and debt. </a:t>
                </a:r>
              </a:p>
              <a:p>
                <a:pPr marL="167640" marR="30480" indent="-117475">
                  <a:lnSpc>
                    <a:spcPct val="114000"/>
                  </a:lnSpc>
                  <a:spcBef>
                    <a:spcPts val="600"/>
                  </a:spcBef>
                  <a:spcAft>
                    <a:spcPts val="600"/>
                  </a:spcAft>
                  <a:buFont typeface="Arial"/>
                  <a:buChar char="•"/>
                  <a:tabLst>
                    <a:tab pos="167640" algn="l"/>
                  </a:tabLst>
                </a:pPr>
                <a:r>
                  <a:rPr lang="en-US" sz="1100" dirty="0">
                    <a:solidFill>
                      <a:schemeClr val="tx1"/>
                    </a:solidFill>
                    <a:latin typeface="Arial" panose="020B0604020202020204" pitchFamily="34" charset="0"/>
                    <a:cs typeface="Arial" panose="020B0604020202020204" pitchFamily="34" charset="0"/>
                  </a:rPr>
                  <a:t>⬆️ State Economic Activity </a:t>
                </a:r>
                <a:r>
                  <a:rPr lang="en-US" sz="1100" dirty="0">
                    <a:solidFill>
                      <a:schemeClr val="tx1"/>
                    </a:solidFill>
                    <a:latin typeface="Arial" panose="020B0604020202020204" pitchFamily="34" charset="0"/>
                    <a:cs typeface="Arial" panose="020B0604020202020204" pitchFamily="34" charset="0"/>
                    <a:sym typeface="Wingdings" pitchFamily="2" charset="2"/>
                  </a:rPr>
                  <a:t> </a:t>
                </a:r>
                <a:r>
                  <a:rPr lang="en-US" sz="1100" dirty="0">
                    <a:solidFill>
                      <a:schemeClr val="tx1"/>
                    </a:solidFill>
                    <a:latin typeface="Arial" panose="020B0604020202020204" pitchFamily="34" charset="0"/>
                    <a:cs typeface="Arial" panose="020B0604020202020204" pitchFamily="34" charset="0"/>
                  </a:rPr>
                  <a:t>⬆️ Own-Source Revenues</a:t>
                </a:r>
                <a:r>
                  <a:rPr lang="en-US" sz="1100" dirty="0">
                    <a:solidFill>
                      <a:schemeClr val="tx1"/>
                    </a:solidFill>
                    <a:latin typeface="Arial" panose="020B0604020202020204" pitchFamily="34" charset="0"/>
                    <a:cs typeface="Arial" panose="020B0604020202020204" pitchFamily="34" charset="0"/>
                    <a:sym typeface="Wingdings" pitchFamily="2" charset="2"/>
                  </a:rPr>
                  <a:t> </a:t>
                </a:r>
                <a:r>
                  <a:rPr lang="en-US" sz="1100" dirty="0">
                    <a:solidFill>
                      <a:schemeClr val="tx1"/>
                    </a:solidFill>
                    <a:latin typeface="Arial" panose="020B0604020202020204" pitchFamily="34" charset="0"/>
                    <a:cs typeface="Arial" panose="020B0604020202020204" pitchFamily="34" charset="0"/>
                  </a:rPr>
                  <a:t>⬆️ Cash Holdings ⬇️ ST debt. </a:t>
                </a:r>
                <a:endParaRPr lang="en-US" sz="1100" dirty="0">
                  <a:solidFill>
                    <a:srgbClr val="690204"/>
                  </a:solidFill>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Implication: </a:t>
                </a:r>
                <a:r>
                  <a:rPr lang="en-US" sz="1100" dirty="0">
                    <a:latin typeface="Arial" panose="020B0604020202020204" pitchFamily="34" charset="0"/>
                    <a:cs typeface="Arial" panose="020B0604020202020204" pitchFamily="34" charset="0"/>
                  </a:rPr>
                  <a:t>endogeneity bias is likely </a:t>
                </a:r>
                <a:r>
                  <a:rPr lang="en-US" sz="1100" b="1" dirty="0">
                    <a:solidFill>
                      <a:srgbClr val="690204"/>
                    </a:solidFill>
                    <a:latin typeface="Arial" panose="020B0604020202020204" pitchFamily="34" charset="0"/>
                    <a:cs typeface="Arial" panose="020B0604020202020204" pitchFamily="34" charset="0"/>
                  </a:rPr>
                  <a:t>negative</a:t>
                </a:r>
                <a:r>
                  <a:rPr lang="en-US" sz="1100" dirty="0">
                    <a:latin typeface="Arial" panose="020B0604020202020204" pitchFamily="34" charset="0"/>
                    <a:cs typeface="Arial" panose="020B0604020202020204" pitchFamily="34" charset="0"/>
                  </a:rPr>
                  <a:t>. OLS could </a:t>
                </a:r>
                <a:r>
                  <a:rPr lang="en-US" sz="1100" b="1" dirty="0">
                    <a:latin typeface="Arial" panose="020B0604020202020204" pitchFamily="34" charset="0"/>
                    <a:cs typeface="Arial" panose="020B0604020202020204" pitchFamily="34" charset="0"/>
                  </a:rPr>
                  <a:t>underestimate</a:t>
                </a:r>
                <a:r>
                  <a:rPr lang="en-US" sz="1100" dirty="0">
                    <a:latin typeface="Arial" panose="020B0604020202020204" pitchFamily="34" charset="0"/>
                    <a:cs typeface="Arial" panose="020B0604020202020204" pitchFamily="34" charset="0"/>
                  </a:rPr>
                  <a:t> </a:t>
                </a:r>
                <a14:m>
                  <m:oMath xmlns:m="http://schemas.openxmlformats.org/officeDocument/2006/math">
                    <m:r>
                      <a:rPr lang="en-US" sz="1100" b="1" i="1" smtClean="0">
                        <a:solidFill>
                          <a:srgbClr val="690204"/>
                        </a:solidFill>
                        <a:latin typeface="Cambria Math" panose="02040503050406030204" pitchFamily="18" charset="0"/>
                        <a:cs typeface="Arial" panose="020B0604020202020204" pitchFamily="34" charset="0"/>
                      </a:rPr>
                      <m:t>𝜹</m:t>
                    </m:r>
                  </m:oMath>
                </a14:m>
                <a:r>
                  <a:rPr lang="en-US" sz="1100" dirty="0">
                    <a:latin typeface="Arial" panose="020B0604020202020204" pitchFamily="34" charset="0"/>
                    <a:cs typeface="Arial" panose="020B0604020202020204" pitchFamily="34" charset="0"/>
                  </a:rPr>
                  <a:t>.</a:t>
                </a:r>
              </a:p>
            </p:txBody>
          </p:sp>
        </mc:Choice>
        <mc:Fallback>
          <p:sp>
            <p:nvSpPr>
              <p:cNvPr id="7" name="object 3">
                <a:extLst>
                  <a:ext uri="{FF2B5EF4-FFF2-40B4-BE49-F238E27FC236}">
                    <a16:creationId xmlns:a16="http://schemas.microsoft.com/office/drawing/2014/main" id="{48FCD314-76BE-75F3-EC9E-AE8C4054102B}"/>
                  </a:ext>
                </a:extLst>
              </p:cNvPr>
              <p:cNvSpPr txBox="1">
                <a:spLocks noRot="1" noChangeAspect="1" noMove="1" noResize="1" noEditPoints="1" noAdjustHandles="1" noChangeArrowheads="1" noChangeShapeType="1" noTextEdit="1"/>
              </p:cNvSpPr>
              <p:nvPr/>
            </p:nvSpPr>
            <p:spPr>
              <a:xfrm>
                <a:off x="126666" y="1448766"/>
                <a:ext cx="6026484" cy="882870"/>
              </a:xfrm>
              <a:prstGeom prst="rect">
                <a:avLst/>
              </a:prstGeom>
              <a:blipFill>
                <a:blip r:embed="rId3"/>
                <a:stretch>
                  <a:fillRect l="-632" t="-4286" b="-8571"/>
                </a:stretch>
              </a:blipFill>
            </p:spPr>
            <p:txBody>
              <a:bodyPr/>
              <a:lstStyle/>
              <a:p>
                <a:r>
                  <a:rPr lang="en-US">
                    <a:noFill/>
                  </a:rPr>
                  <a:t> </a:t>
                </a:r>
              </a:p>
            </p:txBody>
          </p:sp>
        </mc:Fallback>
      </mc:AlternateContent>
    </p:spTree>
    <p:extLst>
      <p:ext uri="{BB962C8B-B14F-4D97-AF65-F5344CB8AC3E}">
        <p14:creationId xmlns:p14="http://schemas.microsoft.com/office/powerpoint/2010/main" val="2470375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8E5A5-3797-0739-8BBE-58B3E38F2F4D}"/>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D527AC90-3188-2E81-63BF-6231B4FCC424}"/>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B5712701-9093-6060-7CDD-7DCD8582897C}"/>
              </a:ext>
            </a:extLst>
          </p:cNvPr>
          <p:cNvSpPr txBox="1"/>
          <p:nvPr/>
        </p:nvSpPr>
        <p:spPr>
          <a:xfrm>
            <a:off x="104775" y="479102"/>
            <a:ext cx="5715000" cy="189091"/>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p:txBody>
      </p:sp>
    </p:spTree>
    <p:extLst>
      <p:ext uri="{BB962C8B-B14F-4D97-AF65-F5344CB8AC3E}">
        <p14:creationId xmlns:p14="http://schemas.microsoft.com/office/powerpoint/2010/main" val="3948008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70CD2-D6E7-CEF6-D7ED-41816C3BCC24}"/>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1D7B11CB-7152-5568-D2E8-D9F49CDEAC0E}"/>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F4CFFAFD-61A0-04F4-CEC7-5CF0AFD2D3A4}"/>
              </a:ext>
            </a:extLst>
          </p:cNvPr>
          <p:cNvSpPr txBox="1"/>
          <p:nvPr/>
        </p:nvSpPr>
        <p:spPr>
          <a:xfrm>
            <a:off x="104775" y="479102"/>
            <a:ext cx="5715000" cy="728982"/>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p:txBody>
      </p:sp>
    </p:spTree>
    <p:extLst>
      <p:ext uri="{BB962C8B-B14F-4D97-AF65-F5344CB8AC3E}">
        <p14:creationId xmlns:p14="http://schemas.microsoft.com/office/powerpoint/2010/main" val="3791367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7928-6B30-B1F9-93FF-A701F2951070}"/>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3C7DCDEE-D69F-2E56-CD34-FFA7E5DF80B2}"/>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C1E1D069-469F-0781-3FB5-1388F11E87F0}"/>
              </a:ext>
            </a:extLst>
          </p:cNvPr>
          <p:cNvSpPr txBox="1"/>
          <p:nvPr/>
        </p:nvSpPr>
        <p:spPr>
          <a:xfrm>
            <a:off x="104775" y="479102"/>
            <a:ext cx="5715000" cy="1075872"/>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Quasi-experimental setting: </a:t>
            </a:r>
            <a:r>
              <a:rPr lang="en-US" sz="1100" dirty="0">
                <a:solidFill>
                  <a:schemeClr val="tx1"/>
                </a:solidFill>
                <a:latin typeface="Arial" panose="020B0604020202020204" pitchFamily="34" charset="0"/>
                <a:cs typeface="Arial" panose="020B0604020202020204" pitchFamily="34" charset="0"/>
              </a:rPr>
              <a:t>Mexican state governments. </a:t>
            </a:r>
          </a:p>
        </p:txBody>
      </p:sp>
    </p:spTree>
    <p:extLst>
      <p:ext uri="{BB962C8B-B14F-4D97-AF65-F5344CB8AC3E}">
        <p14:creationId xmlns:p14="http://schemas.microsoft.com/office/powerpoint/2010/main" val="333878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1D38-34FD-FA14-25F3-87119352B10C}"/>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BBE65894-03A5-49E1-8F87-AFD15EB7AFE2}"/>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Empirical Setting</a:t>
            </a:r>
          </a:p>
        </p:txBody>
      </p:sp>
      <p:sp>
        <p:nvSpPr>
          <p:cNvPr id="7" name="object 3">
            <a:extLst>
              <a:ext uri="{FF2B5EF4-FFF2-40B4-BE49-F238E27FC236}">
                <a16:creationId xmlns:a16="http://schemas.microsoft.com/office/drawing/2014/main" id="{494EE5D0-88EE-F92C-7F5E-D384DFA70C5F}"/>
              </a:ext>
            </a:extLst>
          </p:cNvPr>
          <p:cNvSpPr txBox="1"/>
          <p:nvPr/>
        </p:nvSpPr>
        <p:spPr>
          <a:xfrm>
            <a:off x="104775" y="479102"/>
            <a:ext cx="5715000" cy="230954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Ideal Experiment: </a:t>
            </a:r>
            <a:r>
              <a:rPr lang="en-US" sz="1100" dirty="0">
                <a:latin typeface="Arial" panose="020B0604020202020204" pitchFamily="34" charset="0"/>
                <a:cs typeface="Arial" panose="020B0604020202020204" pitchFamily="34" charset="0"/>
              </a:rPr>
              <a:t>Lottery that randomly assigns liquidity shocks to governments.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Second Best: </a:t>
            </a:r>
            <a:r>
              <a:rPr lang="en-US" sz="1100" dirty="0">
                <a:solidFill>
                  <a:schemeClr val="tx1"/>
                </a:solidFill>
                <a:latin typeface="Arial" panose="020B0604020202020204" pitchFamily="34" charset="0"/>
                <a:cs typeface="Arial" panose="020B0604020202020204" pitchFamily="34" charset="0"/>
              </a:rPr>
              <a:t>plausibly random variation on the main revenue source of governments with relatively stringent liquidity constraints. </a:t>
            </a:r>
          </a:p>
          <a:p>
            <a:pPr marL="167640" marR="30480" indent="-117475">
              <a:lnSpc>
                <a:spcPct val="114000"/>
              </a:lnSpc>
              <a:spcBef>
                <a:spcPts val="600"/>
              </a:spcBef>
              <a:spcAft>
                <a:spcPts val="600"/>
              </a:spcAft>
              <a:buFont typeface="Arial"/>
              <a:buChar char="•"/>
              <a:tabLst>
                <a:tab pos="167640" algn="l"/>
              </a:tabLst>
            </a:pPr>
            <a:r>
              <a:rPr lang="en-US" sz="1100" b="1" dirty="0">
                <a:solidFill>
                  <a:schemeClr val="tx1"/>
                </a:solidFill>
                <a:latin typeface="Arial" panose="020B0604020202020204" pitchFamily="34" charset="0"/>
                <a:cs typeface="Arial" panose="020B0604020202020204" pitchFamily="34" charset="0"/>
              </a:rPr>
              <a:t>Quasi-experimental setting: </a:t>
            </a:r>
            <a:r>
              <a:rPr lang="en-US" sz="1100" dirty="0">
                <a:solidFill>
                  <a:schemeClr val="tx1"/>
                </a:solidFill>
                <a:latin typeface="Arial" panose="020B0604020202020204" pitchFamily="34" charset="0"/>
                <a:cs typeface="Arial" panose="020B0604020202020204" pitchFamily="34" charset="0"/>
              </a:rPr>
              <a:t>Mexican state governments. </a:t>
            </a:r>
          </a:p>
          <a:p>
            <a:pPr marL="50165" marR="30480">
              <a:lnSpc>
                <a:spcPct val="114000"/>
              </a:lnSpc>
              <a:spcBef>
                <a:spcPts val="600"/>
              </a:spcBef>
              <a:spcAft>
                <a:spcPts val="600"/>
              </a:spcAft>
              <a:tabLst>
                <a:tab pos="167640" algn="l"/>
              </a:tabLst>
            </a:pPr>
            <a:r>
              <a:rPr lang="en-US" sz="1100" b="1" dirty="0">
                <a:solidFill>
                  <a:schemeClr val="tx1"/>
                </a:solidFill>
                <a:latin typeface="Arial" panose="020B0604020202020204" pitchFamily="34" charset="0"/>
                <a:cs typeface="Arial" panose="020B0604020202020204" pitchFamily="34" charset="0"/>
              </a:rPr>
              <a:t>Why Mexico ? </a:t>
            </a:r>
          </a:p>
          <a:p>
            <a:pPr marL="167640" marR="30480" indent="-117475">
              <a:lnSpc>
                <a:spcPct val="114000"/>
              </a:lnSpc>
              <a:spcBef>
                <a:spcPts val="600"/>
              </a:spcBef>
              <a:spcAft>
                <a:spcPts val="600"/>
              </a:spcAft>
              <a:buFont typeface="Arial"/>
              <a:buChar char="•"/>
              <a:tabLst>
                <a:tab pos="167640" algn="l"/>
              </a:tabLst>
            </a:pPr>
            <a:r>
              <a:rPr lang="en-US" sz="1100" dirty="0">
                <a:solidFill>
                  <a:schemeClr val="tx1"/>
                </a:solidFill>
                <a:latin typeface="Arial" panose="020B0604020202020204" pitchFamily="34" charset="0"/>
                <a:cs typeface="Arial" panose="020B0604020202020204" pitchFamily="34" charset="0"/>
              </a:rPr>
              <a:t>Liquidity constrained and limited options aside from cutting services, borrowing, spending down cash</a:t>
            </a:r>
            <a:r>
              <a:rPr lang="en-US" sz="1100" dirty="0">
                <a:latin typeface="Arial" panose="020B0604020202020204" pitchFamily="34" charset="0"/>
                <a:cs typeface="Arial" panose="020B0604020202020204" pitchFamily="34" charset="0"/>
                <a:sym typeface="Wingdings" pitchFamily="2" charset="2"/>
              </a:rPr>
              <a:t>. </a:t>
            </a:r>
          </a:p>
          <a:p>
            <a:pPr marL="167640" marR="30480" indent="-117475">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Federal-to-State discretionary grants have a random component mimicking idealized lottery. </a:t>
            </a:r>
            <a:endParaRPr lang="en-US" sz="11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4629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43077173-0EE8-9CCE-9C00-477A49C0D5FC}"/>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ECEF2630-F60B-3BBA-5FE4-31727B9152E3}"/>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CAECC721-0F2F-5F4C-5136-76A87ED45F82}"/>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F56E4CB2-1F2D-42B3-942A-D71D26517D06}"/>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5B0760D0-BF23-F613-F2BA-C20EC2A9115A}"/>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4686C9F6-B6D0-5AE5-257B-92C9606E3773}"/>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30F72943-087D-9458-7869-6AF288EC4731}"/>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A2FCC80F-54AF-1ADB-A4AE-75E4977A5501}"/>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BC28113E-AAD1-2D7F-A4A3-8356B97415B2}"/>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04C63682-4D1B-B84A-DF55-5C5C69E15C6A}"/>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30A81562-830B-5387-3826-CC03CB0746A6}"/>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9A3008E1-EB3D-50B0-9538-FB59F22B95EC}"/>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DAC7BB9D-26ED-41BF-0C75-8E8A916B8490}"/>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86F24A07-65C4-664D-426B-1F50847AC781}"/>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B27553E5-536E-3F19-68DE-F9B3EAACFC32}"/>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54050C55-FEF6-1C9F-A0AD-834640DD622B}"/>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E1B3C07F-DF13-6932-DB49-E77711F77C38}"/>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F447D54F-5474-2ACE-EAC6-883BA5768E78}"/>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8E1EEF90-CC78-D3A9-C66E-9546E4D4BEB6}"/>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472C8051-3C59-D6AD-9D6C-43263566E97C}"/>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165F4E9E-76E7-E6AB-2293-1C0BBC606A93}"/>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67A7A51C-813A-B73F-9082-80BDD1B18B86}"/>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50307124-38EE-4C1E-8478-1A74C81CAB9A}"/>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BB90CA51-CA04-B2DF-1E4F-E9DAEF45D9F2}"/>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A980A874-25FD-6294-3833-43BFC0596FB0}"/>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5D20753D-663F-CC93-4A4F-49FAD217FB1B}"/>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0DE0B188-6FFC-7383-AE22-E48BCA181279}"/>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38B3CD4A-A1C0-77AB-926C-BB25106407BA}"/>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7ED0034A-572A-3D16-B5E0-9A3B74AE6040}"/>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29735FC2-F174-6C1C-77E2-7E0406204F61}"/>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62188348-8C68-8EB4-342E-3472FFE04A1E}"/>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AF7B9373-43BF-92C4-BED1-341C00928FC8}"/>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55DA08AF-4DBC-E191-8E9B-587EAEAA689C}"/>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0A9C36EC-886A-22CB-4879-0D1CEF873625}"/>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D1EAE64C-0014-C3F4-B639-C40D67A5290C}"/>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A694F78A-C7AC-9F07-D1BD-BD6F0E42A443}"/>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73BF3B60-62C6-8EDE-043F-DEDEC6DCFD59}"/>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04A745D4-EA86-7612-95E5-B35F19993633}"/>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64A5599B-EF16-23F6-7A28-C0732E6AC7EB}"/>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FB50860D-2AC0-51CA-0EFC-B1E005D03EA1}"/>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Tree>
    <p:extLst>
      <p:ext uri="{BB962C8B-B14F-4D97-AF65-F5344CB8AC3E}">
        <p14:creationId xmlns:p14="http://schemas.microsoft.com/office/powerpoint/2010/main" val="2706959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0C40-8586-EBDD-6802-DDC4E1136299}"/>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0B9BB400-BD15-CEE0-0FAB-A36D5BBC128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C8C46ECE-9966-97A7-5AE0-895099E20F97}"/>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C7708586-8118-6741-87D3-BA1753B66002}"/>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7EBDC144-ED3B-F6C1-A277-28BAB76050DE}"/>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03089A65-3C8D-24CC-8C5E-ABA4A7894311}"/>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657D1CBD-0316-1D09-09A7-C77F34F8CE27}"/>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3F0E7358-BEF9-4CBD-C33E-19CA339EFDDE}"/>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D375C25D-1FEF-B942-E2A1-A30E000FB38B}"/>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C0040112-1146-0396-45DC-222DD082F9D5}"/>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F9245DB8-9C2D-F5D3-9A37-9B9D61F80F5F}"/>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C69226B9-AE9A-6E85-5FC3-A0BADCB1B903}"/>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B12B9E80-5051-28A0-1F35-0ABDFAF21267}"/>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907FDBC5-8BC6-FF87-4EFC-2E8B59B318AB}"/>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C9C837BA-4B54-7BA7-5094-176E3511E124}"/>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E4693B03-DA78-AA30-A5EE-6408E2C01F2F}"/>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2E5BC9FA-A021-F743-CD36-BA19BA90C0FE}"/>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C4ABD9C5-7EB1-9933-E7BC-FFC93F1FC3A8}"/>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D302D4FE-8606-31C6-FE73-8A3ACADAA8E4}"/>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6EE95ED3-AFA1-D765-968E-3FB900A337A1}"/>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6535E431-800E-9B6B-8C10-0C02550D6498}"/>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DC6B35EF-1C02-5ECC-E851-638B224FB10B}"/>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5F461E06-C42E-6557-0157-FDC3317BC607}"/>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2253F1E1-8BFF-7526-9352-3C19EBBCFD91}"/>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08A472BD-2AD8-3B81-41F0-7EAE5F8BCBC4}"/>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D789D6EC-9BC4-FED9-427E-59E8BAD5CCD2}"/>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43680A9C-FF90-888F-016E-CE79FA384F36}"/>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C2F8328B-E04D-29FC-D1DA-1F201CC83D2C}"/>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827A9B17-6435-FD5D-4809-0CDD9D37692F}"/>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5D155C36-909E-85B9-2039-EB17B17F8D64}"/>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C916E114-B260-302F-EF06-79248C71C7BD}"/>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7492B3AB-AADC-E792-B6E0-39B60434CA75}"/>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D02B092F-9BF5-E775-132B-C5F0C2FB88FA}"/>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006F9101-9CA6-9BAE-DC81-BFA5D2A75F59}"/>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08A4F96A-C37F-06C6-8FBD-136BEF610317}"/>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6CE1371A-45CA-704E-650F-A2B357FFF238}"/>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824AD2CC-85B7-E16F-D591-03A053B990E9}"/>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06392C39-D7A0-C967-68AC-E00804F7A6D4}"/>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B1112195-0DD9-64D2-5CD5-1A967BA16320}"/>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3D409FB7-B112-5DE7-9997-1F54947009F2}"/>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3BBEC63D-48B9-109A-7B8B-883707807B03}"/>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D13CA125-61D0-44CA-B7EE-F66C75234ECB}"/>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83" name="object 3">
            <a:extLst>
              <a:ext uri="{FF2B5EF4-FFF2-40B4-BE49-F238E27FC236}">
                <a16:creationId xmlns:a16="http://schemas.microsoft.com/office/drawing/2014/main" id="{319F8970-C62D-80EC-AB4B-67A009027AC6}"/>
              </a:ext>
            </a:extLst>
          </p:cNvPr>
          <p:cNvSpPr txBox="1"/>
          <p:nvPr/>
        </p:nvSpPr>
        <p:spPr>
          <a:xfrm>
            <a:off x="224882" y="336941"/>
            <a:ext cx="5725275" cy="575094"/>
          </a:xfrm>
          <a:prstGeom prst="rect">
            <a:avLst/>
          </a:prstGeom>
        </p:spPr>
        <p:txBody>
          <a:bodyPr vert="horz" wrap="square" lIns="0" tIns="12065" rIns="0" bIns="0" rtlCol="0">
            <a:spAutoFit/>
          </a:bodyPr>
          <a:lstStyle/>
          <a:p>
            <a:pPr algn="l">
              <a:lnSpc>
                <a:spcPct val="114000"/>
              </a:lnSpc>
              <a:spcBef>
                <a:spcPts val="1200"/>
              </a:spcBef>
              <a:spcAft>
                <a:spcPts val="1200"/>
              </a:spcAft>
            </a:pPr>
            <a:r>
              <a:rPr lang="en-US" sz="1100" b="1" dirty="0">
                <a:latin typeface="Arial" panose="020B0604020202020204" pitchFamily="34" charset="0"/>
                <a:cs typeface="Arial" panose="020B0604020202020204" pitchFamily="34" charset="0"/>
              </a:rPr>
              <a:t>Low fiscal flexibility: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90% of fiscal revenues come from federal grants, ii) 90% of state budgets cover current expenditures and transfers to local governments, iii) persistent fiscal deficits:</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-3.5% of total revenues (avg, 2000-2022). </a:t>
            </a:r>
            <a:endParaRPr lang="en-US" sz="1100" b="1" dirty="0">
              <a:latin typeface="Arial" panose="020B0604020202020204" pitchFamily="34" charset="0"/>
              <a:cs typeface="Arial" panose="020B0604020202020204" pitchFamily="34" charset="0"/>
              <a:sym typeface="Wingdings" pitchFamily="2" charset="2"/>
            </a:endParaRPr>
          </a:p>
        </p:txBody>
      </p:sp>
      <p:sp>
        <p:nvSpPr>
          <p:cNvPr id="2" name="TextBox 1">
            <a:extLst>
              <a:ext uri="{FF2B5EF4-FFF2-40B4-BE49-F238E27FC236}">
                <a16:creationId xmlns:a16="http://schemas.microsoft.com/office/drawing/2014/main" id="{D0BD54E4-DACA-9205-0FC9-CA54E83C50F5}"/>
              </a:ext>
            </a:extLst>
          </p:cNvPr>
          <p:cNvSpPr txBox="1"/>
          <p:nvPr/>
        </p:nvSpPr>
        <p:spPr>
          <a:xfrm>
            <a:off x="1297858" y="98519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767810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66C23-801A-655B-9F75-AC734F1B6DF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C572AEC7-27CA-B307-F21D-46D91A509C77}"/>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68B95CAC-13F7-D0AF-C01A-FF2EBA3DFBBD}"/>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0FF12497-36A9-C17B-515F-AB3863A8D775}"/>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C1157D5B-59B8-98B9-B1FF-423FB5612076}"/>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9EBE7ADF-3F8C-581A-D788-587CF17124A1}"/>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4E6814B5-B7A8-CE35-3B97-38F5A85E015C}"/>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1788C60F-1740-2810-CCAD-5A2F1138DDF1}"/>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A5797C2E-B79E-497F-3CE3-09345945E7D5}"/>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7712C208-C567-46FC-747F-8192B5FDFF56}"/>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E34B05F9-8EC0-DAE6-EBF3-7B31E731B163}"/>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8980CD4A-9F58-00D4-81B8-6EC25C78A4D7}"/>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664B888A-8C19-27E1-D791-3A41EFAE4EE3}"/>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C370A25F-C2ED-C311-3098-9C2BF543C2A4}"/>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3B3ACFF7-6677-4986-CF1B-2C2BDAA93777}"/>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08007ADC-7C0A-69CB-CB83-BA8515126FCA}"/>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20C31C45-09EB-93F4-FC98-8A3A4A4583B5}"/>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1B1AD82C-49EB-EE28-6819-E613ED67F425}"/>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EC3E337D-8998-DD20-7F7D-E49CC97973A4}"/>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073595A8-4D61-420C-34B8-C23B55F295A7}"/>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739656E5-3396-DC8C-ABB4-8AAC61F45BE0}"/>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A22C9A27-1B73-2F3F-49C5-997F11662F5E}"/>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DFA72CB6-97FD-20BB-6A0C-FE9C3218C572}"/>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704116CE-F92F-6CF7-411E-8E4FA1E08480}"/>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B7ECA34D-7487-7492-6665-05E84A0AD20B}"/>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7BB43A5C-CAAC-C359-6DEE-341366DDA8EC}"/>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D4DDDE1F-9116-1F6C-F405-9C5563012F6A}"/>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16A858EB-755A-0BA0-5910-B85762EEBB7C}"/>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75DE28DA-2D7B-C9D7-6E50-D0B0C10FDAB9}"/>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A4C63453-FF99-E492-9EB5-3EC0B7045F4B}"/>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79B002CC-D50F-D81C-FBF8-C18798C7E90C}"/>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CB96F25B-83C8-5563-AF40-6429E45D6E8B}"/>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E885AE4A-2EE6-3EDF-B64D-6590C96AB452}"/>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ED79617D-76BE-96A6-EDC7-2DB6AE8B2FC3}"/>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3FB8DA9D-84ED-E586-1B35-6A417071EB84}"/>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702A0FE5-203C-40DA-B531-6DDD332FAAC6}"/>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A9B6E4C4-D89F-F37E-E015-1636BDF63C3E}"/>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2173E49D-E5EF-CE27-7076-33A22F849043}"/>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7B63F0C3-FBF9-BC4E-85D8-C0CEB81F2C4E}"/>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18C69E78-37DF-2F60-2869-AEB831E225F1}"/>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7B756B72-DC01-B2BE-565C-D8AEEBFDE110}"/>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CC1F0B7D-E8E9-4F25-7868-2B5062D3763A}"/>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83" name="object 3">
            <a:extLst>
              <a:ext uri="{FF2B5EF4-FFF2-40B4-BE49-F238E27FC236}">
                <a16:creationId xmlns:a16="http://schemas.microsoft.com/office/drawing/2014/main" id="{9935A0BF-D419-10BA-AB9C-20AF2375DFC0}"/>
              </a:ext>
            </a:extLst>
          </p:cNvPr>
          <p:cNvSpPr txBox="1"/>
          <p:nvPr/>
        </p:nvSpPr>
        <p:spPr>
          <a:xfrm>
            <a:off x="224882" y="336941"/>
            <a:ext cx="5725275" cy="575094"/>
          </a:xfrm>
          <a:prstGeom prst="rect">
            <a:avLst/>
          </a:prstGeom>
        </p:spPr>
        <p:txBody>
          <a:bodyPr vert="horz" wrap="square" lIns="0" tIns="12065" rIns="0" bIns="0" rtlCol="0">
            <a:spAutoFit/>
          </a:bodyPr>
          <a:lstStyle/>
          <a:p>
            <a:pPr algn="l">
              <a:lnSpc>
                <a:spcPct val="114000"/>
              </a:lnSpc>
              <a:spcBef>
                <a:spcPts val="1200"/>
              </a:spcBef>
              <a:spcAft>
                <a:spcPts val="1200"/>
              </a:spcAft>
            </a:pPr>
            <a:r>
              <a:rPr lang="en-US" sz="1100" b="1" dirty="0">
                <a:latin typeface="Arial" panose="020B0604020202020204" pitchFamily="34" charset="0"/>
                <a:cs typeface="Arial" panose="020B0604020202020204" pitchFamily="34" charset="0"/>
              </a:rPr>
              <a:t>Low fiscal flexibility: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90% of fiscal revenues come from federal grants, ii) 90% of state budgets cover current expenditures and transfers to local governments, iii) persistent fiscal deficits:</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-3.5% of total revenues (avg, 2000-2022). </a:t>
            </a:r>
            <a:endParaRPr lang="en-US" sz="1100" b="1" dirty="0">
              <a:latin typeface="Arial" panose="020B0604020202020204" pitchFamily="34" charset="0"/>
              <a:cs typeface="Arial" panose="020B0604020202020204" pitchFamily="34" charset="0"/>
              <a:sym typeface="Wingdings" pitchFamily="2" charset="2"/>
            </a:endParaRPr>
          </a:p>
        </p:txBody>
      </p:sp>
      <p:sp>
        <p:nvSpPr>
          <p:cNvPr id="3" name="TextBox 2">
            <a:extLst>
              <a:ext uri="{FF2B5EF4-FFF2-40B4-BE49-F238E27FC236}">
                <a16:creationId xmlns:a16="http://schemas.microsoft.com/office/drawing/2014/main" id="{60474E6F-8B28-52EE-774A-6F23EA92C901}"/>
              </a:ext>
            </a:extLst>
          </p:cNvPr>
          <p:cNvSpPr txBox="1"/>
          <p:nvPr/>
        </p:nvSpPr>
        <p:spPr>
          <a:xfrm>
            <a:off x="1878481" y="1211129"/>
            <a:ext cx="3865941" cy="655244"/>
          </a:xfrm>
          <a:prstGeom prst="rect">
            <a:avLst/>
          </a:prstGeom>
          <a:noFill/>
        </p:spPr>
        <p:txBody>
          <a:bodyPr wrap="square">
            <a:spAutoFit/>
          </a:bodyPr>
          <a:lstStyle/>
          <a:p>
            <a:pPr>
              <a:lnSpc>
                <a:spcPct val="114000"/>
              </a:lnSpc>
              <a:spcBef>
                <a:spcPts val="600"/>
              </a:spcBef>
              <a:spcAft>
                <a:spcPts val="600"/>
              </a:spcAft>
            </a:pPr>
            <a:r>
              <a:rPr lang="en-US" sz="1100" b="1" dirty="0">
                <a:latin typeface="Arial" panose="020B0604020202020204" pitchFamily="34" charset="0"/>
                <a:cs typeface="Arial" panose="020B0604020202020204" pitchFamily="34" charset="0"/>
              </a:rPr>
              <a:t>Few liquidity management tools:</a:t>
            </a:r>
            <a:r>
              <a:rPr lang="en-US" sz="1100" dirty="0">
                <a:latin typeface="Arial" panose="020B0604020202020204" pitchFamily="34" charset="0"/>
                <a:cs typeface="Arial" panose="020B0604020202020204" pitchFamily="34" charset="0"/>
                <a:sym typeface="Wingdings" pitchFamily="2" charset="2"/>
              </a:rPr>
              <a:t> Only 5 states (and Mexico City) have state-level rainy day funds. Federal Funded Rainy-Day Fund depleted in 2019 and 2020. </a:t>
            </a:r>
          </a:p>
        </p:txBody>
      </p:sp>
    </p:spTree>
    <p:extLst>
      <p:ext uri="{BB962C8B-B14F-4D97-AF65-F5344CB8AC3E}">
        <p14:creationId xmlns:p14="http://schemas.microsoft.com/office/powerpoint/2010/main" val="194932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4EE5-F71E-658C-E1CC-3530FD0AB3D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F96AF0F-84E0-CCAF-62F1-FFD8C19C345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Why Mexico? Liquidity Constrained Governments </a:t>
            </a:r>
          </a:p>
        </p:txBody>
      </p:sp>
      <p:grpSp>
        <p:nvGrpSpPr>
          <p:cNvPr id="5" name="Group 4">
            <a:extLst>
              <a:ext uri="{FF2B5EF4-FFF2-40B4-BE49-F238E27FC236}">
                <a16:creationId xmlns:a16="http://schemas.microsoft.com/office/drawing/2014/main" id="{C544394C-2035-2392-A59C-BAA8C2FEBD22}"/>
              </a:ext>
            </a:extLst>
          </p:cNvPr>
          <p:cNvGrpSpPr/>
          <p:nvPr/>
        </p:nvGrpSpPr>
        <p:grpSpPr>
          <a:xfrm>
            <a:off x="21890" y="981897"/>
            <a:ext cx="2899554" cy="1967678"/>
            <a:chOff x="500034" y="928670"/>
            <a:chExt cx="7972426" cy="5410200"/>
          </a:xfrm>
          <a:solidFill>
            <a:schemeClr val="accent2">
              <a:lumMod val="20000"/>
              <a:lumOff val="80000"/>
            </a:schemeClr>
          </a:solidFill>
        </p:grpSpPr>
        <p:sp>
          <p:nvSpPr>
            <p:cNvPr id="6" name="Freeform 39">
              <a:extLst>
                <a:ext uri="{FF2B5EF4-FFF2-40B4-BE49-F238E27FC236}">
                  <a16:creationId xmlns:a16="http://schemas.microsoft.com/office/drawing/2014/main" id="{CC2E458E-8816-C9CA-9A87-18CC5DB11475}"/>
                </a:ext>
              </a:extLst>
            </p:cNvPr>
            <p:cNvSpPr>
              <a:spLocks/>
            </p:cNvSpPr>
            <p:nvPr/>
          </p:nvSpPr>
          <p:spPr bwMode="auto">
            <a:xfrm>
              <a:off x="4979959" y="5079983"/>
              <a:ext cx="239713" cy="206375"/>
            </a:xfrm>
            <a:custGeom>
              <a:avLst/>
              <a:gdLst/>
              <a:ahLst/>
              <a:cxnLst>
                <a:cxn ang="0">
                  <a:pos x="52" y="51"/>
                </a:cxn>
                <a:cxn ang="0">
                  <a:pos x="60" y="53"/>
                </a:cxn>
                <a:cxn ang="0">
                  <a:pos x="63" y="50"/>
                </a:cxn>
                <a:cxn ang="0">
                  <a:pos x="61" y="43"/>
                </a:cxn>
                <a:cxn ang="0">
                  <a:pos x="58" y="37"/>
                </a:cxn>
                <a:cxn ang="0">
                  <a:pos x="60" y="33"/>
                </a:cxn>
                <a:cxn ang="0">
                  <a:pos x="62" y="31"/>
                </a:cxn>
                <a:cxn ang="0">
                  <a:pos x="61" y="25"/>
                </a:cxn>
                <a:cxn ang="0">
                  <a:pos x="62" y="19"/>
                </a:cxn>
                <a:cxn ang="0">
                  <a:pos x="64" y="14"/>
                </a:cxn>
                <a:cxn ang="0">
                  <a:pos x="64" y="10"/>
                </a:cxn>
                <a:cxn ang="0">
                  <a:pos x="62" y="10"/>
                </a:cxn>
                <a:cxn ang="0">
                  <a:pos x="58" y="11"/>
                </a:cxn>
                <a:cxn ang="0">
                  <a:pos x="54" y="12"/>
                </a:cxn>
                <a:cxn ang="0">
                  <a:pos x="51" y="7"/>
                </a:cxn>
                <a:cxn ang="0">
                  <a:pos x="47" y="3"/>
                </a:cxn>
                <a:cxn ang="0">
                  <a:pos x="43" y="2"/>
                </a:cxn>
                <a:cxn ang="0">
                  <a:pos x="40" y="3"/>
                </a:cxn>
                <a:cxn ang="0">
                  <a:pos x="35" y="3"/>
                </a:cxn>
                <a:cxn ang="0">
                  <a:pos x="27" y="1"/>
                </a:cxn>
                <a:cxn ang="0">
                  <a:pos x="22" y="0"/>
                </a:cxn>
                <a:cxn ang="0">
                  <a:pos x="19" y="2"/>
                </a:cxn>
                <a:cxn ang="0">
                  <a:pos x="15" y="8"/>
                </a:cxn>
                <a:cxn ang="0">
                  <a:pos x="14" y="14"/>
                </a:cxn>
                <a:cxn ang="0">
                  <a:pos x="10" y="19"/>
                </a:cxn>
                <a:cxn ang="0">
                  <a:pos x="5" y="24"/>
                </a:cxn>
                <a:cxn ang="0">
                  <a:pos x="2" y="33"/>
                </a:cxn>
                <a:cxn ang="0">
                  <a:pos x="0" y="39"/>
                </a:cxn>
                <a:cxn ang="0">
                  <a:pos x="3" y="42"/>
                </a:cxn>
                <a:cxn ang="0">
                  <a:pos x="10" y="48"/>
                </a:cxn>
                <a:cxn ang="0">
                  <a:pos x="16" y="52"/>
                </a:cxn>
                <a:cxn ang="0">
                  <a:pos x="21" y="48"/>
                </a:cxn>
                <a:cxn ang="0">
                  <a:pos x="26" y="43"/>
                </a:cxn>
                <a:cxn ang="0">
                  <a:pos x="29" y="48"/>
                </a:cxn>
                <a:cxn ang="0">
                  <a:pos x="33" y="54"/>
                </a:cxn>
                <a:cxn ang="0">
                  <a:pos x="36" y="55"/>
                </a:cxn>
                <a:cxn ang="0">
                  <a:pos x="42" y="52"/>
                </a:cxn>
                <a:cxn ang="0">
                  <a:pos x="52" y="51"/>
                </a:cxn>
              </a:cxnLst>
              <a:rect l="0" t="0" r="r" b="b"/>
              <a:pathLst>
                <a:path w="64" h="55">
                  <a:moveTo>
                    <a:pt x="52" y="51"/>
                  </a:moveTo>
                  <a:cubicBezTo>
                    <a:pt x="55" y="51"/>
                    <a:pt x="59" y="52"/>
                    <a:pt x="60" y="53"/>
                  </a:cubicBezTo>
                  <a:cubicBezTo>
                    <a:pt x="62" y="54"/>
                    <a:pt x="63" y="52"/>
                    <a:pt x="63" y="50"/>
                  </a:cubicBezTo>
                  <a:cubicBezTo>
                    <a:pt x="63" y="47"/>
                    <a:pt x="62" y="44"/>
                    <a:pt x="61" y="43"/>
                  </a:cubicBezTo>
                  <a:cubicBezTo>
                    <a:pt x="60" y="41"/>
                    <a:pt x="59" y="39"/>
                    <a:pt x="58" y="37"/>
                  </a:cubicBezTo>
                  <a:cubicBezTo>
                    <a:pt x="58" y="35"/>
                    <a:pt x="59" y="34"/>
                    <a:pt x="60" y="33"/>
                  </a:cubicBezTo>
                  <a:cubicBezTo>
                    <a:pt x="62" y="32"/>
                    <a:pt x="63" y="31"/>
                    <a:pt x="62" y="31"/>
                  </a:cubicBezTo>
                  <a:cubicBezTo>
                    <a:pt x="62" y="30"/>
                    <a:pt x="61" y="28"/>
                    <a:pt x="61" y="25"/>
                  </a:cubicBezTo>
                  <a:cubicBezTo>
                    <a:pt x="61" y="23"/>
                    <a:pt x="61" y="20"/>
                    <a:pt x="62" y="19"/>
                  </a:cubicBezTo>
                  <a:cubicBezTo>
                    <a:pt x="63" y="18"/>
                    <a:pt x="64" y="16"/>
                    <a:pt x="64" y="14"/>
                  </a:cubicBezTo>
                  <a:cubicBezTo>
                    <a:pt x="64" y="12"/>
                    <a:pt x="64" y="10"/>
                    <a:pt x="64" y="10"/>
                  </a:cubicBezTo>
                  <a:cubicBezTo>
                    <a:pt x="64" y="10"/>
                    <a:pt x="63" y="10"/>
                    <a:pt x="62" y="10"/>
                  </a:cubicBezTo>
                  <a:cubicBezTo>
                    <a:pt x="61" y="9"/>
                    <a:pt x="59" y="10"/>
                    <a:pt x="58" y="11"/>
                  </a:cubicBezTo>
                  <a:cubicBezTo>
                    <a:pt x="57" y="12"/>
                    <a:pt x="55" y="13"/>
                    <a:pt x="54" y="12"/>
                  </a:cubicBezTo>
                  <a:cubicBezTo>
                    <a:pt x="53" y="11"/>
                    <a:pt x="52" y="9"/>
                    <a:pt x="51" y="7"/>
                  </a:cubicBezTo>
                  <a:cubicBezTo>
                    <a:pt x="51" y="6"/>
                    <a:pt x="49" y="4"/>
                    <a:pt x="47" y="3"/>
                  </a:cubicBezTo>
                  <a:cubicBezTo>
                    <a:pt x="45" y="3"/>
                    <a:pt x="43" y="2"/>
                    <a:pt x="43" y="2"/>
                  </a:cubicBezTo>
                  <a:cubicBezTo>
                    <a:pt x="43" y="2"/>
                    <a:pt x="42" y="2"/>
                    <a:pt x="40" y="3"/>
                  </a:cubicBezTo>
                  <a:cubicBezTo>
                    <a:pt x="38" y="4"/>
                    <a:pt x="36" y="4"/>
                    <a:pt x="35" y="3"/>
                  </a:cubicBezTo>
                  <a:cubicBezTo>
                    <a:pt x="33" y="3"/>
                    <a:pt x="30" y="2"/>
                    <a:pt x="27" y="1"/>
                  </a:cubicBezTo>
                  <a:cubicBezTo>
                    <a:pt x="25" y="1"/>
                    <a:pt x="22" y="0"/>
                    <a:pt x="22" y="0"/>
                  </a:cubicBezTo>
                  <a:cubicBezTo>
                    <a:pt x="22" y="0"/>
                    <a:pt x="21" y="1"/>
                    <a:pt x="19" y="2"/>
                  </a:cubicBezTo>
                  <a:cubicBezTo>
                    <a:pt x="17" y="4"/>
                    <a:pt x="15" y="6"/>
                    <a:pt x="15" y="8"/>
                  </a:cubicBezTo>
                  <a:cubicBezTo>
                    <a:pt x="15" y="10"/>
                    <a:pt x="15" y="13"/>
                    <a:pt x="14" y="14"/>
                  </a:cubicBezTo>
                  <a:cubicBezTo>
                    <a:pt x="14" y="15"/>
                    <a:pt x="12" y="18"/>
                    <a:pt x="10" y="19"/>
                  </a:cubicBezTo>
                  <a:cubicBezTo>
                    <a:pt x="9" y="20"/>
                    <a:pt x="6" y="23"/>
                    <a:pt x="5" y="24"/>
                  </a:cubicBezTo>
                  <a:cubicBezTo>
                    <a:pt x="4" y="25"/>
                    <a:pt x="3" y="29"/>
                    <a:pt x="2" y="33"/>
                  </a:cubicBezTo>
                  <a:cubicBezTo>
                    <a:pt x="1" y="36"/>
                    <a:pt x="0" y="39"/>
                    <a:pt x="0" y="39"/>
                  </a:cubicBezTo>
                  <a:cubicBezTo>
                    <a:pt x="0" y="39"/>
                    <a:pt x="2" y="40"/>
                    <a:pt x="3" y="42"/>
                  </a:cubicBezTo>
                  <a:cubicBezTo>
                    <a:pt x="5" y="43"/>
                    <a:pt x="8" y="46"/>
                    <a:pt x="10" y="48"/>
                  </a:cubicBezTo>
                  <a:cubicBezTo>
                    <a:pt x="12" y="50"/>
                    <a:pt x="15" y="52"/>
                    <a:pt x="16" y="52"/>
                  </a:cubicBezTo>
                  <a:cubicBezTo>
                    <a:pt x="18" y="52"/>
                    <a:pt x="20" y="50"/>
                    <a:pt x="21" y="48"/>
                  </a:cubicBezTo>
                  <a:cubicBezTo>
                    <a:pt x="23" y="45"/>
                    <a:pt x="25" y="43"/>
                    <a:pt x="26" y="43"/>
                  </a:cubicBezTo>
                  <a:cubicBezTo>
                    <a:pt x="27" y="44"/>
                    <a:pt x="29" y="46"/>
                    <a:pt x="29" y="48"/>
                  </a:cubicBezTo>
                  <a:cubicBezTo>
                    <a:pt x="30" y="50"/>
                    <a:pt x="32" y="53"/>
                    <a:pt x="33" y="54"/>
                  </a:cubicBezTo>
                  <a:cubicBezTo>
                    <a:pt x="35" y="55"/>
                    <a:pt x="36" y="55"/>
                    <a:pt x="36" y="55"/>
                  </a:cubicBezTo>
                  <a:cubicBezTo>
                    <a:pt x="36" y="55"/>
                    <a:pt x="39" y="54"/>
                    <a:pt x="42" y="52"/>
                  </a:cubicBezTo>
                  <a:cubicBezTo>
                    <a:pt x="45" y="51"/>
                    <a:pt x="49" y="50"/>
                    <a:pt x="52" y="5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8" name="Freeform 38">
              <a:extLst>
                <a:ext uri="{FF2B5EF4-FFF2-40B4-BE49-F238E27FC236}">
                  <a16:creationId xmlns:a16="http://schemas.microsoft.com/office/drawing/2014/main" id="{6EA655A1-FA7E-1995-C502-972EB7C255FA}"/>
                </a:ext>
              </a:extLst>
            </p:cNvPr>
            <p:cNvSpPr>
              <a:spLocks/>
            </p:cNvSpPr>
            <p:nvPr/>
          </p:nvSpPr>
          <p:spPr bwMode="auto">
            <a:xfrm>
              <a:off x="5114897" y="4576745"/>
              <a:ext cx="687388" cy="849313"/>
            </a:xfrm>
            <a:custGeom>
              <a:avLst/>
              <a:gdLst/>
              <a:ahLst/>
              <a:cxnLst>
                <a:cxn ang="0">
                  <a:pos x="154" y="178"/>
                </a:cxn>
                <a:cxn ang="0">
                  <a:pos x="142" y="169"/>
                </a:cxn>
                <a:cxn ang="0">
                  <a:pos x="128" y="157"/>
                </a:cxn>
                <a:cxn ang="0">
                  <a:pos x="132" y="136"/>
                </a:cxn>
                <a:cxn ang="0">
                  <a:pos x="148" y="123"/>
                </a:cxn>
                <a:cxn ang="0">
                  <a:pos x="132" y="112"/>
                </a:cxn>
                <a:cxn ang="0">
                  <a:pos x="125" y="104"/>
                </a:cxn>
                <a:cxn ang="0">
                  <a:pos x="126" y="85"/>
                </a:cxn>
                <a:cxn ang="0">
                  <a:pos x="130" y="66"/>
                </a:cxn>
                <a:cxn ang="0">
                  <a:pos x="134" y="49"/>
                </a:cxn>
                <a:cxn ang="0">
                  <a:pos x="112" y="48"/>
                </a:cxn>
                <a:cxn ang="0">
                  <a:pos x="92" y="36"/>
                </a:cxn>
                <a:cxn ang="0">
                  <a:pos x="104" y="25"/>
                </a:cxn>
                <a:cxn ang="0">
                  <a:pos x="96" y="14"/>
                </a:cxn>
                <a:cxn ang="0">
                  <a:pos x="90" y="0"/>
                </a:cxn>
                <a:cxn ang="0">
                  <a:pos x="78" y="11"/>
                </a:cxn>
                <a:cxn ang="0">
                  <a:pos x="72" y="28"/>
                </a:cxn>
                <a:cxn ang="0">
                  <a:pos x="56" y="46"/>
                </a:cxn>
                <a:cxn ang="0">
                  <a:pos x="66" y="58"/>
                </a:cxn>
                <a:cxn ang="0">
                  <a:pos x="57" y="87"/>
                </a:cxn>
                <a:cxn ang="0">
                  <a:pos x="73" y="88"/>
                </a:cxn>
                <a:cxn ang="0">
                  <a:pos x="91" y="104"/>
                </a:cxn>
                <a:cxn ang="0">
                  <a:pos x="95" y="119"/>
                </a:cxn>
                <a:cxn ang="0">
                  <a:pos x="74" y="128"/>
                </a:cxn>
                <a:cxn ang="0">
                  <a:pos x="44" y="119"/>
                </a:cxn>
                <a:cxn ang="0">
                  <a:pos x="27" y="115"/>
                </a:cxn>
                <a:cxn ang="0">
                  <a:pos x="28" y="144"/>
                </a:cxn>
                <a:cxn ang="0">
                  <a:pos x="25" y="159"/>
                </a:cxn>
                <a:cxn ang="0">
                  <a:pos x="22" y="171"/>
                </a:cxn>
                <a:cxn ang="0">
                  <a:pos x="24" y="187"/>
                </a:cxn>
                <a:cxn ang="0">
                  <a:pos x="0" y="189"/>
                </a:cxn>
                <a:cxn ang="0">
                  <a:pos x="6" y="206"/>
                </a:cxn>
                <a:cxn ang="0">
                  <a:pos x="37" y="225"/>
                </a:cxn>
                <a:cxn ang="0">
                  <a:pos x="67" y="221"/>
                </a:cxn>
                <a:cxn ang="0">
                  <a:pos x="87" y="222"/>
                </a:cxn>
                <a:cxn ang="0">
                  <a:pos x="97" y="213"/>
                </a:cxn>
                <a:cxn ang="0">
                  <a:pos x="106" y="192"/>
                </a:cxn>
                <a:cxn ang="0">
                  <a:pos x="109" y="208"/>
                </a:cxn>
                <a:cxn ang="0">
                  <a:pos x="123" y="218"/>
                </a:cxn>
                <a:cxn ang="0">
                  <a:pos x="144" y="206"/>
                </a:cxn>
                <a:cxn ang="0">
                  <a:pos x="167" y="197"/>
                </a:cxn>
                <a:cxn ang="0">
                  <a:pos x="183" y="174"/>
                </a:cxn>
              </a:cxnLst>
              <a:rect l="0" t="0" r="r" b="b"/>
              <a:pathLst>
                <a:path w="183" h="226">
                  <a:moveTo>
                    <a:pt x="174" y="171"/>
                  </a:moveTo>
                  <a:cubicBezTo>
                    <a:pt x="172" y="173"/>
                    <a:pt x="168" y="175"/>
                    <a:pt x="165" y="175"/>
                  </a:cubicBezTo>
                  <a:cubicBezTo>
                    <a:pt x="162" y="175"/>
                    <a:pt x="157" y="177"/>
                    <a:pt x="154" y="178"/>
                  </a:cubicBezTo>
                  <a:cubicBezTo>
                    <a:pt x="151" y="180"/>
                    <a:pt x="148" y="180"/>
                    <a:pt x="148" y="179"/>
                  </a:cubicBezTo>
                  <a:cubicBezTo>
                    <a:pt x="147" y="178"/>
                    <a:pt x="146" y="176"/>
                    <a:pt x="146" y="174"/>
                  </a:cubicBezTo>
                  <a:cubicBezTo>
                    <a:pt x="146" y="172"/>
                    <a:pt x="144" y="169"/>
                    <a:pt x="142" y="169"/>
                  </a:cubicBezTo>
                  <a:cubicBezTo>
                    <a:pt x="141" y="168"/>
                    <a:pt x="137" y="167"/>
                    <a:pt x="135" y="167"/>
                  </a:cubicBezTo>
                  <a:cubicBezTo>
                    <a:pt x="132" y="167"/>
                    <a:pt x="130" y="166"/>
                    <a:pt x="129" y="164"/>
                  </a:cubicBezTo>
                  <a:cubicBezTo>
                    <a:pt x="128" y="162"/>
                    <a:pt x="128" y="159"/>
                    <a:pt x="128" y="157"/>
                  </a:cubicBezTo>
                  <a:cubicBezTo>
                    <a:pt x="128" y="155"/>
                    <a:pt x="130" y="152"/>
                    <a:pt x="132" y="151"/>
                  </a:cubicBezTo>
                  <a:cubicBezTo>
                    <a:pt x="134" y="150"/>
                    <a:pt x="134" y="147"/>
                    <a:pt x="134" y="145"/>
                  </a:cubicBezTo>
                  <a:cubicBezTo>
                    <a:pt x="133" y="142"/>
                    <a:pt x="132" y="138"/>
                    <a:pt x="132" y="136"/>
                  </a:cubicBezTo>
                  <a:cubicBezTo>
                    <a:pt x="132" y="133"/>
                    <a:pt x="134" y="130"/>
                    <a:pt x="135" y="128"/>
                  </a:cubicBezTo>
                  <a:cubicBezTo>
                    <a:pt x="137" y="127"/>
                    <a:pt x="140" y="126"/>
                    <a:pt x="142" y="126"/>
                  </a:cubicBezTo>
                  <a:cubicBezTo>
                    <a:pt x="144" y="125"/>
                    <a:pt x="147" y="124"/>
                    <a:pt x="148" y="123"/>
                  </a:cubicBezTo>
                  <a:cubicBezTo>
                    <a:pt x="150" y="121"/>
                    <a:pt x="150" y="119"/>
                    <a:pt x="149" y="119"/>
                  </a:cubicBezTo>
                  <a:cubicBezTo>
                    <a:pt x="147" y="118"/>
                    <a:pt x="144" y="116"/>
                    <a:pt x="140" y="115"/>
                  </a:cubicBezTo>
                  <a:cubicBezTo>
                    <a:pt x="137" y="114"/>
                    <a:pt x="133" y="113"/>
                    <a:pt x="132" y="112"/>
                  </a:cubicBezTo>
                  <a:cubicBezTo>
                    <a:pt x="130" y="111"/>
                    <a:pt x="127" y="109"/>
                    <a:pt x="125" y="108"/>
                  </a:cubicBezTo>
                  <a:cubicBezTo>
                    <a:pt x="123" y="107"/>
                    <a:pt x="122" y="106"/>
                    <a:pt x="122" y="106"/>
                  </a:cubicBezTo>
                  <a:cubicBezTo>
                    <a:pt x="122" y="106"/>
                    <a:pt x="123" y="105"/>
                    <a:pt x="125" y="104"/>
                  </a:cubicBezTo>
                  <a:cubicBezTo>
                    <a:pt x="127" y="103"/>
                    <a:pt x="127" y="101"/>
                    <a:pt x="124" y="98"/>
                  </a:cubicBezTo>
                  <a:cubicBezTo>
                    <a:pt x="122" y="95"/>
                    <a:pt x="121" y="92"/>
                    <a:pt x="122" y="90"/>
                  </a:cubicBezTo>
                  <a:cubicBezTo>
                    <a:pt x="122" y="88"/>
                    <a:pt x="124" y="85"/>
                    <a:pt x="126" y="85"/>
                  </a:cubicBezTo>
                  <a:cubicBezTo>
                    <a:pt x="127" y="84"/>
                    <a:pt x="128" y="82"/>
                    <a:pt x="128" y="80"/>
                  </a:cubicBezTo>
                  <a:cubicBezTo>
                    <a:pt x="128" y="78"/>
                    <a:pt x="128" y="74"/>
                    <a:pt x="127" y="73"/>
                  </a:cubicBezTo>
                  <a:cubicBezTo>
                    <a:pt x="127" y="71"/>
                    <a:pt x="128" y="68"/>
                    <a:pt x="130" y="66"/>
                  </a:cubicBezTo>
                  <a:cubicBezTo>
                    <a:pt x="132" y="64"/>
                    <a:pt x="134" y="61"/>
                    <a:pt x="135" y="59"/>
                  </a:cubicBezTo>
                  <a:cubicBezTo>
                    <a:pt x="136" y="57"/>
                    <a:pt x="137" y="54"/>
                    <a:pt x="137" y="53"/>
                  </a:cubicBezTo>
                  <a:cubicBezTo>
                    <a:pt x="138" y="51"/>
                    <a:pt x="136" y="50"/>
                    <a:pt x="134" y="49"/>
                  </a:cubicBezTo>
                  <a:cubicBezTo>
                    <a:pt x="133" y="48"/>
                    <a:pt x="128" y="47"/>
                    <a:pt x="125" y="45"/>
                  </a:cubicBezTo>
                  <a:cubicBezTo>
                    <a:pt x="122" y="44"/>
                    <a:pt x="119" y="43"/>
                    <a:pt x="117" y="43"/>
                  </a:cubicBezTo>
                  <a:cubicBezTo>
                    <a:pt x="116" y="43"/>
                    <a:pt x="114" y="45"/>
                    <a:pt x="112" y="48"/>
                  </a:cubicBezTo>
                  <a:cubicBezTo>
                    <a:pt x="110" y="51"/>
                    <a:pt x="106" y="52"/>
                    <a:pt x="103" y="50"/>
                  </a:cubicBezTo>
                  <a:cubicBezTo>
                    <a:pt x="100" y="49"/>
                    <a:pt x="96" y="47"/>
                    <a:pt x="95" y="45"/>
                  </a:cubicBezTo>
                  <a:cubicBezTo>
                    <a:pt x="93" y="43"/>
                    <a:pt x="92" y="39"/>
                    <a:pt x="92" y="36"/>
                  </a:cubicBezTo>
                  <a:cubicBezTo>
                    <a:pt x="92" y="32"/>
                    <a:pt x="93" y="29"/>
                    <a:pt x="94" y="28"/>
                  </a:cubicBezTo>
                  <a:cubicBezTo>
                    <a:pt x="96" y="28"/>
                    <a:pt x="98" y="28"/>
                    <a:pt x="100" y="28"/>
                  </a:cubicBezTo>
                  <a:cubicBezTo>
                    <a:pt x="102" y="28"/>
                    <a:pt x="104" y="27"/>
                    <a:pt x="104" y="25"/>
                  </a:cubicBezTo>
                  <a:cubicBezTo>
                    <a:pt x="105" y="23"/>
                    <a:pt x="105" y="20"/>
                    <a:pt x="104" y="18"/>
                  </a:cubicBezTo>
                  <a:cubicBezTo>
                    <a:pt x="103" y="17"/>
                    <a:pt x="101" y="15"/>
                    <a:pt x="99" y="15"/>
                  </a:cubicBezTo>
                  <a:cubicBezTo>
                    <a:pt x="97" y="15"/>
                    <a:pt x="96" y="15"/>
                    <a:pt x="96" y="14"/>
                  </a:cubicBezTo>
                  <a:cubicBezTo>
                    <a:pt x="96" y="13"/>
                    <a:pt x="95" y="11"/>
                    <a:pt x="95" y="10"/>
                  </a:cubicBezTo>
                  <a:cubicBezTo>
                    <a:pt x="94" y="9"/>
                    <a:pt x="93" y="7"/>
                    <a:pt x="93" y="5"/>
                  </a:cubicBezTo>
                  <a:cubicBezTo>
                    <a:pt x="93" y="2"/>
                    <a:pt x="91" y="1"/>
                    <a:pt x="90" y="0"/>
                  </a:cubicBezTo>
                  <a:cubicBezTo>
                    <a:pt x="88" y="0"/>
                    <a:pt x="86" y="0"/>
                    <a:pt x="85" y="0"/>
                  </a:cubicBezTo>
                  <a:cubicBezTo>
                    <a:pt x="83" y="1"/>
                    <a:pt x="82" y="2"/>
                    <a:pt x="81" y="4"/>
                  </a:cubicBezTo>
                  <a:cubicBezTo>
                    <a:pt x="80" y="5"/>
                    <a:pt x="79" y="9"/>
                    <a:pt x="78" y="11"/>
                  </a:cubicBezTo>
                  <a:cubicBezTo>
                    <a:pt x="78" y="13"/>
                    <a:pt x="78" y="15"/>
                    <a:pt x="78" y="15"/>
                  </a:cubicBezTo>
                  <a:cubicBezTo>
                    <a:pt x="78" y="15"/>
                    <a:pt x="77" y="18"/>
                    <a:pt x="76" y="21"/>
                  </a:cubicBezTo>
                  <a:cubicBezTo>
                    <a:pt x="76" y="24"/>
                    <a:pt x="74" y="27"/>
                    <a:pt x="72" y="28"/>
                  </a:cubicBezTo>
                  <a:cubicBezTo>
                    <a:pt x="71" y="30"/>
                    <a:pt x="68" y="32"/>
                    <a:pt x="65" y="35"/>
                  </a:cubicBezTo>
                  <a:cubicBezTo>
                    <a:pt x="62" y="37"/>
                    <a:pt x="59" y="40"/>
                    <a:pt x="58" y="41"/>
                  </a:cubicBezTo>
                  <a:cubicBezTo>
                    <a:pt x="57" y="42"/>
                    <a:pt x="56" y="45"/>
                    <a:pt x="56" y="46"/>
                  </a:cubicBezTo>
                  <a:cubicBezTo>
                    <a:pt x="56" y="47"/>
                    <a:pt x="58" y="48"/>
                    <a:pt x="60" y="48"/>
                  </a:cubicBezTo>
                  <a:cubicBezTo>
                    <a:pt x="62" y="47"/>
                    <a:pt x="64" y="49"/>
                    <a:pt x="65" y="51"/>
                  </a:cubicBezTo>
                  <a:cubicBezTo>
                    <a:pt x="66" y="54"/>
                    <a:pt x="66" y="57"/>
                    <a:pt x="66" y="58"/>
                  </a:cubicBezTo>
                  <a:cubicBezTo>
                    <a:pt x="65" y="60"/>
                    <a:pt x="63" y="64"/>
                    <a:pt x="61" y="68"/>
                  </a:cubicBezTo>
                  <a:cubicBezTo>
                    <a:pt x="59" y="73"/>
                    <a:pt x="57" y="79"/>
                    <a:pt x="57" y="82"/>
                  </a:cubicBezTo>
                  <a:cubicBezTo>
                    <a:pt x="57" y="85"/>
                    <a:pt x="57" y="87"/>
                    <a:pt x="57" y="87"/>
                  </a:cubicBezTo>
                  <a:cubicBezTo>
                    <a:pt x="57" y="87"/>
                    <a:pt x="59" y="88"/>
                    <a:pt x="62" y="89"/>
                  </a:cubicBezTo>
                  <a:cubicBezTo>
                    <a:pt x="64" y="89"/>
                    <a:pt x="68" y="89"/>
                    <a:pt x="69" y="87"/>
                  </a:cubicBezTo>
                  <a:cubicBezTo>
                    <a:pt x="71" y="85"/>
                    <a:pt x="73" y="86"/>
                    <a:pt x="73" y="88"/>
                  </a:cubicBezTo>
                  <a:cubicBezTo>
                    <a:pt x="74" y="91"/>
                    <a:pt x="76" y="93"/>
                    <a:pt x="77" y="94"/>
                  </a:cubicBezTo>
                  <a:cubicBezTo>
                    <a:pt x="78" y="94"/>
                    <a:pt x="81" y="96"/>
                    <a:pt x="83" y="97"/>
                  </a:cubicBezTo>
                  <a:cubicBezTo>
                    <a:pt x="85" y="98"/>
                    <a:pt x="88" y="101"/>
                    <a:pt x="91" y="104"/>
                  </a:cubicBezTo>
                  <a:cubicBezTo>
                    <a:pt x="94" y="107"/>
                    <a:pt x="97" y="112"/>
                    <a:pt x="99" y="114"/>
                  </a:cubicBezTo>
                  <a:cubicBezTo>
                    <a:pt x="101" y="117"/>
                    <a:pt x="102" y="119"/>
                    <a:pt x="102" y="119"/>
                  </a:cubicBezTo>
                  <a:cubicBezTo>
                    <a:pt x="102" y="119"/>
                    <a:pt x="99" y="119"/>
                    <a:pt x="95" y="119"/>
                  </a:cubicBezTo>
                  <a:cubicBezTo>
                    <a:pt x="91" y="119"/>
                    <a:pt x="88" y="120"/>
                    <a:pt x="89" y="122"/>
                  </a:cubicBezTo>
                  <a:cubicBezTo>
                    <a:pt x="89" y="123"/>
                    <a:pt x="87" y="125"/>
                    <a:pt x="84" y="125"/>
                  </a:cubicBezTo>
                  <a:cubicBezTo>
                    <a:pt x="81" y="126"/>
                    <a:pt x="77" y="127"/>
                    <a:pt x="74" y="128"/>
                  </a:cubicBezTo>
                  <a:cubicBezTo>
                    <a:pt x="72" y="129"/>
                    <a:pt x="68" y="129"/>
                    <a:pt x="66" y="129"/>
                  </a:cubicBezTo>
                  <a:cubicBezTo>
                    <a:pt x="63" y="129"/>
                    <a:pt x="59" y="128"/>
                    <a:pt x="56" y="127"/>
                  </a:cubicBezTo>
                  <a:cubicBezTo>
                    <a:pt x="52" y="125"/>
                    <a:pt x="47" y="122"/>
                    <a:pt x="44" y="119"/>
                  </a:cubicBezTo>
                  <a:cubicBezTo>
                    <a:pt x="41" y="117"/>
                    <a:pt x="36" y="114"/>
                    <a:pt x="33" y="113"/>
                  </a:cubicBezTo>
                  <a:cubicBezTo>
                    <a:pt x="30" y="112"/>
                    <a:pt x="27" y="111"/>
                    <a:pt x="27" y="111"/>
                  </a:cubicBezTo>
                  <a:cubicBezTo>
                    <a:pt x="27" y="111"/>
                    <a:pt x="27" y="113"/>
                    <a:pt x="27" y="115"/>
                  </a:cubicBezTo>
                  <a:cubicBezTo>
                    <a:pt x="28" y="118"/>
                    <a:pt x="28" y="122"/>
                    <a:pt x="28" y="126"/>
                  </a:cubicBezTo>
                  <a:cubicBezTo>
                    <a:pt x="29" y="129"/>
                    <a:pt x="29" y="135"/>
                    <a:pt x="29" y="138"/>
                  </a:cubicBezTo>
                  <a:cubicBezTo>
                    <a:pt x="28" y="141"/>
                    <a:pt x="28" y="144"/>
                    <a:pt x="28" y="144"/>
                  </a:cubicBezTo>
                  <a:cubicBezTo>
                    <a:pt x="28" y="144"/>
                    <a:pt x="28" y="146"/>
                    <a:pt x="28" y="148"/>
                  </a:cubicBezTo>
                  <a:cubicBezTo>
                    <a:pt x="28" y="150"/>
                    <a:pt x="27" y="152"/>
                    <a:pt x="26" y="153"/>
                  </a:cubicBezTo>
                  <a:cubicBezTo>
                    <a:pt x="25" y="154"/>
                    <a:pt x="25" y="157"/>
                    <a:pt x="25" y="159"/>
                  </a:cubicBezTo>
                  <a:cubicBezTo>
                    <a:pt x="25" y="162"/>
                    <a:pt x="26" y="164"/>
                    <a:pt x="26" y="165"/>
                  </a:cubicBezTo>
                  <a:cubicBezTo>
                    <a:pt x="27" y="165"/>
                    <a:pt x="26" y="166"/>
                    <a:pt x="24" y="167"/>
                  </a:cubicBezTo>
                  <a:cubicBezTo>
                    <a:pt x="23" y="168"/>
                    <a:pt x="22" y="169"/>
                    <a:pt x="22" y="171"/>
                  </a:cubicBezTo>
                  <a:cubicBezTo>
                    <a:pt x="23" y="173"/>
                    <a:pt x="24" y="175"/>
                    <a:pt x="25" y="177"/>
                  </a:cubicBezTo>
                  <a:cubicBezTo>
                    <a:pt x="26" y="178"/>
                    <a:pt x="27" y="181"/>
                    <a:pt x="27" y="184"/>
                  </a:cubicBezTo>
                  <a:cubicBezTo>
                    <a:pt x="27" y="186"/>
                    <a:pt x="26" y="188"/>
                    <a:pt x="24" y="187"/>
                  </a:cubicBezTo>
                  <a:cubicBezTo>
                    <a:pt x="23" y="186"/>
                    <a:pt x="19" y="185"/>
                    <a:pt x="16" y="185"/>
                  </a:cubicBezTo>
                  <a:cubicBezTo>
                    <a:pt x="13" y="184"/>
                    <a:pt x="9" y="185"/>
                    <a:pt x="6" y="186"/>
                  </a:cubicBezTo>
                  <a:cubicBezTo>
                    <a:pt x="3" y="188"/>
                    <a:pt x="0" y="189"/>
                    <a:pt x="0" y="189"/>
                  </a:cubicBezTo>
                  <a:cubicBezTo>
                    <a:pt x="0" y="189"/>
                    <a:pt x="0" y="192"/>
                    <a:pt x="0" y="194"/>
                  </a:cubicBezTo>
                  <a:cubicBezTo>
                    <a:pt x="0" y="197"/>
                    <a:pt x="1" y="201"/>
                    <a:pt x="2" y="202"/>
                  </a:cubicBezTo>
                  <a:cubicBezTo>
                    <a:pt x="3" y="204"/>
                    <a:pt x="5" y="206"/>
                    <a:pt x="6" y="206"/>
                  </a:cubicBezTo>
                  <a:cubicBezTo>
                    <a:pt x="8" y="207"/>
                    <a:pt x="11" y="209"/>
                    <a:pt x="13" y="212"/>
                  </a:cubicBezTo>
                  <a:cubicBezTo>
                    <a:pt x="15" y="214"/>
                    <a:pt x="19" y="218"/>
                    <a:pt x="23" y="220"/>
                  </a:cubicBezTo>
                  <a:cubicBezTo>
                    <a:pt x="27" y="222"/>
                    <a:pt x="33" y="224"/>
                    <a:pt x="37" y="225"/>
                  </a:cubicBezTo>
                  <a:cubicBezTo>
                    <a:pt x="41" y="226"/>
                    <a:pt x="48" y="226"/>
                    <a:pt x="53" y="225"/>
                  </a:cubicBezTo>
                  <a:cubicBezTo>
                    <a:pt x="59" y="224"/>
                    <a:pt x="63" y="224"/>
                    <a:pt x="63" y="224"/>
                  </a:cubicBezTo>
                  <a:cubicBezTo>
                    <a:pt x="63" y="224"/>
                    <a:pt x="65" y="223"/>
                    <a:pt x="67" y="221"/>
                  </a:cubicBezTo>
                  <a:cubicBezTo>
                    <a:pt x="69" y="219"/>
                    <a:pt x="72" y="218"/>
                    <a:pt x="73" y="218"/>
                  </a:cubicBezTo>
                  <a:cubicBezTo>
                    <a:pt x="74" y="218"/>
                    <a:pt x="78" y="218"/>
                    <a:pt x="80" y="218"/>
                  </a:cubicBezTo>
                  <a:cubicBezTo>
                    <a:pt x="83" y="218"/>
                    <a:pt x="86" y="220"/>
                    <a:pt x="87" y="222"/>
                  </a:cubicBezTo>
                  <a:cubicBezTo>
                    <a:pt x="88" y="225"/>
                    <a:pt x="90" y="226"/>
                    <a:pt x="91" y="224"/>
                  </a:cubicBezTo>
                  <a:cubicBezTo>
                    <a:pt x="93" y="223"/>
                    <a:pt x="96" y="221"/>
                    <a:pt x="97" y="219"/>
                  </a:cubicBezTo>
                  <a:cubicBezTo>
                    <a:pt x="99" y="218"/>
                    <a:pt x="99" y="215"/>
                    <a:pt x="97" y="213"/>
                  </a:cubicBezTo>
                  <a:cubicBezTo>
                    <a:pt x="96" y="210"/>
                    <a:pt x="95" y="207"/>
                    <a:pt x="96" y="204"/>
                  </a:cubicBezTo>
                  <a:cubicBezTo>
                    <a:pt x="96" y="202"/>
                    <a:pt x="99" y="198"/>
                    <a:pt x="101" y="196"/>
                  </a:cubicBezTo>
                  <a:cubicBezTo>
                    <a:pt x="103" y="194"/>
                    <a:pt x="105" y="192"/>
                    <a:pt x="106" y="192"/>
                  </a:cubicBezTo>
                  <a:cubicBezTo>
                    <a:pt x="107" y="191"/>
                    <a:pt x="107" y="194"/>
                    <a:pt x="107" y="196"/>
                  </a:cubicBezTo>
                  <a:cubicBezTo>
                    <a:pt x="107" y="199"/>
                    <a:pt x="106" y="202"/>
                    <a:pt x="106" y="204"/>
                  </a:cubicBezTo>
                  <a:cubicBezTo>
                    <a:pt x="105" y="205"/>
                    <a:pt x="107" y="207"/>
                    <a:pt x="109" y="208"/>
                  </a:cubicBezTo>
                  <a:cubicBezTo>
                    <a:pt x="111" y="210"/>
                    <a:pt x="113" y="212"/>
                    <a:pt x="114" y="213"/>
                  </a:cubicBezTo>
                  <a:cubicBezTo>
                    <a:pt x="115" y="214"/>
                    <a:pt x="116" y="216"/>
                    <a:pt x="118" y="217"/>
                  </a:cubicBezTo>
                  <a:cubicBezTo>
                    <a:pt x="119" y="219"/>
                    <a:pt x="122" y="219"/>
                    <a:pt x="123" y="218"/>
                  </a:cubicBezTo>
                  <a:cubicBezTo>
                    <a:pt x="124" y="217"/>
                    <a:pt x="127" y="214"/>
                    <a:pt x="128" y="212"/>
                  </a:cubicBezTo>
                  <a:cubicBezTo>
                    <a:pt x="129" y="209"/>
                    <a:pt x="132" y="207"/>
                    <a:pt x="135" y="206"/>
                  </a:cubicBezTo>
                  <a:cubicBezTo>
                    <a:pt x="137" y="206"/>
                    <a:pt x="141" y="206"/>
                    <a:pt x="144" y="206"/>
                  </a:cubicBezTo>
                  <a:cubicBezTo>
                    <a:pt x="147" y="207"/>
                    <a:pt x="151" y="208"/>
                    <a:pt x="153" y="208"/>
                  </a:cubicBezTo>
                  <a:cubicBezTo>
                    <a:pt x="154" y="208"/>
                    <a:pt x="157" y="207"/>
                    <a:pt x="159" y="204"/>
                  </a:cubicBezTo>
                  <a:cubicBezTo>
                    <a:pt x="161" y="201"/>
                    <a:pt x="164" y="198"/>
                    <a:pt x="167" y="197"/>
                  </a:cubicBezTo>
                  <a:cubicBezTo>
                    <a:pt x="169" y="196"/>
                    <a:pt x="172" y="192"/>
                    <a:pt x="174" y="189"/>
                  </a:cubicBezTo>
                  <a:cubicBezTo>
                    <a:pt x="175" y="186"/>
                    <a:pt x="178" y="181"/>
                    <a:pt x="180" y="179"/>
                  </a:cubicBezTo>
                  <a:cubicBezTo>
                    <a:pt x="182" y="176"/>
                    <a:pt x="183" y="174"/>
                    <a:pt x="183" y="174"/>
                  </a:cubicBezTo>
                  <a:cubicBezTo>
                    <a:pt x="183" y="174"/>
                    <a:pt x="182" y="172"/>
                    <a:pt x="180" y="170"/>
                  </a:cubicBezTo>
                  <a:cubicBezTo>
                    <a:pt x="178" y="168"/>
                    <a:pt x="176" y="169"/>
                    <a:pt x="174" y="17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9" name="Freeform 42">
              <a:extLst>
                <a:ext uri="{FF2B5EF4-FFF2-40B4-BE49-F238E27FC236}">
                  <a16:creationId xmlns:a16="http://schemas.microsoft.com/office/drawing/2014/main" id="{46CA4692-F071-97B4-F82B-0F676A045263}"/>
                </a:ext>
              </a:extLst>
            </p:cNvPr>
            <p:cNvSpPr>
              <a:spLocks/>
            </p:cNvSpPr>
            <p:nvPr/>
          </p:nvSpPr>
          <p:spPr bwMode="auto">
            <a:xfrm>
              <a:off x="5054572" y="4948220"/>
              <a:ext cx="87313" cy="146050"/>
            </a:xfrm>
            <a:custGeom>
              <a:avLst/>
              <a:gdLst/>
              <a:ahLst/>
              <a:cxnLst>
                <a:cxn ang="0">
                  <a:pos x="21" y="30"/>
                </a:cxn>
                <a:cxn ang="0">
                  <a:pos x="20" y="25"/>
                </a:cxn>
                <a:cxn ang="0">
                  <a:pos x="18" y="17"/>
                </a:cxn>
                <a:cxn ang="0">
                  <a:pos x="15" y="8"/>
                </a:cxn>
                <a:cxn ang="0">
                  <a:pos x="10" y="1"/>
                </a:cxn>
                <a:cxn ang="0">
                  <a:pos x="4" y="4"/>
                </a:cxn>
                <a:cxn ang="0">
                  <a:pos x="0" y="14"/>
                </a:cxn>
                <a:cxn ang="0">
                  <a:pos x="1" y="22"/>
                </a:cxn>
                <a:cxn ang="0">
                  <a:pos x="3" y="30"/>
                </a:cxn>
                <a:cxn ang="0">
                  <a:pos x="2" y="35"/>
                </a:cxn>
                <a:cxn ang="0">
                  <a:pos x="7" y="36"/>
                </a:cxn>
                <a:cxn ang="0">
                  <a:pos x="15" y="38"/>
                </a:cxn>
                <a:cxn ang="0">
                  <a:pos x="20" y="38"/>
                </a:cxn>
                <a:cxn ang="0">
                  <a:pos x="23" y="37"/>
                </a:cxn>
                <a:cxn ang="0">
                  <a:pos x="23" y="34"/>
                </a:cxn>
                <a:cxn ang="0">
                  <a:pos x="21" y="30"/>
                </a:cxn>
              </a:cxnLst>
              <a:rect l="0" t="0" r="r" b="b"/>
              <a:pathLst>
                <a:path w="23" h="39">
                  <a:moveTo>
                    <a:pt x="21" y="30"/>
                  </a:moveTo>
                  <a:cubicBezTo>
                    <a:pt x="20" y="29"/>
                    <a:pt x="20" y="27"/>
                    <a:pt x="20" y="25"/>
                  </a:cubicBezTo>
                  <a:cubicBezTo>
                    <a:pt x="21" y="23"/>
                    <a:pt x="20" y="20"/>
                    <a:pt x="18" y="17"/>
                  </a:cubicBezTo>
                  <a:cubicBezTo>
                    <a:pt x="17" y="14"/>
                    <a:pt x="15" y="10"/>
                    <a:pt x="15" y="8"/>
                  </a:cubicBezTo>
                  <a:cubicBezTo>
                    <a:pt x="14" y="6"/>
                    <a:pt x="12" y="2"/>
                    <a:pt x="10" y="1"/>
                  </a:cubicBezTo>
                  <a:cubicBezTo>
                    <a:pt x="9" y="0"/>
                    <a:pt x="6" y="1"/>
                    <a:pt x="4" y="4"/>
                  </a:cubicBezTo>
                  <a:cubicBezTo>
                    <a:pt x="2" y="7"/>
                    <a:pt x="0" y="11"/>
                    <a:pt x="0" y="14"/>
                  </a:cubicBezTo>
                  <a:cubicBezTo>
                    <a:pt x="0" y="16"/>
                    <a:pt x="0" y="20"/>
                    <a:pt x="1" y="22"/>
                  </a:cubicBezTo>
                  <a:cubicBezTo>
                    <a:pt x="2" y="24"/>
                    <a:pt x="3" y="28"/>
                    <a:pt x="3" y="30"/>
                  </a:cubicBezTo>
                  <a:cubicBezTo>
                    <a:pt x="2" y="33"/>
                    <a:pt x="2" y="35"/>
                    <a:pt x="2" y="35"/>
                  </a:cubicBezTo>
                  <a:cubicBezTo>
                    <a:pt x="2" y="35"/>
                    <a:pt x="5" y="36"/>
                    <a:pt x="7" y="36"/>
                  </a:cubicBezTo>
                  <a:cubicBezTo>
                    <a:pt x="10" y="37"/>
                    <a:pt x="13" y="38"/>
                    <a:pt x="15" y="38"/>
                  </a:cubicBezTo>
                  <a:cubicBezTo>
                    <a:pt x="16" y="39"/>
                    <a:pt x="18" y="39"/>
                    <a:pt x="20" y="38"/>
                  </a:cubicBezTo>
                  <a:cubicBezTo>
                    <a:pt x="22" y="37"/>
                    <a:pt x="23" y="37"/>
                    <a:pt x="23" y="37"/>
                  </a:cubicBezTo>
                  <a:cubicBezTo>
                    <a:pt x="23" y="37"/>
                    <a:pt x="23" y="36"/>
                    <a:pt x="23" y="34"/>
                  </a:cubicBezTo>
                  <a:cubicBezTo>
                    <a:pt x="22" y="32"/>
                    <a:pt x="22" y="30"/>
                    <a:pt x="21" y="3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0" name="Freeform 43">
              <a:extLst>
                <a:ext uri="{FF2B5EF4-FFF2-40B4-BE49-F238E27FC236}">
                  <a16:creationId xmlns:a16="http://schemas.microsoft.com/office/drawing/2014/main" id="{98B77AD7-E205-3C49-499A-D8C770E5983B}"/>
                </a:ext>
              </a:extLst>
            </p:cNvPr>
            <p:cNvSpPr>
              <a:spLocks/>
            </p:cNvSpPr>
            <p:nvPr/>
          </p:nvSpPr>
          <p:spPr bwMode="auto">
            <a:xfrm>
              <a:off x="4060797" y="4114783"/>
              <a:ext cx="269875" cy="217488"/>
            </a:xfrm>
            <a:custGeom>
              <a:avLst/>
              <a:gdLst/>
              <a:ahLst/>
              <a:cxnLst>
                <a:cxn ang="0">
                  <a:pos x="64" y="19"/>
                </a:cxn>
                <a:cxn ang="0">
                  <a:pos x="61" y="12"/>
                </a:cxn>
                <a:cxn ang="0">
                  <a:pos x="55" y="10"/>
                </a:cxn>
                <a:cxn ang="0">
                  <a:pos x="49" y="6"/>
                </a:cxn>
                <a:cxn ang="0">
                  <a:pos x="43" y="2"/>
                </a:cxn>
                <a:cxn ang="0">
                  <a:pos x="36" y="1"/>
                </a:cxn>
                <a:cxn ang="0">
                  <a:pos x="29" y="7"/>
                </a:cxn>
                <a:cxn ang="0">
                  <a:pos x="22" y="10"/>
                </a:cxn>
                <a:cxn ang="0">
                  <a:pos x="15" y="17"/>
                </a:cxn>
                <a:cxn ang="0">
                  <a:pos x="7" y="31"/>
                </a:cxn>
                <a:cxn ang="0">
                  <a:pos x="0" y="43"/>
                </a:cxn>
                <a:cxn ang="0">
                  <a:pos x="2" y="51"/>
                </a:cxn>
                <a:cxn ang="0">
                  <a:pos x="5" y="53"/>
                </a:cxn>
                <a:cxn ang="0">
                  <a:pos x="11" y="53"/>
                </a:cxn>
                <a:cxn ang="0">
                  <a:pos x="21" y="56"/>
                </a:cxn>
                <a:cxn ang="0">
                  <a:pos x="29" y="58"/>
                </a:cxn>
                <a:cxn ang="0">
                  <a:pos x="38" y="58"/>
                </a:cxn>
                <a:cxn ang="0">
                  <a:pos x="46" y="57"/>
                </a:cxn>
                <a:cxn ang="0">
                  <a:pos x="52" y="53"/>
                </a:cxn>
                <a:cxn ang="0">
                  <a:pos x="57" y="48"/>
                </a:cxn>
                <a:cxn ang="0">
                  <a:pos x="64" y="41"/>
                </a:cxn>
                <a:cxn ang="0">
                  <a:pos x="71" y="36"/>
                </a:cxn>
                <a:cxn ang="0">
                  <a:pos x="72" y="34"/>
                </a:cxn>
                <a:cxn ang="0">
                  <a:pos x="69" y="29"/>
                </a:cxn>
                <a:cxn ang="0">
                  <a:pos x="64" y="19"/>
                </a:cxn>
              </a:cxnLst>
              <a:rect l="0" t="0" r="r" b="b"/>
              <a:pathLst>
                <a:path w="72" h="58">
                  <a:moveTo>
                    <a:pt x="64" y="19"/>
                  </a:moveTo>
                  <a:cubicBezTo>
                    <a:pt x="63" y="16"/>
                    <a:pt x="62" y="13"/>
                    <a:pt x="61" y="12"/>
                  </a:cubicBezTo>
                  <a:cubicBezTo>
                    <a:pt x="60" y="12"/>
                    <a:pt x="57" y="11"/>
                    <a:pt x="55" y="10"/>
                  </a:cubicBezTo>
                  <a:cubicBezTo>
                    <a:pt x="54" y="9"/>
                    <a:pt x="51" y="7"/>
                    <a:pt x="49" y="6"/>
                  </a:cubicBezTo>
                  <a:cubicBezTo>
                    <a:pt x="47" y="5"/>
                    <a:pt x="44" y="3"/>
                    <a:pt x="43" y="2"/>
                  </a:cubicBezTo>
                  <a:cubicBezTo>
                    <a:pt x="41" y="0"/>
                    <a:pt x="38" y="0"/>
                    <a:pt x="36" y="1"/>
                  </a:cubicBezTo>
                  <a:cubicBezTo>
                    <a:pt x="34" y="3"/>
                    <a:pt x="31" y="5"/>
                    <a:pt x="29" y="7"/>
                  </a:cubicBezTo>
                  <a:cubicBezTo>
                    <a:pt x="27" y="8"/>
                    <a:pt x="24" y="10"/>
                    <a:pt x="22" y="10"/>
                  </a:cubicBezTo>
                  <a:cubicBezTo>
                    <a:pt x="20" y="11"/>
                    <a:pt x="17" y="14"/>
                    <a:pt x="15" y="17"/>
                  </a:cubicBezTo>
                  <a:cubicBezTo>
                    <a:pt x="14" y="21"/>
                    <a:pt x="10" y="27"/>
                    <a:pt x="7" y="31"/>
                  </a:cubicBezTo>
                  <a:cubicBezTo>
                    <a:pt x="4" y="35"/>
                    <a:pt x="1" y="40"/>
                    <a:pt x="0" y="43"/>
                  </a:cubicBezTo>
                  <a:cubicBezTo>
                    <a:pt x="0" y="46"/>
                    <a:pt x="1" y="49"/>
                    <a:pt x="2" y="51"/>
                  </a:cubicBezTo>
                  <a:cubicBezTo>
                    <a:pt x="3" y="52"/>
                    <a:pt x="5" y="53"/>
                    <a:pt x="5" y="53"/>
                  </a:cubicBezTo>
                  <a:cubicBezTo>
                    <a:pt x="5" y="53"/>
                    <a:pt x="8" y="53"/>
                    <a:pt x="11" y="53"/>
                  </a:cubicBezTo>
                  <a:cubicBezTo>
                    <a:pt x="14" y="53"/>
                    <a:pt x="19" y="54"/>
                    <a:pt x="21" y="56"/>
                  </a:cubicBezTo>
                  <a:cubicBezTo>
                    <a:pt x="23" y="57"/>
                    <a:pt x="27" y="58"/>
                    <a:pt x="29" y="58"/>
                  </a:cubicBezTo>
                  <a:cubicBezTo>
                    <a:pt x="31" y="58"/>
                    <a:pt x="35" y="58"/>
                    <a:pt x="38" y="58"/>
                  </a:cubicBezTo>
                  <a:cubicBezTo>
                    <a:pt x="41" y="58"/>
                    <a:pt x="44" y="58"/>
                    <a:pt x="46" y="57"/>
                  </a:cubicBezTo>
                  <a:cubicBezTo>
                    <a:pt x="48" y="56"/>
                    <a:pt x="51" y="54"/>
                    <a:pt x="52" y="53"/>
                  </a:cubicBezTo>
                  <a:cubicBezTo>
                    <a:pt x="54" y="52"/>
                    <a:pt x="56" y="50"/>
                    <a:pt x="57" y="48"/>
                  </a:cubicBezTo>
                  <a:cubicBezTo>
                    <a:pt x="57" y="46"/>
                    <a:pt x="61" y="43"/>
                    <a:pt x="64" y="41"/>
                  </a:cubicBezTo>
                  <a:cubicBezTo>
                    <a:pt x="67" y="39"/>
                    <a:pt x="70" y="37"/>
                    <a:pt x="71" y="36"/>
                  </a:cubicBezTo>
                  <a:cubicBezTo>
                    <a:pt x="72" y="35"/>
                    <a:pt x="72" y="34"/>
                    <a:pt x="72" y="34"/>
                  </a:cubicBezTo>
                  <a:cubicBezTo>
                    <a:pt x="72" y="34"/>
                    <a:pt x="71" y="32"/>
                    <a:pt x="69" y="29"/>
                  </a:cubicBezTo>
                  <a:cubicBezTo>
                    <a:pt x="67" y="27"/>
                    <a:pt x="65" y="22"/>
                    <a:pt x="64" y="1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1" name="Freeform 22">
              <a:extLst>
                <a:ext uri="{FF2B5EF4-FFF2-40B4-BE49-F238E27FC236}">
                  <a16:creationId xmlns:a16="http://schemas.microsoft.com/office/drawing/2014/main" id="{F1FAE708-BFDD-3119-F656-91272F8FF422}"/>
                </a:ext>
              </a:extLst>
            </p:cNvPr>
            <p:cNvSpPr>
              <a:spLocks/>
            </p:cNvSpPr>
            <p:nvPr/>
          </p:nvSpPr>
          <p:spPr bwMode="auto">
            <a:xfrm>
              <a:off x="2438372" y="1327133"/>
              <a:ext cx="1524000" cy="1831975"/>
            </a:xfrm>
            <a:custGeom>
              <a:avLst/>
              <a:gdLst/>
              <a:ahLst/>
              <a:cxnLst>
                <a:cxn ang="0">
                  <a:pos x="37" y="91"/>
                </a:cxn>
                <a:cxn ang="0">
                  <a:pos x="47" y="137"/>
                </a:cxn>
                <a:cxn ang="0">
                  <a:pos x="36" y="194"/>
                </a:cxn>
                <a:cxn ang="0">
                  <a:pos x="37" y="243"/>
                </a:cxn>
                <a:cxn ang="0">
                  <a:pos x="38" y="274"/>
                </a:cxn>
                <a:cxn ang="0">
                  <a:pos x="9" y="273"/>
                </a:cxn>
                <a:cxn ang="0">
                  <a:pos x="12" y="306"/>
                </a:cxn>
                <a:cxn ang="0">
                  <a:pos x="30" y="337"/>
                </a:cxn>
                <a:cxn ang="0">
                  <a:pos x="30" y="365"/>
                </a:cxn>
                <a:cxn ang="0">
                  <a:pos x="45" y="372"/>
                </a:cxn>
                <a:cxn ang="0">
                  <a:pos x="67" y="381"/>
                </a:cxn>
                <a:cxn ang="0">
                  <a:pos x="84" y="417"/>
                </a:cxn>
                <a:cxn ang="0">
                  <a:pos x="103" y="444"/>
                </a:cxn>
                <a:cxn ang="0">
                  <a:pos x="119" y="458"/>
                </a:cxn>
                <a:cxn ang="0">
                  <a:pos x="133" y="475"/>
                </a:cxn>
                <a:cxn ang="0">
                  <a:pos x="143" y="487"/>
                </a:cxn>
                <a:cxn ang="0">
                  <a:pos x="171" y="474"/>
                </a:cxn>
                <a:cxn ang="0">
                  <a:pos x="179" y="456"/>
                </a:cxn>
                <a:cxn ang="0">
                  <a:pos x="182" y="433"/>
                </a:cxn>
                <a:cxn ang="0">
                  <a:pos x="197" y="421"/>
                </a:cxn>
                <a:cxn ang="0">
                  <a:pos x="204" y="401"/>
                </a:cxn>
                <a:cxn ang="0">
                  <a:pos x="225" y="403"/>
                </a:cxn>
                <a:cxn ang="0">
                  <a:pos x="256" y="422"/>
                </a:cxn>
                <a:cxn ang="0">
                  <a:pos x="283" y="422"/>
                </a:cxn>
                <a:cxn ang="0">
                  <a:pos x="309" y="433"/>
                </a:cxn>
                <a:cxn ang="0">
                  <a:pos x="333" y="412"/>
                </a:cxn>
                <a:cxn ang="0">
                  <a:pos x="360" y="405"/>
                </a:cxn>
                <a:cxn ang="0">
                  <a:pos x="359" y="314"/>
                </a:cxn>
                <a:cxn ang="0">
                  <a:pos x="391" y="220"/>
                </a:cxn>
                <a:cxn ang="0">
                  <a:pos x="367" y="206"/>
                </a:cxn>
                <a:cxn ang="0">
                  <a:pos x="344" y="192"/>
                </a:cxn>
                <a:cxn ang="0">
                  <a:pos x="329" y="183"/>
                </a:cxn>
                <a:cxn ang="0">
                  <a:pos x="316" y="165"/>
                </a:cxn>
                <a:cxn ang="0">
                  <a:pos x="311" y="144"/>
                </a:cxn>
                <a:cxn ang="0">
                  <a:pos x="304" y="123"/>
                </a:cxn>
                <a:cxn ang="0">
                  <a:pos x="293" y="100"/>
                </a:cxn>
                <a:cxn ang="0">
                  <a:pos x="277" y="86"/>
                </a:cxn>
                <a:cxn ang="0">
                  <a:pos x="253" y="66"/>
                </a:cxn>
                <a:cxn ang="0">
                  <a:pos x="236" y="51"/>
                </a:cxn>
                <a:cxn ang="0">
                  <a:pos x="216" y="34"/>
                </a:cxn>
                <a:cxn ang="0">
                  <a:pos x="198" y="10"/>
                </a:cxn>
                <a:cxn ang="0">
                  <a:pos x="75" y="36"/>
                </a:cxn>
                <a:cxn ang="0">
                  <a:pos x="21" y="76"/>
                </a:cxn>
              </a:cxnLst>
              <a:rect l="0" t="0" r="r" b="b"/>
              <a:pathLst>
                <a:path w="406" h="488">
                  <a:moveTo>
                    <a:pt x="21" y="76"/>
                  </a:moveTo>
                  <a:cubicBezTo>
                    <a:pt x="23" y="78"/>
                    <a:pt x="26" y="82"/>
                    <a:pt x="29" y="85"/>
                  </a:cubicBezTo>
                  <a:cubicBezTo>
                    <a:pt x="31" y="88"/>
                    <a:pt x="35" y="90"/>
                    <a:pt x="37" y="91"/>
                  </a:cubicBezTo>
                  <a:cubicBezTo>
                    <a:pt x="40" y="92"/>
                    <a:pt x="43" y="95"/>
                    <a:pt x="45" y="97"/>
                  </a:cubicBezTo>
                  <a:cubicBezTo>
                    <a:pt x="46" y="99"/>
                    <a:pt x="47" y="107"/>
                    <a:pt x="47" y="114"/>
                  </a:cubicBezTo>
                  <a:cubicBezTo>
                    <a:pt x="47" y="121"/>
                    <a:pt x="47" y="131"/>
                    <a:pt x="47" y="137"/>
                  </a:cubicBezTo>
                  <a:cubicBezTo>
                    <a:pt x="46" y="142"/>
                    <a:pt x="45" y="154"/>
                    <a:pt x="44" y="162"/>
                  </a:cubicBezTo>
                  <a:cubicBezTo>
                    <a:pt x="42" y="170"/>
                    <a:pt x="40" y="180"/>
                    <a:pt x="39" y="183"/>
                  </a:cubicBezTo>
                  <a:cubicBezTo>
                    <a:pt x="38" y="186"/>
                    <a:pt x="37" y="191"/>
                    <a:pt x="36" y="194"/>
                  </a:cubicBezTo>
                  <a:cubicBezTo>
                    <a:pt x="35" y="197"/>
                    <a:pt x="35" y="202"/>
                    <a:pt x="35" y="205"/>
                  </a:cubicBezTo>
                  <a:cubicBezTo>
                    <a:pt x="36" y="208"/>
                    <a:pt x="36" y="216"/>
                    <a:pt x="36" y="223"/>
                  </a:cubicBezTo>
                  <a:cubicBezTo>
                    <a:pt x="37" y="230"/>
                    <a:pt x="37" y="239"/>
                    <a:pt x="37" y="243"/>
                  </a:cubicBezTo>
                  <a:cubicBezTo>
                    <a:pt x="37" y="246"/>
                    <a:pt x="37" y="251"/>
                    <a:pt x="38" y="254"/>
                  </a:cubicBezTo>
                  <a:cubicBezTo>
                    <a:pt x="38" y="257"/>
                    <a:pt x="39" y="261"/>
                    <a:pt x="40" y="264"/>
                  </a:cubicBezTo>
                  <a:cubicBezTo>
                    <a:pt x="41" y="267"/>
                    <a:pt x="40" y="271"/>
                    <a:pt x="38" y="274"/>
                  </a:cubicBezTo>
                  <a:cubicBezTo>
                    <a:pt x="36" y="276"/>
                    <a:pt x="32" y="277"/>
                    <a:pt x="29" y="276"/>
                  </a:cubicBezTo>
                  <a:cubicBezTo>
                    <a:pt x="26" y="274"/>
                    <a:pt x="22" y="273"/>
                    <a:pt x="19" y="272"/>
                  </a:cubicBezTo>
                  <a:cubicBezTo>
                    <a:pt x="16" y="272"/>
                    <a:pt x="12" y="272"/>
                    <a:pt x="9" y="273"/>
                  </a:cubicBezTo>
                  <a:cubicBezTo>
                    <a:pt x="7" y="273"/>
                    <a:pt x="4" y="275"/>
                    <a:pt x="2" y="276"/>
                  </a:cubicBezTo>
                  <a:cubicBezTo>
                    <a:pt x="0" y="278"/>
                    <a:pt x="0" y="284"/>
                    <a:pt x="2" y="291"/>
                  </a:cubicBezTo>
                  <a:cubicBezTo>
                    <a:pt x="4" y="298"/>
                    <a:pt x="9" y="304"/>
                    <a:pt x="12" y="306"/>
                  </a:cubicBezTo>
                  <a:cubicBezTo>
                    <a:pt x="15" y="307"/>
                    <a:pt x="18" y="311"/>
                    <a:pt x="19" y="315"/>
                  </a:cubicBezTo>
                  <a:cubicBezTo>
                    <a:pt x="19" y="319"/>
                    <a:pt x="22" y="324"/>
                    <a:pt x="25" y="327"/>
                  </a:cubicBezTo>
                  <a:cubicBezTo>
                    <a:pt x="28" y="330"/>
                    <a:pt x="30" y="334"/>
                    <a:pt x="30" y="337"/>
                  </a:cubicBezTo>
                  <a:cubicBezTo>
                    <a:pt x="29" y="339"/>
                    <a:pt x="30" y="343"/>
                    <a:pt x="30" y="345"/>
                  </a:cubicBezTo>
                  <a:cubicBezTo>
                    <a:pt x="31" y="347"/>
                    <a:pt x="30" y="351"/>
                    <a:pt x="28" y="354"/>
                  </a:cubicBezTo>
                  <a:cubicBezTo>
                    <a:pt x="27" y="357"/>
                    <a:pt x="27" y="362"/>
                    <a:pt x="30" y="365"/>
                  </a:cubicBezTo>
                  <a:cubicBezTo>
                    <a:pt x="33" y="368"/>
                    <a:pt x="36" y="371"/>
                    <a:pt x="38" y="372"/>
                  </a:cubicBezTo>
                  <a:cubicBezTo>
                    <a:pt x="39" y="373"/>
                    <a:pt x="41" y="373"/>
                    <a:pt x="41" y="373"/>
                  </a:cubicBezTo>
                  <a:cubicBezTo>
                    <a:pt x="41" y="373"/>
                    <a:pt x="43" y="373"/>
                    <a:pt x="45" y="372"/>
                  </a:cubicBezTo>
                  <a:cubicBezTo>
                    <a:pt x="48" y="371"/>
                    <a:pt x="52" y="371"/>
                    <a:pt x="53" y="371"/>
                  </a:cubicBezTo>
                  <a:cubicBezTo>
                    <a:pt x="55" y="372"/>
                    <a:pt x="57" y="373"/>
                    <a:pt x="58" y="375"/>
                  </a:cubicBezTo>
                  <a:cubicBezTo>
                    <a:pt x="59" y="377"/>
                    <a:pt x="63" y="379"/>
                    <a:pt x="67" y="381"/>
                  </a:cubicBezTo>
                  <a:cubicBezTo>
                    <a:pt x="70" y="382"/>
                    <a:pt x="74" y="386"/>
                    <a:pt x="74" y="389"/>
                  </a:cubicBezTo>
                  <a:cubicBezTo>
                    <a:pt x="75" y="392"/>
                    <a:pt x="77" y="397"/>
                    <a:pt x="79" y="399"/>
                  </a:cubicBezTo>
                  <a:cubicBezTo>
                    <a:pt x="82" y="402"/>
                    <a:pt x="84" y="410"/>
                    <a:pt x="84" y="417"/>
                  </a:cubicBezTo>
                  <a:cubicBezTo>
                    <a:pt x="84" y="424"/>
                    <a:pt x="85" y="432"/>
                    <a:pt x="85" y="434"/>
                  </a:cubicBezTo>
                  <a:cubicBezTo>
                    <a:pt x="85" y="437"/>
                    <a:pt x="88" y="439"/>
                    <a:pt x="91" y="440"/>
                  </a:cubicBezTo>
                  <a:cubicBezTo>
                    <a:pt x="94" y="441"/>
                    <a:pt x="99" y="443"/>
                    <a:pt x="103" y="444"/>
                  </a:cubicBezTo>
                  <a:cubicBezTo>
                    <a:pt x="106" y="444"/>
                    <a:pt x="111" y="446"/>
                    <a:pt x="113" y="447"/>
                  </a:cubicBezTo>
                  <a:cubicBezTo>
                    <a:pt x="115" y="448"/>
                    <a:pt x="117" y="450"/>
                    <a:pt x="117" y="452"/>
                  </a:cubicBezTo>
                  <a:cubicBezTo>
                    <a:pt x="117" y="454"/>
                    <a:pt x="118" y="457"/>
                    <a:pt x="119" y="458"/>
                  </a:cubicBezTo>
                  <a:cubicBezTo>
                    <a:pt x="120" y="459"/>
                    <a:pt x="121" y="462"/>
                    <a:pt x="121" y="463"/>
                  </a:cubicBezTo>
                  <a:cubicBezTo>
                    <a:pt x="121" y="465"/>
                    <a:pt x="123" y="467"/>
                    <a:pt x="126" y="469"/>
                  </a:cubicBezTo>
                  <a:cubicBezTo>
                    <a:pt x="128" y="470"/>
                    <a:pt x="132" y="473"/>
                    <a:pt x="133" y="475"/>
                  </a:cubicBezTo>
                  <a:cubicBezTo>
                    <a:pt x="134" y="478"/>
                    <a:pt x="137" y="482"/>
                    <a:pt x="138" y="484"/>
                  </a:cubicBezTo>
                  <a:cubicBezTo>
                    <a:pt x="140" y="486"/>
                    <a:pt x="141" y="488"/>
                    <a:pt x="141" y="488"/>
                  </a:cubicBezTo>
                  <a:cubicBezTo>
                    <a:pt x="141" y="488"/>
                    <a:pt x="142" y="488"/>
                    <a:pt x="143" y="487"/>
                  </a:cubicBezTo>
                  <a:cubicBezTo>
                    <a:pt x="144" y="486"/>
                    <a:pt x="149" y="485"/>
                    <a:pt x="153" y="486"/>
                  </a:cubicBezTo>
                  <a:cubicBezTo>
                    <a:pt x="157" y="486"/>
                    <a:pt x="162" y="484"/>
                    <a:pt x="165" y="482"/>
                  </a:cubicBezTo>
                  <a:cubicBezTo>
                    <a:pt x="168" y="480"/>
                    <a:pt x="171" y="476"/>
                    <a:pt x="171" y="474"/>
                  </a:cubicBezTo>
                  <a:cubicBezTo>
                    <a:pt x="172" y="472"/>
                    <a:pt x="173" y="469"/>
                    <a:pt x="173" y="466"/>
                  </a:cubicBezTo>
                  <a:cubicBezTo>
                    <a:pt x="173" y="463"/>
                    <a:pt x="173" y="461"/>
                    <a:pt x="174" y="460"/>
                  </a:cubicBezTo>
                  <a:cubicBezTo>
                    <a:pt x="175" y="460"/>
                    <a:pt x="177" y="458"/>
                    <a:pt x="179" y="456"/>
                  </a:cubicBezTo>
                  <a:cubicBezTo>
                    <a:pt x="181" y="453"/>
                    <a:pt x="182" y="450"/>
                    <a:pt x="183" y="448"/>
                  </a:cubicBezTo>
                  <a:cubicBezTo>
                    <a:pt x="184" y="446"/>
                    <a:pt x="184" y="443"/>
                    <a:pt x="183" y="440"/>
                  </a:cubicBezTo>
                  <a:cubicBezTo>
                    <a:pt x="182" y="438"/>
                    <a:pt x="182" y="435"/>
                    <a:pt x="182" y="433"/>
                  </a:cubicBezTo>
                  <a:cubicBezTo>
                    <a:pt x="181" y="431"/>
                    <a:pt x="183" y="429"/>
                    <a:pt x="185" y="428"/>
                  </a:cubicBezTo>
                  <a:cubicBezTo>
                    <a:pt x="188" y="428"/>
                    <a:pt x="191" y="426"/>
                    <a:pt x="193" y="426"/>
                  </a:cubicBezTo>
                  <a:cubicBezTo>
                    <a:pt x="196" y="425"/>
                    <a:pt x="197" y="423"/>
                    <a:pt x="197" y="421"/>
                  </a:cubicBezTo>
                  <a:cubicBezTo>
                    <a:pt x="197" y="419"/>
                    <a:pt x="198" y="416"/>
                    <a:pt x="199" y="415"/>
                  </a:cubicBezTo>
                  <a:cubicBezTo>
                    <a:pt x="200" y="414"/>
                    <a:pt x="201" y="410"/>
                    <a:pt x="202" y="407"/>
                  </a:cubicBezTo>
                  <a:cubicBezTo>
                    <a:pt x="202" y="404"/>
                    <a:pt x="203" y="401"/>
                    <a:pt x="204" y="401"/>
                  </a:cubicBezTo>
                  <a:cubicBezTo>
                    <a:pt x="206" y="400"/>
                    <a:pt x="208" y="399"/>
                    <a:pt x="209" y="398"/>
                  </a:cubicBezTo>
                  <a:cubicBezTo>
                    <a:pt x="210" y="397"/>
                    <a:pt x="213" y="397"/>
                    <a:pt x="216" y="399"/>
                  </a:cubicBezTo>
                  <a:cubicBezTo>
                    <a:pt x="218" y="400"/>
                    <a:pt x="222" y="402"/>
                    <a:pt x="225" y="403"/>
                  </a:cubicBezTo>
                  <a:cubicBezTo>
                    <a:pt x="228" y="405"/>
                    <a:pt x="233" y="408"/>
                    <a:pt x="237" y="410"/>
                  </a:cubicBezTo>
                  <a:cubicBezTo>
                    <a:pt x="240" y="412"/>
                    <a:pt x="245" y="415"/>
                    <a:pt x="248" y="417"/>
                  </a:cubicBezTo>
                  <a:cubicBezTo>
                    <a:pt x="250" y="418"/>
                    <a:pt x="254" y="420"/>
                    <a:pt x="256" y="422"/>
                  </a:cubicBezTo>
                  <a:cubicBezTo>
                    <a:pt x="257" y="424"/>
                    <a:pt x="261" y="424"/>
                    <a:pt x="264" y="423"/>
                  </a:cubicBezTo>
                  <a:cubicBezTo>
                    <a:pt x="267" y="422"/>
                    <a:pt x="271" y="421"/>
                    <a:pt x="274" y="421"/>
                  </a:cubicBezTo>
                  <a:cubicBezTo>
                    <a:pt x="277" y="422"/>
                    <a:pt x="281" y="422"/>
                    <a:pt x="283" y="422"/>
                  </a:cubicBezTo>
                  <a:cubicBezTo>
                    <a:pt x="285" y="422"/>
                    <a:pt x="290" y="423"/>
                    <a:pt x="294" y="424"/>
                  </a:cubicBezTo>
                  <a:cubicBezTo>
                    <a:pt x="297" y="425"/>
                    <a:pt x="302" y="427"/>
                    <a:pt x="303" y="428"/>
                  </a:cubicBezTo>
                  <a:cubicBezTo>
                    <a:pt x="305" y="430"/>
                    <a:pt x="308" y="432"/>
                    <a:pt x="309" y="433"/>
                  </a:cubicBezTo>
                  <a:cubicBezTo>
                    <a:pt x="311" y="435"/>
                    <a:pt x="313" y="435"/>
                    <a:pt x="315" y="434"/>
                  </a:cubicBezTo>
                  <a:cubicBezTo>
                    <a:pt x="317" y="433"/>
                    <a:pt x="320" y="429"/>
                    <a:pt x="323" y="425"/>
                  </a:cubicBezTo>
                  <a:cubicBezTo>
                    <a:pt x="326" y="421"/>
                    <a:pt x="331" y="416"/>
                    <a:pt x="333" y="412"/>
                  </a:cubicBezTo>
                  <a:cubicBezTo>
                    <a:pt x="336" y="409"/>
                    <a:pt x="340" y="405"/>
                    <a:pt x="342" y="404"/>
                  </a:cubicBezTo>
                  <a:cubicBezTo>
                    <a:pt x="344" y="403"/>
                    <a:pt x="348" y="402"/>
                    <a:pt x="351" y="403"/>
                  </a:cubicBezTo>
                  <a:cubicBezTo>
                    <a:pt x="353" y="403"/>
                    <a:pt x="358" y="404"/>
                    <a:pt x="360" y="405"/>
                  </a:cubicBezTo>
                  <a:cubicBezTo>
                    <a:pt x="363" y="407"/>
                    <a:pt x="368" y="409"/>
                    <a:pt x="372" y="410"/>
                  </a:cubicBezTo>
                  <a:cubicBezTo>
                    <a:pt x="376" y="412"/>
                    <a:pt x="379" y="413"/>
                    <a:pt x="379" y="413"/>
                  </a:cubicBezTo>
                  <a:cubicBezTo>
                    <a:pt x="359" y="314"/>
                    <a:pt x="359" y="314"/>
                    <a:pt x="359" y="314"/>
                  </a:cubicBezTo>
                  <a:cubicBezTo>
                    <a:pt x="406" y="228"/>
                    <a:pt x="406" y="228"/>
                    <a:pt x="406" y="228"/>
                  </a:cubicBezTo>
                  <a:cubicBezTo>
                    <a:pt x="406" y="228"/>
                    <a:pt x="403" y="227"/>
                    <a:pt x="400" y="226"/>
                  </a:cubicBezTo>
                  <a:cubicBezTo>
                    <a:pt x="397" y="225"/>
                    <a:pt x="393" y="222"/>
                    <a:pt x="391" y="220"/>
                  </a:cubicBezTo>
                  <a:cubicBezTo>
                    <a:pt x="389" y="218"/>
                    <a:pt x="385" y="216"/>
                    <a:pt x="381" y="215"/>
                  </a:cubicBezTo>
                  <a:cubicBezTo>
                    <a:pt x="378" y="214"/>
                    <a:pt x="375" y="211"/>
                    <a:pt x="374" y="209"/>
                  </a:cubicBezTo>
                  <a:cubicBezTo>
                    <a:pt x="373" y="207"/>
                    <a:pt x="370" y="206"/>
                    <a:pt x="367" y="206"/>
                  </a:cubicBezTo>
                  <a:cubicBezTo>
                    <a:pt x="365" y="207"/>
                    <a:pt x="361" y="206"/>
                    <a:pt x="358" y="205"/>
                  </a:cubicBezTo>
                  <a:cubicBezTo>
                    <a:pt x="356" y="204"/>
                    <a:pt x="353" y="201"/>
                    <a:pt x="351" y="200"/>
                  </a:cubicBezTo>
                  <a:cubicBezTo>
                    <a:pt x="349" y="198"/>
                    <a:pt x="346" y="194"/>
                    <a:pt x="344" y="192"/>
                  </a:cubicBezTo>
                  <a:cubicBezTo>
                    <a:pt x="342" y="189"/>
                    <a:pt x="338" y="187"/>
                    <a:pt x="336" y="186"/>
                  </a:cubicBezTo>
                  <a:cubicBezTo>
                    <a:pt x="333" y="185"/>
                    <a:pt x="331" y="185"/>
                    <a:pt x="330" y="184"/>
                  </a:cubicBezTo>
                  <a:cubicBezTo>
                    <a:pt x="329" y="183"/>
                    <a:pt x="329" y="183"/>
                    <a:pt x="329" y="183"/>
                  </a:cubicBezTo>
                  <a:cubicBezTo>
                    <a:pt x="329" y="183"/>
                    <a:pt x="327" y="181"/>
                    <a:pt x="326" y="180"/>
                  </a:cubicBezTo>
                  <a:cubicBezTo>
                    <a:pt x="324" y="178"/>
                    <a:pt x="322" y="174"/>
                    <a:pt x="320" y="172"/>
                  </a:cubicBezTo>
                  <a:cubicBezTo>
                    <a:pt x="319" y="169"/>
                    <a:pt x="317" y="166"/>
                    <a:pt x="316" y="165"/>
                  </a:cubicBezTo>
                  <a:cubicBezTo>
                    <a:pt x="315" y="164"/>
                    <a:pt x="314" y="161"/>
                    <a:pt x="313" y="158"/>
                  </a:cubicBezTo>
                  <a:cubicBezTo>
                    <a:pt x="312" y="155"/>
                    <a:pt x="311" y="150"/>
                    <a:pt x="311" y="146"/>
                  </a:cubicBezTo>
                  <a:cubicBezTo>
                    <a:pt x="311" y="146"/>
                    <a:pt x="311" y="146"/>
                    <a:pt x="311" y="144"/>
                  </a:cubicBezTo>
                  <a:cubicBezTo>
                    <a:pt x="311" y="142"/>
                    <a:pt x="311" y="142"/>
                    <a:pt x="311" y="142"/>
                  </a:cubicBezTo>
                  <a:cubicBezTo>
                    <a:pt x="311" y="138"/>
                    <a:pt x="310" y="132"/>
                    <a:pt x="309" y="131"/>
                  </a:cubicBezTo>
                  <a:cubicBezTo>
                    <a:pt x="308" y="129"/>
                    <a:pt x="305" y="126"/>
                    <a:pt x="304" y="123"/>
                  </a:cubicBezTo>
                  <a:cubicBezTo>
                    <a:pt x="302" y="121"/>
                    <a:pt x="300" y="117"/>
                    <a:pt x="300" y="116"/>
                  </a:cubicBezTo>
                  <a:cubicBezTo>
                    <a:pt x="299" y="114"/>
                    <a:pt x="298" y="110"/>
                    <a:pt x="297" y="108"/>
                  </a:cubicBezTo>
                  <a:cubicBezTo>
                    <a:pt x="297" y="105"/>
                    <a:pt x="295" y="102"/>
                    <a:pt x="293" y="100"/>
                  </a:cubicBezTo>
                  <a:cubicBezTo>
                    <a:pt x="292" y="99"/>
                    <a:pt x="290" y="96"/>
                    <a:pt x="288" y="95"/>
                  </a:cubicBezTo>
                  <a:cubicBezTo>
                    <a:pt x="287" y="94"/>
                    <a:pt x="285" y="91"/>
                    <a:pt x="283" y="90"/>
                  </a:cubicBezTo>
                  <a:cubicBezTo>
                    <a:pt x="281" y="89"/>
                    <a:pt x="279" y="87"/>
                    <a:pt x="277" y="86"/>
                  </a:cubicBezTo>
                  <a:cubicBezTo>
                    <a:pt x="275" y="85"/>
                    <a:pt x="271" y="83"/>
                    <a:pt x="268" y="80"/>
                  </a:cubicBezTo>
                  <a:cubicBezTo>
                    <a:pt x="265" y="78"/>
                    <a:pt x="261" y="75"/>
                    <a:pt x="258" y="73"/>
                  </a:cubicBezTo>
                  <a:cubicBezTo>
                    <a:pt x="256" y="71"/>
                    <a:pt x="254" y="68"/>
                    <a:pt x="253" y="66"/>
                  </a:cubicBezTo>
                  <a:cubicBezTo>
                    <a:pt x="252" y="64"/>
                    <a:pt x="251" y="61"/>
                    <a:pt x="249" y="60"/>
                  </a:cubicBezTo>
                  <a:cubicBezTo>
                    <a:pt x="248" y="59"/>
                    <a:pt x="245" y="58"/>
                    <a:pt x="243" y="57"/>
                  </a:cubicBezTo>
                  <a:cubicBezTo>
                    <a:pt x="240" y="56"/>
                    <a:pt x="237" y="53"/>
                    <a:pt x="236" y="51"/>
                  </a:cubicBezTo>
                  <a:cubicBezTo>
                    <a:pt x="235" y="49"/>
                    <a:pt x="232" y="46"/>
                    <a:pt x="230" y="44"/>
                  </a:cubicBezTo>
                  <a:cubicBezTo>
                    <a:pt x="228" y="41"/>
                    <a:pt x="225" y="39"/>
                    <a:pt x="223" y="38"/>
                  </a:cubicBezTo>
                  <a:cubicBezTo>
                    <a:pt x="221" y="37"/>
                    <a:pt x="218" y="35"/>
                    <a:pt x="216" y="34"/>
                  </a:cubicBezTo>
                  <a:cubicBezTo>
                    <a:pt x="214" y="32"/>
                    <a:pt x="211" y="29"/>
                    <a:pt x="209" y="28"/>
                  </a:cubicBezTo>
                  <a:cubicBezTo>
                    <a:pt x="207" y="26"/>
                    <a:pt x="205" y="22"/>
                    <a:pt x="204" y="18"/>
                  </a:cubicBezTo>
                  <a:cubicBezTo>
                    <a:pt x="203" y="15"/>
                    <a:pt x="200" y="11"/>
                    <a:pt x="198" y="10"/>
                  </a:cubicBezTo>
                  <a:cubicBezTo>
                    <a:pt x="196" y="8"/>
                    <a:pt x="195" y="7"/>
                    <a:pt x="195" y="7"/>
                  </a:cubicBezTo>
                  <a:cubicBezTo>
                    <a:pt x="76" y="0"/>
                    <a:pt x="76" y="0"/>
                    <a:pt x="76" y="0"/>
                  </a:cubicBezTo>
                  <a:cubicBezTo>
                    <a:pt x="75" y="36"/>
                    <a:pt x="75" y="36"/>
                    <a:pt x="75" y="36"/>
                  </a:cubicBezTo>
                  <a:cubicBezTo>
                    <a:pt x="25" y="33"/>
                    <a:pt x="25" y="33"/>
                    <a:pt x="25" y="33"/>
                  </a:cubicBezTo>
                  <a:cubicBezTo>
                    <a:pt x="25" y="33"/>
                    <a:pt x="24" y="41"/>
                    <a:pt x="21" y="52"/>
                  </a:cubicBezTo>
                  <a:cubicBezTo>
                    <a:pt x="19" y="63"/>
                    <a:pt x="19" y="74"/>
                    <a:pt x="21" y="7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2" name="Freeform 23">
              <a:extLst>
                <a:ext uri="{FF2B5EF4-FFF2-40B4-BE49-F238E27FC236}">
                  <a16:creationId xmlns:a16="http://schemas.microsoft.com/office/drawing/2014/main" id="{A02D791D-3D7B-6FA2-A351-3A4348DECE63}"/>
                </a:ext>
              </a:extLst>
            </p:cNvPr>
            <p:cNvSpPr>
              <a:spLocks/>
            </p:cNvSpPr>
            <p:nvPr/>
          </p:nvSpPr>
          <p:spPr bwMode="auto">
            <a:xfrm>
              <a:off x="4506884" y="2551095"/>
              <a:ext cx="720725" cy="1338263"/>
            </a:xfrm>
            <a:custGeom>
              <a:avLst/>
              <a:gdLst/>
              <a:ahLst/>
              <a:cxnLst>
                <a:cxn ang="0">
                  <a:pos x="75" y="3"/>
                </a:cxn>
                <a:cxn ang="0">
                  <a:pos x="58" y="12"/>
                </a:cxn>
                <a:cxn ang="0">
                  <a:pos x="48" y="33"/>
                </a:cxn>
                <a:cxn ang="0">
                  <a:pos x="27" y="50"/>
                </a:cxn>
                <a:cxn ang="0">
                  <a:pos x="34" y="55"/>
                </a:cxn>
                <a:cxn ang="0">
                  <a:pos x="47" y="63"/>
                </a:cxn>
                <a:cxn ang="0">
                  <a:pos x="43" y="78"/>
                </a:cxn>
                <a:cxn ang="0">
                  <a:pos x="33" y="86"/>
                </a:cxn>
                <a:cxn ang="0">
                  <a:pos x="0" y="110"/>
                </a:cxn>
                <a:cxn ang="0">
                  <a:pos x="9" y="122"/>
                </a:cxn>
                <a:cxn ang="0">
                  <a:pos x="20" y="135"/>
                </a:cxn>
                <a:cxn ang="0">
                  <a:pos x="27" y="159"/>
                </a:cxn>
                <a:cxn ang="0">
                  <a:pos x="40" y="170"/>
                </a:cxn>
                <a:cxn ang="0">
                  <a:pos x="42" y="184"/>
                </a:cxn>
                <a:cxn ang="0">
                  <a:pos x="59" y="189"/>
                </a:cxn>
                <a:cxn ang="0">
                  <a:pos x="66" y="197"/>
                </a:cxn>
                <a:cxn ang="0">
                  <a:pos x="49" y="199"/>
                </a:cxn>
                <a:cxn ang="0">
                  <a:pos x="31" y="207"/>
                </a:cxn>
                <a:cxn ang="0">
                  <a:pos x="31" y="223"/>
                </a:cxn>
                <a:cxn ang="0">
                  <a:pos x="29" y="241"/>
                </a:cxn>
                <a:cxn ang="0">
                  <a:pos x="30" y="252"/>
                </a:cxn>
                <a:cxn ang="0">
                  <a:pos x="42" y="279"/>
                </a:cxn>
                <a:cxn ang="0">
                  <a:pos x="46" y="301"/>
                </a:cxn>
                <a:cxn ang="0">
                  <a:pos x="52" y="317"/>
                </a:cxn>
                <a:cxn ang="0">
                  <a:pos x="53" y="336"/>
                </a:cxn>
                <a:cxn ang="0">
                  <a:pos x="57" y="355"/>
                </a:cxn>
                <a:cxn ang="0">
                  <a:pos x="68" y="355"/>
                </a:cxn>
                <a:cxn ang="0">
                  <a:pos x="82" y="349"/>
                </a:cxn>
                <a:cxn ang="0">
                  <a:pos x="80" y="342"/>
                </a:cxn>
                <a:cxn ang="0">
                  <a:pos x="91" y="337"/>
                </a:cxn>
                <a:cxn ang="0">
                  <a:pos x="94" y="321"/>
                </a:cxn>
                <a:cxn ang="0">
                  <a:pos x="110" y="313"/>
                </a:cxn>
                <a:cxn ang="0">
                  <a:pos x="122" y="302"/>
                </a:cxn>
                <a:cxn ang="0">
                  <a:pos x="119" y="292"/>
                </a:cxn>
                <a:cxn ang="0">
                  <a:pos x="115" y="272"/>
                </a:cxn>
                <a:cxn ang="0">
                  <a:pos x="108" y="255"/>
                </a:cxn>
                <a:cxn ang="0">
                  <a:pos x="112" y="245"/>
                </a:cxn>
                <a:cxn ang="0">
                  <a:pos x="130" y="233"/>
                </a:cxn>
                <a:cxn ang="0">
                  <a:pos x="144" y="229"/>
                </a:cxn>
                <a:cxn ang="0">
                  <a:pos x="145" y="219"/>
                </a:cxn>
                <a:cxn ang="0">
                  <a:pos x="152" y="211"/>
                </a:cxn>
                <a:cxn ang="0">
                  <a:pos x="176" y="199"/>
                </a:cxn>
                <a:cxn ang="0">
                  <a:pos x="190" y="176"/>
                </a:cxn>
                <a:cxn ang="0">
                  <a:pos x="186" y="149"/>
                </a:cxn>
                <a:cxn ang="0">
                  <a:pos x="170" y="134"/>
                </a:cxn>
                <a:cxn ang="0">
                  <a:pos x="157" y="133"/>
                </a:cxn>
                <a:cxn ang="0">
                  <a:pos x="143" y="122"/>
                </a:cxn>
                <a:cxn ang="0">
                  <a:pos x="134" y="111"/>
                </a:cxn>
                <a:cxn ang="0">
                  <a:pos x="125" y="98"/>
                </a:cxn>
                <a:cxn ang="0">
                  <a:pos x="120" y="87"/>
                </a:cxn>
                <a:cxn ang="0">
                  <a:pos x="110" y="81"/>
                </a:cxn>
                <a:cxn ang="0">
                  <a:pos x="110" y="70"/>
                </a:cxn>
                <a:cxn ang="0">
                  <a:pos x="103" y="60"/>
                </a:cxn>
                <a:cxn ang="0">
                  <a:pos x="103" y="39"/>
                </a:cxn>
                <a:cxn ang="0">
                  <a:pos x="96" y="25"/>
                </a:cxn>
                <a:cxn ang="0">
                  <a:pos x="97" y="9"/>
                </a:cxn>
                <a:cxn ang="0">
                  <a:pos x="96" y="1"/>
                </a:cxn>
                <a:cxn ang="0">
                  <a:pos x="92" y="4"/>
                </a:cxn>
              </a:cxnLst>
              <a:rect l="0" t="0" r="r" b="b"/>
              <a:pathLst>
                <a:path w="192" h="356">
                  <a:moveTo>
                    <a:pt x="85" y="7"/>
                  </a:moveTo>
                  <a:cubicBezTo>
                    <a:pt x="82" y="7"/>
                    <a:pt x="78" y="5"/>
                    <a:pt x="75" y="3"/>
                  </a:cubicBezTo>
                  <a:cubicBezTo>
                    <a:pt x="72" y="1"/>
                    <a:pt x="68" y="1"/>
                    <a:pt x="65" y="3"/>
                  </a:cubicBezTo>
                  <a:cubicBezTo>
                    <a:pt x="63" y="4"/>
                    <a:pt x="60" y="9"/>
                    <a:pt x="58" y="12"/>
                  </a:cubicBezTo>
                  <a:cubicBezTo>
                    <a:pt x="57" y="15"/>
                    <a:pt x="55" y="21"/>
                    <a:pt x="55" y="25"/>
                  </a:cubicBezTo>
                  <a:cubicBezTo>
                    <a:pt x="54" y="29"/>
                    <a:pt x="51" y="32"/>
                    <a:pt x="48" y="33"/>
                  </a:cubicBezTo>
                  <a:cubicBezTo>
                    <a:pt x="44" y="33"/>
                    <a:pt x="38" y="36"/>
                    <a:pt x="34" y="39"/>
                  </a:cubicBezTo>
                  <a:cubicBezTo>
                    <a:pt x="30" y="42"/>
                    <a:pt x="27" y="47"/>
                    <a:pt x="27" y="50"/>
                  </a:cubicBezTo>
                  <a:cubicBezTo>
                    <a:pt x="28" y="53"/>
                    <a:pt x="29" y="56"/>
                    <a:pt x="30" y="56"/>
                  </a:cubicBezTo>
                  <a:cubicBezTo>
                    <a:pt x="31" y="57"/>
                    <a:pt x="33" y="57"/>
                    <a:pt x="34" y="55"/>
                  </a:cubicBezTo>
                  <a:cubicBezTo>
                    <a:pt x="34" y="54"/>
                    <a:pt x="37" y="54"/>
                    <a:pt x="40" y="55"/>
                  </a:cubicBezTo>
                  <a:cubicBezTo>
                    <a:pt x="43" y="56"/>
                    <a:pt x="46" y="60"/>
                    <a:pt x="47" y="63"/>
                  </a:cubicBezTo>
                  <a:cubicBezTo>
                    <a:pt x="47" y="66"/>
                    <a:pt x="47" y="70"/>
                    <a:pt x="46" y="71"/>
                  </a:cubicBezTo>
                  <a:cubicBezTo>
                    <a:pt x="46" y="72"/>
                    <a:pt x="44" y="75"/>
                    <a:pt x="43" y="78"/>
                  </a:cubicBezTo>
                  <a:cubicBezTo>
                    <a:pt x="42" y="81"/>
                    <a:pt x="40" y="84"/>
                    <a:pt x="38" y="86"/>
                  </a:cubicBezTo>
                  <a:cubicBezTo>
                    <a:pt x="36" y="88"/>
                    <a:pt x="34" y="88"/>
                    <a:pt x="33" y="86"/>
                  </a:cubicBezTo>
                  <a:cubicBezTo>
                    <a:pt x="32" y="83"/>
                    <a:pt x="24" y="88"/>
                    <a:pt x="16" y="95"/>
                  </a:cubicBezTo>
                  <a:cubicBezTo>
                    <a:pt x="7" y="102"/>
                    <a:pt x="0" y="109"/>
                    <a:pt x="0" y="110"/>
                  </a:cubicBezTo>
                  <a:cubicBezTo>
                    <a:pt x="0" y="111"/>
                    <a:pt x="2" y="113"/>
                    <a:pt x="4" y="115"/>
                  </a:cubicBezTo>
                  <a:cubicBezTo>
                    <a:pt x="7" y="117"/>
                    <a:pt x="9" y="120"/>
                    <a:pt x="9" y="122"/>
                  </a:cubicBezTo>
                  <a:cubicBezTo>
                    <a:pt x="10" y="123"/>
                    <a:pt x="12" y="125"/>
                    <a:pt x="14" y="126"/>
                  </a:cubicBezTo>
                  <a:cubicBezTo>
                    <a:pt x="16" y="127"/>
                    <a:pt x="19" y="131"/>
                    <a:pt x="20" y="135"/>
                  </a:cubicBezTo>
                  <a:cubicBezTo>
                    <a:pt x="22" y="139"/>
                    <a:pt x="23" y="145"/>
                    <a:pt x="24" y="148"/>
                  </a:cubicBezTo>
                  <a:cubicBezTo>
                    <a:pt x="25" y="152"/>
                    <a:pt x="26" y="156"/>
                    <a:pt x="27" y="159"/>
                  </a:cubicBezTo>
                  <a:cubicBezTo>
                    <a:pt x="28" y="161"/>
                    <a:pt x="31" y="164"/>
                    <a:pt x="33" y="165"/>
                  </a:cubicBezTo>
                  <a:cubicBezTo>
                    <a:pt x="35" y="167"/>
                    <a:pt x="38" y="169"/>
                    <a:pt x="40" y="170"/>
                  </a:cubicBezTo>
                  <a:cubicBezTo>
                    <a:pt x="41" y="171"/>
                    <a:pt x="42" y="174"/>
                    <a:pt x="42" y="177"/>
                  </a:cubicBezTo>
                  <a:cubicBezTo>
                    <a:pt x="41" y="180"/>
                    <a:pt x="42" y="183"/>
                    <a:pt x="42" y="184"/>
                  </a:cubicBezTo>
                  <a:cubicBezTo>
                    <a:pt x="43" y="185"/>
                    <a:pt x="46" y="186"/>
                    <a:pt x="49" y="187"/>
                  </a:cubicBezTo>
                  <a:cubicBezTo>
                    <a:pt x="51" y="188"/>
                    <a:pt x="56" y="189"/>
                    <a:pt x="59" y="189"/>
                  </a:cubicBezTo>
                  <a:cubicBezTo>
                    <a:pt x="62" y="190"/>
                    <a:pt x="66" y="191"/>
                    <a:pt x="68" y="192"/>
                  </a:cubicBezTo>
                  <a:cubicBezTo>
                    <a:pt x="69" y="193"/>
                    <a:pt x="68" y="195"/>
                    <a:pt x="66" y="197"/>
                  </a:cubicBezTo>
                  <a:cubicBezTo>
                    <a:pt x="64" y="198"/>
                    <a:pt x="60" y="200"/>
                    <a:pt x="58" y="200"/>
                  </a:cubicBezTo>
                  <a:cubicBezTo>
                    <a:pt x="57" y="201"/>
                    <a:pt x="52" y="200"/>
                    <a:pt x="49" y="199"/>
                  </a:cubicBezTo>
                  <a:cubicBezTo>
                    <a:pt x="46" y="198"/>
                    <a:pt x="41" y="199"/>
                    <a:pt x="39" y="200"/>
                  </a:cubicBezTo>
                  <a:cubicBezTo>
                    <a:pt x="37" y="201"/>
                    <a:pt x="34" y="204"/>
                    <a:pt x="31" y="207"/>
                  </a:cubicBezTo>
                  <a:cubicBezTo>
                    <a:pt x="29" y="210"/>
                    <a:pt x="28" y="213"/>
                    <a:pt x="30" y="216"/>
                  </a:cubicBezTo>
                  <a:cubicBezTo>
                    <a:pt x="31" y="218"/>
                    <a:pt x="32" y="221"/>
                    <a:pt x="31" y="223"/>
                  </a:cubicBezTo>
                  <a:cubicBezTo>
                    <a:pt x="30" y="225"/>
                    <a:pt x="29" y="228"/>
                    <a:pt x="29" y="231"/>
                  </a:cubicBezTo>
                  <a:cubicBezTo>
                    <a:pt x="30" y="234"/>
                    <a:pt x="29" y="238"/>
                    <a:pt x="29" y="241"/>
                  </a:cubicBezTo>
                  <a:cubicBezTo>
                    <a:pt x="29" y="244"/>
                    <a:pt x="29" y="248"/>
                    <a:pt x="29" y="249"/>
                  </a:cubicBezTo>
                  <a:cubicBezTo>
                    <a:pt x="29" y="251"/>
                    <a:pt x="30" y="252"/>
                    <a:pt x="30" y="252"/>
                  </a:cubicBezTo>
                  <a:cubicBezTo>
                    <a:pt x="30" y="252"/>
                    <a:pt x="32" y="256"/>
                    <a:pt x="36" y="261"/>
                  </a:cubicBezTo>
                  <a:cubicBezTo>
                    <a:pt x="39" y="266"/>
                    <a:pt x="42" y="274"/>
                    <a:pt x="42" y="279"/>
                  </a:cubicBezTo>
                  <a:cubicBezTo>
                    <a:pt x="43" y="284"/>
                    <a:pt x="43" y="290"/>
                    <a:pt x="43" y="293"/>
                  </a:cubicBezTo>
                  <a:cubicBezTo>
                    <a:pt x="43" y="295"/>
                    <a:pt x="45" y="299"/>
                    <a:pt x="46" y="301"/>
                  </a:cubicBezTo>
                  <a:cubicBezTo>
                    <a:pt x="48" y="303"/>
                    <a:pt x="50" y="307"/>
                    <a:pt x="51" y="310"/>
                  </a:cubicBezTo>
                  <a:cubicBezTo>
                    <a:pt x="52" y="313"/>
                    <a:pt x="52" y="316"/>
                    <a:pt x="52" y="317"/>
                  </a:cubicBezTo>
                  <a:cubicBezTo>
                    <a:pt x="52" y="319"/>
                    <a:pt x="52" y="323"/>
                    <a:pt x="53" y="326"/>
                  </a:cubicBezTo>
                  <a:cubicBezTo>
                    <a:pt x="53" y="330"/>
                    <a:pt x="53" y="334"/>
                    <a:pt x="53" y="336"/>
                  </a:cubicBezTo>
                  <a:cubicBezTo>
                    <a:pt x="53" y="337"/>
                    <a:pt x="53" y="342"/>
                    <a:pt x="54" y="346"/>
                  </a:cubicBezTo>
                  <a:cubicBezTo>
                    <a:pt x="54" y="350"/>
                    <a:pt x="56" y="354"/>
                    <a:pt x="57" y="355"/>
                  </a:cubicBezTo>
                  <a:cubicBezTo>
                    <a:pt x="58" y="356"/>
                    <a:pt x="60" y="356"/>
                    <a:pt x="62" y="356"/>
                  </a:cubicBezTo>
                  <a:cubicBezTo>
                    <a:pt x="64" y="356"/>
                    <a:pt x="67" y="356"/>
                    <a:pt x="68" y="355"/>
                  </a:cubicBezTo>
                  <a:cubicBezTo>
                    <a:pt x="70" y="354"/>
                    <a:pt x="74" y="352"/>
                    <a:pt x="77" y="351"/>
                  </a:cubicBezTo>
                  <a:cubicBezTo>
                    <a:pt x="80" y="350"/>
                    <a:pt x="82" y="349"/>
                    <a:pt x="82" y="349"/>
                  </a:cubicBezTo>
                  <a:cubicBezTo>
                    <a:pt x="82" y="349"/>
                    <a:pt x="81" y="348"/>
                    <a:pt x="80" y="346"/>
                  </a:cubicBezTo>
                  <a:cubicBezTo>
                    <a:pt x="78" y="345"/>
                    <a:pt x="79" y="343"/>
                    <a:pt x="80" y="342"/>
                  </a:cubicBezTo>
                  <a:cubicBezTo>
                    <a:pt x="82" y="341"/>
                    <a:pt x="86" y="341"/>
                    <a:pt x="88" y="342"/>
                  </a:cubicBezTo>
                  <a:cubicBezTo>
                    <a:pt x="90" y="342"/>
                    <a:pt x="92" y="340"/>
                    <a:pt x="91" y="337"/>
                  </a:cubicBezTo>
                  <a:cubicBezTo>
                    <a:pt x="91" y="333"/>
                    <a:pt x="90" y="329"/>
                    <a:pt x="91" y="327"/>
                  </a:cubicBezTo>
                  <a:cubicBezTo>
                    <a:pt x="91" y="326"/>
                    <a:pt x="92" y="323"/>
                    <a:pt x="94" y="321"/>
                  </a:cubicBezTo>
                  <a:cubicBezTo>
                    <a:pt x="96" y="319"/>
                    <a:pt x="99" y="317"/>
                    <a:pt x="101" y="316"/>
                  </a:cubicBezTo>
                  <a:cubicBezTo>
                    <a:pt x="103" y="315"/>
                    <a:pt x="107" y="313"/>
                    <a:pt x="110" y="313"/>
                  </a:cubicBezTo>
                  <a:cubicBezTo>
                    <a:pt x="113" y="312"/>
                    <a:pt x="116" y="310"/>
                    <a:pt x="118" y="307"/>
                  </a:cubicBezTo>
                  <a:cubicBezTo>
                    <a:pt x="119" y="305"/>
                    <a:pt x="121" y="302"/>
                    <a:pt x="122" y="302"/>
                  </a:cubicBezTo>
                  <a:cubicBezTo>
                    <a:pt x="123" y="301"/>
                    <a:pt x="124" y="299"/>
                    <a:pt x="124" y="298"/>
                  </a:cubicBezTo>
                  <a:cubicBezTo>
                    <a:pt x="124" y="297"/>
                    <a:pt x="122" y="295"/>
                    <a:pt x="119" y="292"/>
                  </a:cubicBezTo>
                  <a:cubicBezTo>
                    <a:pt x="117" y="290"/>
                    <a:pt x="115" y="287"/>
                    <a:pt x="115" y="284"/>
                  </a:cubicBezTo>
                  <a:cubicBezTo>
                    <a:pt x="114" y="282"/>
                    <a:pt x="115" y="276"/>
                    <a:pt x="115" y="272"/>
                  </a:cubicBezTo>
                  <a:cubicBezTo>
                    <a:pt x="116" y="267"/>
                    <a:pt x="115" y="261"/>
                    <a:pt x="114" y="259"/>
                  </a:cubicBezTo>
                  <a:cubicBezTo>
                    <a:pt x="113" y="257"/>
                    <a:pt x="110" y="256"/>
                    <a:pt x="108" y="255"/>
                  </a:cubicBezTo>
                  <a:cubicBezTo>
                    <a:pt x="107" y="255"/>
                    <a:pt x="105" y="253"/>
                    <a:pt x="105" y="251"/>
                  </a:cubicBezTo>
                  <a:cubicBezTo>
                    <a:pt x="106" y="249"/>
                    <a:pt x="108" y="246"/>
                    <a:pt x="112" y="245"/>
                  </a:cubicBezTo>
                  <a:cubicBezTo>
                    <a:pt x="115" y="244"/>
                    <a:pt x="119" y="241"/>
                    <a:pt x="121" y="239"/>
                  </a:cubicBezTo>
                  <a:cubicBezTo>
                    <a:pt x="122" y="237"/>
                    <a:pt x="126" y="234"/>
                    <a:pt x="130" y="233"/>
                  </a:cubicBezTo>
                  <a:cubicBezTo>
                    <a:pt x="133" y="232"/>
                    <a:pt x="137" y="232"/>
                    <a:pt x="140" y="232"/>
                  </a:cubicBezTo>
                  <a:cubicBezTo>
                    <a:pt x="142" y="232"/>
                    <a:pt x="144" y="231"/>
                    <a:pt x="144" y="229"/>
                  </a:cubicBezTo>
                  <a:cubicBezTo>
                    <a:pt x="144" y="227"/>
                    <a:pt x="144" y="225"/>
                    <a:pt x="145" y="224"/>
                  </a:cubicBezTo>
                  <a:cubicBezTo>
                    <a:pt x="145" y="223"/>
                    <a:pt x="146" y="221"/>
                    <a:pt x="145" y="219"/>
                  </a:cubicBezTo>
                  <a:cubicBezTo>
                    <a:pt x="145" y="217"/>
                    <a:pt x="146" y="214"/>
                    <a:pt x="147" y="213"/>
                  </a:cubicBezTo>
                  <a:cubicBezTo>
                    <a:pt x="148" y="212"/>
                    <a:pt x="151" y="211"/>
                    <a:pt x="152" y="211"/>
                  </a:cubicBezTo>
                  <a:cubicBezTo>
                    <a:pt x="154" y="211"/>
                    <a:pt x="158" y="210"/>
                    <a:pt x="161" y="209"/>
                  </a:cubicBezTo>
                  <a:cubicBezTo>
                    <a:pt x="164" y="208"/>
                    <a:pt x="171" y="204"/>
                    <a:pt x="176" y="199"/>
                  </a:cubicBezTo>
                  <a:cubicBezTo>
                    <a:pt x="181" y="194"/>
                    <a:pt x="187" y="188"/>
                    <a:pt x="190" y="186"/>
                  </a:cubicBezTo>
                  <a:cubicBezTo>
                    <a:pt x="192" y="184"/>
                    <a:pt x="192" y="179"/>
                    <a:pt x="190" y="176"/>
                  </a:cubicBezTo>
                  <a:cubicBezTo>
                    <a:pt x="188" y="173"/>
                    <a:pt x="186" y="168"/>
                    <a:pt x="186" y="165"/>
                  </a:cubicBezTo>
                  <a:cubicBezTo>
                    <a:pt x="186" y="162"/>
                    <a:pt x="186" y="155"/>
                    <a:pt x="186" y="149"/>
                  </a:cubicBezTo>
                  <a:cubicBezTo>
                    <a:pt x="186" y="143"/>
                    <a:pt x="183" y="137"/>
                    <a:pt x="179" y="135"/>
                  </a:cubicBezTo>
                  <a:cubicBezTo>
                    <a:pt x="175" y="134"/>
                    <a:pt x="171" y="133"/>
                    <a:pt x="170" y="134"/>
                  </a:cubicBezTo>
                  <a:cubicBezTo>
                    <a:pt x="168" y="135"/>
                    <a:pt x="166" y="136"/>
                    <a:pt x="164" y="136"/>
                  </a:cubicBezTo>
                  <a:cubicBezTo>
                    <a:pt x="162" y="136"/>
                    <a:pt x="159" y="135"/>
                    <a:pt x="157" y="133"/>
                  </a:cubicBezTo>
                  <a:cubicBezTo>
                    <a:pt x="155" y="131"/>
                    <a:pt x="151" y="130"/>
                    <a:pt x="149" y="130"/>
                  </a:cubicBezTo>
                  <a:cubicBezTo>
                    <a:pt x="146" y="130"/>
                    <a:pt x="143" y="127"/>
                    <a:pt x="143" y="122"/>
                  </a:cubicBezTo>
                  <a:cubicBezTo>
                    <a:pt x="142" y="118"/>
                    <a:pt x="140" y="114"/>
                    <a:pt x="139" y="114"/>
                  </a:cubicBezTo>
                  <a:cubicBezTo>
                    <a:pt x="138" y="114"/>
                    <a:pt x="135" y="112"/>
                    <a:pt x="134" y="111"/>
                  </a:cubicBezTo>
                  <a:cubicBezTo>
                    <a:pt x="133" y="110"/>
                    <a:pt x="130" y="107"/>
                    <a:pt x="128" y="105"/>
                  </a:cubicBezTo>
                  <a:cubicBezTo>
                    <a:pt x="126" y="104"/>
                    <a:pt x="124" y="100"/>
                    <a:pt x="125" y="98"/>
                  </a:cubicBezTo>
                  <a:cubicBezTo>
                    <a:pt x="125" y="96"/>
                    <a:pt x="125" y="93"/>
                    <a:pt x="125" y="91"/>
                  </a:cubicBezTo>
                  <a:cubicBezTo>
                    <a:pt x="124" y="90"/>
                    <a:pt x="122" y="88"/>
                    <a:pt x="120" y="87"/>
                  </a:cubicBezTo>
                  <a:cubicBezTo>
                    <a:pt x="119" y="86"/>
                    <a:pt x="115" y="85"/>
                    <a:pt x="113" y="84"/>
                  </a:cubicBezTo>
                  <a:cubicBezTo>
                    <a:pt x="111" y="83"/>
                    <a:pt x="110" y="82"/>
                    <a:pt x="110" y="81"/>
                  </a:cubicBezTo>
                  <a:cubicBezTo>
                    <a:pt x="111" y="80"/>
                    <a:pt x="111" y="78"/>
                    <a:pt x="112" y="76"/>
                  </a:cubicBezTo>
                  <a:cubicBezTo>
                    <a:pt x="113" y="74"/>
                    <a:pt x="112" y="71"/>
                    <a:pt x="110" y="70"/>
                  </a:cubicBezTo>
                  <a:cubicBezTo>
                    <a:pt x="109" y="69"/>
                    <a:pt x="106" y="68"/>
                    <a:pt x="105" y="67"/>
                  </a:cubicBezTo>
                  <a:cubicBezTo>
                    <a:pt x="103" y="66"/>
                    <a:pt x="102" y="63"/>
                    <a:pt x="103" y="60"/>
                  </a:cubicBezTo>
                  <a:cubicBezTo>
                    <a:pt x="104" y="57"/>
                    <a:pt x="104" y="52"/>
                    <a:pt x="104" y="49"/>
                  </a:cubicBezTo>
                  <a:cubicBezTo>
                    <a:pt x="104" y="47"/>
                    <a:pt x="104" y="42"/>
                    <a:pt x="103" y="39"/>
                  </a:cubicBezTo>
                  <a:cubicBezTo>
                    <a:pt x="102" y="36"/>
                    <a:pt x="101" y="32"/>
                    <a:pt x="101" y="30"/>
                  </a:cubicBezTo>
                  <a:cubicBezTo>
                    <a:pt x="101" y="28"/>
                    <a:pt x="98" y="26"/>
                    <a:pt x="96" y="25"/>
                  </a:cubicBezTo>
                  <a:cubicBezTo>
                    <a:pt x="94" y="23"/>
                    <a:pt x="92" y="20"/>
                    <a:pt x="92" y="18"/>
                  </a:cubicBezTo>
                  <a:cubicBezTo>
                    <a:pt x="92" y="15"/>
                    <a:pt x="94" y="11"/>
                    <a:pt x="97" y="9"/>
                  </a:cubicBezTo>
                  <a:cubicBezTo>
                    <a:pt x="99" y="7"/>
                    <a:pt x="101" y="5"/>
                    <a:pt x="101" y="5"/>
                  </a:cubicBezTo>
                  <a:cubicBezTo>
                    <a:pt x="100" y="4"/>
                    <a:pt x="98" y="2"/>
                    <a:pt x="96" y="1"/>
                  </a:cubicBezTo>
                  <a:cubicBezTo>
                    <a:pt x="96" y="1"/>
                    <a:pt x="96" y="0"/>
                    <a:pt x="96" y="0"/>
                  </a:cubicBezTo>
                  <a:cubicBezTo>
                    <a:pt x="96" y="0"/>
                    <a:pt x="94" y="2"/>
                    <a:pt x="92" y="4"/>
                  </a:cubicBezTo>
                  <a:cubicBezTo>
                    <a:pt x="90" y="5"/>
                    <a:pt x="87" y="7"/>
                    <a:pt x="85"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3" name="Freeform 24">
              <a:extLst>
                <a:ext uri="{FF2B5EF4-FFF2-40B4-BE49-F238E27FC236}">
                  <a16:creationId xmlns:a16="http://schemas.microsoft.com/office/drawing/2014/main" id="{0C73C099-EB35-8B08-A3DF-D0F6AA3A6AD0}"/>
                </a:ext>
              </a:extLst>
            </p:cNvPr>
            <p:cNvSpPr>
              <a:spLocks/>
            </p:cNvSpPr>
            <p:nvPr/>
          </p:nvSpPr>
          <p:spPr bwMode="auto">
            <a:xfrm>
              <a:off x="884209" y="2336783"/>
              <a:ext cx="1392238" cy="1563688"/>
            </a:xfrm>
            <a:custGeom>
              <a:avLst/>
              <a:gdLst/>
              <a:ahLst/>
              <a:cxnLst>
                <a:cxn ang="0">
                  <a:pos x="59" y="5"/>
                </a:cxn>
                <a:cxn ang="0">
                  <a:pos x="62" y="18"/>
                </a:cxn>
                <a:cxn ang="0">
                  <a:pos x="74" y="14"/>
                </a:cxn>
                <a:cxn ang="0">
                  <a:pos x="73" y="7"/>
                </a:cxn>
                <a:cxn ang="0">
                  <a:pos x="80" y="24"/>
                </a:cxn>
                <a:cxn ang="0">
                  <a:pos x="79" y="37"/>
                </a:cxn>
                <a:cxn ang="0">
                  <a:pos x="70" y="26"/>
                </a:cxn>
                <a:cxn ang="0">
                  <a:pos x="54" y="19"/>
                </a:cxn>
                <a:cxn ang="0">
                  <a:pos x="41" y="11"/>
                </a:cxn>
                <a:cxn ang="0">
                  <a:pos x="4" y="6"/>
                </a:cxn>
                <a:cxn ang="0">
                  <a:pos x="10" y="21"/>
                </a:cxn>
                <a:cxn ang="0">
                  <a:pos x="28" y="38"/>
                </a:cxn>
                <a:cxn ang="0">
                  <a:pos x="39" y="60"/>
                </a:cxn>
                <a:cxn ang="0">
                  <a:pos x="57" y="66"/>
                </a:cxn>
                <a:cxn ang="0">
                  <a:pos x="72" y="80"/>
                </a:cxn>
                <a:cxn ang="0">
                  <a:pos x="90" y="100"/>
                </a:cxn>
                <a:cxn ang="0">
                  <a:pos x="112" y="98"/>
                </a:cxn>
                <a:cxn ang="0">
                  <a:pos x="125" y="86"/>
                </a:cxn>
                <a:cxn ang="0">
                  <a:pos x="129" y="111"/>
                </a:cxn>
                <a:cxn ang="0">
                  <a:pos x="159" y="140"/>
                </a:cxn>
                <a:cxn ang="0">
                  <a:pos x="181" y="160"/>
                </a:cxn>
                <a:cxn ang="0">
                  <a:pos x="193" y="188"/>
                </a:cxn>
                <a:cxn ang="0">
                  <a:pos x="188" y="229"/>
                </a:cxn>
                <a:cxn ang="0">
                  <a:pos x="187" y="247"/>
                </a:cxn>
                <a:cxn ang="0">
                  <a:pos x="190" y="259"/>
                </a:cxn>
                <a:cxn ang="0">
                  <a:pos x="204" y="274"/>
                </a:cxn>
                <a:cxn ang="0">
                  <a:pos x="219" y="282"/>
                </a:cxn>
                <a:cxn ang="0">
                  <a:pos x="250" y="311"/>
                </a:cxn>
                <a:cxn ang="0">
                  <a:pos x="281" y="344"/>
                </a:cxn>
                <a:cxn ang="0">
                  <a:pos x="312" y="369"/>
                </a:cxn>
                <a:cxn ang="0">
                  <a:pos x="324" y="409"/>
                </a:cxn>
                <a:cxn ang="0">
                  <a:pos x="347" y="407"/>
                </a:cxn>
                <a:cxn ang="0">
                  <a:pos x="371" y="382"/>
                </a:cxn>
                <a:cxn ang="0">
                  <a:pos x="364" y="364"/>
                </a:cxn>
                <a:cxn ang="0">
                  <a:pos x="346" y="336"/>
                </a:cxn>
                <a:cxn ang="0">
                  <a:pos x="336" y="327"/>
                </a:cxn>
                <a:cxn ang="0">
                  <a:pos x="319" y="305"/>
                </a:cxn>
                <a:cxn ang="0">
                  <a:pos x="289" y="305"/>
                </a:cxn>
                <a:cxn ang="0">
                  <a:pos x="281" y="280"/>
                </a:cxn>
                <a:cxn ang="0">
                  <a:pos x="282" y="250"/>
                </a:cxn>
                <a:cxn ang="0">
                  <a:pos x="270" y="225"/>
                </a:cxn>
                <a:cxn ang="0">
                  <a:pos x="263" y="207"/>
                </a:cxn>
                <a:cxn ang="0">
                  <a:pos x="247" y="179"/>
                </a:cxn>
                <a:cxn ang="0">
                  <a:pos x="246" y="151"/>
                </a:cxn>
                <a:cxn ang="0">
                  <a:pos x="242" y="132"/>
                </a:cxn>
                <a:cxn ang="0">
                  <a:pos x="225" y="103"/>
                </a:cxn>
                <a:cxn ang="0">
                  <a:pos x="220" y="114"/>
                </a:cxn>
                <a:cxn ang="0">
                  <a:pos x="216" y="116"/>
                </a:cxn>
                <a:cxn ang="0">
                  <a:pos x="209" y="97"/>
                </a:cxn>
                <a:cxn ang="0">
                  <a:pos x="208" y="80"/>
                </a:cxn>
                <a:cxn ang="0">
                  <a:pos x="191" y="64"/>
                </a:cxn>
                <a:cxn ang="0">
                  <a:pos x="178" y="41"/>
                </a:cxn>
                <a:cxn ang="0">
                  <a:pos x="160" y="18"/>
                </a:cxn>
                <a:cxn ang="0">
                  <a:pos x="78" y="1"/>
                </a:cxn>
              </a:cxnLst>
              <a:rect l="0" t="0" r="r" b="b"/>
              <a:pathLst>
                <a:path w="371" h="416">
                  <a:moveTo>
                    <a:pt x="78" y="1"/>
                  </a:moveTo>
                  <a:cubicBezTo>
                    <a:pt x="67" y="0"/>
                    <a:pt x="59" y="0"/>
                    <a:pt x="59" y="0"/>
                  </a:cubicBezTo>
                  <a:cubicBezTo>
                    <a:pt x="59" y="0"/>
                    <a:pt x="58" y="1"/>
                    <a:pt x="57" y="3"/>
                  </a:cubicBezTo>
                  <a:cubicBezTo>
                    <a:pt x="56" y="5"/>
                    <a:pt x="57" y="6"/>
                    <a:pt x="59" y="5"/>
                  </a:cubicBezTo>
                  <a:cubicBezTo>
                    <a:pt x="61" y="5"/>
                    <a:pt x="63" y="4"/>
                    <a:pt x="64" y="5"/>
                  </a:cubicBezTo>
                  <a:cubicBezTo>
                    <a:pt x="64" y="6"/>
                    <a:pt x="64" y="7"/>
                    <a:pt x="63" y="8"/>
                  </a:cubicBezTo>
                  <a:cubicBezTo>
                    <a:pt x="63" y="9"/>
                    <a:pt x="62" y="11"/>
                    <a:pt x="61" y="12"/>
                  </a:cubicBezTo>
                  <a:cubicBezTo>
                    <a:pt x="60" y="14"/>
                    <a:pt x="61" y="16"/>
                    <a:pt x="62" y="18"/>
                  </a:cubicBezTo>
                  <a:cubicBezTo>
                    <a:pt x="63" y="19"/>
                    <a:pt x="64" y="21"/>
                    <a:pt x="66" y="21"/>
                  </a:cubicBezTo>
                  <a:cubicBezTo>
                    <a:pt x="67" y="21"/>
                    <a:pt x="68" y="21"/>
                    <a:pt x="69" y="20"/>
                  </a:cubicBezTo>
                  <a:cubicBezTo>
                    <a:pt x="69" y="19"/>
                    <a:pt x="70" y="18"/>
                    <a:pt x="71" y="18"/>
                  </a:cubicBezTo>
                  <a:cubicBezTo>
                    <a:pt x="72" y="17"/>
                    <a:pt x="74" y="15"/>
                    <a:pt x="74" y="14"/>
                  </a:cubicBezTo>
                  <a:cubicBezTo>
                    <a:pt x="74" y="12"/>
                    <a:pt x="73" y="11"/>
                    <a:pt x="72" y="11"/>
                  </a:cubicBezTo>
                  <a:cubicBezTo>
                    <a:pt x="70" y="11"/>
                    <a:pt x="69" y="10"/>
                    <a:pt x="68" y="9"/>
                  </a:cubicBezTo>
                  <a:cubicBezTo>
                    <a:pt x="68" y="8"/>
                    <a:pt x="69" y="6"/>
                    <a:pt x="70" y="6"/>
                  </a:cubicBezTo>
                  <a:cubicBezTo>
                    <a:pt x="72" y="6"/>
                    <a:pt x="73" y="6"/>
                    <a:pt x="73" y="7"/>
                  </a:cubicBezTo>
                  <a:cubicBezTo>
                    <a:pt x="74" y="7"/>
                    <a:pt x="75" y="8"/>
                    <a:pt x="75" y="9"/>
                  </a:cubicBezTo>
                  <a:cubicBezTo>
                    <a:pt x="76" y="9"/>
                    <a:pt x="77" y="11"/>
                    <a:pt x="78" y="13"/>
                  </a:cubicBezTo>
                  <a:cubicBezTo>
                    <a:pt x="79" y="14"/>
                    <a:pt x="80" y="17"/>
                    <a:pt x="80" y="19"/>
                  </a:cubicBezTo>
                  <a:cubicBezTo>
                    <a:pt x="80" y="20"/>
                    <a:pt x="80" y="23"/>
                    <a:pt x="80" y="24"/>
                  </a:cubicBezTo>
                  <a:cubicBezTo>
                    <a:pt x="79" y="25"/>
                    <a:pt x="79" y="28"/>
                    <a:pt x="80" y="29"/>
                  </a:cubicBezTo>
                  <a:cubicBezTo>
                    <a:pt x="81" y="30"/>
                    <a:pt x="82" y="32"/>
                    <a:pt x="83" y="33"/>
                  </a:cubicBezTo>
                  <a:cubicBezTo>
                    <a:pt x="84" y="34"/>
                    <a:pt x="83" y="35"/>
                    <a:pt x="83" y="35"/>
                  </a:cubicBezTo>
                  <a:cubicBezTo>
                    <a:pt x="82" y="35"/>
                    <a:pt x="80" y="36"/>
                    <a:pt x="79" y="37"/>
                  </a:cubicBezTo>
                  <a:cubicBezTo>
                    <a:pt x="78" y="38"/>
                    <a:pt x="77" y="39"/>
                    <a:pt x="77" y="38"/>
                  </a:cubicBezTo>
                  <a:cubicBezTo>
                    <a:pt x="76" y="38"/>
                    <a:pt x="76" y="36"/>
                    <a:pt x="76" y="34"/>
                  </a:cubicBezTo>
                  <a:cubicBezTo>
                    <a:pt x="76" y="33"/>
                    <a:pt x="75" y="30"/>
                    <a:pt x="74" y="29"/>
                  </a:cubicBezTo>
                  <a:cubicBezTo>
                    <a:pt x="73" y="28"/>
                    <a:pt x="72" y="27"/>
                    <a:pt x="70" y="26"/>
                  </a:cubicBezTo>
                  <a:cubicBezTo>
                    <a:pt x="69" y="26"/>
                    <a:pt x="67" y="27"/>
                    <a:pt x="66" y="27"/>
                  </a:cubicBezTo>
                  <a:cubicBezTo>
                    <a:pt x="65" y="28"/>
                    <a:pt x="64" y="28"/>
                    <a:pt x="62" y="27"/>
                  </a:cubicBezTo>
                  <a:cubicBezTo>
                    <a:pt x="61" y="26"/>
                    <a:pt x="59" y="24"/>
                    <a:pt x="58" y="23"/>
                  </a:cubicBezTo>
                  <a:cubicBezTo>
                    <a:pt x="57" y="22"/>
                    <a:pt x="55" y="20"/>
                    <a:pt x="54" y="19"/>
                  </a:cubicBezTo>
                  <a:cubicBezTo>
                    <a:pt x="52" y="18"/>
                    <a:pt x="51" y="15"/>
                    <a:pt x="51" y="13"/>
                  </a:cubicBezTo>
                  <a:cubicBezTo>
                    <a:pt x="51" y="11"/>
                    <a:pt x="49" y="10"/>
                    <a:pt x="47" y="10"/>
                  </a:cubicBezTo>
                  <a:cubicBezTo>
                    <a:pt x="47" y="10"/>
                    <a:pt x="47" y="10"/>
                    <a:pt x="44" y="11"/>
                  </a:cubicBezTo>
                  <a:cubicBezTo>
                    <a:pt x="41" y="11"/>
                    <a:pt x="41" y="11"/>
                    <a:pt x="41" y="11"/>
                  </a:cubicBezTo>
                  <a:cubicBezTo>
                    <a:pt x="41" y="12"/>
                    <a:pt x="38" y="13"/>
                    <a:pt x="34" y="13"/>
                  </a:cubicBezTo>
                  <a:cubicBezTo>
                    <a:pt x="30" y="13"/>
                    <a:pt x="25" y="12"/>
                    <a:pt x="23" y="11"/>
                  </a:cubicBezTo>
                  <a:cubicBezTo>
                    <a:pt x="21" y="11"/>
                    <a:pt x="16" y="9"/>
                    <a:pt x="14" y="8"/>
                  </a:cubicBezTo>
                  <a:cubicBezTo>
                    <a:pt x="11" y="7"/>
                    <a:pt x="7" y="6"/>
                    <a:pt x="4" y="6"/>
                  </a:cubicBezTo>
                  <a:cubicBezTo>
                    <a:pt x="1" y="7"/>
                    <a:pt x="0" y="8"/>
                    <a:pt x="0" y="10"/>
                  </a:cubicBezTo>
                  <a:cubicBezTo>
                    <a:pt x="0" y="12"/>
                    <a:pt x="2" y="15"/>
                    <a:pt x="4" y="16"/>
                  </a:cubicBezTo>
                  <a:cubicBezTo>
                    <a:pt x="6" y="17"/>
                    <a:pt x="8" y="19"/>
                    <a:pt x="9" y="19"/>
                  </a:cubicBezTo>
                  <a:cubicBezTo>
                    <a:pt x="10" y="19"/>
                    <a:pt x="11" y="20"/>
                    <a:pt x="10" y="21"/>
                  </a:cubicBezTo>
                  <a:cubicBezTo>
                    <a:pt x="10" y="22"/>
                    <a:pt x="12" y="23"/>
                    <a:pt x="13" y="24"/>
                  </a:cubicBezTo>
                  <a:cubicBezTo>
                    <a:pt x="15" y="24"/>
                    <a:pt x="17" y="26"/>
                    <a:pt x="17" y="28"/>
                  </a:cubicBezTo>
                  <a:cubicBezTo>
                    <a:pt x="17" y="29"/>
                    <a:pt x="19" y="31"/>
                    <a:pt x="20" y="32"/>
                  </a:cubicBezTo>
                  <a:cubicBezTo>
                    <a:pt x="22" y="33"/>
                    <a:pt x="26" y="36"/>
                    <a:pt x="28" y="38"/>
                  </a:cubicBezTo>
                  <a:cubicBezTo>
                    <a:pt x="31" y="40"/>
                    <a:pt x="34" y="43"/>
                    <a:pt x="35" y="45"/>
                  </a:cubicBezTo>
                  <a:cubicBezTo>
                    <a:pt x="35" y="48"/>
                    <a:pt x="36" y="51"/>
                    <a:pt x="35" y="52"/>
                  </a:cubicBezTo>
                  <a:cubicBezTo>
                    <a:pt x="34" y="54"/>
                    <a:pt x="35" y="56"/>
                    <a:pt x="36" y="57"/>
                  </a:cubicBezTo>
                  <a:cubicBezTo>
                    <a:pt x="37" y="58"/>
                    <a:pt x="39" y="59"/>
                    <a:pt x="39" y="60"/>
                  </a:cubicBezTo>
                  <a:cubicBezTo>
                    <a:pt x="40" y="60"/>
                    <a:pt x="42" y="61"/>
                    <a:pt x="44" y="62"/>
                  </a:cubicBezTo>
                  <a:cubicBezTo>
                    <a:pt x="45" y="63"/>
                    <a:pt x="48" y="64"/>
                    <a:pt x="50" y="64"/>
                  </a:cubicBezTo>
                  <a:cubicBezTo>
                    <a:pt x="51" y="63"/>
                    <a:pt x="53" y="64"/>
                    <a:pt x="54" y="64"/>
                  </a:cubicBezTo>
                  <a:cubicBezTo>
                    <a:pt x="55" y="65"/>
                    <a:pt x="56" y="65"/>
                    <a:pt x="57" y="66"/>
                  </a:cubicBezTo>
                  <a:cubicBezTo>
                    <a:pt x="58" y="66"/>
                    <a:pt x="59" y="67"/>
                    <a:pt x="60" y="68"/>
                  </a:cubicBezTo>
                  <a:cubicBezTo>
                    <a:pt x="61" y="69"/>
                    <a:pt x="62" y="72"/>
                    <a:pt x="63" y="74"/>
                  </a:cubicBezTo>
                  <a:cubicBezTo>
                    <a:pt x="64" y="76"/>
                    <a:pt x="67" y="78"/>
                    <a:pt x="68" y="78"/>
                  </a:cubicBezTo>
                  <a:cubicBezTo>
                    <a:pt x="69" y="79"/>
                    <a:pt x="71" y="80"/>
                    <a:pt x="72" y="80"/>
                  </a:cubicBezTo>
                  <a:cubicBezTo>
                    <a:pt x="73" y="80"/>
                    <a:pt x="76" y="82"/>
                    <a:pt x="78" y="84"/>
                  </a:cubicBezTo>
                  <a:cubicBezTo>
                    <a:pt x="80" y="85"/>
                    <a:pt x="82" y="88"/>
                    <a:pt x="82" y="90"/>
                  </a:cubicBezTo>
                  <a:cubicBezTo>
                    <a:pt x="82" y="92"/>
                    <a:pt x="84" y="94"/>
                    <a:pt x="85" y="95"/>
                  </a:cubicBezTo>
                  <a:cubicBezTo>
                    <a:pt x="86" y="96"/>
                    <a:pt x="89" y="98"/>
                    <a:pt x="90" y="100"/>
                  </a:cubicBezTo>
                  <a:cubicBezTo>
                    <a:pt x="92" y="101"/>
                    <a:pt x="94" y="102"/>
                    <a:pt x="95" y="102"/>
                  </a:cubicBezTo>
                  <a:cubicBezTo>
                    <a:pt x="96" y="101"/>
                    <a:pt x="98" y="100"/>
                    <a:pt x="99" y="98"/>
                  </a:cubicBezTo>
                  <a:cubicBezTo>
                    <a:pt x="100" y="97"/>
                    <a:pt x="102" y="96"/>
                    <a:pt x="104" y="96"/>
                  </a:cubicBezTo>
                  <a:cubicBezTo>
                    <a:pt x="106" y="96"/>
                    <a:pt x="110" y="97"/>
                    <a:pt x="112" y="98"/>
                  </a:cubicBezTo>
                  <a:cubicBezTo>
                    <a:pt x="114" y="99"/>
                    <a:pt x="116" y="99"/>
                    <a:pt x="117" y="97"/>
                  </a:cubicBezTo>
                  <a:cubicBezTo>
                    <a:pt x="118" y="96"/>
                    <a:pt x="119" y="94"/>
                    <a:pt x="119" y="93"/>
                  </a:cubicBezTo>
                  <a:cubicBezTo>
                    <a:pt x="120" y="93"/>
                    <a:pt x="122" y="90"/>
                    <a:pt x="123" y="88"/>
                  </a:cubicBezTo>
                  <a:cubicBezTo>
                    <a:pt x="124" y="85"/>
                    <a:pt x="125" y="84"/>
                    <a:pt x="125" y="86"/>
                  </a:cubicBezTo>
                  <a:cubicBezTo>
                    <a:pt x="126" y="87"/>
                    <a:pt x="126" y="89"/>
                    <a:pt x="126" y="90"/>
                  </a:cubicBezTo>
                  <a:cubicBezTo>
                    <a:pt x="125" y="92"/>
                    <a:pt x="124" y="94"/>
                    <a:pt x="123" y="96"/>
                  </a:cubicBezTo>
                  <a:cubicBezTo>
                    <a:pt x="122" y="97"/>
                    <a:pt x="123" y="101"/>
                    <a:pt x="125" y="103"/>
                  </a:cubicBezTo>
                  <a:cubicBezTo>
                    <a:pt x="128" y="105"/>
                    <a:pt x="129" y="109"/>
                    <a:pt x="129" y="111"/>
                  </a:cubicBezTo>
                  <a:cubicBezTo>
                    <a:pt x="129" y="112"/>
                    <a:pt x="131" y="115"/>
                    <a:pt x="132" y="117"/>
                  </a:cubicBezTo>
                  <a:cubicBezTo>
                    <a:pt x="134" y="118"/>
                    <a:pt x="137" y="121"/>
                    <a:pt x="139" y="123"/>
                  </a:cubicBezTo>
                  <a:cubicBezTo>
                    <a:pt x="142" y="126"/>
                    <a:pt x="145" y="129"/>
                    <a:pt x="148" y="132"/>
                  </a:cubicBezTo>
                  <a:cubicBezTo>
                    <a:pt x="151" y="134"/>
                    <a:pt x="156" y="138"/>
                    <a:pt x="159" y="140"/>
                  </a:cubicBezTo>
                  <a:cubicBezTo>
                    <a:pt x="163" y="143"/>
                    <a:pt x="167" y="145"/>
                    <a:pt x="169" y="145"/>
                  </a:cubicBezTo>
                  <a:cubicBezTo>
                    <a:pt x="170" y="145"/>
                    <a:pt x="173" y="146"/>
                    <a:pt x="175" y="148"/>
                  </a:cubicBezTo>
                  <a:cubicBezTo>
                    <a:pt x="177" y="150"/>
                    <a:pt x="180" y="155"/>
                    <a:pt x="181" y="158"/>
                  </a:cubicBezTo>
                  <a:cubicBezTo>
                    <a:pt x="181" y="158"/>
                    <a:pt x="181" y="158"/>
                    <a:pt x="181" y="160"/>
                  </a:cubicBezTo>
                  <a:cubicBezTo>
                    <a:pt x="182" y="162"/>
                    <a:pt x="182" y="162"/>
                    <a:pt x="182" y="162"/>
                  </a:cubicBezTo>
                  <a:cubicBezTo>
                    <a:pt x="185" y="163"/>
                    <a:pt x="188" y="166"/>
                    <a:pt x="188" y="168"/>
                  </a:cubicBezTo>
                  <a:cubicBezTo>
                    <a:pt x="189" y="170"/>
                    <a:pt x="190" y="174"/>
                    <a:pt x="191" y="177"/>
                  </a:cubicBezTo>
                  <a:cubicBezTo>
                    <a:pt x="192" y="180"/>
                    <a:pt x="193" y="185"/>
                    <a:pt x="193" y="188"/>
                  </a:cubicBezTo>
                  <a:cubicBezTo>
                    <a:pt x="194" y="190"/>
                    <a:pt x="194" y="195"/>
                    <a:pt x="193" y="197"/>
                  </a:cubicBezTo>
                  <a:cubicBezTo>
                    <a:pt x="193" y="199"/>
                    <a:pt x="193" y="204"/>
                    <a:pt x="193" y="207"/>
                  </a:cubicBezTo>
                  <a:cubicBezTo>
                    <a:pt x="193" y="210"/>
                    <a:pt x="192" y="214"/>
                    <a:pt x="192" y="217"/>
                  </a:cubicBezTo>
                  <a:cubicBezTo>
                    <a:pt x="191" y="220"/>
                    <a:pt x="189" y="225"/>
                    <a:pt x="188" y="229"/>
                  </a:cubicBezTo>
                  <a:cubicBezTo>
                    <a:pt x="187" y="232"/>
                    <a:pt x="186" y="235"/>
                    <a:pt x="186" y="236"/>
                  </a:cubicBezTo>
                  <a:cubicBezTo>
                    <a:pt x="186" y="237"/>
                    <a:pt x="186" y="239"/>
                    <a:pt x="186" y="241"/>
                  </a:cubicBezTo>
                  <a:cubicBezTo>
                    <a:pt x="185" y="242"/>
                    <a:pt x="185" y="244"/>
                    <a:pt x="186" y="244"/>
                  </a:cubicBezTo>
                  <a:cubicBezTo>
                    <a:pt x="187" y="244"/>
                    <a:pt x="188" y="245"/>
                    <a:pt x="187" y="247"/>
                  </a:cubicBezTo>
                  <a:cubicBezTo>
                    <a:pt x="187" y="249"/>
                    <a:pt x="187" y="252"/>
                    <a:pt x="186" y="253"/>
                  </a:cubicBezTo>
                  <a:cubicBezTo>
                    <a:pt x="186" y="255"/>
                    <a:pt x="186" y="257"/>
                    <a:pt x="186" y="258"/>
                  </a:cubicBezTo>
                  <a:cubicBezTo>
                    <a:pt x="185" y="259"/>
                    <a:pt x="186" y="259"/>
                    <a:pt x="187" y="260"/>
                  </a:cubicBezTo>
                  <a:cubicBezTo>
                    <a:pt x="188" y="260"/>
                    <a:pt x="189" y="260"/>
                    <a:pt x="190" y="259"/>
                  </a:cubicBezTo>
                  <a:cubicBezTo>
                    <a:pt x="190" y="259"/>
                    <a:pt x="191" y="259"/>
                    <a:pt x="192" y="260"/>
                  </a:cubicBezTo>
                  <a:cubicBezTo>
                    <a:pt x="193" y="261"/>
                    <a:pt x="194" y="262"/>
                    <a:pt x="195" y="262"/>
                  </a:cubicBezTo>
                  <a:cubicBezTo>
                    <a:pt x="195" y="261"/>
                    <a:pt x="197" y="263"/>
                    <a:pt x="198" y="265"/>
                  </a:cubicBezTo>
                  <a:cubicBezTo>
                    <a:pt x="200" y="267"/>
                    <a:pt x="202" y="271"/>
                    <a:pt x="204" y="274"/>
                  </a:cubicBezTo>
                  <a:cubicBezTo>
                    <a:pt x="205" y="276"/>
                    <a:pt x="208" y="279"/>
                    <a:pt x="209" y="279"/>
                  </a:cubicBezTo>
                  <a:cubicBezTo>
                    <a:pt x="211" y="280"/>
                    <a:pt x="212" y="279"/>
                    <a:pt x="213" y="278"/>
                  </a:cubicBezTo>
                  <a:cubicBezTo>
                    <a:pt x="214" y="277"/>
                    <a:pt x="215" y="277"/>
                    <a:pt x="216" y="277"/>
                  </a:cubicBezTo>
                  <a:cubicBezTo>
                    <a:pt x="218" y="278"/>
                    <a:pt x="219" y="280"/>
                    <a:pt x="219" y="282"/>
                  </a:cubicBezTo>
                  <a:cubicBezTo>
                    <a:pt x="219" y="284"/>
                    <a:pt x="220" y="287"/>
                    <a:pt x="221" y="288"/>
                  </a:cubicBezTo>
                  <a:cubicBezTo>
                    <a:pt x="223" y="289"/>
                    <a:pt x="226" y="291"/>
                    <a:pt x="228" y="294"/>
                  </a:cubicBezTo>
                  <a:cubicBezTo>
                    <a:pt x="230" y="297"/>
                    <a:pt x="234" y="301"/>
                    <a:pt x="238" y="303"/>
                  </a:cubicBezTo>
                  <a:cubicBezTo>
                    <a:pt x="242" y="306"/>
                    <a:pt x="247" y="309"/>
                    <a:pt x="250" y="311"/>
                  </a:cubicBezTo>
                  <a:cubicBezTo>
                    <a:pt x="253" y="313"/>
                    <a:pt x="257" y="316"/>
                    <a:pt x="259" y="318"/>
                  </a:cubicBezTo>
                  <a:cubicBezTo>
                    <a:pt x="261" y="320"/>
                    <a:pt x="264" y="323"/>
                    <a:pt x="266" y="326"/>
                  </a:cubicBezTo>
                  <a:cubicBezTo>
                    <a:pt x="267" y="329"/>
                    <a:pt x="271" y="332"/>
                    <a:pt x="273" y="334"/>
                  </a:cubicBezTo>
                  <a:cubicBezTo>
                    <a:pt x="275" y="336"/>
                    <a:pt x="279" y="341"/>
                    <a:pt x="281" y="344"/>
                  </a:cubicBezTo>
                  <a:cubicBezTo>
                    <a:pt x="284" y="347"/>
                    <a:pt x="287" y="351"/>
                    <a:pt x="288" y="352"/>
                  </a:cubicBezTo>
                  <a:cubicBezTo>
                    <a:pt x="290" y="353"/>
                    <a:pt x="294" y="354"/>
                    <a:pt x="296" y="355"/>
                  </a:cubicBezTo>
                  <a:cubicBezTo>
                    <a:pt x="299" y="356"/>
                    <a:pt x="303" y="359"/>
                    <a:pt x="305" y="360"/>
                  </a:cubicBezTo>
                  <a:cubicBezTo>
                    <a:pt x="307" y="362"/>
                    <a:pt x="310" y="366"/>
                    <a:pt x="312" y="369"/>
                  </a:cubicBezTo>
                  <a:cubicBezTo>
                    <a:pt x="313" y="373"/>
                    <a:pt x="316" y="377"/>
                    <a:pt x="317" y="380"/>
                  </a:cubicBezTo>
                  <a:cubicBezTo>
                    <a:pt x="318" y="383"/>
                    <a:pt x="319" y="387"/>
                    <a:pt x="319" y="389"/>
                  </a:cubicBezTo>
                  <a:cubicBezTo>
                    <a:pt x="319" y="391"/>
                    <a:pt x="319" y="396"/>
                    <a:pt x="320" y="399"/>
                  </a:cubicBezTo>
                  <a:cubicBezTo>
                    <a:pt x="321" y="402"/>
                    <a:pt x="323" y="407"/>
                    <a:pt x="324" y="409"/>
                  </a:cubicBezTo>
                  <a:cubicBezTo>
                    <a:pt x="325" y="411"/>
                    <a:pt x="328" y="414"/>
                    <a:pt x="329" y="415"/>
                  </a:cubicBezTo>
                  <a:cubicBezTo>
                    <a:pt x="330" y="416"/>
                    <a:pt x="334" y="416"/>
                    <a:pt x="336" y="416"/>
                  </a:cubicBezTo>
                  <a:cubicBezTo>
                    <a:pt x="339" y="416"/>
                    <a:pt x="342" y="414"/>
                    <a:pt x="343" y="412"/>
                  </a:cubicBezTo>
                  <a:cubicBezTo>
                    <a:pt x="343" y="411"/>
                    <a:pt x="346" y="408"/>
                    <a:pt x="347" y="407"/>
                  </a:cubicBezTo>
                  <a:cubicBezTo>
                    <a:pt x="349" y="406"/>
                    <a:pt x="354" y="405"/>
                    <a:pt x="357" y="404"/>
                  </a:cubicBezTo>
                  <a:cubicBezTo>
                    <a:pt x="360" y="403"/>
                    <a:pt x="365" y="400"/>
                    <a:pt x="366" y="398"/>
                  </a:cubicBezTo>
                  <a:cubicBezTo>
                    <a:pt x="367" y="395"/>
                    <a:pt x="369" y="392"/>
                    <a:pt x="370" y="390"/>
                  </a:cubicBezTo>
                  <a:cubicBezTo>
                    <a:pt x="371" y="388"/>
                    <a:pt x="371" y="384"/>
                    <a:pt x="371" y="382"/>
                  </a:cubicBezTo>
                  <a:cubicBezTo>
                    <a:pt x="371" y="380"/>
                    <a:pt x="371" y="377"/>
                    <a:pt x="370" y="376"/>
                  </a:cubicBezTo>
                  <a:cubicBezTo>
                    <a:pt x="370" y="375"/>
                    <a:pt x="369" y="373"/>
                    <a:pt x="369" y="372"/>
                  </a:cubicBezTo>
                  <a:cubicBezTo>
                    <a:pt x="368" y="371"/>
                    <a:pt x="367" y="369"/>
                    <a:pt x="368" y="368"/>
                  </a:cubicBezTo>
                  <a:cubicBezTo>
                    <a:pt x="368" y="367"/>
                    <a:pt x="366" y="365"/>
                    <a:pt x="364" y="364"/>
                  </a:cubicBezTo>
                  <a:cubicBezTo>
                    <a:pt x="362" y="362"/>
                    <a:pt x="359" y="360"/>
                    <a:pt x="357" y="359"/>
                  </a:cubicBezTo>
                  <a:cubicBezTo>
                    <a:pt x="355" y="358"/>
                    <a:pt x="353" y="355"/>
                    <a:pt x="353" y="352"/>
                  </a:cubicBezTo>
                  <a:cubicBezTo>
                    <a:pt x="353" y="349"/>
                    <a:pt x="352" y="344"/>
                    <a:pt x="350" y="343"/>
                  </a:cubicBezTo>
                  <a:cubicBezTo>
                    <a:pt x="348" y="341"/>
                    <a:pt x="346" y="338"/>
                    <a:pt x="346" y="336"/>
                  </a:cubicBezTo>
                  <a:cubicBezTo>
                    <a:pt x="347" y="334"/>
                    <a:pt x="347" y="331"/>
                    <a:pt x="347" y="331"/>
                  </a:cubicBezTo>
                  <a:cubicBezTo>
                    <a:pt x="347" y="330"/>
                    <a:pt x="346" y="329"/>
                    <a:pt x="345" y="329"/>
                  </a:cubicBezTo>
                  <a:cubicBezTo>
                    <a:pt x="345" y="328"/>
                    <a:pt x="343" y="328"/>
                    <a:pt x="341" y="328"/>
                  </a:cubicBezTo>
                  <a:cubicBezTo>
                    <a:pt x="339" y="328"/>
                    <a:pt x="337" y="327"/>
                    <a:pt x="336" y="327"/>
                  </a:cubicBezTo>
                  <a:cubicBezTo>
                    <a:pt x="334" y="326"/>
                    <a:pt x="333" y="323"/>
                    <a:pt x="333" y="321"/>
                  </a:cubicBezTo>
                  <a:cubicBezTo>
                    <a:pt x="333" y="319"/>
                    <a:pt x="332" y="316"/>
                    <a:pt x="330" y="315"/>
                  </a:cubicBezTo>
                  <a:cubicBezTo>
                    <a:pt x="329" y="315"/>
                    <a:pt x="326" y="313"/>
                    <a:pt x="324" y="311"/>
                  </a:cubicBezTo>
                  <a:cubicBezTo>
                    <a:pt x="322" y="309"/>
                    <a:pt x="319" y="307"/>
                    <a:pt x="319" y="305"/>
                  </a:cubicBezTo>
                  <a:cubicBezTo>
                    <a:pt x="318" y="303"/>
                    <a:pt x="316" y="303"/>
                    <a:pt x="314" y="304"/>
                  </a:cubicBezTo>
                  <a:cubicBezTo>
                    <a:pt x="312" y="305"/>
                    <a:pt x="310" y="307"/>
                    <a:pt x="310" y="309"/>
                  </a:cubicBezTo>
                  <a:cubicBezTo>
                    <a:pt x="310" y="312"/>
                    <a:pt x="306" y="313"/>
                    <a:pt x="302" y="312"/>
                  </a:cubicBezTo>
                  <a:cubicBezTo>
                    <a:pt x="298" y="312"/>
                    <a:pt x="292" y="308"/>
                    <a:pt x="289" y="305"/>
                  </a:cubicBezTo>
                  <a:cubicBezTo>
                    <a:pt x="286" y="302"/>
                    <a:pt x="283" y="298"/>
                    <a:pt x="284" y="296"/>
                  </a:cubicBezTo>
                  <a:cubicBezTo>
                    <a:pt x="284" y="295"/>
                    <a:pt x="285" y="293"/>
                    <a:pt x="285" y="291"/>
                  </a:cubicBezTo>
                  <a:cubicBezTo>
                    <a:pt x="285" y="290"/>
                    <a:pt x="284" y="288"/>
                    <a:pt x="283" y="287"/>
                  </a:cubicBezTo>
                  <a:cubicBezTo>
                    <a:pt x="282" y="286"/>
                    <a:pt x="281" y="283"/>
                    <a:pt x="281" y="280"/>
                  </a:cubicBezTo>
                  <a:cubicBezTo>
                    <a:pt x="281" y="278"/>
                    <a:pt x="282" y="275"/>
                    <a:pt x="283" y="273"/>
                  </a:cubicBezTo>
                  <a:cubicBezTo>
                    <a:pt x="284" y="271"/>
                    <a:pt x="286" y="269"/>
                    <a:pt x="287" y="268"/>
                  </a:cubicBezTo>
                  <a:cubicBezTo>
                    <a:pt x="287" y="267"/>
                    <a:pt x="287" y="263"/>
                    <a:pt x="286" y="260"/>
                  </a:cubicBezTo>
                  <a:cubicBezTo>
                    <a:pt x="284" y="257"/>
                    <a:pt x="283" y="252"/>
                    <a:pt x="282" y="250"/>
                  </a:cubicBezTo>
                  <a:cubicBezTo>
                    <a:pt x="281" y="248"/>
                    <a:pt x="279" y="246"/>
                    <a:pt x="278" y="245"/>
                  </a:cubicBezTo>
                  <a:cubicBezTo>
                    <a:pt x="276" y="244"/>
                    <a:pt x="274" y="242"/>
                    <a:pt x="274" y="240"/>
                  </a:cubicBezTo>
                  <a:cubicBezTo>
                    <a:pt x="274" y="238"/>
                    <a:pt x="272" y="234"/>
                    <a:pt x="271" y="232"/>
                  </a:cubicBezTo>
                  <a:cubicBezTo>
                    <a:pt x="270" y="229"/>
                    <a:pt x="270" y="226"/>
                    <a:pt x="270" y="225"/>
                  </a:cubicBezTo>
                  <a:cubicBezTo>
                    <a:pt x="270" y="224"/>
                    <a:pt x="270" y="222"/>
                    <a:pt x="270" y="220"/>
                  </a:cubicBezTo>
                  <a:cubicBezTo>
                    <a:pt x="269" y="218"/>
                    <a:pt x="269" y="214"/>
                    <a:pt x="269" y="212"/>
                  </a:cubicBezTo>
                  <a:cubicBezTo>
                    <a:pt x="269" y="210"/>
                    <a:pt x="268" y="208"/>
                    <a:pt x="267" y="208"/>
                  </a:cubicBezTo>
                  <a:cubicBezTo>
                    <a:pt x="266" y="207"/>
                    <a:pt x="264" y="207"/>
                    <a:pt x="263" y="207"/>
                  </a:cubicBezTo>
                  <a:cubicBezTo>
                    <a:pt x="262" y="207"/>
                    <a:pt x="260" y="204"/>
                    <a:pt x="259" y="201"/>
                  </a:cubicBezTo>
                  <a:cubicBezTo>
                    <a:pt x="258" y="198"/>
                    <a:pt x="256" y="195"/>
                    <a:pt x="254" y="193"/>
                  </a:cubicBezTo>
                  <a:cubicBezTo>
                    <a:pt x="253" y="191"/>
                    <a:pt x="250" y="188"/>
                    <a:pt x="249" y="186"/>
                  </a:cubicBezTo>
                  <a:cubicBezTo>
                    <a:pt x="248" y="184"/>
                    <a:pt x="247" y="181"/>
                    <a:pt x="247" y="179"/>
                  </a:cubicBezTo>
                  <a:cubicBezTo>
                    <a:pt x="247" y="177"/>
                    <a:pt x="247" y="174"/>
                    <a:pt x="247" y="172"/>
                  </a:cubicBezTo>
                  <a:cubicBezTo>
                    <a:pt x="247" y="169"/>
                    <a:pt x="247" y="166"/>
                    <a:pt x="248" y="165"/>
                  </a:cubicBezTo>
                  <a:cubicBezTo>
                    <a:pt x="248" y="163"/>
                    <a:pt x="248" y="161"/>
                    <a:pt x="247" y="159"/>
                  </a:cubicBezTo>
                  <a:cubicBezTo>
                    <a:pt x="247" y="157"/>
                    <a:pt x="246" y="154"/>
                    <a:pt x="246" y="151"/>
                  </a:cubicBezTo>
                  <a:cubicBezTo>
                    <a:pt x="245" y="149"/>
                    <a:pt x="245" y="146"/>
                    <a:pt x="245" y="145"/>
                  </a:cubicBezTo>
                  <a:cubicBezTo>
                    <a:pt x="245" y="145"/>
                    <a:pt x="245" y="143"/>
                    <a:pt x="245" y="141"/>
                  </a:cubicBezTo>
                  <a:cubicBezTo>
                    <a:pt x="244" y="139"/>
                    <a:pt x="243" y="137"/>
                    <a:pt x="243" y="136"/>
                  </a:cubicBezTo>
                  <a:cubicBezTo>
                    <a:pt x="242" y="135"/>
                    <a:pt x="241" y="133"/>
                    <a:pt x="242" y="132"/>
                  </a:cubicBezTo>
                  <a:cubicBezTo>
                    <a:pt x="242" y="130"/>
                    <a:pt x="241" y="128"/>
                    <a:pt x="239" y="127"/>
                  </a:cubicBezTo>
                  <a:cubicBezTo>
                    <a:pt x="237" y="125"/>
                    <a:pt x="236" y="121"/>
                    <a:pt x="235" y="118"/>
                  </a:cubicBezTo>
                  <a:cubicBezTo>
                    <a:pt x="235" y="115"/>
                    <a:pt x="233" y="111"/>
                    <a:pt x="231" y="110"/>
                  </a:cubicBezTo>
                  <a:cubicBezTo>
                    <a:pt x="230" y="109"/>
                    <a:pt x="227" y="106"/>
                    <a:pt x="225" y="103"/>
                  </a:cubicBezTo>
                  <a:cubicBezTo>
                    <a:pt x="223" y="101"/>
                    <a:pt x="221" y="98"/>
                    <a:pt x="220" y="98"/>
                  </a:cubicBezTo>
                  <a:cubicBezTo>
                    <a:pt x="218" y="97"/>
                    <a:pt x="217" y="97"/>
                    <a:pt x="217" y="98"/>
                  </a:cubicBezTo>
                  <a:cubicBezTo>
                    <a:pt x="216" y="99"/>
                    <a:pt x="216" y="103"/>
                    <a:pt x="217" y="106"/>
                  </a:cubicBezTo>
                  <a:cubicBezTo>
                    <a:pt x="217" y="109"/>
                    <a:pt x="218" y="113"/>
                    <a:pt x="220" y="114"/>
                  </a:cubicBezTo>
                  <a:cubicBezTo>
                    <a:pt x="221" y="115"/>
                    <a:pt x="222" y="118"/>
                    <a:pt x="223" y="119"/>
                  </a:cubicBezTo>
                  <a:cubicBezTo>
                    <a:pt x="224" y="121"/>
                    <a:pt x="223" y="122"/>
                    <a:pt x="222" y="123"/>
                  </a:cubicBezTo>
                  <a:cubicBezTo>
                    <a:pt x="220" y="123"/>
                    <a:pt x="219" y="122"/>
                    <a:pt x="218" y="121"/>
                  </a:cubicBezTo>
                  <a:cubicBezTo>
                    <a:pt x="218" y="120"/>
                    <a:pt x="217" y="117"/>
                    <a:pt x="216" y="116"/>
                  </a:cubicBezTo>
                  <a:cubicBezTo>
                    <a:pt x="215" y="115"/>
                    <a:pt x="213" y="112"/>
                    <a:pt x="212" y="111"/>
                  </a:cubicBezTo>
                  <a:cubicBezTo>
                    <a:pt x="211" y="109"/>
                    <a:pt x="210" y="107"/>
                    <a:pt x="211" y="106"/>
                  </a:cubicBezTo>
                  <a:cubicBezTo>
                    <a:pt x="211" y="105"/>
                    <a:pt x="211" y="103"/>
                    <a:pt x="211" y="101"/>
                  </a:cubicBezTo>
                  <a:cubicBezTo>
                    <a:pt x="211" y="100"/>
                    <a:pt x="210" y="98"/>
                    <a:pt x="209" y="97"/>
                  </a:cubicBezTo>
                  <a:cubicBezTo>
                    <a:pt x="208" y="96"/>
                    <a:pt x="207" y="93"/>
                    <a:pt x="207" y="92"/>
                  </a:cubicBezTo>
                  <a:cubicBezTo>
                    <a:pt x="207" y="91"/>
                    <a:pt x="207" y="88"/>
                    <a:pt x="207" y="87"/>
                  </a:cubicBezTo>
                  <a:cubicBezTo>
                    <a:pt x="207" y="85"/>
                    <a:pt x="208" y="84"/>
                    <a:pt x="209" y="83"/>
                  </a:cubicBezTo>
                  <a:cubicBezTo>
                    <a:pt x="210" y="82"/>
                    <a:pt x="210" y="81"/>
                    <a:pt x="208" y="80"/>
                  </a:cubicBezTo>
                  <a:cubicBezTo>
                    <a:pt x="206" y="79"/>
                    <a:pt x="203" y="77"/>
                    <a:pt x="202" y="77"/>
                  </a:cubicBezTo>
                  <a:cubicBezTo>
                    <a:pt x="200" y="76"/>
                    <a:pt x="198" y="75"/>
                    <a:pt x="196" y="74"/>
                  </a:cubicBezTo>
                  <a:cubicBezTo>
                    <a:pt x="195" y="73"/>
                    <a:pt x="194" y="71"/>
                    <a:pt x="194" y="69"/>
                  </a:cubicBezTo>
                  <a:cubicBezTo>
                    <a:pt x="194" y="67"/>
                    <a:pt x="193" y="65"/>
                    <a:pt x="191" y="64"/>
                  </a:cubicBezTo>
                  <a:cubicBezTo>
                    <a:pt x="190" y="62"/>
                    <a:pt x="188" y="60"/>
                    <a:pt x="188" y="59"/>
                  </a:cubicBezTo>
                  <a:cubicBezTo>
                    <a:pt x="188" y="57"/>
                    <a:pt x="188" y="54"/>
                    <a:pt x="188" y="52"/>
                  </a:cubicBezTo>
                  <a:cubicBezTo>
                    <a:pt x="188" y="49"/>
                    <a:pt x="187" y="47"/>
                    <a:pt x="186" y="46"/>
                  </a:cubicBezTo>
                  <a:cubicBezTo>
                    <a:pt x="184" y="45"/>
                    <a:pt x="181" y="42"/>
                    <a:pt x="178" y="41"/>
                  </a:cubicBezTo>
                  <a:cubicBezTo>
                    <a:pt x="175" y="39"/>
                    <a:pt x="172" y="36"/>
                    <a:pt x="170" y="34"/>
                  </a:cubicBezTo>
                  <a:cubicBezTo>
                    <a:pt x="168" y="32"/>
                    <a:pt x="166" y="29"/>
                    <a:pt x="165" y="28"/>
                  </a:cubicBezTo>
                  <a:cubicBezTo>
                    <a:pt x="164" y="26"/>
                    <a:pt x="163" y="24"/>
                    <a:pt x="162" y="23"/>
                  </a:cubicBezTo>
                  <a:cubicBezTo>
                    <a:pt x="162" y="21"/>
                    <a:pt x="161" y="19"/>
                    <a:pt x="160" y="18"/>
                  </a:cubicBezTo>
                  <a:cubicBezTo>
                    <a:pt x="159" y="17"/>
                    <a:pt x="159" y="14"/>
                    <a:pt x="160" y="12"/>
                  </a:cubicBezTo>
                  <a:cubicBezTo>
                    <a:pt x="160" y="10"/>
                    <a:pt x="161" y="8"/>
                    <a:pt x="161" y="8"/>
                  </a:cubicBezTo>
                  <a:cubicBezTo>
                    <a:pt x="161" y="8"/>
                    <a:pt x="146" y="7"/>
                    <a:pt x="129" y="5"/>
                  </a:cubicBezTo>
                  <a:cubicBezTo>
                    <a:pt x="111" y="3"/>
                    <a:pt x="88" y="2"/>
                    <a:pt x="78"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5" name="Freeform 26">
              <a:extLst>
                <a:ext uri="{FF2B5EF4-FFF2-40B4-BE49-F238E27FC236}">
                  <a16:creationId xmlns:a16="http://schemas.microsoft.com/office/drawing/2014/main" id="{FDC23AD0-32F2-A9F4-2EC3-97688F5B943D}"/>
                </a:ext>
              </a:extLst>
            </p:cNvPr>
            <p:cNvSpPr>
              <a:spLocks/>
            </p:cNvSpPr>
            <p:nvPr/>
          </p:nvSpPr>
          <p:spPr bwMode="auto">
            <a:xfrm>
              <a:off x="2314547" y="2720958"/>
              <a:ext cx="1058863" cy="1370013"/>
            </a:xfrm>
            <a:custGeom>
              <a:avLst/>
              <a:gdLst/>
              <a:ahLst/>
              <a:cxnLst>
                <a:cxn ang="0">
                  <a:pos x="275" y="362"/>
                </a:cxn>
                <a:cxn ang="0">
                  <a:pos x="272" y="334"/>
                </a:cxn>
                <a:cxn ang="0">
                  <a:pos x="282" y="315"/>
                </a:cxn>
                <a:cxn ang="0">
                  <a:pos x="264" y="304"/>
                </a:cxn>
                <a:cxn ang="0">
                  <a:pos x="252" y="275"/>
                </a:cxn>
                <a:cxn ang="0">
                  <a:pos x="245" y="238"/>
                </a:cxn>
                <a:cxn ang="0">
                  <a:pos x="229" y="216"/>
                </a:cxn>
                <a:cxn ang="0">
                  <a:pos x="214" y="218"/>
                </a:cxn>
                <a:cxn ang="0">
                  <a:pos x="195" y="208"/>
                </a:cxn>
                <a:cxn ang="0">
                  <a:pos x="184" y="185"/>
                </a:cxn>
                <a:cxn ang="0">
                  <a:pos x="169" y="171"/>
                </a:cxn>
                <a:cxn ang="0">
                  <a:pos x="164" y="137"/>
                </a:cxn>
                <a:cxn ang="0">
                  <a:pos x="171" y="113"/>
                </a:cxn>
                <a:cxn ang="0">
                  <a:pos x="154" y="92"/>
                </a:cxn>
                <a:cxn ang="0">
                  <a:pos x="146" y="76"/>
                </a:cxn>
                <a:cxn ang="0">
                  <a:pos x="118" y="63"/>
                </a:cxn>
                <a:cxn ang="0">
                  <a:pos x="107" y="18"/>
                </a:cxn>
                <a:cxn ang="0">
                  <a:pos x="86" y="0"/>
                </a:cxn>
                <a:cxn ang="0">
                  <a:pos x="72" y="11"/>
                </a:cxn>
                <a:cxn ang="0">
                  <a:pos x="30" y="48"/>
                </a:cxn>
                <a:cxn ang="0">
                  <a:pos x="24" y="58"/>
                </a:cxn>
                <a:cxn ang="0">
                  <a:pos x="17" y="54"/>
                </a:cxn>
                <a:cxn ang="0">
                  <a:pos x="10" y="60"/>
                </a:cxn>
                <a:cxn ang="0">
                  <a:pos x="1" y="82"/>
                </a:cxn>
                <a:cxn ang="0">
                  <a:pos x="0" y="89"/>
                </a:cxn>
                <a:cxn ang="0">
                  <a:pos x="6" y="94"/>
                </a:cxn>
                <a:cxn ang="0">
                  <a:pos x="21" y="107"/>
                </a:cxn>
                <a:cxn ang="0">
                  <a:pos x="33" y="104"/>
                </a:cxn>
                <a:cxn ang="0">
                  <a:pos x="24" y="111"/>
                </a:cxn>
                <a:cxn ang="0">
                  <a:pos x="31" y="118"/>
                </a:cxn>
                <a:cxn ang="0">
                  <a:pos x="37" y="113"/>
                </a:cxn>
                <a:cxn ang="0">
                  <a:pos x="45" y="116"/>
                </a:cxn>
                <a:cxn ang="0">
                  <a:pos x="51" y="127"/>
                </a:cxn>
                <a:cxn ang="0">
                  <a:pos x="57" y="132"/>
                </a:cxn>
                <a:cxn ang="0">
                  <a:pos x="71" y="141"/>
                </a:cxn>
                <a:cxn ang="0">
                  <a:pos x="84" y="147"/>
                </a:cxn>
                <a:cxn ang="0">
                  <a:pos x="97" y="159"/>
                </a:cxn>
                <a:cxn ang="0">
                  <a:pos x="97" y="176"/>
                </a:cxn>
                <a:cxn ang="0">
                  <a:pos x="100" y="185"/>
                </a:cxn>
                <a:cxn ang="0">
                  <a:pos x="120" y="201"/>
                </a:cxn>
                <a:cxn ang="0">
                  <a:pos x="132" y="204"/>
                </a:cxn>
                <a:cxn ang="0">
                  <a:pos x="117" y="203"/>
                </a:cxn>
                <a:cxn ang="0">
                  <a:pos x="138" y="220"/>
                </a:cxn>
                <a:cxn ang="0">
                  <a:pos x="166" y="245"/>
                </a:cxn>
                <a:cxn ang="0">
                  <a:pos x="185" y="274"/>
                </a:cxn>
                <a:cxn ang="0">
                  <a:pos x="201" y="298"/>
                </a:cxn>
                <a:cxn ang="0">
                  <a:pos x="218" y="316"/>
                </a:cxn>
                <a:cxn ang="0">
                  <a:pos x="235" y="333"/>
                </a:cxn>
                <a:cxn ang="0">
                  <a:pos x="249" y="350"/>
                </a:cxn>
                <a:cxn ang="0">
                  <a:pos x="258" y="362"/>
                </a:cxn>
              </a:cxnLst>
              <a:rect l="0" t="0" r="r" b="b"/>
              <a:pathLst>
                <a:path w="282" h="365">
                  <a:moveTo>
                    <a:pt x="262" y="359"/>
                  </a:moveTo>
                  <a:cubicBezTo>
                    <a:pt x="264" y="359"/>
                    <a:pt x="267" y="360"/>
                    <a:pt x="268" y="362"/>
                  </a:cubicBezTo>
                  <a:cubicBezTo>
                    <a:pt x="270" y="363"/>
                    <a:pt x="273" y="363"/>
                    <a:pt x="275" y="362"/>
                  </a:cubicBezTo>
                  <a:cubicBezTo>
                    <a:pt x="276" y="361"/>
                    <a:pt x="276" y="358"/>
                    <a:pt x="275" y="354"/>
                  </a:cubicBezTo>
                  <a:cubicBezTo>
                    <a:pt x="273" y="350"/>
                    <a:pt x="271" y="346"/>
                    <a:pt x="270" y="343"/>
                  </a:cubicBezTo>
                  <a:cubicBezTo>
                    <a:pt x="269" y="341"/>
                    <a:pt x="270" y="337"/>
                    <a:pt x="272" y="334"/>
                  </a:cubicBezTo>
                  <a:cubicBezTo>
                    <a:pt x="275" y="331"/>
                    <a:pt x="278" y="327"/>
                    <a:pt x="280" y="324"/>
                  </a:cubicBezTo>
                  <a:cubicBezTo>
                    <a:pt x="281" y="321"/>
                    <a:pt x="282" y="319"/>
                    <a:pt x="282" y="319"/>
                  </a:cubicBezTo>
                  <a:cubicBezTo>
                    <a:pt x="282" y="319"/>
                    <a:pt x="282" y="318"/>
                    <a:pt x="282" y="315"/>
                  </a:cubicBezTo>
                  <a:cubicBezTo>
                    <a:pt x="281" y="313"/>
                    <a:pt x="279" y="311"/>
                    <a:pt x="277" y="311"/>
                  </a:cubicBezTo>
                  <a:cubicBezTo>
                    <a:pt x="274" y="311"/>
                    <a:pt x="271" y="310"/>
                    <a:pt x="269" y="309"/>
                  </a:cubicBezTo>
                  <a:cubicBezTo>
                    <a:pt x="268" y="309"/>
                    <a:pt x="265" y="306"/>
                    <a:pt x="264" y="304"/>
                  </a:cubicBezTo>
                  <a:cubicBezTo>
                    <a:pt x="262" y="302"/>
                    <a:pt x="260" y="298"/>
                    <a:pt x="260" y="295"/>
                  </a:cubicBezTo>
                  <a:cubicBezTo>
                    <a:pt x="259" y="292"/>
                    <a:pt x="258" y="288"/>
                    <a:pt x="257" y="286"/>
                  </a:cubicBezTo>
                  <a:cubicBezTo>
                    <a:pt x="257" y="284"/>
                    <a:pt x="254" y="279"/>
                    <a:pt x="252" y="275"/>
                  </a:cubicBezTo>
                  <a:cubicBezTo>
                    <a:pt x="249" y="271"/>
                    <a:pt x="247" y="263"/>
                    <a:pt x="246" y="258"/>
                  </a:cubicBezTo>
                  <a:cubicBezTo>
                    <a:pt x="246" y="253"/>
                    <a:pt x="246" y="247"/>
                    <a:pt x="247" y="245"/>
                  </a:cubicBezTo>
                  <a:cubicBezTo>
                    <a:pt x="248" y="242"/>
                    <a:pt x="247" y="239"/>
                    <a:pt x="245" y="238"/>
                  </a:cubicBezTo>
                  <a:cubicBezTo>
                    <a:pt x="243" y="237"/>
                    <a:pt x="241" y="233"/>
                    <a:pt x="240" y="230"/>
                  </a:cubicBezTo>
                  <a:cubicBezTo>
                    <a:pt x="239" y="226"/>
                    <a:pt x="237" y="222"/>
                    <a:pt x="236" y="221"/>
                  </a:cubicBezTo>
                  <a:cubicBezTo>
                    <a:pt x="234" y="220"/>
                    <a:pt x="231" y="218"/>
                    <a:pt x="229" y="216"/>
                  </a:cubicBezTo>
                  <a:cubicBezTo>
                    <a:pt x="227" y="214"/>
                    <a:pt x="224" y="212"/>
                    <a:pt x="223" y="212"/>
                  </a:cubicBezTo>
                  <a:cubicBezTo>
                    <a:pt x="221" y="212"/>
                    <a:pt x="219" y="212"/>
                    <a:pt x="218" y="214"/>
                  </a:cubicBezTo>
                  <a:cubicBezTo>
                    <a:pt x="217" y="215"/>
                    <a:pt x="215" y="217"/>
                    <a:pt x="214" y="218"/>
                  </a:cubicBezTo>
                  <a:cubicBezTo>
                    <a:pt x="213" y="220"/>
                    <a:pt x="211" y="221"/>
                    <a:pt x="209" y="221"/>
                  </a:cubicBezTo>
                  <a:cubicBezTo>
                    <a:pt x="207" y="221"/>
                    <a:pt x="203" y="219"/>
                    <a:pt x="200" y="216"/>
                  </a:cubicBezTo>
                  <a:cubicBezTo>
                    <a:pt x="197" y="214"/>
                    <a:pt x="195" y="210"/>
                    <a:pt x="195" y="208"/>
                  </a:cubicBezTo>
                  <a:cubicBezTo>
                    <a:pt x="195" y="206"/>
                    <a:pt x="194" y="202"/>
                    <a:pt x="192" y="199"/>
                  </a:cubicBezTo>
                  <a:cubicBezTo>
                    <a:pt x="191" y="197"/>
                    <a:pt x="189" y="194"/>
                    <a:pt x="189" y="193"/>
                  </a:cubicBezTo>
                  <a:cubicBezTo>
                    <a:pt x="189" y="192"/>
                    <a:pt x="186" y="189"/>
                    <a:pt x="184" y="185"/>
                  </a:cubicBezTo>
                  <a:cubicBezTo>
                    <a:pt x="182" y="182"/>
                    <a:pt x="179" y="179"/>
                    <a:pt x="177" y="179"/>
                  </a:cubicBezTo>
                  <a:cubicBezTo>
                    <a:pt x="176" y="179"/>
                    <a:pt x="174" y="178"/>
                    <a:pt x="174" y="176"/>
                  </a:cubicBezTo>
                  <a:cubicBezTo>
                    <a:pt x="173" y="174"/>
                    <a:pt x="171" y="172"/>
                    <a:pt x="169" y="171"/>
                  </a:cubicBezTo>
                  <a:cubicBezTo>
                    <a:pt x="168" y="170"/>
                    <a:pt x="166" y="167"/>
                    <a:pt x="165" y="165"/>
                  </a:cubicBezTo>
                  <a:cubicBezTo>
                    <a:pt x="165" y="162"/>
                    <a:pt x="164" y="158"/>
                    <a:pt x="163" y="154"/>
                  </a:cubicBezTo>
                  <a:cubicBezTo>
                    <a:pt x="163" y="150"/>
                    <a:pt x="163" y="142"/>
                    <a:pt x="164" y="137"/>
                  </a:cubicBezTo>
                  <a:cubicBezTo>
                    <a:pt x="165" y="131"/>
                    <a:pt x="168" y="125"/>
                    <a:pt x="170" y="122"/>
                  </a:cubicBezTo>
                  <a:cubicBezTo>
                    <a:pt x="172" y="119"/>
                    <a:pt x="174" y="117"/>
                    <a:pt x="174" y="117"/>
                  </a:cubicBezTo>
                  <a:cubicBezTo>
                    <a:pt x="174" y="117"/>
                    <a:pt x="173" y="115"/>
                    <a:pt x="171" y="113"/>
                  </a:cubicBezTo>
                  <a:cubicBezTo>
                    <a:pt x="170" y="111"/>
                    <a:pt x="167" y="107"/>
                    <a:pt x="166" y="104"/>
                  </a:cubicBezTo>
                  <a:cubicBezTo>
                    <a:pt x="165" y="102"/>
                    <a:pt x="161" y="99"/>
                    <a:pt x="159" y="98"/>
                  </a:cubicBezTo>
                  <a:cubicBezTo>
                    <a:pt x="156" y="96"/>
                    <a:pt x="154" y="94"/>
                    <a:pt x="154" y="92"/>
                  </a:cubicBezTo>
                  <a:cubicBezTo>
                    <a:pt x="154" y="91"/>
                    <a:pt x="153" y="88"/>
                    <a:pt x="152" y="87"/>
                  </a:cubicBezTo>
                  <a:cubicBezTo>
                    <a:pt x="151" y="86"/>
                    <a:pt x="150" y="83"/>
                    <a:pt x="150" y="81"/>
                  </a:cubicBezTo>
                  <a:cubicBezTo>
                    <a:pt x="150" y="79"/>
                    <a:pt x="148" y="77"/>
                    <a:pt x="146" y="76"/>
                  </a:cubicBezTo>
                  <a:cubicBezTo>
                    <a:pt x="144" y="75"/>
                    <a:pt x="139" y="73"/>
                    <a:pt x="136" y="73"/>
                  </a:cubicBezTo>
                  <a:cubicBezTo>
                    <a:pt x="132" y="72"/>
                    <a:pt x="127" y="70"/>
                    <a:pt x="124" y="69"/>
                  </a:cubicBezTo>
                  <a:cubicBezTo>
                    <a:pt x="121" y="68"/>
                    <a:pt x="118" y="66"/>
                    <a:pt x="118" y="63"/>
                  </a:cubicBezTo>
                  <a:cubicBezTo>
                    <a:pt x="118" y="61"/>
                    <a:pt x="117" y="53"/>
                    <a:pt x="117" y="46"/>
                  </a:cubicBezTo>
                  <a:cubicBezTo>
                    <a:pt x="117" y="39"/>
                    <a:pt x="115" y="31"/>
                    <a:pt x="112" y="28"/>
                  </a:cubicBezTo>
                  <a:cubicBezTo>
                    <a:pt x="110" y="26"/>
                    <a:pt x="108" y="21"/>
                    <a:pt x="107" y="18"/>
                  </a:cubicBezTo>
                  <a:cubicBezTo>
                    <a:pt x="107" y="15"/>
                    <a:pt x="103" y="11"/>
                    <a:pt x="100" y="10"/>
                  </a:cubicBezTo>
                  <a:cubicBezTo>
                    <a:pt x="96" y="8"/>
                    <a:pt x="92" y="6"/>
                    <a:pt x="91" y="4"/>
                  </a:cubicBezTo>
                  <a:cubicBezTo>
                    <a:pt x="90" y="2"/>
                    <a:pt x="88" y="1"/>
                    <a:pt x="86" y="0"/>
                  </a:cubicBezTo>
                  <a:cubicBezTo>
                    <a:pt x="85" y="0"/>
                    <a:pt x="81" y="0"/>
                    <a:pt x="78" y="1"/>
                  </a:cubicBezTo>
                  <a:cubicBezTo>
                    <a:pt x="76" y="2"/>
                    <a:pt x="74" y="2"/>
                    <a:pt x="74" y="2"/>
                  </a:cubicBezTo>
                  <a:cubicBezTo>
                    <a:pt x="74" y="2"/>
                    <a:pt x="73" y="6"/>
                    <a:pt x="72" y="11"/>
                  </a:cubicBezTo>
                  <a:cubicBezTo>
                    <a:pt x="71" y="15"/>
                    <a:pt x="65" y="23"/>
                    <a:pt x="58" y="28"/>
                  </a:cubicBezTo>
                  <a:cubicBezTo>
                    <a:pt x="51" y="33"/>
                    <a:pt x="43" y="39"/>
                    <a:pt x="41" y="41"/>
                  </a:cubicBezTo>
                  <a:cubicBezTo>
                    <a:pt x="38" y="43"/>
                    <a:pt x="33" y="46"/>
                    <a:pt x="30" y="48"/>
                  </a:cubicBezTo>
                  <a:cubicBezTo>
                    <a:pt x="26" y="50"/>
                    <a:pt x="23" y="52"/>
                    <a:pt x="23" y="52"/>
                  </a:cubicBezTo>
                  <a:cubicBezTo>
                    <a:pt x="24" y="53"/>
                    <a:pt x="24" y="54"/>
                    <a:pt x="25" y="55"/>
                  </a:cubicBezTo>
                  <a:cubicBezTo>
                    <a:pt x="26" y="57"/>
                    <a:pt x="25" y="58"/>
                    <a:pt x="24" y="58"/>
                  </a:cubicBezTo>
                  <a:cubicBezTo>
                    <a:pt x="23" y="57"/>
                    <a:pt x="22" y="55"/>
                    <a:pt x="21" y="54"/>
                  </a:cubicBezTo>
                  <a:cubicBezTo>
                    <a:pt x="20" y="53"/>
                    <a:pt x="19" y="51"/>
                    <a:pt x="18" y="51"/>
                  </a:cubicBezTo>
                  <a:cubicBezTo>
                    <a:pt x="17" y="51"/>
                    <a:pt x="17" y="53"/>
                    <a:pt x="17" y="54"/>
                  </a:cubicBezTo>
                  <a:cubicBezTo>
                    <a:pt x="17" y="55"/>
                    <a:pt x="16" y="58"/>
                    <a:pt x="15" y="59"/>
                  </a:cubicBezTo>
                  <a:cubicBezTo>
                    <a:pt x="14" y="61"/>
                    <a:pt x="13" y="61"/>
                    <a:pt x="13" y="59"/>
                  </a:cubicBezTo>
                  <a:cubicBezTo>
                    <a:pt x="13" y="58"/>
                    <a:pt x="12" y="58"/>
                    <a:pt x="10" y="60"/>
                  </a:cubicBezTo>
                  <a:cubicBezTo>
                    <a:pt x="9" y="62"/>
                    <a:pt x="6" y="66"/>
                    <a:pt x="5" y="69"/>
                  </a:cubicBezTo>
                  <a:cubicBezTo>
                    <a:pt x="3" y="71"/>
                    <a:pt x="1" y="75"/>
                    <a:pt x="1" y="77"/>
                  </a:cubicBezTo>
                  <a:cubicBezTo>
                    <a:pt x="0" y="78"/>
                    <a:pt x="0" y="81"/>
                    <a:pt x="1" y="82"/>
                  </a:cubicBezTo>
                  <a:cubicBezTo>
                    <a:pt x="1" y="83"/>
                    <a:pt x="2" y="84"/>
                    <a:pt x="1" y="85"/>
                  </a:cubicBezTo>
                  <a:cubicBezTo>
                    <a:pt x="1" y="85"/>
                    <a:pt x="1" y="86"/>
                    <a:pt x="1" y="86"/>
                  </a:cubicBezTo>
                  <a:cubicBezTo>
                    <a:pt x="1" y="86"/>
                    <a:pt x="1" y="87"/>
                    <a:pt x="0" y="89"/>
                  </a:cubicBezTo>
                  <a:cubicBezTo>
                    <a:pt x="0" y="91"/>
                    <a:pt x="0" y="94"/>
                    <a:pt x="1" y="96"/>
                  </a:cubicBezTo>
                  <a:cubicBezTo>
                    <a:pt x="2" y="98"/>
                    <a:pt x="3" y="99"/>
                    <a:pt x="3" y="97"/>
                  </a:cubicBezTo>
                  <a:cubicBezTo>
                    <a:pt x="3" y="95"/>
                    <a:pt x="5" y="94"/>
                    <a:pt x="6" y="94"/>
                  </a:cubicBezTo>
                  <a:cubicBezTo>
                    <a:pt x="7" y="95"/>
                    <a:pt x="9" y="96"/>
                    <a:pt x="11" y="98"/>
                  </a:cubicBezTo>
                  <a:cubicBezTo>
                    <a:pt x="12" y="99"/>
                    <a:pt x="15" y="102"/>
                    <a:pt x="16" y="103"/>
                  </a:cubicBezTo>
                  <a:cubicBezTo>
                    <a:pt x="18" y="105"/>
                    <a:pt x="20" y="106"/>
                    <a:pt x="21" y="107"/>
                  </a:cubicBezTo>
                  <a:cubicBezTo>
                    <a:pt x="23" y="108"/>
                    <a:pt x="25" y="107"/>
                    <a:pt x="26" y="106"/>
                  </a:cubicBezTo>
                  <a:cubicBezTo>
                    <a:pt x="28" y="105"/>
                    <a:pt x="30" y="104"/>
                    <a:pt x="30" y="104"/>
                  </a:cubicBezTo>
                  <a:cubicBezTo>
                    <a:pt x="31" y="104"/>
                    <a:pt x="32" y="104"/>
                    <a:pt x="33" y="104"/>
                  </a:cubicBezTo>
                  <a:cubicBezTo>
                    <a:pt x="34" y="105"/>
                    <a:pt x="34" y="107"/>
                    <a:pt x="33" y="108"/>
                  </a:cubicBezTo>
                  <a:cubicBezTo>
                    <a:pt x="31" y="109"/>
                    <a:pt x="29" y="111"/>
                    <a:pt x="28" y="111"/>
                  </a:cubicBezTo>
                  <a:cubicBezTo>
                    <a:pt x="27" y="111"/>
                    <a:pt x="25" y="111"/>
                    <a:pt x="24" y="111"/>
                  </a:cubicBezTo>
                  <a:cubicBezTo>
                    <a:pt x="24" y="111"/>
                    <a:pt x="24" y="113"/>
                    <a:pt x="25" y="114"/>
                  </a:cubicBezTo>
                  <a:cubicBezTo>
                    <a:pt x="26" y="116"/>
                    <a:pt x="27" y="117"/>
                    <a:pt x="29" y="117"/>
                  </a:cubicBezTo>
                  <a:cubicBezTo>
                    <a:pt x="30" y="116"/>
                    <a:pt x="31" y="117"/>
                    <a:pt x="31" y="118"/>
                  </a:cubicBezTo>
                  <a:cubicBezTo>
                    <a:pt x="32" y="119"/>
                    <a:pt x="33" y="119"/>
                    <a:pt x="34" y="119"/>
                  </a:cubicBezTo>
                  <a:cubicBezTo>
                    <a:pt x="35" y="118"/>
                    <a:pt x="36" y="117"/>
                    <a:pt x="36" y="115"/>
                  </a:cubicBezTo>
                  <a:cubicBezTo>
                    <a:pt x="36" y="114"/>
                    <a:pt x="36" y="113"/>
                    <a:pt x="37" y="113"/>
                  </a:cubicBezTo>
                  <a:cubicBezTo>
                    <a:pt x="38" y="113"/>
                    <a:pt x="39" y="113"/>
                    <a:pt x="40" y="113"/>
                  </a:cubicBezTo>
                  <a:cubicBezTo>
                    <a:pt x="41" y="114"/>
                    <a:pt x="42" y="114"/>
                    <a:pt x="43" y="114"/>
                  </a:cubicBezTo>
                  <a:cubicBezTo>
                    <a:pt x="45" y="113"/>
                    <a:pt x="46" y="115"/>
                    <a:pt x="45" y="116"/>
                  </a:cubicBezTo>
                  <a:cubicBezTo>
                    <a:pt x="45" y="118"/>
                    <a:pt x="45" y="120"/>
                    <a:pt x="45" y="122"/>
                  </a:cubicBezTo>
                  <a:cubicBezTo>
                    <a:pt x="46" y="123"/>
                    <a:pt x="47" y="124"/>
                    <a:pt x="48" y="125"/>
                  </a:cubicBezTo>
                  <a:cubicBezTo>
                    <a:pt x="49" y="125"/>
                    <a:pt x="51" y="126"/>
                    <a:pt x="51" y="127"/>
                  </a:cubicBezTo>
                  <a:cubicBezTo>
                    <a:pt x="52" y="128"/>
                    <a:pt x="52" y="129"/>
                    <a:pt x="51" y="129"/>
                  </a:cubicBezTo>
                  <a:cubicBezTo>
                    <a:pt x="50" y="129"/>
                    <a:pt x="50" y="130"/>
                    <a:pt x="52" y="130"/>
                  </a:cubicBezTo>
                  <a:cubicBezTo>
                    <a:pt x="54" y="131"/>
                    <a:pt x="56" y="132"/>
                    <a:pt x="57" y="132"/>
                  </a:cubicBezTo>
                  <a:cubicBezTo>
                    <a:pt x="58" y="132"/>
                    <a:pt x="61" y="133"/>
                    <a:pt x="63" y="134"/>
                  </a:cubicBezTo>
                  <a:cubicBezTo>
                    <a:pt x="65" y="135"/>
                    <a:pt x="67" y="137"/>
                    <a:pt x="68" y="139"/>
                  </a:cubicBezTo>
                  <a:cubicBezTo>
                    <a:pt x="68" y="141"/>
                    <a:pt x="70" y="142"/>
                    <a:pt x="71" y="141"/>
                  </a:cubicBezTo>
                  <a:cubicBezTo>
                    <a:pt x="72" y="140"/>
                    <a:pt x="73" y="139"/>
                    <a:pt x="74" y="140"/>
                  </a:cubicBezTo>
                  <a:cubicBezTo>
                    <a:pt x="75" y="141"/>
                    <a:pt x="77" y="142"/>
                    <a:pt x="78" y="143"/>
                  </a:cubicBezTo>
                  <a:cubicBezTo>
                    <a:pt x="79" y="144"/>
                    <a:pt x="82" y="146"/>
                    <a:pt x="84" y="147"/>
                  </a:cubicBezTo>
                  <a:cubicBezTo>
                    <a:pt x="86" y="148"/>
                    <a:pt x="89" y="150"/>
                    <a:pt x="90" y="151"/>
                  </a:cubicBezTo>
                  <a:cubicBezTo>
                    <a:pt x="92" y="151"/>
                    <a:pt x="94" y="153"/>
                    <a:pt x="95" y="154"/>
                  </a:cubicBezTo>
                  <a:cubicBezTo>
                    <a:pt x="96" y="155"/>
                    <a:pt x="97" y="157"/>
                    <a:pt x="97" y="159"/>
                  </a:cubicBezTo>
                  <a:cubicBezTo>
                    <a:pt x="98" y="161"/>
                    <a:pt x="98" y="164"/>
                    <a:pt x="97" y="166"/>
                  </a:cubicBezTo>
                  <a:cubicBezTo>
                    <a:pt x="97" y="168"/>
                    <a:pt x="97" y="171"/>
                    <a:pt x="97" y="173"/>
                  </a:cubicBezTo>
                  <a:cubicBezTo>
                    <a:pt x="98" y="174"/>
                    <a:pt x="98" y="176"/>
                    <a:pt x="97" y="176"/>
                  </a:cubicBezTo>
                  <a:cubicBezTo>
                    <a:pt x="97" y="177"/>
                    <a:pt x="96" y="177"/>
                    <a:pt x="95" y="176"/>
                  </a:cubicBezTo>
                  <a:cubicBezTo>
                    <a:pt x="94" y="176"/>
                    <a:pt x="94" y="177"/>
                    <a:pt x="95" y="179"/>
                  </a:cubicBezTo>
                  <a:cubicBezTo>
                    <a:pt x="95" y="182"/>
                    <a:pt x="98" y="184"/>
                    <a:pt x="100" y="185"/>
                  </a:cubicBezTo>
                  <a:cubicBezTo>
                    <a:pt x="102" y="186"/>
                    <a:pt x="106" y="189"/>
                    <a:pt x="108" y="190"/>
                  </a:cubicBezTo>
                  <a:cubicBezTo>
                    <a:pt x="111" y="192"/>
                    <a:pt x="114" y="195"/>
                    <a:pt x="115" y="197"/>
                  </a:cubicBezTo>
                  <a:cubicBezTo>
                    <a:pt x="116" y="198"/>
                    <a:pt x="119" y="201"/>
                    <a:pt x="120" y="201"/>
                  </a:cubicBezTo>
                  <a:cubicBezTo>
                    <a:pt x="122" y="202"/>
                    <a:pt x="124" y="202"/>
                    <a:pt x="125" y="200"/>
                  </a:cubicBezTo>
                  <a:cubicBezTo>
                    <a:pt x="126" y="199"/>
                    <a:pt x="128" y="198"/>
                    <a:pt x="129" y="199"/>
                  </a:cubicBezTo>
                  <a:cubicBezTo>
                    <a:pt x="130" y="200"/>
                    <a:pt x="131" y="202"/>
                    <a:pt x="132" y="204"/>
                  </a:cubicBezTo>
                  <a:cubicBezTo>
                    <a:pt x="132" y="206"/>
                    <a:pt x="132" y="209"/>
                    <a:pt x="132" y="209"/>
                  </a:cubicBezTo>
                  <a:cubicBezTo>
                    <a:pt x="131" y="210"/>
                    <a:pt x="128" y="210"/>
                    <a:pt x="126" y="208"/>
                  </a:cubicBezTo>
                  <a:cubicBezTo>
                    <a:pt x="123" y="207"/>
                    <a:pt x="119" y="205"/>
                    <a:pt x="117" y="203"/>
                  </a:cubicBezTo>
                  <a:cubicBezTo>
                    <a:pt x="114" y="201"/>
                    <a:pt x="114" y="202"/>
                    <a:pt x="117" y="204"/>
                  </a:cubicBezTo>
                  <a:cubicBezTo>
                    <a:pt x="119" y="206"/>
                    <a:pt x="124" y="210"/>
                    <a:pt x="128" y="213"/>
                  </a:cubicBezTo>
                  <a:cubicBezTo>
                    <a:pt x="132" y="215"/>
                    <a:pt x="136" y="219"/>
                    <a:pt x="138" y="220"/>
                  </a:cubicBezTo>
                  <a:cubicBezTo>
                    <a:pt x="139" y="221"/>
                    <a:pt x="142" y="224"/>
                    <a:pt x="145" y="226"/>
                  </a:cubicBezTo>
                  <a:cubicBezTo>
                    <a:pt x="147" y="228"/>
                    <a:pt x="152" y="232"/>
                    <a:pt x="155" y="235"/>
                  </a:cubicBezTo>
                  <a:cubicBezTo>
                    <a:pt x="158" y="238"/>
                    <a:pt x="163" y="242"/>
                    <a:pt x="166" y="245"/>
                  </a:cubicBezTo>
                  <a:cubicBezTo>
                    <a:pt x="169" y="247"/>
                    <a:pt x="172" y="251"/>
                    <a:pt x="173" y="254"/>
                  </a:cubicBezTo>
                  <a:cubicBezTo>
                    <a:pt x="174" y="256"/>
                    <a:pt x="177" y="261"/>
                    <a:pt x="178" y="264"/>
                  </a:cubicBezTo>
                  <a:cubicBezTo>
                    <a:pt x="180" y="267"/>
                    <a:pt x="183" y="271"/>
                    <a:pt x="185" y="274"/>
                  </a:cubicBezTo>
                  <a:cubicBezTo>
                    <a:pt x="187" y="276"/>
                    <a:pt x="191" y="280"/>
                    <a:pt x="194" y="282"/>
                  </a:cubicBezTo>
                  <a:cubicBezTo>
                    <a:pt x="196" y="285"/>
                    <a:pt x="199" y="288"/>
                    <a:pt x="199" y="290"/>
                  </a:cubicBezTo>
                  <a:cubicBezTo>
                    <a:pt x="200" y="291"/>
                    <a:pt x="201" y="295"/>
                    <a:pt x="201" y="298"/>
                  </a:cubicBezTo>
                  <a:cubicBezTo>
                    <a:pt x="202" y="300"/>
                    <a:pt x="204" y="303"/>
                    <a:pt x="206" y="304"/>
                  </a:cubicBezTo>
                  <a:cubicBezTo>
                    <a:pt x="209" y="304"/>
                    <a:pt x="211" y="306"/>
                    <a:pt x="212" y="308"/>
                  </a:cubicBezTo>
                  <a:cubicBezTo>
                    <a:pt x="213" y="310"/>
                    <a:pt x="216" y="314"/>
                    <a:pt x="218" y="316"/>
                  </a:cubicBezTo>
                  <a:cubicBezTo>
                    <a:pt x="221" y="318"/>
                    <a:pt x="224" y="323"/>
                    <a:pt x="227" y="326"/>
                  </a:cubicBezTo>
                  <a:cubicBezTo>
                    <a:pt x="229" y="329"/>
                    <a:pt x="232" y="332"/>
                    <a:pt x="232" y="332"/>
                  </a:cubicBezTo>
                  <a:cubicBezTo>
                    <a:pt x="233" y="332"/>
                    <a:pt x="234" y="333"/>
                    <a:pt x="235" y="333"/>
                  </a:cubicBezTo>
                  <a:cubicBezTo>
                    <a:pt x="235" y="334"/>
                    <a:pt x="237" y="336"/>
                    <a:pt x="239" y="339"/>
                  </a:cubicBezTo>
                  <a:cubicBezTo>
                    <a:pt x="241" y="341"/>
                    <a:pt x="244" y="344"/>
                    <a:pt x="245" y="345"/>
                  </a:cubicBezTo>
                  <a:cubicBezTo>
                    <a:pt x="247" y="346"/>
                    <a:pt x="248" y="348"/>
                    <a:pt x="249" y="350"/>
                  </a:cubicBezTo>
                  <a:cubicBezTo>
                    <a:pt x="250" y="351"/>
                    <a:pt x="252" y="356"/>
                    <a:pt x="254" y="359"/>
                  </a:cubicBezTo>
                  <a:cubicBezTo>
                    <a:pt x="256" y="362"/>
                    <a:pt x="257" y="365"/>
                    <a:pt x="257" y="365"/>
                  </a:cubicBezTo>
                  <a:cubicBezTo>
                    <a:pt x="257" y="365"/>
                    <a:pt x="258" y="364"/>
                    <a:pt x="258" y="362"/>
                  </a:cubicBezTo>
                  <a:cubicBezTo>
                    <a:pt x="259" y="360"/>
                    <a:pt x="261" y="358"/>
                    <a:pt x="262" y="35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6" name="Freeform 27">
              <a:extLst>
                <a:ext uri="{FF2B5EF4-FFF2-40B4-BE49-F238E27FC236}">
                  <a16:creationId xmlns:a16="http://schemas.microsoft.com/office/drawing/2014/main" id="{7C4EFC34-6AA3-1CF4-C899-E0AF98C0F64B}"/>
                </a:ext>
              </a:extLst>
            </p:cNvPr>
            <p:cNvSpPr>
              <a:spLocks/>
            </p:cNvSpPr>
            <p:nvPr/>
          </p:nvSpPr>
          <p:spPr bwMode="auto">
            <a:xfrm>
              <a:off x="4800572" y="2570145"/>
              <a:ext cx="781050" cy="1581150"/>
            </a:xfrm>
            <a:custGeom>
              <a:avLst/>
              <a:gdLst/>
              <a:ahLst/>
              <a:cxnLst>
                <a:cxn ang="0">
                  <a:pos x="23" y="25"/>
                </a:cxn>
                <a:cxn ang="0">
                  <a:pos x="25" y="55"/>
                </a:cxn>
                <a:cxn ang="0">
                  <a:pos x="34" y="71"/>
                </a:cxn>
                <a:cxn ang="0">
                  <a:pos x="42" y="82"/>
                </a:cxn>
                <a:cxn ang="0">
                  <a:pos x="50" y="100"/>
                </a:cxn>
                <a:cxn ang="0">
                  <a:pos x="65" y="117"/>
                </a:cxn>
                <a:cxn ang="0">
                  <a:pos x="86" y="131"/>
                </a:cxn>
                <a:cxn ang="0">
                  <a:pos x="108" y="144"/>
                </a:cxn>
                <a:cxn ang="0">
                  <a:pos x="112" y="181"/>
                </a:cxn>
                <a:cxn ang="0">
                  <a:pos x="74" y="206"/>
                </a:cxn>
                <a:cxn ang="0">
                  <a:pos x="67" y="219"/>
                </a:cxn>
                <a:cxn ang="0">
                  <a:pos x="52" y="228"/>
                </a:cxn>
                <a:cxn ang="0">
                  <a:pos x="27" y="246"/>
                </a:cxn>
                <a:cxn ang="0">
                  <a:pos x="37" y="267"/>
                </a:cxn>
                <a:cxn ang="0">
                  <a:pos x="46" y="293"/>
                </a:cxn>
                <a:cxn ang="0">
                  <a:pos x="32" y="308"/>
                </a:cxn>
                <a:cxn ang="0">
                  <a:pos x="13" y="322"/>
                </a:cxn>
                <a:cxn ang="0">
                  <a:pos x="2" y="337"/>
                </a:cxn>
                <a:cxn ang="0">
                  <a:pos x="3" y="351"/>
                </a:cxn>
                <a:cxn ang="0">
                  <a:pos x="13" y="364"/>
                </a:cxn>
                <a:cxn ang="0">
                  <a:pos x="10" y="381"/>
                </a:cxn>
                <a:cxn ang="0">
                  <a:pos x="42" y="393"/>
                </a:cxn>
                <a:cxn ang="0">
                  <a:pos x="59" y="401"/>
                </a:cxn>
                <a:cxn ang="0">
                  <a:pos x="86" y="412"/>
                </a:cxn>
                <a:cxn ang="0">
                  <a:pos x="115" y="410"/>
                </a:cxn>
                <a:cxn ang="0">
                  <a:pos x="133" y="410"/>
                </a:cxn>
                <a:cxn ang="0">
                  <a:pos x="150" y="413"/>
                </a:cxn>
                <a:cxn ang="0">
                  <a:pos x="166" y="411"/>
                </a:cxn>
                <a:cxn ang="0">
                  <a:pos x="161" y="391"/>
                </a:cxn>
                <a:cxn ang="0">
                  <a:pos x="170" y="362"/>
                </a:cxn>
                <a:cxn ang="0">
                  <a:pos x="168" y="329"/>
                </a:cxn>
                <a:cxn ang="0">
                  <a:pos x="166" y="305"/>
                </a:cxn>
                <a:cxn ang="0">
                  <a:pos x="163" y="284"/>
                </a:cxn>
                <a:cxn ang="0">
                  <a:pos x="167" y="264"/>
                </a:cxn>
                <a:cxn ang="0">
                  <a:pos x="162" y="250"/>
                </a:cxn>
                <a:cxn ang="0">
                  <a:pos x="163" y="242"/>
                </a:cxn>
                <a:cxn ang="0">
                  <a:pos x="168" y="230"/>
                </a:cxn>
                <a:cxn ang="0">
                  <a:pos x="171" y="213"/>
                </a:cxn>
                <a:cxn ang="0">
                  <a:pos x="168" y="199"/>
                </a:cxn>
                <a:cxn ang="0">
                  <a:pos x="168" y="190"/>
                </a:cxn>
                <a:cxn ang="0">
                  <a:pos x="166" y="180"/>
                </a:cxn>
                <a:cxn ang="0">
                  <a:pos x="172" y="178"/>
                </a:cxn>
                <a:cxn ang="0">
                  <a:pos x="181" y="178"/>
                </a:cxn>
                <a:cxn ang="0">
                  <a:pos x="186" y="171"/>
                </a:cxn>
                <a:cxn ang="0">
                  <a:pos x="186" y="186"/>
                </a:cxn>
                <a:cxn ang="0">
                  <a:pos x="172" y="237"/>
                </a:cxn>
                <a:cxn ang="0">
                  <a:pos x="168" y="281"/>
                </a:cxn>
                <a:cxn ang="0">
                  <a:pos x="171" y="264"/>
                </a:cxn>
                <a:cxn ang="0">
                  <a:pos x="186" y="193"/>
                </a:cxn>
                <a:cxn ang="0">
                  <a:pos x="205" y="149"/>
                </a:cxn>
                <a:cxn ang="0">
                  <a:pos x="208" y="131"/>
                </a:cxn>
                <a:cxn ang="0">
                  <a:pos x="187" y="137"/>
                </a:cxn>
                <a:cxn ang="0">
                  <a:pos x="164" y="125"/>
                </a:cxn>
                <a:cxn ang="0">
                  <a:pos x="132" y="123"/>
                </a:cxn>
                <a:cxn ang="0">
                  <a:pos x="100" y="109"/>
                </a:cxn>
                <a:cxn ang="0">
                  <a:pos x="80" y="101"/>
                </a:cxn>
                <a:cxn ang="0">
                  <a:pos x="65" y="90"/>
                </a:cxn>
                <a:cxn ang="0">
                  <a:pos x="57" y="70"/>
                </a:cxn>
                <a:cxn ang="0">
                  <a:pos x="43" y="40"/>
                </a:cxn>
                <a:cxn ang="0">
                  <a:pos x="40" y="18"/>
                </a:cxn>
                <a:cxn ang="0">
                  <a:pos x="26" y="2"/>
                </a:cxn>
                <a:cxn ang="0">
                  <a:pos x="14" y="13"/>
                </a:cxn>
              </a:cxnLst>
              <a:rect l="0" t="0" r="r" b="b"/>
              <a:pathLst>
                <a:path w="208" h="421">
                  <a:moveTo>
                    <a:pt x="14" y="13"/>
                  </a:moveTo>
                  <a:cubicBezTo>
                    <a:pt x="14" y="15"/>
                    <a:pt x="16" y="18"/>
                    <a:pt x="18" y="20"/>
                  </a:cubicBezTo>
                  <a:cubicBezTo>
                    <a:pt x="20" y="21"/>
                    <a:pt x="23" y="23"/>
                    <a:pt x="23" y="25"/>
                  </a:cubicBezTo>
                  <a:cubicBezTo>
                    <a:pt x="23" y="27"/>
                    <a:pt x="24" y="31"/>
                    <a:pt x="25" y="34"/>
                  </a:cubicBezTo>
                  <a:cubicBezTo>
                    <a:pt x="26" y="37"/>
                    <a:pt x="26" y="42"/>
                    <a:pt x="26" y="44"/>
                  </a:cubicBezTo>
                  <a:cubicBezTo>
                    <a:pt x="26" y="47"/>
                    <a:pt x="26" y="52"/>
                    <a:pt x="25" y="55"/>
                  </a:cubicBezTo>
                  <a:cubicBezTo>
                    <a:pt x="24" y="58"/>
                    <a:pt x="25" y="61"/>
                    <a:pt x="27" y="62"/>
                  </a:cubicBezTo>
                  <a:cubicBezTo>
                    <a:pt x="28" y="63"/>
                    <a:pt x="31" y="64"/>
                    <a:pt x="32" y="65"/>
                  </a:cubicBezTo>
                  <a:cubicBezTo>
                    <a:pt x="34" y="66"/>
                    <a:pt x="35" y="69"/>
                    <a:pt x="34" y="71"/>
                  </a:cubicBezTo>
                  <a:cubicBezTo>
                    <a:pt x="33" y="73"/>
                    <a:pt x="33" y="75"/>
                    <a:pt x="32" y="76"/>
                  </a:cubicBezTo>
                  <a:cubicBezTo>
                    <a:pt x="32" y="77"/>
                    <a:pt x="33" y="78"/>
                    <a:pt x="35" y="79"/>
                  </a:cubicBezTo>
                  <a:cubicBezTo>
                    <a:pt x="37" y="80"/>
                    <a:pt x="41" y="81"/>
                    <a:pt x="42" y="82"/>
                  </a:cubicBezTo>
                  <a:cubicBezTo>
                    <a:pt x="44" y="83"/>
                    <a:pt x="46" y="85"/>
                    <a:pt x="47" y="86"/>
                  </a:cubicBezTo>
                  <a:cubicBezTo>
                    <a:pt x="47" y="88"/>
                    <a:pt x="47" y="91"/>
                    <a:pt x="47" y="93"/>
                  </a:cubicBezTo>
                  <a:cubicBezTo>
                    <a:pt x="46" y="95"/>
                    <a:pt x="48" y="99"/>
                    <a:pt x="50" y="100"/>
                  </a:cubicBezTo>
                  <a:cubicBezTo>
                    <a:pt x="52" y="102"/>
                    <a:pt x="55" y="105"/>
                    <a:pt x="56" y="106"/>
                  </a:cubicBezTo>
                  <a:cubicBezTo>
                    <a:pt x="57" y="107"/>
                    <a:pt x="60" y="109"/>
                    <a:pt x="61" y="109"/>
                  </a:cubicBezTo>
                  <a:cubicBezTo>
                    <a:pt x="62" y="109"/>
                    <a:pt x="64" y="113"/>
                    <a:pt x="65" y="117"/>
                  </a:cubicBezTo>
                  <a:cubicBezTo>
                    <a:pt x="65" y="122"/>
                    <a:pt x="68" y="125"/>
                    <a:pt x="71" y="125"/>
                  </a:cubicBezTo>
                  <a:cubicBezTo>
                    <a:pt x="73" y="125"/>
                    <a:pt x="77" y="126"/>
                    <a:pt x="79" y="128"/>
                  </a:cubicBezTo>
                  <a:cubicBezTo>
                    <a:pt x="81" y="130"/>
                    <a:pt x="84" y="131"/>
                    <a:pt x="86" y="131"/>
                  </a:cubicBezTo>
                  <a:cubicBezTo>
                    <a:pt x="88" y="131"/>
                    <a:pt x="90" y="130"/>
                    <a:pt x="92" y="129"/>
                  </a:cubicBezTo>
                  <a:cubicBezTo>
                    <a:pt x="93" y="128"/>
                    <a:pt x="97" y="129"/>
                    <a:pt x="101" y="130"/>
                  </a:cubicBezTo>
                  <a:cubicBezTo>
                    <a:pt x="105" y="132"/>
                    <a:pt x="108" y="138"/>
                    <a:pt x="108" y="144"/>
                  </a:cubicBezTo>
                  <a:cubicBezTo>
                    <a:pt x="108" y="150"/>
                    <a:pt x="108" y="157"/>
                    <a:pt x="108" y="160"/>
                  </a:cubicBezTo>
                  <a:cubicBezTo>
                    <a:pt x="108" y="163"/>
                    <a:pt x="110" y="168"/>
                    <a:pt x="112" y="171"/>
                  </a:cubicBezTo>
                  <a:cubicBezTo>
                    <a:pt x="114" y="174"/>
                    <a:pt x="114" y="179"/>
                    <a:pt x="112" y="181"/>
                  </a:cubicBezTo>
                  <a:cubicBezTo>
                    <a:pt x="109" y="183"/>
                    <a:pt x="103" y="189"/>
                    <a:pt x="98" y="194"/>
                  </a:cubicBezTo>
                  <a:cubicBezTo>
                    <a:pt x="93" y="199"/>
                    <a:pt x="86" y="203"/>
                    <a:pt x="83" y="204"/>
                  </a:cubicBezTo>
                  <a:cubicBezTo>
                    <a:pt x="80" y="205"/>
                    <a:pt x="76" y="206"/>
                    <a:pt x="74" y="206"/>
                  </a:cubicBezTo>
                  <a:cubicBezTo>
                    <a:pt x="73" y="206"/>
                    <a:pt x="70" y="207"/>
                    <a:pt x="69" y="208"/>
                  </a:cubicBezTo>
                  <a:cubicBezTo>
                    <a:pt x="68" y="209"/>
                    <a:pt x="67" y="212"/>
                    <a:pt x="67" y="214"/>
                  </a:cubicBezTo>
                  <a:cubicBezTo>
                    <a:pt x="68" y="216"/>
                    <a:pt x="67" y="218"/>
                    <a:pt x="67" y="219"/>
                  </a:cubicBezTo>
                  <a:cubicBezTo>
                    <a:pt x="66" y="220"/>
                    <a:pt x="66" y="222"/>
                    <a:pt x="66" y="224"/>
                  </a:cubicBezTo>
                  <a:cubicBezTo>
                    <a:pt x="66" y="226"/>
                    <a:pt x="64" y="227"/>
                    <a:pt x="62" y="227"/>
                  </a:cubicBezTo>
                  <a:cubicBezTo>
                    <a:pt x="59" y="227"/>
                    <a:pt x="55" y="227"/>
                    <a:pt x="52" y="228"/>
                  </a:cubicBezTo>
                  <a:cubicBezTo>
                    <a:pt x="48" y="229"/>
                    <a:pt x="44" y="232"/>
                    <a:pt x="43" y="234"/>
                  </a:cubicBezTo>
                  <a:cubicBezTo>
                    <a:pt x="41" y="236"/>
                    <a:pt x="37" y="239"/>
                    <a:pt x="34" y="240"/>
                  </a:cubicBezTo>
                  <a:cubicBezTo>
                    <a:pt x="30" y="241"/>
                    <a:pt x="28" y="244"/>
                    <a:pt x="27" y="246"/>
                  </a:cubicBezTo>
                  <a:cubicBezTo>
                    <a:pt x="27" y="248"/>
                    <a:pt x="29" y="250"/>
                    <a:pt x="30" y="250"/>
                  </a:cubicBezTo>
                  <a:cubicBezTo>
                    <a:pt x="32" y="251"/>
                    <a:pt x="35" y="252"/>
                    <a:pt x="36" y="254"/>
                  </a:cubicBezTo>
                  <a:cubicBezTo>
                    <a:pt x="37" y="256"/>
                    <a:pt x="38" y="262"/>
                    <a:pt x="37" y="267"/>
                  </a:cubicBezTo>
                  <a:cubicBezTo>
                    <a:pt x="37" y="271"/>
                    <a:pt x="36" y="277"/>
                    <a:pt x="37" y="279"/>
                  </a:cubicBezTo>
                  <a:cubicBezTo>
                    <a:pt x="37" y="282"/>
                    <a:pt x="39" y="285"/>
                    <a:pt x="41" y="287"/>
                  </a:cubicBezTo>
                  <a:cubicBezTo>
                    <a:pt x="44" y="290"/>
                    <a:pt x="46" y="292"/>
                    <a:pt x="46" y="293"/>
                  </a:cubicBezTo>
                  <a:cubicBezTo>
                    <a:pt x="46" y="294"/>
                    <a:pt x="45" y="296"/>
                    <a:pt x="44" y="297"/>
                  </a:cubicBezTo>
                  <a:cubicBezTo>
                    <a:pt x="43" y="297"/>
                    <a:pt x="41" y="300"/>
                    <a:pt x="40" y="302"/>
                  </a:cubicBezTo>
                  <a:cubicBezTo>
                    <a:pt x="38" y="305"/>
                    <a:pt x="35" y="307"/>
                    <a:pt x="32" y="308"/>
                  </a:cubicBezTo>
                  <a:cubicBezTo>
                    <a:pt x="29" y="308"/>
                    <a:pt x="25" y="310"/>
                    <a:pt x="23" y="311"/>
                  </a:cubicBezTo>
                  <a:cubicBezTo>
                    <a:pt x="21" y="312"/>
                    <a:pt x="18" y="314"/>
                    <a:pt x="16" y="316"/>
                  </a:cubicBezTo>
                  <a:cubicBezTo>
                    <a:pt x="14" y="318"/>
                    <a:pt x="13" y="321"/>
                    <a:pt x="13" y="322"/>
                  </a:cubicBezTo>
                  <a:cubicBezTo>
                    <a:pt x="12" y="324"/>
                    <a:pt x="13" y="328"/>
                    <a:pt x="13" y="332"/>
                  </a:cubicBezTo>
                  <a:cubicBezTo>
                    <a:pt x="14" y="335"/>
                    <a:pt x="12" y="337"/>
                    <a:pt x="10" y="337"/>
                  </a:cubicBezTo>
                  <a:cubicBezTo>
                    <a:pt x="8" y="336"/>
                    <a:pt x="4" y="336"/>
                    <a:pt x="2" y="337"/>
                  </a:cubicBezTo>
                  <a:cubicBezTo>
                    <a:pt x="1" y="338"/>
                    <a:pt x="0" y="340"/>
                    <a:pt x="2" y="341"/>
                  </a:cubicBezTo>
                  <a:cubicBezTo>
                    <a:pt x="3" y="343"/>
                    <a:pt x="4" y="344"/>
                    <a:pt x="4" y="344"/>
                  </a:cubicBezTo>
                  <a:cubicBezTo>
                    <a:pt x="4" y="344"/>
                    <a:pt x="4" y="347"/>
                    <a:pt x="3" y="351"/>
                  </a:cubicBezTo>
                  <a:cubicBezTo>
                    <a:pt x="3" y="355"/>
                    <a:pt x="4" y="358"/>
                    <a:pt x="5" y="356"/>
                  </a:cubicBezTo>
                  <a:cubicBezTo>
                    <a:pt x="7" y="355"/>
                    <a:pt x="9" y="356"/>
                    <a:pt x="10" y="358"/>
                  </a:cubicBezTo>
                  <a:cubicBezTo>
                    <a:pt x="11" y="360"/>
                    <a:pt x="12" y="363"/>
                    <a:pt x="13" y="364"/>
                  </a:cubicBezTo>
                  <a:cubicBezTo>
                    <a:pt x="14" y="366"/>
                    <a:pt x="14" y="369"/>
                    <a:pt x="13" y="370"/>
                  </a:cubicBezTo>
                  <a:cubicBezTo>
                    <a:pt x="12" y="372"/>
                    <a:pt x="11" y="374"/>
                    <a:pt x="10" y="376"/>
                  </a:cubicBezTo>
                  <a:cubicBezTo>
                    <a:pt x="9" y="377"/>
                    <a:pt x="9" y="379"/>
                    <a:pt x="10" y="381"/>
                  </a:cubicBezTo>
                  <a:cubicBezTo>
                    <a:pt x="11" y="383"/>
                    <a:pt x="13" y="385"/>
                    <a:pt x="15" y="386"/>
                  </a:cubicBezTo>
                  <a:cubicBezTo>
                    <a:pt x="17" y="387"/>
                    <a:pt x="24" y="390"/>
                    <a:pt x="31" y="392"/>
                  </a:cubicBezTo>
                  <a:cubicBezTo>
                    <a:pt x="38" y="394"/>
                    <a:pt x="43" y="394"/>
                    <a:pt x="42" y="393"/>
                  </a:cubicBezTo>
                  <a:cubicBezTo>
                    <a:pt x="42" y="391"/>
                    <a:pt x="44" y="390"/>
                    <a:pt x="47" y="390"/>
                  </a:cubicBezTo>
                  <a:cubicBezTo>
                    <a:pt x="50" y="391"/>
                    <a:pt x="54" y="392"/>
                    <a:pt x="55" y="394"/>
                  </a:cubicBezTo>
                  <a:cubicBezTo>
                    <a:pt x="56" y="396"/>
                    <a:pt x="57" y="399"/>
                    <a:pt x="59" y="401"/>
                  </a:cubicBezTo>
                  <a:cubicBezTo>
                    <a:pt x="60" y="404"/>
                    <a:pt x="62" y="406"/>
                    <a:pt x="63" y="408"/>
                  </a:cubicBezTo>
                  <a:cubicBezTo>
                    <a:pt x="65" y="409"/>
                    <a:pt x="69" y="410"/>
                    <a:pt x="72" y="410"/>
                  </a:cubicBezTo>
                  <a:cubicBezTo>
                    <a:pt x="76" y="410"/>
                    <a:pt x="82" y="411"/>
                    <a:pt x="86" y="412"/>
                  </a:cubicBezTo>
                  <a:cubicBezTo>
                    <a:pt x="89" y="413"/>
                    <a:pt x="94" y="413"/>
                    <a:pt x="97" y="412"/>
                  </a:cubicBezTo>
                  <a:cubicBezTo>
                    <a:pt x="99" y="411"/>
                    <a:pt x="104" y="410"/>
                    <a:pt x="108" y="410"/>
                  </a:cubicBezTo>
                  <a:cubicBezTo>
                    <a:pt x="112" y="410"/>
                    <a:pt x="115" y="410"/>
                    <a:pt x="115" y="410"/>
                  </a:cubicBezTo>
                  <a:cubicBezTo>
                    <a:pt x="115" y="410"/>
                    <a:pt x="116" y="410"/>
                    <a:pt x="118" y="409"/>
                  </a:cubicBezTo>
                  <a:cubicBezTo>
                    <a:pt x="119" y="409"/>
                    <a:pt x="123" y="409"/>
                    <a:pt x="126" y="410"/>
                  </a:cubicBezTo>
                  <a:cubicBezTo>
                    <a:pt x="130" y="411"/>
                    <a:pt x="133" y="411"/>
                    <a:pt x="133" y="410"/>
                  </a:cubicBezTo>
                  <a:cubicBezTo>
                    <a:pt x="134" y="408"/>
                    <a:pt x="136" y="407"/>
                    <a:pt x="137" y="406"/>
                  </a:cubicBezTo>
                  <a:cubicBezTo>
                    <a:pt x="139" y="406"/>
                    <a:pt x="141" y="407"/>
                    <a:pt x="143" y="408"/>
                  </a:cubicBezTo>
                  <a:cubicBezTo>
                    <a:pt x="144" y="410"/>
                    <a:pt x="147" y="412"/>
                    <a:pt x="150" y="413"/>
                  </a:cubicBezTo>
                  <a:cubicBezTo>
                    <a:pt x="153" y="413"/>
                    <a:pt x="159" y="415"/>
                    <a:pt x="162" y="417"/>
                  </a:cubicBezTo>
                  <a:cubicBezTo>
                    <a:pt x="166" y="419"/>
                    <a:pt x="169" y="421"/>
                    <a:pt x="169" y="421"/>
                  </a:cubicBezTo>
                  <a:cubicBezTo>
                    <a:pt x="169" y="421"/>
                    <a:pt x="168" y="416"/>
                    <a:pt x="166" y="411"/>
                  </a:cubicBezTo>
                  <a:cubicBezTo>
                    <a:pt x="165" y="406"/>
                    <a:pt x="164" y="399"/>
                    <a:pt x="164" y="396"/>
                  </a:cubicBezTo>
                  <a:cubicBezTo>
                    <a:pt x="164" y="393"/>
                    <a:pt x="164" y="391"/>
                    <a:pt x="163" y="392"/>
                  </a:cubicBezTo>
                  <a:cubicBezTo>
                    <a:pt x="162" y="393"/>
                    <a:pt x="161" y="393"/>
                    <a:pt x="161" y="391"/>
                  </a:cubicBezTo>
                  <a:cubicBezTo>
                    <a:pt x="160" y="389"/>
                    <a:pt x="161" y="386"/>
                    <a:pt x="162" y="384"/>
                  </a:cubicBezTo>
                  <a:cubicBezTo>
                    <a:pt x="163" y="381"/>
                    <a:pt x="165" y="377"/>
                    <a:pt x="167" y="374"/>
                  </a:cubicBezTo>
                  <a:cubicBezTo>
                    <a:pt x="169" y="371"/>
                    <a:pt x="170" y="366"/>
                    <a:pt x="170" y="362"/>
                  </a:cubicBezTo>
                  <a:cubicBezTo>
                    <a:pt x="170" y="359"/>
                    <a:pt x="170" y="352"/>
                    <a:pt x="169" y="348"/>
                  </a:cubicBezTo>
                  <a:cubicBezTo>
                    <a:pt x="168" y="343"/>
                    <a:pt x="167" y="339"/>
                    <a:pt x="167" y="339"/>
                  </a:cubicBezTo>
                  <a:cubicBezTo>
                    <a:pt x="168" y="329"/>
                    <a:pt x="168" y="329"/>
                    <a:pt x="168" y="329"/>
                  </a:cubicBezTo>
                  <a:cubicBezTo>
                    <a:pt x="168" y="329"/>
                    <a:pt x="168" y="327"/>
                    <a:pt x="168" y="324"/>
                  </a:cubicBezTo>
                  <a:cubicBezTo>
                    <a:pt x="168" y="321"/>
                    <a:pt x="168" y="317"/>
                    <a:pt x="168" y="314"/>
                  </a:cubicBezTo>
                  <a:cubicBezTo>
                    <a:pt x="168" y="311"/>
                    <a:pt x="167" y="307"/>
                    <a:pt x="166" y="305"/>
                  </a:cubicBezTo>
                  <a:cubicBezTo>
                    <a:pt x="164" y="303"/>
                    <a:pt x="164" y="301"/>
                    <a:pt x="165" y="300"/>
                  </a:cubicBezTo>
                  <a:cubicBezTo>
                    <a:pt x="166" y="300"/>
                    <a:pt x="166" y="297"/>
                    <a:pt x="166" y="294"/>
                  </a:cubicBezTo>
                  <a:cubicBezTo>
                    <a:pt x="165" y="292"/>
                    <a:pt x="164" y="287"/>
                    <a:pt x="163" y="284"/>
                  </a:cubicBezTo>
                  <a:cubicBezTo>
                    <a:pt x="162" y="281"/>
                    <a:pt x="162" y="278"/>
                    <a:pt x="163" y="277"/>
                  </a:cubicBezTo>
                  <a:cubicBezTo>
                    <a:pt x="163" y="277"/>
                    <a:pt x="164" y="274"/>
                    <a:pt x="165" y="272"/>
                  </a:cubicBezTo>
                  <a:cubicBezTo>
                    <a:pt x="166" y="270"/>
                    <a:pt x="167" y="266"/>
                    <a:pt x="167" y="264"/>
                  </a:cubicBezTo>
                  <a:cubicBezTo>
                    <a:pt x="168" y="262"/>
                    <a:pt x="168" y="258"/>
                    <a:pt x="168" y="256"/>
                  </a:cubicBezTo>
                  <a:cubicBezTo>
                    <a:pt x="168" y="253"/>
                    <a:pt x="168" y="250"/>
                    <a:pt x="167" y="250"/>
                  </a:cubicBezTo>
                  <a:cubicBezTo>
                    <a:pt x="166" y="250"/>
                    <a:pt x="164" y="250"/>
                    <a:pt x="162" y="250"/>
                  </a:cubicBezTo>
                  <a:cubicBezTo>
                    <a:pt x="160" y="250"/>
                    <a:pt x="159" y="250"/>
                    <a:pt x="160" y="248"/>
                  </a:cubicBezTo>
                  <a:cubicBezTo>
                    <a:pt x="161" y="247"/>
                    <a:pt x="161" y="244"/>
                    <a:pt x="161" y="243"/>
                  </a:cubicBezTo>
                  <a:cubicBezTo>
                    <a:pt x="162" y="241"/>
                    <a:pt x="162" y="240"/>
                    <a:pt x="163" y="242"/>
                  </a:cubicBezTo>
                  <a:cubicBezTo>
                    <a:pt x="164" y="243"/>
                    <a:pt x="166" y="242"/>
                    <a:pt x="167" y="240"/>
                  </a:cubicBezTo>
                  <a:cubicBezTo>
                    <a:pt x="168" y="238"/>
                    <a:pt x="169" y="235"/>
                    <a:pt x="169" y="234"/>
                  </a:cubicBezTo>
                  <a:cubicBezTo>
                    <a:pt x="168" y="233"/>
                    <a:pt x="168" y="231"/>
                    <a:pt x="168" y="230"/>
                  </a:cubicBezTo>
                  <a:cubicBezTo>
                    <a:pt x="168" y="228"/>
                    <a:pt x="168" y="226"/>
                    <a:pt x="168" y="224"/>
                  </a:cubicBezTo>
                  <a:cubicBezTo>
                    <a:pt x="168" y="222"/>
                    <a:pt x="169" y="219"/>
                    <a:pt x="169" y="218"/>
                  </a:cubicBezTo>
                  <a:cubicBezTo>
                    <a:pt x="170" y="216"/>
                    <a:pt x="170" y="214"/>
                    <a:pt x="171" y="213"/>
                  </a:cubicBezTo>
                  <a:cubicBezTo>
                    <a:pt x="171" y="211"/>
                    <a:pt x="170" y="210"/>
                    <a:pt x="169" y="209"/>
                  </a:cubicBezTo>
                  <a:cubicBezTo>
                    <a:pt x="167" y="208"/>
                    <a:pt x="167" y="206"/>
                    <a:pt x="167" y="205"/>
                  </a:cubicBezTo>
                  <a:cubicBezTo>
                    <a:pt x="168" y="203"/>
                    <a:pt x="168" y="200"/>
                    <a:pt x="168" y="199"/>
                  </a:cubicBezTo>
                  <a:cubicBezTo>
                    <a:pt x="168" y="198"/>
                    <a:pt x="167" y="196"/>
                    <a:pt x="166" y="195"/>
                  </a:cubicBezTo>
                  <a:cubicBezTo>
                    <a:pt x="165" y="194"/>
                    <a:pt x="165" y="193"/>
                    <a:pt x="166" y="193"/>
                  </a:cubicBezTo>
                  <a:cubicBezTo>
                    <a:pt x="167" y="193"/>
                    <a:pt x="168" y="191"/>
                    <a:pt x="168" y="190"/>
                  </a:cubicBezTo>
                  <a:cubicBezTo>
                    <a:pt x="168" y="188"/>
                    <a:pt x="167" y="186"/>
                    <a:pt x="166" y="186"/>
                  </a:cubicBezTo>
                  <a:cubicBezTo>
                    <a:pt x="165" y="185"/>
                    <a:pt x="164" y="184"/>
                    <a:pt x="165" y="183"/>
                  </a:cubicBezTo>
                  <a:cubicBezTo>
                    <a:pt x="166" y="183"/>
                    <a:pt x="166" y="181"/>
                    <a:pt x="166" y="180"/>
                  </a:cubicBezTo>
                  <a:cubicBezTo>
                    <a:pt x="166" y="179"/>
                    <a:pt x="166" y="177"/>
                    <a:pt x="166" y="175"/>
                  </a:cubicBezTo>
                  <a:cubicBezTo>
                    <a:pt x="166" y="174"/>
                    <a:pt x="167" y="173"/>
                    <a:pt x="168" y="174"/>
                  </a:cubicBezTo>
                  <a:cubicBezTo>
                    <a:pt x="170" y="175"/>
                    <a:pt x="172" y="177"/>
                    <a:pt x="172" y="178"/>
                  </a:cubicBezTo>
                  <a:cubicBezTo>
                    <a:pt x="173" y="180"/>
                    <a:pt x="175" y="181"/>
                    <a:pt x="177" y="182"/>
                  </a:cubicBezTo>
                  <a:cubicBezTo>
                    <a:pt x="178" y="182"/>
                    <a:pt x="180" y="181"/>
                    <a:pt x="179" y="180"/>
                  </a:cubicBezTo>
                  <a:cubicBezTo>
                    <a:pt x="179" y="179"/>
                    <a:pt x="180" y="178"/>
                    <a:pt x="181" y="178"/>
                  </a:cubicBezTo>
                  <a:cubicBezTo>
                    <a:pt x="182" y="178"/>
                    <a:pt x="182" y="176"/>
                    <a:pt x="181" y="174"/>
                  </a:cubicBezTo>
                  <a:cubicBezTo>
                    <a:pt x="180" y="172"/>
                    <a:pt x="180" y="170"/>
                    <a:pt x="180" y="170"/>
                  </a:cubicBezTo>
                  <a:cubicBezTo>
                    <a:pt x="181" y="170"/>
                    <a:pt x="183" y="170"/>
                    <a:pt x="186" y="171"/>
                  </a:cubicBezTo>
                  <a:cubicBezTo>
                    <a:pt x="188" y="171"/>
                    <a:pt x="189" y="172"/>
                    <a:pt x="189" y="173"/>
                  </a:cubicBezTo>
                  <a:cubicBezTo>
                    <a:pt x="189" y="174"/>
                    <a:pt x="189" y="175"/>
                    <a:pt x="189" y="176"/>
                  </a:cubicBezTo>
                  <a:cubicBezTo>
                    <a:pt x="189" y="177"/>
                    <a:pt x="188" y="182"/>
                    <a:pt x="186" y="186"/>
                  </a:cubicBezTo>
                  <a:cubicBezTo>
                    <a:pt x="185" y="190"/>
                    <a:pt x="182" y="198"/>
                    <a:pt x="181" y="202"/>
                  </a:cubicBezTo>
                  <a:cubicBezTo>
                    <a:pt x="180" y="206"/>
                    <a:pt x="178" y="215"/>
                    <a:pt x="176" y="220"/>
                  </a:cubicBezTo>
                  <a:cubicBezTo>
                    <a:pt x="175" y="226"/>
                    <a:pt x="173" y="234"/>
                    <a:pt x="172" y="237"/>
                  </a:cubicBezTo>
                  <a:cubicBezTo>
                    <a:pt x="172" y="240"/>
                    <a:pt x="171" y="245"/>
                    <a:pt x="171" y="246"/>
                  </a:cubicBezTo>
                  <a:cubicBezTo>
                    <a:pt x="170" y="247"/>
                    <a:pt x="170" y="255"/>
                    <a:pt x="169" y="262"/>
                  </a:cubicBezTo>
                  <a:cubicBezTo>
                    <a:pt x="169" y="270"/>
                    <a:pt x="168" y="278"/>
                    <a:pt x="168" y="281"/>
                  </a:cubicBezTo>
                  <a:cubicBezTo>
                    <a:pt x="168" y="284"/>
                    <a:pt x="168" y="289"/>
                    <a:pt x="169" y="291"/>
                  </a:cubicBezTo>
                  <a:cubicBezTo>
                    <a:pt x="169" y="294"/>
                    <a:pt x="169" y="292"/>
                    <a:pt x="170" y="286"/>
                  </a:cubicBezTo>
                  <a:cubicBezTo>
                    <a:pt x="170" y="281"/>
                    <a:pt x="171" y="271"/>
                    <a:pt x="171" y="264"/>
                  </a:cubicBezTo>
                  <a:cubicBezTo>
                    <a:pt x="172" y="257"/>
                    <a:pt x="173" y="246"/>
                    <a:pt x="174" y="240"/>
                  </a:cubicBezTo>
                  <a:cubicBezTo>
                    <a:pt x="175" y="233"/>
                    <a:pt x="178" y="222"/>
                    <a:pt x="180" y="215"/>
                  </a:cubicBezTo>
                  <a:cubicBezTo>
                    <a:pt x="182" y="208"/>
                    <a:pt x="185" y="198"/>
                    <a:pt x="186" y="193"/>
                  </a:cubicBezTo>
                  <a:cubicBezTo>
                    <a:pt x="188" y="188"/>
                    <a:pt x="192" y="180"/>
                    <a:pt x="194" y="176"/>
                  </a:cubicBezTo>
                  <a:cubicBezTo>
                    <a:pt x="196" y="172"/>
                    <a:pt x="200" y="166"/>
                    <a:pt x="201" y="162"/>
                  </a:cubicBezTo>
                  <a:cubicBezTo>
                    <a:pt x="202" y="158"/>
                    <a:pt x="204" y="152"/>
                    <a:pt x="205" y="149"/>
                  </a:cubicBezTo>
                  <a:cubicBezTo>
                    <a:pt x="206" y="146"/>
                    <a:pt x="206" y="141"/>
                    <a:pt x="206" y="139"/>
                  </a:cubicBezTo>
                  <a:cubicBezTo>
                    <a:pt x="206" y="137"/>
                    <a:pt x="206" y="135"/>
                    <a:pt x="207" y="134"/>
                  </a:cubicBezTo>
                  <a:cubicBezTo>
                    <a:pt x="208" y="132"/>
                    <a:pt x="208" y="131"/>
                    <a:pt x="208" y="131"/>
                  </a:cubicBezTo>
                  <a:cubicBezTo>
                    <a:pt x="208" y="131"/>
                    <a:pt x="206" y="131"/>
                    <a:pt x="202" y="132"/>
                  </a:cubicBezTo>
                  <a:cubicBezTo>
                    <a:pt x="199" y="132"/>
                    <a:pt x="195" y="133"/>
                    <a:pt x="194" y="135"/>
                  </a:cubicBezTo>
                  <a:cubicBezTo>
                    <a:pt x="192" y="136"/>
                    <a:pt x="189" y="137"/>
                    <a:pt x="187" y="137"/>
                  </a:cubicBezTo>
                  <a:cubicBezTo>
                    <a:pt x="185" y="137"/>
                    <a:pt x="181" y="136"/>
                    <a:pt x="179" y="134"/>
                  </a:cubicBezTo>
                  <a:cubicBezTo>
                    <a:pt x="176" y="132"/>
                    <a:pt x="173" y="129"/>
                    <a:pt x="171" y="128"/>
                  </a:cubicBezTo>
                  <a:cubicBezTo>
                    <a:pt x="169" y="127"/>
                    <a:pt x="166" y="126"/>
                    <a:pt x="164" y="125"/>
                  </a:cubicBezTo>
                  <a:cubicBezTo>
                    <a:pt x="162" y="124"/>
                    <a:pt x="158" y="124"/>
                    <a:pt x="156" y="124"/>
                  </a:cubicBezTo>
                  <a:cubicBezTo>
                    <a:pt x="153" y="125"/>
                    <a:pt x="148" y="125"/>
                    <a:pt x="144" y="124"/>
                  </a:cubicBezTo>
                  <a:cubicBezTo>
                    <a:pt x="140" y="124"/>
                    <a:pt x="135" y="123"/>
                    <a:pt x="132" y="123"/>
                  </a:cubicBezTo>
                  <a:cubicBezTo>
                    <a:pt x="129" y="122"/>
                    <a:pt x="126" y="120"/>
                    <a:pt x="124" y="118"/>
                  </a:cubicBezTo>
                  <a:cubicBezTo>
                    <a:pt x="122" y="116"/>
                    <a:pt x="117" y="113"/>
                    <a:pt x="112" y="112"/>
                  </a:cubicBezTo>
                  <a:cubicBezTo>
                    <a:pt x="108" y="111"/>
                    <a:pt x="103" y="109"/>
                    <a:pt x="100" y="109"/>
                  </a:cubicBezTo>
                  <a:cubicBezTo>
                    <a:pt x="98" y="109"/>
                    <a:pt x="95" y="108"/>
                    <a:pt x="93" y="105"/>
                  </a:cubicBezTo>
                  <a:cubicBezTo>
                    <a:pt x="92" y="103"/>
                    <a:pt x="89" y="102"/>
                    <a:pt x="87" y="102"/>
                  </a:cubicBezTo>
                  <a:cubicBezTo>
                    <a:pt x="85" y="103"/>
                    <a:pt x="82" y="102"/>
                    <a:pt x="80" y="101"/>
                  </a:cubicBezTo>
                  <a:cubicBezTo>
                    <a:pt x="79" y="100"/>
                    <a:pt x="76" y="100"/>
                    <a:pt x="73" y="100"/>
                  </a:cubicBezTo>
                  <a:cubicBezTo>
                    <a:pt x="71" y="100"/>
                    <a:pt x="69" y="99"/>
                    <a:pt x="68" y="96"/>
                  </a:cubicBezTo>
                  <a:cubicBezTo>
                    <a:pt x="67" y="94"/>
                    <a:pt x="66" y="91"/>
                    <a:pt x="65" y="90"/>
                  </a:cubicBezTo>
                  <a:cubicBezTo>
                    <a:pt x="64" y="89"/>
                    <a:pt x="63" y="87"/>
                    <a:pt x="63" y="85"/>
                  </a:cubicBezTo>
                  <a:cubicBezTo>
                    <a:pt x="62" y="83"/>
                    <a:pt x="62" y="80"/>
                    <a:pt x="61" y="79"/>
                  </a:cubicBezTo>
                  <a:cubicBezTo>
                    <a:pt x="60" y="77"/>
                    <a:pt x="58" y="73"/>
                    <a:pt x="57" y="70"/>
                  </a:cubicBezTo>
                  <a:cubicBezTo>
                    <a:pt x="56" y="67"/>
                    <a:pt x="55" y="63"/>
                    <a:pt x="53" y="62"/>
                  </a:cubicBezTo>
                  <a:cubicBezTo>
                    <a:pt x="52" y="61"/>
                    <a:pt x="49" y="56"/>
                    <a:pt x="47" y="52"/>
                  </a:cubicBezTo>
                  <a:cubicBezTo>
                    <a:pt x="45" y="48"/>
                    <a:pt x="43" y="43"/>
                    <a:pt x="43" y="40"/>
                  </a:cubicBezTo>
                  <a:cubicBezTo>
                    <a:pt x="43" y="38"/>
                    <a:pt x="42" y="34"/>
                    <a:pt x="40" y="32"/>
                  </a:cubicBezTo>
                  <a:cubicBezTo>
                    <a:pt x="39" y="30"/>
                    <a:pt x="38" y="27"/>
                    <a:pt x="39" y="26"/>
                  </a:cubicBezTo>
                  <a:cubicBezTo>
                    <a:pt x="40" y="24"/>
                    <a:pt x="40" y="21"/>
                    <a:pt x="40" y="18"/>
                  </a:cubicBezTo>
                  <a:cubicBezTo>
                    <a:pt x="40" y="15"/>
                    <a:pt x="39" y="12"/>
                    <a:pt x="37" y="10"/>
                  </a:cubicBezTo>
                  <a:cubicBezTo>
                    <a:pt x="35" y="8"/>
                    <a:pt x="32" y="6"/>
                    <a:pt x="31" y="5"/>
                  </a:cubicBezTo>
                  <a:cubicBezTo>
                    <a:pt x="29" y="4"/>
                    <a:pt x="27" y="3"/>
                    <a:pt x="26" y="2"/>
                  </a:cubicBezTo>
                  <a:cubicBezTo>
                    <a:pt x="25" y="2"/>
                    <a:pt x="24" y="1"/>
                    <a:pt x="23" y="0"/>
                  </a:cubicBezTo>
                  <a:cubicBezTo>
                    <a:pt x="23" y="0"/>
                    <a:pt x="21" y="2"/>
                    <a:pt x="19" y="4"/>
                  </a:cubicBezTo>
                  <a:cubicBezTo>
                    <a:pt x="16" y="6"/>
                    <a:pt x="14" y="10"/>
                    <a:pt x="14" y="1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7" name="Freeform 29">
              <a:extLst>
                <a:ext uri="{FF2B5EF4-FFF2-40B4-BE49-F238E27FC236}">
                  <a16:creationId xmlns:a16="http://schemas.microsoft.com/office/drawing/2014/main" id="{77461854-ADF8-79AB-8DF1-3680004D5D1A}"/>
                </a:ext>
              </a:extLst>
            </p:cNvPr>
            <p:cNvSpPr>
              <a:spLocks/>
            </p:cNvSpPr>
            <p:nvPr/>
          </p:nvSpPr>
          <p:spPr bwMode="auto">
            <a:xfrm>
              <a:off x="3279747" y="3919520"/>
              <a:ext cx="473075" cy="682625"/>
            </a:xfrm>
            <a:custGeom>
              <a:avLst/>
              <a:gdLst/>
              <a:ahLst/>
              <a:cxnLst>
                <a:cxn ang="0">
                  <a:pos x="84" y="49"/>
                </a:cxn>
                <a:cxn ang="0">
                  <a:pos x="73" y="33"/>
                </a:cxn>
                <a:cxn ang="0">
                  <a:pos x="54" y="37"/>
                </a:cxn>
                <a:cxn ang="0">
                  <a:pos x="58" y="19"/>
                </a:cxn>
                <a:cxn ang="0">
                  <a:pos x="45" y="5"/>
                </a:cxn>
                <a:cxn ang="0">
                  <a:pos x="29" y="1"/>
                </a:cxn>
                <a:cxn ang="0">
                  <a:pos x="23" y="5"/>
                </a:cxn>
                <a:cxn ang="0">
                  <a:pos x="13" y="24"/>
                </a:cxn>
                <a:cxn ang="0">
                  <a:pos x="18" y="43"/>
                </a:cxn>
                <a:cxn ang="0">
                  <a:pos x="5" y="40"/>
                </a:cxn>
                <a:cxn ang="0">
                  <a:pos x="0" y="46"/>
                </a:cxn>
                <a:cxn ang="0">
                  <a:pos x="3" y="58"/>
                </a:cxn>
                <a:cxn ang="0">
                  <a:pos x="1" y="74"/>
                </a:cxn>
                <a:cxn ang="0">
                  <a:pos x="9" y="93"/>
                </a:cxn>
                <a:cxn ang="0">
                  <a:pos x="16" y="106"/>
                </a:cxn>
                <a:cxn ang="0">
                  <a:pos x="19" y="112"/>
                </a:cxn>
                <a:cxn ang="0">
                  <a:pos x="29" y="118"/>
                </a:cxn>
                <a:cxn ang="0">
                  <a:pos x="32" y="134"/>
                </a:cxn>
                <a:cxn ang="0">
                  <a:pos x="25" y="155"/>
                </a:cxn>
                <a:cxn ang="0">
                  <a:pos x="11" y="172"/>
                </a:cxn>
                <a:cxn ang="0">
                  <a:pos x="18" y="176"/>
                </a:cxn>
                <a:cxn ang="0">
                  <a:pos x="29" y="176"/>
                </a:cxn>
                <a:cxn ang="0">
                  <a:pos x="47" y="166"/>
                </a:cxn>
                <a:cxn ang="0">
                  <a:pos x="71" y="162"/>
                </a:cxn>
                <a:cxn ang="0">
                  <a:pos x="94" y="179"/>
                </a:cxn>
                <a:cxn ang="0">
                  <a:pos x="105" y="166"/>
                </a:cxn>
                <a:cxn ang="0">
                  <a:pos x="110" y="149"/>
                </a:cxn>
                <a:cxn ang="0">
                  <a:pos x="124" y="140"/>
                </a:cxn>
                <a:cxn ang="0">
                  <a:pos x="121" y="129"/>
                </a:cxn>
                <a:cxn ang="0">
                  <a:pos x="110" y="125"/>
                </a:cxn>
                <a:cxn ang="0">
                  <a:pos x="111" y="114"/>
                </a:cxn>
                <a:cxn ang="0">
                  <a:pos x="109" y="93"/>
                </a:cxn>
                <a:cxn ang="0">
                  <a:pos x="96" y="75"/>
                </a:cxn>
                <a:cxn ang="0">
                  <a:pos x="101" y="62"/>
                </a:cxn>
                <a:cxn ang="0">
                  <a:pos x="103" y="49"/>
                </a:cxn>
              </a:cxnLst>
              <a:rect l="0" t="0" r="r" b="b"/>
              <a:pathLst>
                <a:path w="126" h="182">
                  <a:moveTo>
                    <a:pt x="95" y="49"/>
                  </a:moveTo>
                  <a:cubicBezTo>
                    <a:pt x="91" y="51"/>
                    <a:pt x="86" y="50"/>
                    <a:pt x="84" y="49"/>
                  </a:cubicBezTo>
                  <a:cubicBezTo>
                    <a:pt x="81" y="47"/>
                    <a:pt x="79" y="44"/>
                    <a:pt x="78" y="41"/>
                  </a:cubicBezTo>
                  <a:cubicBezTo>
                    <a:pt x="78" y="39"/>
                    <a:pt x="75" y="35"/>
                    <a:pt x="73" y="33"/>
                  </a:cubicBezTo>
                  <a:cubicBezTo>
                    <a:pt x="71" y="31"/>
                    <a:pt x="66" y="32"/>
                    <a:pt x="62" y="35"/>
                  </a:cubicBezTo>
                  <a:cubicBezTo>
                    <a:pt x="58" y="38"/>
                    <a:pt x="55" y="39"/>
                    <a:pt x="54" y="37"/>
                  </a:cubicBezTo>
                  <a:cubicBezTo>
                    <a:pt x="53" y="35"/>
                    <a:pt x="54" y="32"/>
                    <a:pt x="55" y="29"/>
                  </a:cubicBezTo>
                  <a:cubicBezTo>
                    <a:pt x="57" y="26"/>
                    <a:pt x="58" y="22"/>
                    <a:pt x="58" y="19"/>
                  </a:cubicBezTo>
                  <a:cubicBezTo>
                    <a:pt x="58" y="16"/>
                    <a:pt x="56" y="12"/>
                    <a:pt x="54" y="11"/>
                  </a:cubicBezTo>
                  <a:cubicBezTo>
                    <a:pt x="52" y="9"/>
                    <a:pt x="48" y="7"/>
                    <a:pt x="45" y="5"/>
                  </a:cubicBezTo>
                  <a:cubicBezTo>
                    <a:pt x="42" y="4"/>
                    <a:pt x="38" y="2"/>
                    <a:pt x="36" y="2"/>
                  </a:cubicBezTo>
                  <a:cubicBezTo>
                    <a:pt x="35" y="2"/>
                    <a:pt x="32" y="1"/>
                    <a:pt x="29" y="1"/>
                  </a:cubicBezTo>
                  <a:cubicBezTo>
                    <a:pt x="27" y="1"/>
                    <a:pt x="25" y="0"/>
                    <a:pt x="25" y="0"/>
                  </a:cubicBezTo>
                  <a:cubicBezTo>
                    <a:pt x="25" y="0"/>
                    <a:pt x="24" y="2"/>
                    <a:pt x="23" y="5"/>
                  </a:cubicBezTo>
                  <a:cubicBezTo>
                    <a:pt x="21" y="8"/>
                    <a:pt x="18" y="12"/>
                    <a:pt x="15" y="15"/>
                  </a:cubicBezTo>
                  <a:cubicBezTo>
                    <a:pt x="13" y="18"/>
                    <a:pt x="12" y="22"/>
                    <a:pt x="13" y="24"/>
                  </a:cubicBezTo>
                  <a:cubicBezTo>
                    <a:pt x="14" y="27"/>
                    <a:pt x="16" y="31"/>
                    <a:pt x="18" y="35"/>
                  </a:cubicBezTo>
                  <a:cubicBezTo>
                    <a:pt x="19" y="39"/>
                    <a:pt x="19" y="42"/>
                    <a:pt x="18" y="43"/>
                  </a:cubicBezTo>
                  <a:cubicBezTo>
                    <a:pt x="16" y="44"/>
                    <a:pt x="13" y="44"/>
                    <a:pt x="11" y="43"/>
                  </a:cubicBezTo>
                  <a:cubicBezTo>
                    <a:pt x="10" y="41"/>
                    <a:pt x="7" y="40"/>
                    <a:pt x="5" y="40"/>
                  </a:cubicBezTo>
                  <a:cubicBezTo>
                    <a:pt x="4" y="39"/>
                    <a:pt x="2" y="41"/>
                    <a:pt x="1" y="43"/>
                  </a:cubicBezTo>
                  <a:cubicBezTo>
                    <a:pt x="1" y="45"/>
                    <a:pt x="0" y="46"/>
                    <a:pt x="0" y="46"/>
                  </a:cubicBezTo>
                  <a:cubicBezTo>
                    <a:pt x="0" y="46"/>
                    <a:pt x="1" y="48"/>
                    <a:pt x="1" y="51"/>
                  </a:cubicBezTo>
                  <a:cubicBezTo>
                    <a:pt x="2" y="54"/>
                    <a:pt x="3" y="57"/>
                    <a:pt x="3" y="58"/>
                  </a:cubicBezTo>
                  <a:cubicBezTo>
                    <a:pt x="3" y="60"/>
                    <a:pt x="2" y="62"/>
                    <a:pt x="2" y="64"/>
                  </a:cubicBezTo>
                  <a:cubicBezTo>
                    <a:pt x="2" y="66"/>
                    <a:pt x="1" y="71"/>
                    <a:pt x="1" y="74"/>
                  </a:cubicBezTo>
                  <a:cubicBezTo>
                    <a:pt x="0" y="77"/>
                    <a:pt x="1" y="82"/>
                    <a:pt x="3" y="84"/>
                  </a:cubicBezTo>
                  <a:cubicBezTo>
                    <a:pt x="4" y="86"/>
                    <a:pt x="7" y="90"/>
                    <a:pt x="9" y="93"/>
                  </a:cubicBezTo>
                  <a:cubicBezTo>
                    <a:pt x="11" y="96"/>
                    <a:pt x="13" y="100"/>
                    <a:pt x="14" y="102"/>
                  </a:cubicBezTo>
                  <a:cubicBezTo>
                    <a:pt x="15" y="104"/>
                    <a:pt x="16" y="106"/>
                    <a:pt x="16" y="106"/>
                  </a:cubicBezTo>
                  <a:cubicBezTo>
                    <a:pt x="16" y="106"/>
                    <a:pt x="16" y="107"/>
                    <a:pt x="16" y="108"/>
                  </a:cubicBezTo>
                  <a:cubicBezTo>
                    <a:pt x="16" y="109"/>
                    <a:pt x="18" y="111"/>
                    <a:pt x="19" y="112"/>
                  </a:cubicBezTo>
                  <a:cubicBezTo>
                    <a:pt x="21" y="112"/>
                    <a:pt x="24" y="114"/>
                    <a:pt x="25" y="115"/>
                  </a:cubicBezTo>
                  <a:cubicBezTo>
                    <a:pt x="26" y="116"/>
                    <a:pt x="28" y="117"/>
                    <a:pt x="29" y="118"/>
                  </a:cubicBezTo>
                  <a:cubicBezTo>
                    <a:pt x="31" y="118"/>
                    <a:pt x="32" y="121"/>
                    <a:pt x="32" y="124"/>
                  </a:cubicBezTo>
                  <a:cubicBezTo>
                    <a:pt x="33" y="127"/>
                    <a:pt x="32" y="131"/>
                    <a:pt x="32" y="134"/>
                  </a:cubicBezTo>
                  <a:cubicBezTo>
                    <a:pt x="31" y="137"/>
                    <a:pt x="30" y="143"/>
                    <a:pt x="30" y="146"/>
                  </a:cubicBezTo>
                  <a:cubicBezTo>
                    <a:pt x="29" y="150"/>
                    <a:pt x="27" y="154"/>
                    <a:pt x="25" y="155"/>
                  </a:cubicBezTo>
                  <a:cubicBezTo>
                    <a:pt x="24" y="156"/>
                    <a:pt x="20" y="160"/>
                    <a:pt x="18" y="163"/>
                  </a:cubicBezTo>
                  <a:cubicBezTo>
                    <a:pt x="16" y="166"/>
                    <a:pt x="13" y="170"/>
                    <a:pt x="11" y="172"/>
                  </a:cubicBezTo>
                  <a:cubicBezTo>
                    <a:pt x="8" y="173"/>
                    <a:pt x="8" y="175"/>
                    <a:pt x="10" y="176"/>
                  </a:cubicBezTo>
                  <a:cubicBezTo>
                    <a:pt x="12" y="177"/>
                    <a:pt x="16" y="177"/>
                    <a:pt x="18" y="176"/>
                  </a:cubicBezTo>
                  <a:cubicBezTo>
                    <a:pt x="20" y="176"/>
                    <a:pt x="23" y="177"/>
                    <a:pt x="23" y="178"/>
                  </a:cubicBezTo>
                  <a:cubicBezTo>
                    <a:pt x="23" y="178"/>
                    <a:pt x="26" y="177"/>
                    <a:pt x="29" y="176"/>
                  </a:cubicBezTo>
                  <a:cubicBezTo>
                    <a:pt x="32" y="176"/>
                    <a:pt x="36" y="173"/>
                    <a:pt x="38" y="170"/>
                  </a:cubicBezTo>
                  <a:cubicBezTo>
                    <a:pt x="39" y="168"/>
                    <a:pt x="43" y="166"/>
                    <a:pt x="47" y="166"/>
                  </a:cubicBezTo>
                  <a:cubicBezTo>
                    <a:pt x="50" y="166"/>
                    <a:pt x="56" y="165"/>
                    <a:pt x="60" y="163"/>
                  </a:cubicBezTo>
                  <a:cubicBezTo>
                    <a:pt x="64" y="161"/>
                    <a:pt x="69" y="160"/>
                    <a:pt x="71" y="162"/>
                  </a:cubicBezTo>
                  <a:cubicBezTo>
                    <a:pt x="73" y="164"/>
                    <a:pt x="78" y="167"/>
                    <a:pt x="81" y="169"/>
                  </a:cubicBezTo>
                  <a:cubicBezTo>
                    <a:pt x="84" y="171"/>
                    <a:pt x="90" y="176"/>
                    <a:pt x="94" y="179"/>
                  </a:cubicBezTo>
                  <a:cubicBezTo>
                    <a:pt x="98" y="182"/>
                    <a:pt x="101" y="181"/>
                    <a:pt x="102" y="177"/>
                  </a:cubicBezTo>
                  <a:cubicBezTo>
                    <a:pt x="102" y="172"/>
                    <a:pt x="104" y="167"/>
                    <a:pt x="105" y="166"/>
                  </a:cubicBezTo>
                  <a:cubicBezTo>
                    <a:pt x="106" y="164"/>
                    <a:pt x="107" y="160"/>
                    <a:pt x="107" y="157"/>
                  </a:cubicBezTo>
                  <a:cubicBezTo>
                    <a:pt x="107" y="155"/>
                    <a:pt x="109" y="151"/>
                    <a:pt x="110" y="149"/>
                  </a:cubicBezTo>
                  <a:cubicBezTo>
                    <a:pt x="111" y="148"/>
                    <a:pt x="115" y="145"/>
                    <a:pt x="117" y="144"/>
                  </a:cubicBezTo>
                  <a:cubicBezTo>
                    <a:pt x="120" y="143"/>
                    <a:pt x="123" y="141"/>
                    <a:pt x="124" y="140"/>
                  </a:cubicBezTo>
                  <a:cubicBezTo>
                    <a:pt x="126" y="138"/>
                    <a:pt x="126" y="136"/>
                    <a:pt x="125" y="134"/>
                  </a:cubicBezTo>
                  <a:cubicBezTo>
                    <a:pt x="125" y="132"/>
                    <a:pt x="123" y="130"/>
                    <a:pt x="121" y="129"/>
                  </a:cubicBezTo>
                  <a:cubicBezTo>
                    <a:pt x="120" y="128"/>
                    <a:pt x="118" y="128"/>
                    <a:pt x="116" y="127"/>
                  </a:cubicBezTo>
                  <a:cubicBezTo>
                    <a:pt x="115" y="127"/>
                    <a:pt x="112" y="126"/>
                    <a:pt x="110" y="125"/>
                  </a:cubicBezTo>
                  <a:cubicBezTo>
                    <a:pt x="108" y="123"/>
                    <a:pt x="107" y="121"/>
                    <a:pt x="108" y="120"/>
                  </a:cubicBezTo>
                  <a:cubicBezTo>
                    <a:pt x="109" y="119"/>
                    <a:pt x="110" y="116"/>
                    <a:pt x="111" y="114"/>
                  </a:cubicBezTo>
                  <a:cubicBezTo>
                    <a:pt x="112" y="111"/>
                    <a:pt x="113" y="106"/>
                    <a:pt x="114" y="103"/>
                  </a:cubicBezTo>
                  <a:cubicBezTo>
                    <a:pt x="114" y="100"/>
                    <a:pt x="112" y="96"/>
                    <a:pt x="109" y="93"/>
                  </a:cubicBezTo>
                  <a:cubicBezTo>
                    <a:pt x="106" y="90"/>
                    <a:pt x="102" y="86"/>
                    <a:pt x="100" y="84"/>
                  </a:cubicBezTo>
                  <a:cubicBezTo>
                    <a:pt x="97" y="81"/>
                    <a:pt x="96" y="77"/>
                    <a:pt x="96" y="75"/>
                  </a:cubicBezTo>
                  <a:cubicBezTo>
                    <a:pt x="97" y="73"/>
                    <a:pt x="98" y="69"/>
                    <a:pt x="99" y="66"/>
                  </a:cubicBezTo>
                  <a:cubicBezTo>
                    <a:pt x="100" y="64"/>
                    <a:pt x="101" y="62"/>
                    <a:pt x="101" y="62"/>
                  </a:cubicBezTo>
                  <a:cubicBezTo>
                    <a:pt x="101" y="62"/>
                    <a:pt x="102" y="59"/>
                    <a:pt x="103" y="56"/>
                  </a:cubicBezTo>
                  <a:cubicBezTo>
                    <a:pt x="104" y="53"/>
                    <a:pt x="104" y="50"/>
                    <a:pt x="103" y="49"/>
                  </a:cubicBezTo>
                  <a:cubicBezTo>
                    <a:pt x="103" y="49"/>
                    <a:pt x="98" y="48"/>
                    <a:pt x="9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8" name="Freeform 30">
              <a:extLst>
                <a:ext uri="{FF2B5EF4-FFF2-40B4-BE49-F238E27FC236}">
                  <a16:creationId xmlns:a16="http://schemas.microsoft.com/office/drawing/2014/main" id="{29D3E1A1-5920-4F49-1D7D-602FE63B50C6}"/>
                </a:ext>
              </a:extLst>
            </p:cNvPr>
            <p:cNvSpPr>
              <a:spLocks/>
            </p:cNvSpPr>
            <p:nvPr/>
          </p:nvSpPr>
          <p:spPr bwMode="auto">
            <a:xfrm>
              <a:off x="2925734" y="2817795"/>
              <a:ext cx="1235075" cy="1292225"/>
            </a:xfrm>
            <a:custGeom>
              <a:avLst/>
              <a:gdLst/>
              <a:ahLst/>
              <a:cxnLst>
                <a:cxn ang="0">
                  <a:pos x="319" y="143"/>
                </a:cxn>
                <a:cxn ang="0">
                  <a:pos x="309" y="149"/>
                </a:cxn>
                <a:cxn ang="0">
                  <a:pos x="301" y="164"/>
                </a:cxn>
                <a:cxn ang="0">
                  <a:pos x="282" y="156"/>
                </a:cxn>
                <a:cxn ang="0">
                  <a:pos x="274" y="143"/>
                </a:cxn>
                <a:cxn ang="0">
                  <a:pos x="267" y="133"/>
                </a:cxn>
                <a:cxn ang="0">
                  <a:pos x="258" y="119"/>
                </a:cxn>
                <a:cxn ang="0">
                  <a:pos x="261" y="107"/>
                </a:cxn>
                <a:cxn ang="0">
                  <a:pos x="268" y="94"/>
                </a:cxn>
                <a:cxn ang="0">
                  <a:pos x="271" y="64"/>
                </a:cxn>
                <a:cxn ang="0">
                  <a:pos x="274" y="43"/>
                </a:cxn>
                <a:cxn ang="0">
                  <a:pos x="249" y="16"/>
                </a:cxn>
                <a:cxn ang="0">
                  <a:pos x="230" y="8"/>
                </a:cxn>
                <a:cxn ang="0">
                  <a:pos x="212" y="7"/>
                </a:cxn>
                <a:cxn ang="0">
                  <a:pos x="193" y="28"/>
                </a:cxn>
                <a:cxn ang="0">
                  <a:pos x="179" y="36"/>
                </a:cxn>
                <a:cxn ang="0">
                  <a:pos x="164" y="27"/>
                </a:cxn>
                <a:cxn ang="0">
                  <a:pos x="144" y="24"/>
                </a:cxn>
                <a:cxn ang="0">
                  <a:pos x="126" y="25"/>
                </a:cxn>
                <a:cxn ang="0">
                  <a:pos x="107" y="13"/>
                </a:cxn>
                <a:cxn ang="0">
                  <a:pos x="86" y="2"/>
                </a:cxn>
                <a:cxn ang="0">
                  <a:pos x="74" y="4"/>
                </a:cxn>
                <a:cxn ang="0">
                  <a:pos x="69" y="18"/>
                </a:cxn>
                <a:cxn ang="0">
                  <a:pos x="63" y="29"/>
                </a:cxn>
                <a:cxn ang="0">
                  <a:pos x="52" y="36"/>
                </a:cxn>
                <a:cxn ang="0">
                  <a:pos x="53" y="51"/>
                </a:cxn>
                <a:cxn ang="0">
                  <a:pos x="44" y="63"/>
                </a:cxn>
                <a:cxn ang="0">
                  <a:pos x="41" y="77"/>
                </a:cxn>
                <a:cxn ang="0">
                  <a:pos x="23" y="89"/>
                </a:cxn>
                <a:cxn ang="0">
                  <a:pos x="11" y="91"/>
                </a:cxn>
                <a:cxn ang="0">
                  <a:pos x="1" y="111"/>
                </a:cxn>
                <a:cxn ang="0">
                  <a:pos x="2" y="139"/>
                </a:cxn>
                <a:cxn ang="0">
                  <a:pos x="11" y="150"/>
                </a:cxn>
                <a:cxn ang="0">
                  <a:pos x="21" y="159"/>
                </a:cxn>
                <a:cxn ang="0">
                  <a:pos x="29" y="173"/>
                </a:cxn>
                <a:cxn ang="0">
                  <a:pos x="37" y="190"/>
                </a:cxn>
                <a:cxn ang="0">
                  <a:pos x="51" y="192"/>
                </a:cxn>
                <a:cxn ang="0">
                  <a:pos x="60" y="186"/>
                </a:cxn>
                <a:cxn ang="0">
                  <a:pos x="73" y="195"/>
                </a:cxn>
                <a:cxn ang="0">
                  <a:pos x="82" y="212"/>
                </a:cxn>
                <a:cxn ang="0">
                  <a:pos x="83" y="232"/>
                </a:cxn>
                <a:cxn ang="0">
                  <a:pos x="94" y="260"/>
                </a:cxn>
                <a:cxn ang="0">
                  <a:pos x="101" y="278"/>
                </a:cxn>
                <a:cxn ang="0">
                  <a:pos x="114" y="285"/>
                </a:cxn>
                <a:cxn ang="0">
                  <a:pos x="119" y="293"/>
                </a:cxn>
                <a:cxn ang="0">
                  <a:pos x="130" y="295"/>
                </a:cxn>
                <a:cxn ang="0">
                  <a:pos x="148" y="304"/>
                </a:cxn>
                <a:cxn ang="0">
                  <a:pos x="149" y="322"/>
                </a:cxn>
                <a:cxn ang="0">
                  <a:pos x="156" y="328"/>
                </a:cxn>
                <a:cxn ang="0">
                  <a:pos x="172" y="334"/>
                </a:cxn>
                <a:cxn ang="0">
                  <a:pos x="189" y="342"/>
                </a:cxn>
                <a:cxn ang="0">
                  <a:pos x="199" y="335"/>
                </a:cxn>
                <a:cxn ang="0">
                  <a:pos x="205" y="299"/>
                </a:cxn>
                <a:cxn ang="0">
                  <a:pos x="211" y="272"/>
                </a:cxn>
                <a:cxn ang="0">
                  <a:pos x="224" y="255"/>
                </a:cxn>
                <a:cxn ang="0">
                  <a:pos x="231" y="249"/>
                </a:cxn>
                <a:cxn ang="0">
                  <a:pos x="232" y="223"/>
                </a:cxn>
                <a:cxn ang="0">
                  <a:pos x="243" y="210"/>
                </a:cxn>
                <a:cxn ang="0">
                  <a:pos x="258" y="196"/>
                </a:cxn>
                <a:cxn ang="0">
                  <a:pos x="282" y="186"/>
                </a:cxn>
                <a:cxn ang="0">
                  <a:pos x="318" y="191"/>
                </a:cxn>
                <a:cxn ang="0">
                  <a:pos x="329" y="173"/>
                </a:cxn>
              </a:cxnLst>
              <a:rect l="0" t="0" r="r" b="b"/>
              <a:pathLst>
                <a:path w="329" h="344">
                  <a:moveTo>
                    <a:pt x="324" y="150"/>
                  </a:moveTo>
                  <a:cubicBezTo>
                    <a:pt x="321" y="146"/>
                    <a:pt x="319" y="143"/>
                    <a:pt x="319" y="143"/>
                  </a:cubicBezTo>
                  <a:cubicBezTo>
                    <a:pt x="319" y="143"/>
                    <a:pt x="317" y="144"/>
                    <a:pt x="315" y="145"/>
                  </a:cubicBezTo>
                  <a:cubicBezTo>
                    <a:pt x="313" y="146"/>
                    <a:pt x="310" y="148"/>
                    <a:pt x="309" y="149"/>
                  </a:cubicBezTo>
                  <a:cubicBezTo>
                    <a:pt x="308" y="151"/>
                    <a:pt x="306" y="155"/>
                    <a:pt x="306" y="160"/>
                  </a:cubicBezTo>
                  <a:cubicBezTo>
                    <a:pt x="305" y="164"/>
                    <a:pt x="303" y="166"/>
                    <a:pt x="301" y="164"/>
                  </a:cubicBezTo>
                  <a:cubicBezTo>
                    <a:pt x="298" y="163"/>
                    <a:pt x="294" y="161"/>
                    <a:pt x="291" y="160"/>
                  </a:cubicBezTo>
                  <a:cubicBezTo>
                    <a:pt x="288" y="159"/>
                    <a:pt x="284" y="157"/>
                    <a:pt x="282" y="156"/>
                  </a:cubicBezTo>
                  <a:cubicBezTo>
                    <a:pt x="281" y="155"/>
                    <a:pt x="278" y="152"/>
                    <a:pt x="277" y="151"/>
                  </a:cubicBezTo>
                  <a:cubicBezTo>
                    <a:pt x="276" y="149"/>
                    <a:pt x="275" y="145"/>
                    <a:pt x="274" y="143"/>
                  </a:cubicBezTo>
                  <a:cubicBezTo>
                    <a:pt x="273" y="141"/>
                    <a:pt x="272" y="138"/>
                    <a:pt x="271" y="137"/>
                  </a:cubicBezTo>
                  <a:cubicBezTo>
                    <a:pt x="270" y="136"/>
                    <a:pt x="268" y="134"/>
                    <a:pt x="267" y="133"/>
                  </a:cubicBezTo>
                  <a:cubicBezTo>
                    <a:pt x="265" y="131"/>
                    <a:pt x="262" y="128"/>
                    <a:pt x="260" y="127"/>
                  </a:cubicBezTo>
                  <a:cubicBezTo>
                    <a:pt x="258" y="125"/>
                    <a:pt x="257" y="122"/>
                    <a:pt x="258" y="119"/>
                  </a:cubicBezTo>
                  <a:cubicBezTo>
                    <a:pt x="259" y="117"/>
                    <a:pt x="261" y="114"/>
                    <a:pt x="262" y="113"/>
                  </a:cubicBezTo>
                  <a:cubicBezTo>
                    <a:pt x="264" y="112"/>
                    <a:pt x="264" y="109"/>
                    <a:pt x="261" y="107"/>
                  </a:cubicBezTo>
                  <a:cubicBezTo>
                    <a:pt x="259" y="105"/>
                    <a:pt x="259" y="102"/>
                    <a:pt x="261" y="100"/>
                  </a:cubicBezTo>
                  <a:cubicBezTo>
                    <a:pt x="263" y="98"/>
                    <a:pt x="266" y="95"/>
                    <a:pt x="268" y="94"/>
                  </a:cubicBezTo>
                  <a:cubicBezTo>
                    <a:pt x="270" y="93"/>
                    <a:pt x="271" y="87"/>
                    <a:pt x="271" y="81"/>
                  </a:cubicBezTo>
                  <a:cubicBezTo>
                    <a:pt x="271" y="76"/>
                    <a:pt x="271" y="68"/>
                    <a:pt x="271" y="64"/>
                  </a:cubicBezTo>
                  <a:cubicBezTo>
                    <a:pt x="270" y="60"/>
                    <a:pt x="271" y="55"/>
                    <a:pt x="271" y="53"/>
                  </a:cubicBezTo>
                  <a:cubicBezTo>
                    <a:pt x="272" y="50"/>
                    <a:pt x="273" y="46"/>
                    <a:pt x="274" y="43"/>
                  </a:cubicBezTo>
                  <a:cubicBezTo>
                    <a:pt x="274" y="41"/>
                    <a:pt x="269" y="34"/>
                    <a:pt x="262" y="27"/>
                  </a:cubicBezTo>
                  <a:cubicBezTo>
                    <a:pt x="255" y="21"/>
                    <a:pt x="249" y="16"/>
                    <a:pt x="249" y="16"/>
                  </a:cubicBezTo>
                  <a:cubicBezTo>
                    <a:pt x="249" y="16"/>
                    <a:pt x="246" y="15"/>
                    <a:pt x="242" y="13"/>
                  </a:cubicBezTo>
                  <a:cubicBezTo>
                    <a:pt x="238" y="12"/>
                    <a:pt x="233" y="10"/>
                    <a:pt x="230" y="8"/>
                  </a:cubicBezTo>
                  <a:cubicBezTo>
                    <a:pt x="228" y="7"/>
                    <a:pt x="223" y="6"/>
                    <a:pt x="221" y="6"/>
                  </a:cubicBezTo>
                  <a:cubicBezTo>
                    <a:pt x="218" y="5"/>
                    <a:pt x="214" y="6"/>
                    <a:pt x="212" y="7"/>
                  </a:cubicBezTo>
                  <a:cubicBezTo>
                    <a:pt x="210" y="8"/>
                    <a:pt x="206" y="12"/>
                    <a:pt x="203" y="15"/>
                  </a:cubicBezTo>
                  <a:cubicBezTo>
                    <a:pt x="201" y="19"/>
                    <a:pt x="196" y="24"/>
                    <a:pt x="193" y="28"/>
                  </a:cubicBezTo>
                  <a:cubicBezTo>
                    <a:pt x="190" y="32"/>
                    <a:pt x="187" y="36"/>
                    <a:pt x="185" y="37"/>
                  </a:cubicBezTo>
                  <a:cubicBezTo>
                    <a:pt x="183" y="38"/>
                    <a:pt x="181" y="38"/>
                    <a:pt x="179" y="36"/>
                  </a:cubicBezTo>
                  <a:cubicBezTo>
                    <a:pt x="178" y="35"/>
                    <a:pt x="175" y="33"/>
                    <a:pt x="173" y="31"/>
                  </a:cubicBezTo>
                  <a:cubicBezTo>
                    <a:pt x="172" y="30"/>
                    <a:pt x="167" y="28"/>
                    <a:pt x="164" y="27"/>
                  </a:cubicBezTo>
                  <a:cubicBezTo>
                    <a:pt x="160" y="26"/>
                    <a:pt x="155" y="25"/>
                    <a:pt x="153" y="25"/>
                  </a:cubicBezTo>
                  <a:cubicBezTo>
                    <a:pt x="151" y="25"/>
                    <a:pt x="147" y="25"/>
                    <a:pt x="144" y="24"/>
                  </a:cubicBezTo>
                  <a:cubicBezTo>
                    <a:pt x="141" y="24"/>
                    <a:pt x="137" y="25"/>
                    <a:pt x="134" y="26"/>
                  </a:cubicBezTo>
                  <a:cubicBezTo>
                    <a:pt x="131" y="27"/>
                    <a:pt x="127" y="27"/>
                    <a:pt x="126" y="25"/>
                  </a:cubicBezTo>
                  <a:cubicBezTo>
                    <a:pt x="124" y="23"/>
                    <a:pt x="120" y="21"/>
                    <a:pt x="118" y="20"/>
                  </a:cubicBezTo>
                  <a:cubicBezTo>
                    <a:pt x="115" y="18"/>
                    <a:pt x="110" y="15"/>
                    <a:pt x="107" y="13"/>
                  </a:cubicBezTo>
                  <a:cubicBezTo>
                    <a:pt x="103" y="11"/>
                    <a:pt x="98" y="8"/>
                    <a:pt x="95" y="6"/>
                  </a:cubicBezTo>
                  <a:cubicBezTo>
                    <a:pt x="92" y="5"/>
                    <a:pt x="88" y="3"/>
                    <a:pt x="86" y="2"/>
                  </a:cubicBezTo>
                  <a:cubicBezTo>
                    <a:pt x="83" y="0"/>
                    <a:pt x="80" y="0"/>
                    <a:pt x="79" y="1"/>
                  </a:cubicBezTo>
                  <a:cubicBezTo>
                    <a:pt x="78" y="2"/>
                    <a:pt x="76" y="3"/>
                    <a:pt x="74" y="4"/>
                  </a:cubicBezTo>
                  <a:cubicBezTo>
                    <a:pt x="73" y="4"/>
                    <a:pt x="72" y="7"/>
                    <a:pt x="72" y="10"/>
                  </a:cubicBezTo>
                  <a:cubicBezTo>
                    <a:pt x="71" y="13"/>
                    <a:pt x="70" y="17"/>
                    <a:pt x="69" y="18"/>
                  </a:cubicBezTo>
                  <a:cubicBezTo>
                    <a:pt x="68" y="19"/>
                    <a:pt x="67" y="22"/>
                    <a:pt x="67" y="24"/>
                  </a:cubicBezTo>
                  <a:cubicBezTo>
                    <a:pt x="67" y="26"/>
                    <a:pt x="66" y="28"/>
                    <a:pt x="63" y="29"/>
                  </a:cubicBezTo>
                  <a:cubicBezTo>
                    <a:pt x="61" y="29"/>
                    <a:pt x="58" y="31"/>
                    <a:pt x="55" y="31"/>
                  </a:cubicBezTo>
                  <a:cubicBezTo>
                    <a:pt x="53" y="32"/>
                    <a:pt x="51" y="34"/>
                    <a:pt x="52" y="36"/>
                  </a:cubicBezTo>
                  <a:cubicBezTo>
                    <a:pt x="52" y="38"/>
                    <a:pt x="52" y="41"/>
                    <a:pt x="53" y="43"/>
                  </a:cubicBezTo>
                  <a:cubicBezTo>
                    <a:pt x="54" y="46"/>
                    <a:pt x="54" y="49"/>
                    <a:pt x="53" y="51"/>
                  </a:cubicBezTo>
                  <a:cubicBezTo>
                    <a:pt x="52" y="53"/>
                    <a:pt x="51" y="56"/>
                    <a:pt x="49" y="59"/>
                  </a:cubicBezTo>
                  <a:cubicBezTo>
                    <a:pt x="47" y="61"/>
                    <a:pt x="45" y="63"/>
                    <a:pt x="44" y="63"/>
                  </a:cubicBezTo>
                  <a:cubicBezTo>
                    <a:pt x="43" y="64"/>
                    <a:pt x="43" y="66"/>
                    <a:pt x="43" y="69"/>
                  </a:cubicBezTo>
                  <a:cubicBezTo>
                    <a:pt x="43" y="72"/>
                    <a:pt x="42" y="75"/>
                    <a:pt x="41" y="77"/>
                  </a:cubicBezTo>
                  <a:cubicBezTo>
                    <a:pt x="41" y="79"/>
                    <a:pt x="38" y="83"/>
                    <a:pt x="35" y="85"/>
                  </a:cubicBezTo>
                  <a:cubicBezTo>
                    <a:pt x="32" y="87"/>
                    <a:pt x="27" y="89"/>
                    <a:pt x="23" y="89"/>
                  </a:cubicBezTo>
                  <a:cubicBezTo>
                    <a:pt x="19" y="88"/>
                    <a:pt x="14" y="89"/>
                    <a:pt x="13" y="90"/>
                  </a:cubicBezTo>
                  <a:cubicBezTo>
                    <a:pt x="12" y="91"/>
                    <a:pt x="11" y="91"/>
                    <a:pt x="11" y="91"/>
                  </a:cubicBezTo>
                  <a:cubicBezTo>
                    <a:pt x="11" y="91"/>
                    <a:pt x="9" y="93"/>
                    <a:pt x="7" y="96"/>
                  </a:cubicBezTo>
                  <a:cubicBezTo>
                    <a:pt x="5" y="99"/>
                    <a:pt x="2" y="105"/>
                    <a:pt x="1" y="111"/>
                  </a:cubicBezTo>
                  <a:cubicBezTo>
                    <a:pt x="0" y="116"/>
                    <a:pt x="0" y="124"/>
                    <a:pt x="0" y="128"/>
                  </a:cubicBezTo>
                  <a:cubicBezTo>
                    <a:pt x="1" y="132"/>
                    <a:pt x="2" y="136"/>
                    <a:pt x="2" y="139"/>
                  </a:cubicBezTo>
                  <a:cubicBezTo>
                    <a:pt x="3" y="141"/>
                    <a:pt x="5" y="144"/>
                    <a:pt x="6" y="145"/>
                  </a:cubicBezTo>
                  <a:cubicBezTo>
                    <a:pt x="8" y="146"/>
                    <a:pt x="10" y="148"/>
                    <a:pt x="11" y="150"/>
                  </a:cubicBezTo>
                  <a:cubicBezTo>
                    <a:pt x="11" y="152"/>
                    <a:pt x="13" y="153"/>
                    <a:pt x="14" y="153"/>
                  </a:cubicBezTo>
                  <a:cubicBezTo>
                    <a:pt x="16" y="153"/>
                    <a:pt x="19" y="156"/>
                    <a:pt x="21" y="159"/>
                  </a:cubicBezTo>
                  <a:cubicBezTo>
                    <a:pt x="23" y="163"/>
                    <a:pt x="26" y="166"/>
                    <a:pt x="26" y="167"/>
                  </a:cubicBezTo>
                  <a:cubicBezTo>
                    <a:pt x="26" y="168"/>
                    <a:pt x="28" y="171"/>
                    <a:pt x="29" y="173"/>
                  </a:cubicBezTo>
                  <a:cubicBezTo>
                    <a:pt x="31" y="176"/>
                    <a:pt x="32" y="180"/>
                    <a:pt x="32" y="182"/>
                  </a:cubicBezTo>
                  <a:cubicBezTo>
                    <a:pt x="32" y="184"/>
                    <a:pt x="34" y="188"/>
                    <a:pt x="37" y="190"/>
                  </a:cubicBezTo>
                  <a:cubicBezTo>
                    <a:pt x="40" y="193"/>
                    <a:pt x="44" y="195"/>
                    <a:pt x="46" y="195"/>
                  </a:cubicBezTo>
                  <a:cubicBezTo>
                    <a:pt x="48" y="195"/>
                    <a:pt x="50" y="194"/>
                    <a:pt x="51" y="192"/>
                  </a:cubicBezTo>
                  <a:cubicBezTo>
                    <a:pt x="52" y="191"/>
                    <a:pt x="54" y="189"/>
                    <a:pt x="55" y="188"/>
                  </a:cubicBezTo>
                  <a:cubicBezTo>
                    <a:pt x="56" y="186"/>
                    <a:pt x="58" y="186"/>
                    <a:pt x="60" y="186"/>
                  </a:cubicBezTo>
                  <a:cubicBezTo>
                    <a:pt x="61" y="186"/>
                    <a:pt x="64" y="188"/>
                    <a:pt x="66" y="190"/>
                  </a:cubicBezTo>
                  <a:cubicBezTo>
                    <a:pt x="68" y="192"/>
                    <a:pt x="71" y="194"/>
                    <a:pt x="73" y="195"/>
                  </a:cubicBezTo>
                  <a:cubicBezTo>
                    <a:pt x="74" y="196"/>
                    <a:pt x="76" y="200"/>
                    <a:pt x="77" y="204"/>
                  </a:cubicBezTo>
                  <a:cubicBezTo>
                    <a:pt x="78" y="207"/>
                    <a:pt x="80" y="211"/>
                    <a:pt x="82" y="212"/>
                  </a:cubicBezTo>
                  <a:cubicBezTo>
                    <a:pt x="84" y="213"/>
                    <a:pt x="85" y="216"/>
                    <a:pt x="84" y="219"/>
                  </a:cubicBezTo>
                  <a:cubicBezTo>
                    <a:pt x="83" y="221"/>
                    <a:pt x="83" y="227"/>
                    <a:pt x="83" y="232"/>
                  </a:cubicBezTo>
                  <a:cubicBezTo>
                    <a:pt x="84" y="237"/>
                    <a:pt x="86" y="245"/>
                    <a:pt x="89" y="249"/>
                  </a:cubicBezTo>
                  <a:cubicBezTo>
                    <a:pt x="91" y="253"/>
                    <a:pt x="94" y="258"/>
                    <a:pt x="94" y="260"/>
                  </a:cubicBezTo>
                  <a:cubicBezTo>
                    <a:pt x="95" y="262"/>
                    <a:pt x="96" y="266"/>
                    <a:pt x="97" y="269"/>
                  </a:cubicBezTo>
                  <a:cubicBezTo>
                    <a:pt x="97" y="272"/>
                    <a:pt x="99" y="276"/>
                    <a:pt x="101" y="278"/>
                  </a:cubicBezTo>
                  <a:cubicBezTo>
                    <a:pt x="102" y="280"/>
                    <a:pt x="105" y="283"/>
                    <a:pt x="106" y="283"/>
                  </a:cubicBezTo>
                  <a:cubicBezTo>
                    <a:pt x="108" y="284"/>
                    <a:pt x="111" y="285"/>
                    <a:pt x="114" y="285"/>
                  </a:cubicBezTo>
                  <a:cubicBezTo>
                    <a:pt x="116" y="285"/>
                    <a:pt x="118" y="287"/>
                    <a:pt x="119" y="289"/>
                  </a:cubicBezTo>
                  <a:cubicBezTo>
                    <a:pt x="119" y="292"/>
                    <a:pt x="119" y="293"/>
                    <a:pt x="119" y="293"/>
                  </a:cubicBezTo>
                  <a:cubicBezTo>
                    <a:pt x="119" y="293"/>
                    <a:pt x="121" y="294"/>
                    <a:pt x="123" y="294"/>
                  </a:cubicBezTo>
                  <a:cubicBezTo>
                    <a:pt x="126" y="294"/>
                    <a:pt x="129" y="295"/>
                    <a:pt x="130" y="295"/>
                  </a:cubicBezTo>
                  <a:cubicBezTo>
                    <a:pt x="132" y="295"/>
                    <a:pt x="136" y="297"/>
                    <a:pt x="139" y="298"/>
                  </a:cubicBezTo>
                  <a:cubicBezTo>
                    <a:pt x="142" y="300"/>
                    <a:pt x="146" y="302"/>
                    <a:pt x="148" y="304"/>
                  </a:cubicBezTo>
                  <a:cubicBezTo>
                    <a:pt x="150" y="305"/>
                    <a:pt x="152" y="309"/>
                    <a:pt x="152" y="312"/>
                  </a:cubicBezTo>
                  <a:cubicBezTo>
                    <a:pt x="152" y="315"/>
                    <a:pt x="151" y="319"/>
                    <a:pt x="149" y="322"/>
                  </a:cubicBezTo>
                  <a:cubicBezTo>
                    <a:pt x="148" y="325"/>
                    <a:pt x="147" y="328"/>
                    <a:pt x="148" y="330"/>
                  </a:cubicBezTo>
                  <a:cubicBezTo>
                    <a:pt x="149" y="332"/>
                    <a:pt x="152" y="331"/>
                    <a:pt x="156" y="328"/>
                  </a:cubicBezTo>
                  <a:cubicBezTo>
                    <a:pt x="160" y="325"/>
                    <a:pt x="165" y="324"/>
                    <a:pt x="167" y="326"/>
                  </a:cubicBezTo>
                  <a:cubicBezTo>
                    <a:pt x="169" y="328"/>
                    <a:pt x="172" y="332"/>
                    <a:pt x="172" y="334"/>
                  </a:cubicBezTo>
                  <a:cubicBezTo>
                    <a:pt x="173" y="337"/>
                    <a:pt x="175" y="340"/>
                    <a:pt x="178" y="342"/>
                  </a:cubicBezTo>
                  <a:cubicBezTo>
                    <a:pt x="180" y="343"/>
                    <a:pt x="185" y="344"/>
                    <a:pt x="189" y="342"/>
                  </a:cubicBezTo>
                  <a:cubicBezTo>
                    <a:pt x="192" y="341"/>
                    <a:pt x="197" y="342"/>
                    <a:pt x="197" y="342"/>
                  </a:cubicBezTo>
                  <a:cubicBezTo>
                    <a:pt x="196" y="341"/>
                    <a:pt x="197" y="338"/>
                    <a:pt x="199" y="335"/>
                  </a:cubicBezTo>
                  <a:cubicBezTo>
                    <a:pt x="201" y="332"/>
                    <a:pt x="203" y="325"/>
                    <a:pt x="203" y="319"/>
                  </a:cubicBezTo>
                  <a:cubicBezTo>
                    <a:pt x="204" y="313"/>
                    <a:pt x="204" y="304"/>
                    <a:pt x="205" y="299"/>
                  </a:cubicBezTo>
                  <a:cubicBezTo>
                    <a:pt x="206" y="294"/>
                    <a:pt x="207" y="288"/>
                    <a:pt x="208" y="285"/>
                  </a:cubicBezTo>
                  <a:cubicBezTo>
                    <a:pt x="210" y="282"/>
                    <a:pt x="211" y="276"/>
                    <a:pt x="211" y="272"/>
                  </a:cubicBezTo>
                  <a:cubicBezTo>
                    <a:pt x="211" y="268"/>
                    <a:pt x="213" y="264"/>
                    <a:pt x="216" y="262"/>
                  </a:cubicBezTo>
                  <a:cubicBezTo>
                    <a:pt x="219" y="260"/>
                    <a:pt x="223" y="257"/>
                    <a:pt x="224" y="255"/>
                  </a:cubicBezTo>
                  <a:cubicBezTo>
                    <a:pt x="226" y="253"/>
                    <a:pt x="227" y="251"/>
                    <a:pt x="228" y="251"/>
                  </a:cubicBezTo>
                  <a:cubicBezTo>
                    <a:pt x="229" y="251"/>
                    <a:pt x="231" y="250"/>
                    <a:pt x="231" y="249"/>
                  </a:cubicBezTo>
                  <a:cubicBezTo>
                    <a:pt x="232" y="247"/>
                    <a:pt x="232" y="243"/>
                    <a:pt x="232" y="238"/>
                  </a:cubicBezTo>
                  <a:cubicBezTo>
                    <a:pt x="231" y="234"/>
                    <a:pt x="231" y="227"/>
                    <a:pt x="232" y="223"/>
                  </a:cubicBezTo>
                  <a:cubicBezTo>
                    <a:pt x="232" y="219"/>
                    <a:pt x="234" y="215"/>
                    <a:pt x="236" y="214"/>
                  </a:cubicBezTo>
                  <a:cubicBezTo>
                    <a:pt x="238" y="212"/>
                    <a:pt x="241" y="211"/>
                    <a:pt x="243" y="210"/>
                  </a:cubicBezTo>
                  <a:cubicBezTo>
                    <a:pt x="245" y="210"/>
                    <a:pt x="248" y="207"/>
                    <a:pt x="250" y="204"/>
                  </a:cubicBezTo>
                  <a:cubicBezTo>
                    <a:pt x="252" y="202"/>
                    <a:pt x="256" y="198"/>
                    <a:pt x="258" y="196"/>
                  </a:cubicBezTo>
                  <a:cubicBezTo>
                    <a:pt x="260" y="194"/>
                    <a:pt x="265" y="190"/>
                    <a:pt x="269" y="188"/>
                  </a:cubicBezTo>
                  <a:cubicBezTo>
                    <a:pt x="273" y="186"/>
                    <a:pt x="279" y="185"/>
                    <a:pt x="282" y="186"/>
                  </a:cubicBezTo>
                  <a:cubicBezTo>
                    <a:pt x="285" y="187"/>
                    <a:pt x="293" y="189"/>
                    <a:pt x="300" y="190"/>
                  </a:cubicBezTo>
                  <a:cubicBezTo>
                    <a:pt x="307" y="192"/>
                    <a:pt x="316" y="192"/>
                    <a:pt x="318" y="191"/>
                  </a:cubicBezTo>
                  <a:cubicBezTo>
                    <a:pt x="321" y="190"/>
                    <a:pt x="325" y="189"/>
                    <a:pt x="326" y="189"/>
                  </a:cubicBezTo>
                  <a:cubicBezTo>
                    <a:pt x="328" y="189"/>
                    <a:pt x="329" y="181"/>
                    <a:pt x="329" y="173"/>
                  </a:cubicBezTo>
                  <a:cubicBezTo>
                    <a:pt x="329" y="164"/>
                    <a:pt x="327" y="154"/>
                    <a:pt x="324" y="15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9" name="Freeform 31">
              <a:extLst>
                <a:ext uri="{FF2B5EF4-FFF2-40B4-BE49-F238E27FC236}">
                  <a16:creationId xmlns:a16="http://schemas.microsoft.com/office/drawing/2014/main" id="{82076C96-98F4-F694-52CF-EDE74EF09476}"/>
                </a:ext>
              </a:extLst>
            </p:cNvPr>
            <p:cNvSpPr>
              <a:spLocks/>
            </p:cNvSpPr>
            <p:nvPr/>
          </p:nvSpPr>
          <p:spPr bwMode="auto">
            <a:xfrm>
              <a:off x="3260697" y="4016358"/>
              <a:ext cx="1155700" cy="1116013"/>
            </a:xfrm>
            <a:custGeom>
              <a:avLst/>
              <a:gdLst/>
              <a:ahLst/>
              <a:cxnLst>
                <a:cxn ang="0">
                  <a:pos x="113" y="261"/>
                </a:cxn>
                <a:cxn ang="0">
                  <a:pos x="135" y="261"/>
                </a:cxn>
                <a:cxn ang="0">
                  <a:pos x="160" y="267"/>
                </a:cxn>
                <a:cxn ang="0">
                  <a:pos x="162" y="297"/>
                </a:cxn>
                <a:cxn ang="0">
                  <a:pos x="183" y="292"/>
                </a:cxn>
                <a:cxn ang="0">
                  <a:pos x="211" y="277"/>
                </a:cxn>
                <a:cxn ang="0">
                  <a:pos x="232" y="263"/>
                </a:cxn>
                <a:cxn ang="0">
                  <a:pos x="220" y="251"/>
                </a:cxn>
                <a:cxn ang="0">
                  <a:pos x="218" y="229"/>
                </a:cxn>
                <a:cxn ang="0">
                  <a:pos x="208" y="217"/>
                </a:cxn>
                <a:cxn ang="0">
                  <a:pos x="200" y="205"/>
                </a:cxn>
                <a:cxn ang="0">
                  <a:pos x="224" y="199"/>
                </a:cxn>
                <a:cxn ang="0">
                  <a:pos x="246" y="188"/>
                </a:cxn>
                <a:cxn ang="0">
                  <a:pos x="268" y="186"/>
                </a:cxn>
                <a:cxn ang="0">
                  <a:pos x="274" y="172"/>
                </a:cxn>
                <a:cxn ang="0">
                  <a:pos x="271" y="148"/>
                </a:cxn>
                <a:cxn ang="0">
                  <a:pos x="298" y="117"/>
                </a:cxn>
                <a:cxn ang="0">
                  <a:pos x="303" y="101"/>
                </a:cxn>
                <a:cxn ang="0">
                  <a:pos x="307" y="84"/>
                </a:cxn>
                <a:cxn ang="0">
                  <a:pos x="304" y="68"/>
                </a:cxn>
                <a:cxn ang="0">
                  <a:pos x="285" y="60"/>
                </a:cxn>
                <a:cxn ang="0">
                  <a:pos x="270" y="74"/>
                </a:cxn>
                <a:cxn ang="0">
                  <a:pos x="251" y="84"/>
                </a:cxn>
                <a:cxn ang="0">
                  <a:pos x="224" y="79"/>
                </a:cxn>
                <a:cxn ang="0">
                  <a:pos x="223" y="91"/>
                </a:cxn>
                <a:cxn ang="0">
                  <a:pos x="218" y="111"/>
                </a:cxn>
                <a:cxn ang="0">
                  <a:pos x="199" y="119"/>
                </a:cxn>
                <a:cxn ang="0">
                  <a:pos x="185" y="130"/>
                </a:cxn>
                <a:cxn ang="0">
                  <a:pos x="155" y="118"/>
                </a:cxn>
                <a:cxn ang="0">
                  <a:pos x="147" y="103"/>
                </a:cxn>
                <a:cxn ang="0">
                  <a:pos x="163" y="83"/>
                </a:cxn>
                <a:cxn ang="0">
                  <a:pos x="185" y="61"/>
                </a:cxn>
                <a:cxn ang="0">
                  <a:pos x="196" y="44"/>
                </a:cxn>
                <a:cxn ang="0">
                  <a:pos x="185" y="29"/>
                </a:cxn>
                <a:cxn ang="0">
                  <a:pos x="173" y="23"/>
                </a:cxn>
                <a:cxn ang="0">
                  <a:pos x="166" y="46"/>
                </a:cxn>
                <a:cxn ang="0">
                  <a:pos x="154" y="40"/>
                </a:cxn>
                <a:cxn ang="0">
                  <a:pos x="156" y="17"/>
                </a:cxn>
                <a:cxn ang="0">
                  <a:pos x="147" y="18"/>
                </a:cxn>
                <a:cxn ang="0">
                  <a:pos x="138" y="36"/>
                </a:cxn>
                <a:cxn ang="0">
                  <a:pos x="145" y="6"/>
                </a:cxn>
                <a:cxn ang="0">
                  <a:pos x="133" y="3"/>
                </a:cxn>
                <a:cxn ang="0">
                  <a:pos x="133" y="26"/>
                </a:cxn>
                <a:cxn ang="0">
                  <a:pos x="109" y="35"/>
                </a:cxn>
                <a:cxn ang="0">
                  <a:pos x="101" y="49"/>
                </a:cxn>
                <a:cxn ang="0">
                  <a:pos x="119" y="77"/>
                </a:cxn>
                <a:cxn ang="0">
                  <a:pos x="115" y="99"/>
                </a:cxn>
                <a:cxn ang="0">
                  <a:pos x="130" y="108"/>
                </a:cxn>
                <a:cxn ang="0">
                  <a:pos x="115" y="123"/>
                </a:cxn>
                <a:cxn ang="0">
                  <a:pos x="107" y="151"/>
                </a:cxn>
                <a:cxn ang="0">
                  <a:pos x="76" y="136"/>
                </a:cxn>
                <a:cxn ang="0">
                  <a:pos x="43" y="144"/>
                </a:cxn>
                <a:cxn ang="0">
                  <a:pos x="32" y="158"/>
                </a:cxn>
                <a:cxn ang="0">
                  <a:pos x="14" y="171"/>
                </a:cxn>
                <a:cxn ang="0">
                  <a:pos x="4" y="186"/>
                </a:cxn>
                <a:cxn ang="0">
                  <a:pos x="12" y="207"/>
                </a:cxn>
                <a:cxn ang="0">
                  <a:pos x="27" y="230"/>
                </a:cxn>
                <a:cxn ang="0">
                  <a:pos x="42" y="246"/>
                </a:cxn>
                <a:cxn ang="0">
                  <a:pos x="47" y="257"/>
                </a:cxn>
                <a:cxn ang="0">
                  <a:pos x="58" y="266"/>
                </a:cxn>
                <a:cxn ang="0">
                  <a:pos x="71" y="273"/>
                </a:cxn>
                <a:cxn ang="0">
                  <a:pos x="83" y="274"/>
                </a:cxn>
              </a:cxnLst>
              <a:rect l="0" t="0" r="r" b="b"/>
              <a:pathLst>
                <a:path w="308" h="297">
                  <a:moveTo>
                    <a:pt x="93" y="270"/>
                  </a:moveTo>
                  <a:cubicBezTo>
                    <a:pt x="97" y="270"/>
                    <a:pt x="103" y="269"/>
                    <a:pt x="105" y="267"/>
                  </a:cubicBezTo>
                  <a:cubicBezTo>
                    <a:pt x="108" y="266"/>
                    <a:pt x="112" y="263"/>
                    <a:pt x="113" y="261"/>
                  </a:cubicBezTo>
                  <a:cubicBezTo>
                    <a:pt x="114" y="259"/>
                    <a:pt x="117" y="256"/>
                    <a:pt x="119" y="254"/>
                  </a:cubicBezTo>
                  <a:cubicBezTo>
                    <a:pt x="120" y="251"/>
                    <a:pt x="124" y="252"/>
                    <a:pt x="126" y="255"/>
                  </a:cubicBezTo>
                  <a:cubicBezTo>
                    <a:pt x="129" y="257"/>
                    <a:pt x="133" y="260"/>
                    <a:pt x="135" y="261"/>
                  </a:cubicBezTo>
                  <a:cubicBezTo>
                    <a:pt x="137" y="262"/>
                    <a:pt x="141" y="261"/>
                    <a:pt x="144" y="259"/>
                  </a:cubicBezTo>
                  <a:cubicBezTo>
                    <a:pt x="148" y="256"/>
                    <a:pt x="152" y="256"/>
                    <a:pt x="154" y="259"/>
                  </a:cubicBezTo>
                  <a:cubicBezTo>
                    <a:pt x="157" y="262"/>
                    <a:pt x="159" y="265"/>
                    <a:pt x="160" y="267"/>
                  </a:cubicBezTo>
                  <a:cubicBezTo>
                    <a:pt x="161" y="269"/>
                    <a:pt x="162" y="274"/>
                    <a:pt x="162" y="277"/>
                  </a:cubicBezTo>
                  <a:cubicBezTo>
                    <a:pt x="161" y="280"/>
                    <a:pt x="161" y="286"/>
                    <a:pt x="162" y="290"/>
                  </a:cubicBezTo>
                  <a:cubicBezTo>
                    <a:pt x="162" y="294"/>
                    <a:pt x="162" y="297"/>
                    <a:pt x="162" y="297"/>
                  </a:cubicBezTo>
                  <a:cubicBezTo>
                    <a:pt x="162" y="297"/>
                    <a:pt x="165" y="297"/>
                    <a:pt x="168" y="296"/>
                  </a:cubicBezTo>
                  <a:cubicBezTo>
                    <a:pt x="171" y="296"/>
                    <a:pt x="175" y="294"/>
                    <a:pt x="176" y="292"/>
                  </a:cubicBezTo>
                  <a:cubicBezTo>
                    <a:pt x="177" y="289"/>
                    <a:pt x="181" y="289"/>
                    <a:pt x="183" y="292"/>
                  </a:cubicBezTo>
                  <a:cubicBezTo>
                    <a:pt x="186" y="294"/>
                    <a:pt x="191" y="294"/>
                    <a:pt x="194" y="292"/>
                  </a:cubicBezTo>
                  <a:cubicBezTo>
                    <a:pt x="197" y="289"/>
                    <a:pt x="201" y="286"/>
                    <a:pt x="203" y="284"/>
                  </a:cubicBezTo>
                  <a:cubicBezTo>
                    <a:pt x="205" y="281"/>
                    <a:pt x="208" y="278"/>
                    <a:pt x="211" y="277"/>
                  </a:cubicBezTo>
                  <a:cubicBezTo>
                    <a:pt x="214" y="275"/>
                    <a:pt x="218" y="274"/>
                    <a:pt x="220" y="275"/>
                  </a:cubicBezTo>
                  <a:cubicBezTo>
                    <a:pt x="222" y="276"/>
                    <a:pt x="226" y="274"/>
                    <a:pt x="228" y="271"/>
                  </a:cubicBezTo>
                  <a:cubicBezTo>
                    <a:pt x="230" y="268"/>
                    <a:pt x="231" y="264"/>
                    <a:pt x="232" y="263"/>
                  </a:cubicBezTo>
                  <a:cubicBezTo>
                    <a:pt x="233" y="262"/>
                    <a:pt x="232" y="260"/>
                    <a:pt x="231" y="259"/>
                  </a:cubicBezTo>
                  <a:cubicBezTo>
                    <a:pt x="230" y="257"/>
                    <a:pt x="227" y="256"/>
                    <a:pt x="225" y="256"/>
                  </a:cubicBezTo>
                  <a:cubicBezTo>
                    <a:pt x="223" y="256"/>
                    <a:pt x="221" y="253"/>
                    <a:pt x="220" y="251"/>
                  </a:cubicBezTo>
                  <a:cubicBezTo>
                    <a:pt x="220" y="248"/>
                    <a:pt x="218" y="244"/>
                    <a:pt x="217" y="242"/>
                  </a:cubicBezTo>
                  <a:cubicBezTo>
                    <a:pt x="215" y="240"/>
                    <a:pt x="214" y="237"/>
                    <a:pt x="214" y="234"/>
                  </a:cubicBezTo>
                  <a:cubicBezTo>
                    <a:pt x="214" y="232"/>
                    <a:pt x="215" y="230"/>
                    <a:pt x="218" y="229"/>
                  </a:cubicBezTo>
                  <a:cubicBezTo>
                    <a:pt x="220" y="229"/>
                    <a:pt x="220" y="227"/>
                    <a:pt x="219" y="224"/>
                  </a:cubicBezTo>
                  <a:cubicBezTo>
                    <a:pt x="218" y="222"/>
                    <a:pt x="215" y="220"/>
                    <a:pt x="213" y="219"/>
                  </a:cubicBezTo>
                  <a:cubicBezTo>
                    <a:pt x="212" y="218"/>
                    <a:pt x="209" y="217"/>
                    <a:pt x="208" y="217"/>
                  </a:cubicBezTo>
                  <a:cubicBezTo>
                    <a:pt x="206" y="217"/>
                    <a:pt x="203" y="216"/>
                    <a:pt x="201" y="217"/>
                  </a:cubicBezTo>
                  <a:cubicBezTo>
                    <a:pt x="199" y="217"/>
                    <a:pt x="197" y="215"/>
                    <a:pt x="196" y="212"/>
                  </a:cubicBezTo>
                  <a:cubicBezTo>
                    <a:pt x="195" y="209"/>
                    <a:pt x="197" y="206"/>
                    <a:pt x="200" y="205"/>
                  </a:cubicBezTo>
                  <a:cubicBezTo>
                    <a:pt x="204" y="203"/>
                    <a:pt x="210" y="202"/>
                    <a:pt x="213" y="201"/>
                  </a:cubicBezTo>
                  <a:cubicBezTo>
                    <a:pt x="217" y="200"/>
                    <a:pt x="220" y="200"/>
                    <a:pt x="220" y="200"/>
                  </a:cubicBezTo>
                  <a:cubicBezTo>
                    <a:pt x="220" y="200"/>
                    <a:pt x="221" y="199"/>
                    <a:pt x="224" y="199"/>
                  </a:cubicBezTo>
                  <a:cubicBezTo>
                    <a:pt x="226" y="198"/>
                    <a:pt x="229" y="196"/>
                    <a:pt x="231" y="195"/>
                  </a:cubicBezTo>
                  <a:cubicBezTo>
                    <a:pt x="232" y="194"/>
                    <a:pt x="235" y="191"/>
                    <a:pt x="238" y="190"/>
                  </a:cubicBezTo>
                  <a:cubicBezTo>
                    <a:pt x="240" y="189"/>
                    <a:pt x="244" y="188"/>
                    <a:pt x="246" y="188"/>
                  </a:cubicBezTo>
                  <a:cubicBezTo>
                    <a:pt x="248" y="188"/>
                    <a:pt x="252" y="188"/>
                    <a:pt x="255" y="187"/>
                  </a:cubicBezTo>
                  <a:cubicBezTo>
                    <a:pt x="257" y="187"/>
                    <a:pt x="261" y="187"/>
                    <a:pt x="262" y="186"/>
                  </a:cubicBezTo>
                  <a:cubicBezTo>
                    <a:pt x="264" y="186"/>
                    <a:pt x="267" y="186"/>
                    <a:pt x="268" y="186"/>
                  </a:cubicBezTo>
                  <a:cubicBezTo>
                    <a:pt x="269" y="186"/>
                    <a:pt x="270" y="186"/>
                    <a:pt x="270" y="186"/>
                  </a:cubicBezTo>
                  <a:cubicBezTo>
                    <a:pt x="270" y="186"/>
                    <a:pt x="270" y="185"/>
                    <a:pt x="271" y="182"/>
                  </a:cubicBezTo>
                  <a:cubicBezTo>
                    <a:pt x="272" y="180"/>
                    <a:pt x="273" y="175"/>
                    <a:pt x="274" y="172"/>
                  </a:cubicBezTo>
                  <a:cubicBezTo>
                    <a:pt x="274" y="169"/>
                    <a:pt x="273" y="164"/>
                    <a:pt x="271" y="163"/>
                  </a:cubicBezTo>
                  <a:cubicBezTo>
                    <a:pt x="269" y="161"/>
                    <a:pt x="268" y="158"/>
                    <a:pt x="268" y="157"/>
                  </a:cubicBezTo>
                  <a:cubicBezTo>
                    <a:pt x="268" y="156"/>
                    <a:pt x="269" y="152"/>
                    <a:pt x="271" y="148"/>
                  </a:cubicBezTo>
                  <a:cubicBezTo>
                    <a:pt x="273" y="145"/>
                    <a:pt x="277" y="138"/>
                    <a:pt x="281" y="133"/>
                  </a:cubicBezTo>
                  <a:cubicBezTo>
                    <a:pt x="285" y="128"/>
                    <a:pt x="290" y="123"/>
                    <a:pt x="292" y="122"/>
                  </a:cubicBezTo>
                  <a:cubicBezTo>
                    <a:pt x="294" y="121"/>
                    <a:pt x="296" y="119"/>
                    <a:pt x="298" y="117"/>
                  </a:cubicBezTo>
                  <a:cubicBezTo>
                    <a:pt x="300" y="116"/>
                    <a:pt x="302" y="114"/>
                    <a:pt x="303" y="113"/>
                  </a:cubicBezTo>
                  <a:cubicBezTo>
                    <a:pt x="304" y="112"/>
                    <a:pt x="305" y="110"/>
                    <a:pt x="305" y="108"/>
                  </a:cubicBezTo>
                  <a:cubicBezTo>
                    <a:pt x="305" y="106"/>
                    <a:pt x="304" y="103"/>
                    <a:pt x="303" y="101"/>
                  </a:cubicBezTo>
                  <a:cubicBezTo>
                    <a:pt x="301" y="100"/>
                    <a:pt x="300" y="97"/>
                    <a:pt x="301" y="95"/>
                  </a:cubicBezTo>
                  <a:cubicBezTo>
                    <a:pt x="301" y="94"/>
                    <a:pt x="303" y="91"/>
                    <a:pt x="305" y="90"/>
                  </a:cubicBezTo>
                  <a:cubicBezTo>
                    <a:pt x="307" y="89"/>
                    <a:pt x="308" y="86"/>
                    <a:pt x="307" y="84"/>
                  </a:cubicBezTo>
                  <a:cubicBezTo>
                    <a:pt x="305" y="81"/>
                    <a:pt x="305" y="77"/>
                    <a:pt x="306" y="76"/>
                  </a:cubicBezTo>
                  <a:cubicBezTo>
                    <a:pt x="307" y="74"/>
                    <a:pt x="308" y="72"/>
                    <a:pt x="308" y="72"/>
                  </a:cubicBezTo>
                  <a:cubicBezTo>
                    <a:pt x="308" y="72"/>
                    <a:pt x="306" y="70"/>
                    <a:pt x="304" y="68"/>
                  </a:cubicBezTo>
                  <a:cubicBezTo>
                    <a:pt x="301" y="65"/>
                    <a:pt x="298" y="63"/>
                    <a:pt x="296" y="63"/>
                  </a:cubicBezTo>
                  <a:cubicBezTo>
                    <a:pt x="294" y="63"/>
                    <a:pt x="291" y="62"/>
                    <a:pt x="289" y="61"/>
                  </a:cubicBezTo>
                  <a:cubicBezTo>
                    <a:pt x="287" y="60"/>
                    <a:pt x="285" y="60"/>
                    <a:pt x="285" y="60"/>
                  </a:cubicBezTo>
                  <a:cubicBezTo>
                    <a:pt x="285" y="60"/>
                    <a:pt x="285" y="61"/>
                    <a:pt x="284" y="62"/>
                  </a:cubicBezTo>
                  <a:cubicBezTo>
                    <a:pt x="283" y="63"/>
                    <a:pt x="280" y="65"/>
                    <a:pt x="277" y="67"/>
                  </a:cubicBezTo>
                  <a:cubicBezTo>
                    <a:pt x="274" y="69"/>
                    <a:pt x="270" y="72"/>
                    <a:pt x="270" y="74"/>
                  </a:cubicBezTo>
                  <a:cubicBezTo>
                    <a:pt x="269" y="76"/>
                    <a:pt x="267" y="78"/>
                    <a:pt x="265" y="79"/>
                  </a:cubicBezTo>
                  <a:cubicBezTo>
                    <a:pt x="264" y="80"/>
                    <a:pt x="261" y="82"/>
                    <a:pt x="259" y="83"/>
                  </a:cubicBezTo>
                  <a:cubicBezTo>
                    <a:pt x="257" y="84"/>
                    <a:pt x="254" y="84"/>
                    <a:pt x="251" y="84"/>
                  </a:cubicBezTo>
                  <a:cubicBezTo>
                    <a:pt x="248" y="84"/>
                    <a:pt x="244" y="84"/>
                    <a:pt x="242" y="84"/>
                  </a:cubicBezTo>
                  <a:cubicBezTo>
                    <a:pt x="240" y="84"/>
                    <a:pt x="236" y="83"/>
                    <a:pt x="234" y="82"/>
                  </a:cubicBezTo>
                  <a:cubicBezTo>
                    <a:pt x="232" y="80"/>
                    <a:pt x="227" y="79"/>
                    <a:pt x="224" y="79"/>
                  </a:cubicBezTo>
                  <a:cubicBezTo>
                    <a:pt x="221" y="79"/>
                    <a:pt x="218" y="79"/>
                    <a:pt x="218" y="79"/>
                  </a:cubicBezTo>
                  <a:cubicBezTo>
                    <a:pt x="218" y="79"/>
                    <a:pt x="218" y="81"/>
                    <a:pt x="218" y="84"/>
                  </a:cubicBezTo>
                  <a:cubicBezTo>
                    <a:pt x="218" y="87"/>
                    <a:pt x="220" y="90"/>
                    <a:pt x="223" y="91"/>
                  </a:cubicBezTo>
                  <a:cubicBezTo>
                    <a:pt x="225" y="93"/>
                    <a:pt x="227" y="95"/>
                    <a:pt x="227" y="97"/>
                  </a:cubicBezTo>
                  <a:cubicBezTo>
                    <a:pt x="227" y="99"/>
                    <a:pt x="225" y="102"/>
                    <a:pt x="224" y="104"/>
                  </a:cubicBezTo>
                  <a:cubicBezTo>
                    <a:pt x="223" y="106"/>
                    <a:pt x="220" y="109"/>
                    <a:pt x="218" y="111"/>
                  </a:cubicBezTo>
                  <a:cubicBezTo>
                    <a:pt x="217" y="113"/>
                    <a:pt x="213" y="114"/>
                    <a:pt x="210" y="114"/>
                  </a:cubicBezTo>
                  <a:cubicBezTo>
                    <a:pt x="207" y="114"/>
                    <a:pt x="203" y="114"/>
                    <a:pt x="202" y="115"/>
                  </a:cubicBezTo>
                  <a:cubicBezTo>
                    <a:pt x="200" y="115"/>
                    <a:pt x="199" y="117"/>
                    <a:pt x="199" y="119"/>
                  </a:cubicBezTo>
                  <a:cubicBezTo>
                    <a:pt x="199" y="122"/>
                    <a:pt x="199" y="125"/>
                    <a:pt x="198" y="128"/>
                  </a:cubicBezTo>
                  <a:cubicBezTo>
                    <a:pt x="197" y="130"/>
                    <a:pt x="196" y="132"/>
                    <a:pt x="194" y="132"/>
                  </a:cubicBezTo>
                  <a:cubicBezTo>
                    <a:pt x="193" y="132"/>
                    <a:pt x="189" y="131"/>
                    <a:pt x="185" y="130"/>
                  </a:cubicBezTo>
                  <a:cubicBezTo>
                    <a:pt x="181" y="129"/>
                    <a:pt x="175" y="127"/>
                    <a:pt x="172" y="126"/>
                  </a:cubicBezTo>
                  <a:cubicBezTo>
                    <a:pt x="168" y="124"/>
                    <a:pt x="164" y="123"/>
                    <a:pt x="161" y="122"/>
                  </a:cubicBezTo>
                  <a:cubicBezTo>
                    <a:pt x="159" y="121"/>
                    <a:pt x="156" y="120"/>
                    <a:pt x="155" y="118"/>
                  </a:cubicBezTo>
                  <a:cubicBezTo>
                    <a:pt x="154" y="117"/>
                    <a:pt x="151" y="117"/>
                    <a:pt x="149" y="118"/>
                  </a:cubicBezTo>
                  <a:cubicBezTo>
                    <a:pt x="147" y="119"/>
                    <a:pt x="146" y="117"/>
                    <a:pt x="146" y="113"/>
                  </a:cubicBezTo>
                  <a:cubicBezTo>
                    <a:pt x="146" y="109"/>
                    <a:pt x="146" y="105"/>
                    <a:pt x="147" y="103"/>
                  </a:cubicBezTo>
                  <a:cubicBezTo>
                    <a:pt x="148" y="102"/>
                    <a:pt x="150" y="100"/>
                    <a:pt x="153" y="98"/>
                  </a:cubicBezTo>
                  <a:cubicBezTo>
                    <a:pt x="156" y="97"/>
                    <a:pt x="159" y="94"/>
                    <a:pt x="161" y="92"/>
                  </a:cubicBezTo>
                  <a:cubicBezTo>
                    <a:pt x="162" y="90"/>
                    <a:pt x="163" y="86"/>
                    <a:pt x="163" y="83"/>
                  </a:cubicBezTo>
                  <a:cubicBezTo>
                    <a:pt x="163" y="81"/>
                    <a:pt x="164" y="76"/>
                    <a:pt x="166" y="73"/>
                  </a:cubicBezTo>
                  <a:cubicBezTo>
                    <a:pt x="168" y="70"/>
                    <a:pt x="172" y="66"/>
                    <a:pt x="175" y="65"/>
                  </a:cubicBezTo>
                  <a:cubicBezTo>
                    <a:pt x="178" y="63"/>
                    <a:pt x="183" y="62"/>
                    <a:pt x="185" y="61"/>
                  </a:cubicBezTo>
                  <a:cubicBezTo>
                    <a:pt x="187" y="61"/>
                    <a:pt x="190" y="59"/>
                    <a:pt x="193" y="56"/>
                  </a:cubicBezTo>
                  <a:cubicBezTo>
                    <a:pt x="195" y="53"/>
                    <a:pt x="196" y="50"/>
                    <a:pt x="195" y="49"/>
                  </a:cubicBezTo>
                  <a:cubicBezTo>
                    <a:pt x="194" y="49"/>
                    <a:pt x="195" y="46"/>
                    <a:pt x="196" y="44"/>
                  </a:cubicBezTo>
                  <a:cubicBezTo>
                    <a:pt x="198" y="42"/>
                    <a:pt x="199" y="38"/>
                    <a:pt x="199" y="37"/>
                  </a:cubicBezTo>
                  <a:cubicBezTo>
                    <a:pt x="199" y="36"/>
                    <a:pt x="197" y="34"/>
                    <a:pt x="194" y="33"/>
                  </a:cubicBezTo>
                  <a:cubicBezTo>
                    <a:pt x="191" y="32"/>
                    <a:pt x="187" y="30"/>
                    <a:pt x="185" y="29"/>
                  </a:cubicBezTo>
                  <a:cubicBezTo>
                    <a:pt x="184" y="27"/>
                    <a:pt x="181" y="24"/>
                    <a:pt x="180" y="23"/>
                  </a:cubicBezTo>
                  <a:cubicBezTo>
                    <a:pt x="179" y="22"/>
                    <a:pt x="177" y="20"/>
                    <a:pt x="176" y="20"/>
                  </a:cubicBezTo>
                  <a:cubicBezTo>
                    <a:pt x="175" y="20"/>
                    <a:pt x="174" y="22"/>
                    <a:pt x="173" y="23"/>
                  </a:cubicBezTo>
                  <a:cubicBezTo>
                    <a:pt x="173" y="24"/>
                    <a:pt x="173" y="27"/>
                    <a:pt x="174" y="29"/>
                  </a:cubicBezTo>
                  <a:cubicBezTo>
                    <a:pt x="175" y="31"/>
                    <a:pt x="174" y="35"/>
                    <a:pt x="172" y="38"/>
                  </a:cubicBezTo>
                  <a:cubicBezTo>
                    <a:pt x="171" y="40"/>
                    <a:pt x="168" y="44"/>
                    <a:pt x="166" y="46"/>
                  </a:cubicBezTo>
                  <a:cubicBezTo>
                    <a:pt x="165" y="47"/>
                    <a:pt x="162" y="50"/>
                    <a:pt x="161" y="50"/>
                  </a:cubicBezTo>
                  <a:cubicBezTo>
                    <a:pt x="160" y="51"/>
                    <a:pt x="158" y="50"/>
                    <a:pt x="157" y="48"/>
                  </a:cubicBezTo>
                  <a:cubicBezTo>
                    <a:pt x="156" y="45"/>
                    <a:pt x="154" y="42"/>
                    <a:pt x="154" y="40"/>
                  </a:cubicBezTo>
                  <a:cubicBezTo>
                    <a:pt x="154" y="37"/>
                    <a:pt x="154" y="34"/>
                    <a:pt x="154" y="31"/>
                  </a:cubicBezTo>
                  <a:cubicBezTo>
                    <a:pt x="154" y="29"/>
                    <a:pt x="154" y="26"/>
                    <a:pt x="155" y="24"/>
                  </a:cubicBezTo>
                  <a:cubicBezTo>
                    <a:pt x="156" y="22"/>
                    <a:pt x="157" y="19"/>
                    <a:pt x="156" y="17"/>
                  </a:cubicBezTo>
                  <a:cubicBezTo>
                    <a:pt x="155" y="15"/>
                    <a:pt x="154" y="13"/>
                    <a:pt x="153" y="13"/>
                  </a:cubicBezTo>
                  <a:cubicBezTo>
                    <a:pt x="152" y="13"/>
                    <a:pt x="151" y="13"/>
                    <a:pt x="150" y="14"/>
                  </a:cubicBezTo>
                  <a:cubicBezTo>
                    <a:pt x="149" y="14"/>
                    <a:pt x="148" y="16"/>
                    <a:pt x="147" y="18"/>
                  </a:cubicBezTo>
                  <a:cubicBezTo>
                    <a:pt x="146" y="20"/>
                    <a:pt x="145" y="24"/>
                    <a:pt x="144" y="26"/>
                  </a:cubicBezTo>
                  <a:cubicBezTo>
                    <a:pt x="144" y="29"/>
                    <a:pt x="142" y="34"/>
                    <a:pt x="140" y="37"/>
                  </a:cubicBezTo>
                  <a:cubicBezTo>
                    <a:pt x="139" y="40"/>
                    <a:pt x="138" y="40"/>
                    <a:pt x="138" y="36"/>
                  </a:cubicBezTo>
                  <a:cubicBezTo>
                    <a:pt x="138" y="32"/>
                    <a:pt x="138" y="26"/>
                    <a:pt x="139" y="24"/>
                  </a:cubicBezTo>
                  <a:cubicBezTo>
                    <a:pt x="139" y="22"/>
                    <a:pt x="141" y="18"/>
                    <a:pt x="142" y="16"/>
                  </a:cubicBezTo>
                  <a:cubicBezTo>
                    <a:pt x="143" y="13"/>
                    <a:pt x="144" y="9"/>
                    <a:pt x="145" y="6"/>
                  </a:cubicBezTo>
                  <a:cubicBezTo>
                    <a:pt x="145" y="3"/>
                    <a:pt x="144" y="1"/>
                    <a:pt x="142" y="1"/>
                  </a:cubicBezTo>
                  <a:cubicBezTo>
                    <a:pt x="140" y="0"/>
                    <a:pt x="138" y="0"/>
                    <a:pt x="137" y="1"/>
                  </a:cubicBezTo>
                  <a:cubicBezTo>
                    <a:pt x="136" y="1"/>
                    <a:pt x="134" y="2"/>
                    <a:pt x="133" y="3"/>
                  </a:cubicBezTo>
                  <a:cubicBezTo>
                    <a:pt x="132" y="5"/>
                    <a:pt x="131" y="8"/>
                    <a:pt x="131" y="11"/>
                  </a:cubicBezTo>
                  <a:cubicBezTo>
                    <a:pt x="131" y="13"/>
                    <a:pt x="132" y="17"/>
                    <a:pt x="133" y="18"/>
                  </a:cubicBezTo>
                  <a:cubicBezTo>
                    <a:pt x="134" y="20"/>
                    <a:pt x="134" y="23"/>
                    <a:pt x="133" y="26"/>
                  </a:cubicBezTo>
                  <a:cubicBezTo>
                    <a:pt x="132" y="28"/>
                    <a:pt x="130" y="30"/>
                    <a:pt x="127" y="30"/>
                  </a:cubicBezTo>
                  <a:cubicBezTo>
                    <a:pt x="125" y="30"/>
                    <a:pt x="121" y="31"/>
                    <a:pt x="118" y="32"/>
                  </a:cubicBezTo>
                  <a:cubicBezTo>
                    <a:pt x="115" y="33"/>
                    <a:pt x="111" y="34"/>
                    <a:pt x="109" y="35"/>
                  </a:cubicBezTo>
                  <a:cubicBezTo>
                    <a:pt x="108" y="35"/>
                    <a:pt x="106" y="36"/>
                    <a:pt x="106" y="36"/>
                  </a:cubicBezTo>
                  <a:cubicBezTo>
                    <a:pt x="106" y="36"/>
                    <a:pt x="105" y="38"/>
                    <a:pt x="104" y="40"/>
                  </a:cubicBezTo>
                  <a:cubicBezTo>
                    <a:pt x="103" y="43"/>
                    <a:pt x="102" y="47"/>
                    <a:pt x="101" y="49"/>
                  </a:cubicBezTo>
                  <a:cubicBezTo>
                    <a:pt x="101" y="51"/>
                    <a:pt x="102" y="55"/>
                    <a:pt x="105" y="58"/>
                  </a:cubicBezTo>
                  <a:cubicBezTo>
                    <a:pt x="107" y="60"/>
                    <a:pt x="111" y="64"/>
                    <a:pt x="114" y="67"/>
                  </a:cubicBezTo>
                  <a:cubicBezTo>
                    <a:pt x="117" y="70"/>
                    <a:pt x="119" y="74"/>
                    <a:pt x="119" y="77"/>
                  </a:cubicBezTo>
                  <a:cubicBezTo>
                    <a:pt x="118" y="80"/>
                    <a:pt x="117" y="85"/>
                    <a:pt x="116" y="88"/>
                  </a:cubicBezTo>
                  <a:cubicBezTo>
                    <a:pt x="115" y="90"/>
                    <a:pt x="114" y="93"/>
                    <a:pt x="113" y="94"/>
                  </a:cubicBezTo>
                  <a:cubicBezTo>
                    <a:pt x="112" y="95"/>
                    <a:pt x="113" y="97"/>
                    <a:pt x="115" y="99"/>
                  </a:cubicBezTo>
                  <a:cubicBezTo>
                    <a:pt x="117" y="100"/>
                    <a:pt x="120" y="101"/>
                    <a:pt x="121" y="101"/>
                  </a:cubicBezTo>
                  <a:cubicBezTo>
                    <a:pt x="123" y="102"/>
                    <a:pt x="125" y="102"/>
                    <a:pt x="126" y="103"/>
                  </a:cubicBezTo>
                  <a:cubicBezTo>
                    <a:pt x="128" y="104"/>
                    <a:pt x="130" y="106"/>
                    <a:pt x="130" y="108"/>
                  </a:cubicBezTo>
                  <a:cubicBezTo>
                    <a:pt x="131" y="110"/>
                    <a:pt x="131" y="112"/>
                    <a:pt x="129" y="114"/>
                  </a:cubicBezTo>
                  <a:cubicBezTo>
                    <a:pt x="128" y="115"/>
                    <a:pt x="125" y="117"/>
                    <a:pt x="122" y="118"/>
                  </a:cubicBezTo>
                  <a:cubicBezTo>
                    <a:pt x="120" y="119"/>
                    <a:pt x="116" y="122"/>
                    <a:pt x="115" y="123"/>
                  </a:cubicBezTo>
                  <a:cubicBezTo>
                    <a:pt x="114" y="125"/>
                    <a:pt x="112" y="129"/>
                    <a:pt x="112" y="131"/>
                  </a:cubicBezTo>
                  <a:cubicBezTo>
                    <a:pt x="112" y="134"/>
                    <a:pt x="111" y="138"/>
                    <a:pt x="110" y="140"/>
                  </a:cubicBezTo>
                  <a:cubicBezTo>
                    <a:pt x="109" y="141"/>
                    <a:pt x="107" y="146"/>
                    <a:pt x="107" y="151"/>
                  </a:cubicBezTo>
                  <a:cubicBezTo>
                    <a:pt x="106" y="155"/>
                    <a:pt x="103" y="156"/>
                    <a:pt x="99" y="153"/>
                  </a:cubicBezTo>
                  <a:cubicBezTo>
                    <a:pt x="95" y="150"/>
                    <a:pt x="89" y="145"/>
                    <a:pt x="86" y="143"/>
                  </a:cubicBezTo>
                  <a:cubicBezTo>
                    <a:pt x="83" y="141"/>
                    <a:pt x="78" y="138"/>
                    <a:pt x="76" y="136"/>
                  </a:cubicBezTo>
                  <a:cubicBezTo>
                    <a:pt x="74" y="134"/>
                    <a:pt x="69" y="135"/>
                    <a:pt x="65" y="137"/>
                  </a:cubicBezTo>
                  <a:cubicBezTo>
                    <a:pt x="61" y="139"/>
                    <a:pt x="55" y="140"/>
                    <a:pt x="52" y="140"/>
                  </a:cubicBezTo>
                  <a:cubicBezTo>
                    <a:pt x="48" y="140"/>
                    <a:pt x="44" y="142"/>
                    <a:pt x="43" y="144"/>
                  </a:cubicBezTo>
                  <a:cubicBezTo>
                    <a:pt x="41" y="147"/>
                    <a:pt x="37" y="150"/>
                    <a:pt x="34" y="150"/>
                  </a:cubicBezTo>
                  <a:cubicBezTo>
                    <a:pt x="31" y="151"/>
                    <a:pt x="28" y="152"/>
                    <a:pt x="28" y="152"/>
                  </a:cubicBezTo>
                  <a:cubicBezTo>
                    <a:pt x="29" y="153"/>
                    <a:pt x="31" y="156"/>
                    <a:pt x="32" y="158"/>
                  </a:cubicBezTo>
                  <a:cubicBezTo>
                    <a:pt x="33" y="160"/>
                    <a:pt x="33" y="163"/>
                    <a:pt x="32" y="165"/>
                  </a:cubicBezTo>
                  <a:cubicBezTo>
                    <a:pt x="31" y="166"/>
                    <a:pt x="27" y="168"/>
                    <a:pt x="25" y="169"/>
                  </a:cubicBezTo>
                  <a:cubicBezTo>
                    <a:pt x="22" y="171"/>
                    <a:pt x="17" y="171"/>
                    <a:pt x="14" y="171"/>
                  </a:cubicBezTo>
                  <a:cubicBezTo>
                    <a:pt x="11" y="170"/>
                    <a:pt x="7" y="171"/>
                    <a:pt x="4" y="173"/>
                  </a:cubicBezTo>
                  <a:cubicBezTo>
                    <a:pt x="2" y="175"/>
                    <a:pt x="0" y="178"/>
                    <a:pt x="1" y="180"/>
                  </a:cubicBezTo>
                  <a:cubicBezTo>
                    <a:pt x="2" y="181"/>
                    <a:pt x="3" y="184"/>
                    <a:pt x="4" y="186"/>
                  </a:cubicBezTo>
                  <a:cubicBezTo>
                    <a:pt x="5" y="188"/>
                    <a:pt x="7" y="190"/>
                    <a:pt x="8" y="192"/>
                  </a:cubicBezTo>
                  <a:cubicBezTo>
                    <a:pt x="8" y="193"/>
                    <a:pt x="9" y="196"/>
                    <a:pt x="9" y="198"/>
                  </a:cubicBezTo>
                  <a:cubicBezTo>
                    <a:pt x="9" y="200"/>
                    <a:pt x="10" y="204"/>
                    <a:pt x="12" y="207"/>
                  </a:cubicBezTo>
                  <a:cubicBezTo>
                    <a:pt x="13" y="210"/>
                    <a:pt x="15" y="213"/>
                    <a:pt x="16" y="215"/>
                  </a:cubicBezTo>
                  <a:cubicBezTo>
                    <a:pt x="17" y="216"/>
                    <a:pt x="19" y="218"/>
                    <a:pt x="21" y="220"/>
                  </a:cubicBezTo>
                  <a:cubicBezTo>
                    <a:pt x="22" y="222"/>
                    <a:pt x="25" y="227"/>
                    <a:pt x="27" y="230"/>
                  </a:cubicBezTo>
                  <a:cubicBezTo>
                    <a:pt x="29" y="233"/>
                    <a:pt x="32" y="237"/>
                    <a:pt x="33" y="238"/>
                  </a:cubicBezTo>
                  <a:cubicBezTo>
                    <a:pt x="34" y="239"/>
                    <a:pt x="36" y="241"/>
                    <a:pt x="38" y="243"/>
                  </a:cubicBezTo>
                  <a:cubicBezTo>
                    <a:pt x="39" y="244"/>
                    <a:pt x="41" y="245"/>
                    <a:pt x="42" y="246"/>
                  </a:cubicBezTo>
                  <a:cubicBezTo>
                    <a:pt x="42" y="247"/>
                    <a:pt x="43" y="248"/>
                    <a:pt x="43" y="250"/>
                  </a:cubicBezTo>
                  <a:cubicBezTo>
                    <a:pt x="44" y="252"/>
                    <a:pt x="44" y="253"/>
                    <a:pt x="45" y="254"/>
                  </a:cubicBezTo>
                  <a:cubicBezTo>
                    <a:pt x="45" y="255"/>
                    <a:pt x="46" y="256"/>
                    <a:pt x="47" y="257"/>
                  </a:cubicBezTo>
                  <a:cubicBezTo>
                    <a:pt x="47" y="258"/>
                    <a:pt x="49" y="260"/>
                    <a:pt x="50" y="261"/>
                  </a:cubicBezTo>
                  <a:cubicBezTo>
                    <a:pt x="51" y="262"/>
                    <a:pt x="52" y="264"/>
                    <a:pt x="53" y="265"/>
                  </a:cubicBezTo>
                  <a:cubicBezTo>
                    <a:pt x="53" y="266"/>
                    <a:pt x="56" y="266"/>
                    <a:pt x="58" y="266"/>
                  </a:cubicBezTo>
                  <a:cubicBezTo>
                    <a:pt x="60" y="266"/>
                    <a:pt x="63" y="267"/>
                    <a:pt x="63" y="269"/>
                  </a:cubicBezTo>
                  <a:cubicBezTo>
                    <a:pt x="64" y="270"/>
                    <a:pt x="65" y="271"/>
                    <a:pt x="67" y="271"/>
                  </a:cubicBezTo>
                  <a:cubicBezTo>
                    <a:pt x="68" y="271"/>
                    <a:pt x="70" y="272"/>
                    <a:pt x="71" y="273"/>
                  </a:cubicBezTo>
                  <a:cubicBezTo>
                    <a:pt x="72" y="275"/>
                    <a:pt x="75" y="276"/>
                    <a:pt x="77" y="277"/>
                  </a:cubicBezTo>
                  <a:cubicBezTo>
                    <a:pt x="79" y="277"/>
                    <a:pt x="80" y="278"/>
                    <a:pt x="80" y="278"/>
                  </a:cubicBezTo>
                  <a:cubicBezTo>
                    <a:pt x="80" y="278"/>
                    <a:pt x="81" y="276"/>
                    <a:pt x="83" y="274"/>
                  </a:cubicBezTo>
                  <a:cubicBezTo>
                    <a:pt x="84" y="272"/>
                    <a:pt x="88" y="271"/>
                    <a:pt x="93" y="27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0" name="Freeform 33">
              <a:extLst>
                <a:ext uri="{FF2B5EF4-FFF2-40B4-BE49-F238E27FC236}">
                  <a16:creationId xmlns:a16="http://schemas.microsoft.com/office/drawing/2014/main" id="{116194DB-9E69-8ACA-0C16-9FAD0692A723}"/>
                </a:ext>
              </a:extLst>
            </p:cNvPr>
            <p:cNvSpPr>
              <a:spLocks/>
            </p:cNvSpPr>
            <p:nvPr/>
          </p:nvSpPr>
          <p:spPr bwMode="auto">
            <a:xfrm>
              <a:off x="4214784" y="3497245"/>
              <a:ext cx="1073150" cy="981075"/>
            </a:xfrm>
            <a:custGeom>
              <a:avLst/>
              <a:gdLst/>
              <a:ahLst/>
              <a:cxnLst>
                <a:cxn ang="0">
                  <a:pos x="71" y="209"/>
                </a:cxn>
                <a:cxn ang="0">
                  <a:pos x="81" y="216"/>
                </a:cxn>
                <a:cxn ang="0">
                  <a:pos x="99" y="222"/>
                </a:cxn>
                <a:cxn ang="0">
                  <a:pos x="112" y="233"/>
                </a:cxn>
                <a:cxn ang="0">
                  <a:pos x="127" y="236"/>
                </a:cxn>
                <a:cxn ang="0">
                  <a:pos x="133" y="225"/>
                </a:cxn>
                <a:cxn ang="0">
                  <a:pos x="148" y="228"/>
                </a:cxn>
                <a:cxn ang="0">
                  <a:pos x="166" y="236"/>
                </a:cxn>
                <a:cxn ang="0">
                  <a:pos x="181" y="242"/>
                </a:cxn>
                <a:cxn ang="0">
                  <a:pos x="188" y="237"/>
                </a:cxn>
                <a:cxn ang="0">
                  <a:pos x="200" y="244"/>
                </a:cxn>
                <a:cxn ang="0">
                  <a:pos x="214" y="237"/>
                </a:cxn>
                <a:cxn ang="0">
                  <a:pos x="223" y="228"/>
                </a:cxn>
                <a:cxn ang="0">
                  <a:pos x="230" y="240"/>
                </a:cxn>
                <a:cxn ang="0">
                  <a:pos x="233" y="252"/>
                </a:cxn>
                <a:cxn ang="0">
                  <a:pos x="239" y="251"/>
                </a:cxn>
                <a:cxn ang="0">
                  <a:pos x="251" y="259"/>
                </a:cxn>
                <a:cxn ang="0">
                  <a:pos x="265" y="259"/>
                </a:cxn>
                <a:cxn ang="0">
                  <a:pos x="272" y="245"/>
                </a:cxn>
                <a:cxn ang="0">
                  <a:pos x="274" y="237"/>
                </a:cxn>
                <a:cxn ang="0">
                  <a:pos x="266" y="225"/>
                </a:cxn>
                <a:cxn ang="0">
                  <a:pos x="268" y="219"/>
                </a:cxn>
                <a:cxn ang="0">
                  <a:pos x="276" y="211"/>
                </a:cxn>
                <a:cxn ang="0">
                  <a:pos x="271" y="201"/>
                </a:cxn>
                <a:cxn ang="0">
                  <a:pos x="268" y="195"/>
                </a:cxn>
                <a:cxn ang="0">
                  <a:pos x="274" y="194"/>
                </a:cxn>
                <a:cxn ang="0">
                  <a:pos x="285" y="182"/>
                </a:cxn>
                <a:cxn ang="0">
                  <a:pos x="277" y="171"/>
                </a:cxn>
                <a:cxn ang="0">
                  <a:pos x="271" y="163"/>
                </a:cxn>
                <a:cxn ang="0">
                  <a:pos x="253" y="165"/>
                </a:cxn>
                <a:cxn ang="0">
                  <a:pos x="228" y="163"/>
                </a:cxn>
                <a:cxn ang="0">
                  <a:pos x="215" y="154"/>
                </a:cxn>
                <a:cxn ang="0">
                  <a:pos x="203" y="143"/>
                </a:cxn>
                <a:cxn ang="0">
                  <a:pos x="187" y="145"/>
                </a:cxn>
                <a:cxn ang="0">
                  <a:pos x="166" y="134"/>
                </a:cxn>
                <a:cxn ang="0">
                  <a:pos x="169" y="123"/>
                </a:cxn>
                <a:cxn ang="0">
                  <a:pos x="166" y="111"/>
                </a:cxn>
                <a:cxn ang="0">
                  <a:pos x="159" y="104"/>
                </a:cxn>
                <a:cxn ang="0">
                  <a:pos x="155" y="99"/>
                </a:cxn>
                <a:cxn ang="0">
                  <a:pos x="140" y="104"/>
                </a:cxn>
                <a:cxn ang="0">
                  <a:pos x="132" y="94"/>
                </a:cxn>
                <a:cxn ang="0">
                  <a:pos x="131" y="74"/>
                </a:cxn>
                <a:cxn ang="0">
                  <a:pos x="129" y="58"/>
                </a:cxn>
                <a:cxn ang="0">
                  <a:pos x="121" y="41"/>
                </a:cxn>
                <a:cxn ang="0">
                  <a:pos x="114" y="9"/>
                </a:cxn>
                <a:cxn ang="0">
                  <a:pos x="105" y="3"/>
                </a:cxn>
                <a:cxn ang="0">
                  <a:pos x="93" y="16"/>
                </a:cxn>
                <a:cxn ang="0">
                  <a:pos x="76" y="40"/>
                </a:cxn>
                <a:cxn ang="0">
                  <a:pos x="49" y="64"/>
                </a:cxn>
                <a:cxn ang="0">
                  <a:pos x="23" y="87"/>
                </a:cxn>
                <a:cxn ang="0">
                  <a:pos x="12" y="90"/>
                </a:cxn>
                <a:cxn ang="0">
                  <a:pos x="2" y="97"/>
                </a:cxn>
                <a:cxn ang="0">
                  <a:pos x="4" y="116"/>
                </a:cxn>
                <a:cxn ang="0">
                  <a:pos x="10" y="135"/>
                </a:cxn>
                <a:cxn ang="0">
                  <a:pos x="25" y="149"/>
                </a:cxn>
                <a:cxn ang="0">
                  <a:pos x="41" y="162"/>
                </a:cxn>
                <a:cxn ang="0">
                  <a:pos x="54" y="151"/>
                </a:cxn>
                <a:cxn ang="0">
                  <a:pos x="70" y="158"/>
                </a:cxn>
                <a:cxn ang="0">
                  <a:pos x="67" y="171"/>
                </a:cxn>
                <a:cxn ang="0">
                  <a:pos x="69" y="191"/>
                </a:cxn>
                <a:cxn ang="0">
                  <a:pos x="57" y="207"/>
                </a:cxn>
                <a:cxn ang="0">
                  <a:pos x="57" y="211"/>
                </a:cxn>
              </a:cxnLst>
              <a:rect l="0" t="0" r="r" b="b"/>
              <a:pathLst>
                <a:path w="286" h="261">
                  <a:moveTo>
                    <a:pt x="64" y="209"/>
                  </a:moveTo>
                  <a:cubicBezTo>
                    <a:pt x="66" y="208"/>
                    <a:pt x="69" y="208"/>
                    <a:pt x="71" y="209"/>
                  </a:cubicBezTo>
                  <a:cubicBezTo>
                    <a:pt x="72" y="211"/>
                    <a:pt x="74" y="213"/>
                    <a:pt x="75" y="214"/>
                  </a:cubicBezTo>
                  <a:cubicBezTo>
                    <a:pt x="76" y="215"/>
                    <a:pt x="78" y="216"/>
                    <a:pt x="81" y="216"/>
                  </a:cubicBezTo>
                  <a:cubicBezTo>
                    <a:pt x="83" y="216"/>
                    <a:pt x="88" y="217"/>
                    <a:pt x="91" y="217"/>
                  </a:cubicBezTo>
                  <a:cubicBezTo>
                    <a:pt x="94" y="218"/>
                    <a:pt x="97" y="220"/>
                    <a:pt x="99" y="222"/>
                  </a:cubicBezTo>
                  <a:cubicBezTo>
                    <a:pt x="100" y="225"/>
                    <a:pt x="103" y="227"/>
                    <a:pt x="105" y="227"/>
                  </a:cubicBezTo>
                  <a:cubicBezTo>
                    <a:pt x="107" y="228"/>
                    <a:pt x="111" y="230"/>
                    <a:pt x="112" y="233"/>
                  </a:cubicBezTo>
                  <a:cubicBezTo>
                    <a:pt x="114" y="235"/>
                    <a:pt x="117" y="237"/>
                    <a:pt x="120" y="237"/>
                  </a:cubicBezTo>
                  <a:cubicBezTo>
                    <a:pt x="122" y="237"/>
                    <a:pt x="125" y="237"/>
                    <a:pt x="127" y="236"/>
                  </a:cubicBezTo>
                  <a:cubicBezTo>
                    <a:pt x="129" y="235"/>
                    <a:pt x="130" y="233"/>
                    <a:pt x="130" y="232"/>
                  </a:cubicBezTo>
                  <a:cubicBezTo>
                    <a:pt x="130" y="230"/>
                    <a:pt x="131" y="227"/>
                    <a:pt x="133" y="225"/>
                  </a:cubicBezTo>
                  <a:cubicBezTo>
                    <a:pt x="134" y="223"/>
                    <a:pt x="137" y="222"/>
                    <a:pt x="139" y="224"/>
                  </a:cubicBezTo>
                  <a:cubicBezTo>
                    <a:pt x="141" y="225"/>
                    <a:pt x="145" y="227"/>
                    <a:pt x="148" y="228"/>
                  </a:cubicBezTo>
                  <a:cubicBezTo>
                    <a:pt x="151" y="229"/>
                    <a:pt x="155" y="230"/>
                    <a:pt x="157" y="231"/>
                  </a:cubicBezTo>
                  <a:cubicBezTo>
                    <a:pt x="159" y="232"/>
                    <a:pt x="163" y="234"/>
                    <a:pt x="166" y="236"/>
                  </a:cubicBezTo>
                  <a:cubicBezTo>
                    <a:pt x="170" y="238"/>
                    <a:pt x="174" y="240"/>
                    <a:pt x="177" y="241"/>
                  </a:cubicBezTo>
                  <a:cubicBezTo>
                    <a:pt x="179" y="242"/>
                    <a:pt x="181" y="242"/>
                    <a:pt x="181" y="242"/>
                  </a:cubicBezTo>
                  <a:cubicBezTo>
                    <a:pt x="181" y="242"/>
                    <a:pt x="182" y="241"/>
                    <a:pt x="183" y="239"/>
                  </a:cubicBezTo>
                  <a:cubicBezTo>
                    <a:pt x="184" y="237"/>
                    <a:pt x="186" y="236"/>
                    <a:pt x="188" y="237"/>
                  </a:cubicBezTo>
                  <a:cubicBezTo>
                    <a:pt x="191" y="238"/>
                    <a:pt x="193" y="240"/>
                    <a:pt x="194" y="241"/>
                  </a:cubicBezTo>
                  <a:cubicBezTo>
                    <a:pt x="195" y="243"/>
                    <a:pt x="198" y="244"/>
                    <a:pt x="200" y="244"/>
                  </a:cubicBezTo>
                  <a:cubicBezTo>
                    <a:pt x="202" y="244"/>
                    <a:pt x="205" y="243"/>
                    <a:pt x="207" y="242"/>
                  </a:cubicBezTo>
                  <a:cubicBezTo>
                    <a:pt x="209" y="242"/>
                    <a:pt x="212" y="239"/>
                    <a:pt x="214" y="237"/>
                  </a:cubicBezTo>
                  <a:cubicBezTo>
                    <a:pt x="215" y="235"/>
                    <a:pt x="217" y="232"/>
                    <a:pt x="219" y="231"/>
                  </a:cubicBezTo>
                  <a:cubicBezTo>
                    <a:pt x="220" y="229"/>
                    <a:pt x="222" y="228"/>
                    <a:pt x="223" y="228"/>
                  </a:cubicBezTo>
                  <a:cubicBezTo>
                    <a:pt x="225" y="228"/>
                    <a:pt x="226" y="230"/>
                    <a:pt x="227" y="232"/>
                  </a:cubicBezTo>
                  <a:cubicBezTo>
                    <a:pt x="227" y="235"/>
                    <a:pt x="229" y="238"/>
                    <a:pt x="230" y="240"/>
                  </a:cubicBezTo>
                  <a:cubicBezTo>
                    <a:pt x="231" y="243"/>
                    <a:pt x="232" y="246"/>
                    <a:pt x="231" y="248"/>
                  </a:cubicBezTo>
                  <a:cubicBezTo>
                    <a:pt x="231" y="250"/>
                    <a:pt x="232" y="252"/>
                    <a:pt x="233" y="252"/>
                  </a:cubicBezTo>
                  <a:cubicBezTo>
                    <a:pt x="234" y="252"/>
                    <a:pt x="235" y="252"/>
                    <a:pt x="235" y="252"/>
                  </a:cubicBezTo>
                  <a:cubicBezTo>
                    <a:pt x="235" y="252"/>
                    <a:pt x="237" y="251"/>
                    <a:pt x="239" y="251"/>
                  </a:cubicBezTo>
                  <a:cubicBezTo>
                    <a:pt x="241" y="251"/>
                    <a:pt x="244" y="252"/>
                    <a:pt x="245" y="254"/>
                  </a:cubicBezTo>
                  <a:cubicBezTo>
                    <a:pt x="246" y="255"/>
                    <a:pt x="249" y="258"/>
                    <a:pt x="251" y="259"/>
                  </a:cubicBezTo>
                  <a:cubicBezTo>
                    <a:pt x="252" y="261"/>
                    <a:pt x="255" y="261"/>
                    <a:pt x="257" y="260"/>
                  </a:cubicBezTo>
                  <a:cubicBezTo>
                    <a:pt x="259" y="260"/>
                    <a:pt x="263" y="259"/>
                    <a:pt x="265" y="259"/>
                  </a:cubicBezTo>
                  <a:cubicBezTo>
                    <a:pt x="267" y="259"/>
                    <a:pt x="268" y="257"/>
                    <a:pt x="269" y="254"/>
                  </a:cubicBezTo>
                  <a:cubicBezTo>
                    <a:pt x="269" y="251"/>
                    <a:pt x="270" y="247"/>
                    <a:pt x="272" y="245"/>
                  </a:cubicBezTo>
                  <a:cubicBezTo>
                    <a:pt x="273" y="244"/>
                    <a:pt x="274" y="242"/>
                    <a:pt x="274" y="242"/>
                  </a:cubicBezTo>
                  <a:cubicBezTo>
                    <a:pt x="274" y="242"/>
                    <a:pt x="274" y="240"/>
                    <a:pt x="274" y="237"/>
                  </a:cubicBezTo>
                  <a:cubicBezTo>
                    <a:pt x="274" y="235"/>
                    <a:pt x="273" y="231"/>
                    <a:pt x="270" y="230"/>
                  </a:cubicBezTo>
                  <a:cubicBezTo>
                    <a:pt x="268" y="229"/>
                    <a:pt x="266" y="227"/>
                    <a:pt x="266" y="225"/>
                  </a:cubicBezTo>
                  <a:cubicBezTo>
                    <a:pt x="266" y="223"/>
                    <a:pt x="266" y="221"/>
                    <a:pt x="266" y="221"/>
                  </a:cubicBezTo>
                  <a:cubicBezTo>
                    <a:pt x="266" y="221"/>
                    <a:pt x="267" y="220"/>
                    <a:pt x="268" y="219"/>
                  </a:cubicBezTo>
                  <a:cubicBezTo>
                    <a:pt x="270" y="218"/>
                    <a:pt x="273" y="217"/>
                    <a:pt x="274" y="216"/>
                  </a:cubicBezTo>
                  <a:cubicBezTo>
                    <a:pt x="276" y="215"/>
                    <a:pt x="277" y="213"/>
                    <a:pt x="276" y="211"/>
                  </a:cubicBezTo>
                  <a:cubicBezTo>
                    <a:pt x="275" y="210"/>
                    <a:pt x="273" y="207"/>
                    <a:pt x="272" y="206"/>
                  </a:cubicBezTo>
                  <a:cubicBezTo>
                    <a:pt x="271" y="205"/>
                    <a:pt x="271" y="203"/>
                    <a:pt x="271" y="201"/>
                  </a:cubicBezTo>
                  <a:cubicBezTo>
                    <a:pt x="271" y="200"/>
                    <a:pt x="271" y="198"/>
                    <a:pt x="270" y="197"/>
                  </a:cubicBezTo>
                  <a:cubicBezTo>
                    <a:pt x="269" y="196"/>
                    <a:pt x="268" y="195"/>
                    <a:pt x="268" y="195"/>
                  </a:cubicBezTo>
                  <a:cubicBezTo>
                    <a:pt x="268" y="195"/>
                    <a:pt x="269" y="196"/>
                    <a:pt x="270" y="197"/>
                  </a:cubicBezTo>
                  <a:cubicBezTo>
                    <a:pt x="270" y="197"/>
                    <a:pt x="272" y="195"/>
                    <a:pt x="274" y="194"/>
                  </a:cubicBezTo>
                  <a:cubicBezTo>
                    <a:pt x="276" y="192"/>
                    <a:pt x="280" y="189"/>
                    <a:pt x="281" y="188"/>
                  </a:cubicBezTo>
                  <a:cubicBezTo>
                    <a:pt x="282" y="187"/>
                    <a:pt x="284" y="184"/>
                    <a:pt x="285" y="182"/>
                  </a:cubicBezTo>
                  <a:cubicBezTo>
                    <a:pt x="286" y="180"/>
                    <a:pt x="285" y="177"/>
                    <a:pt x="283" y="175"/>
                  </a:cubicBezTo>
                  <a:cubicBezTo>
                    <a:pt x="281" y="173"/>
                    <a:pt x="278" y="171"/>
                    <a:pt x="277" y="171"/>
                  </a:cubicBezTo>
                  <a:cubicBezTo>
                    <a:pt x="276" y="170"/>
                    <a:pt x="274" y="168"/>
                    <a:pt x="273" y="166"/>
                  </a:cubicBezTo>
                  <a:cubicBezTo>
                    <a:pt x="272" y="164"/>
                    <a:pt x="271" y="163"/>
                    <a:pt x="271" y="163"/>
                  </a:cubicBezTo>
                  <a:cubicBezTo>
                    <a:pt x="271" y="163"/>
                    <a:pt x="268" y="163"/>
                    <a:pt x="264" y="163"/>
                  </a:cubicBezTo>
                  <a:cubicBezTo>
                    <a:pt x="260" y="163"/>
                    <a:pt x="255" y="164"/>
                    <a:pt x="253" y="165"/>
                  </a:cubicBezTo>
                  <a:cubicBezTo>
                    <a:pt x="250" y="166"/>
                    <a:pt x="245" y="166"/>
                    <a:pt x="242" y="165"/>
                  </a:cubicBezTo>
                  <a:cubicBezTo>
                    <a:pt x="238" y="164"/>
                    <a:pt x="232" y="163"/>
                    <a:pt x="228" y="163"/>
                  </a:cubicBezTo>
                  <a:cubicBezTo>
                    <a:pt x="225" y="163"/>
                    <a:pt x="221" y="162"/>
                    <a:pt x="219" y="161"/>
                  </a:cubicBezTo>
                  <a:cubicBezTo>
                    <a:pt x="218" y="159"/>
                    <a:pt x="216" y="157"/>
                    <a:pt x="215" y="154"/>
                  </a:cubicBezTo>
                  <a:cubicBezTo>
                    <a:pt x="213" y="152"/>
                    <a:pt x="212" y="149"/>
                    <a:pt x="211" y="147"/>
                  </a:cubicBezTo>
                  <a:cubicBezTo>
                    <a:pt x="210" y="145"/>
                    <a:pt x="206" y="144"/>
                    <a:pt x="203" y="143"/>
                  </a:cubicBezTo>
                  <a:cubicBezTo>
                    <a:pt x="200" y="143"/>
                    <a:pt x="198" y="144"/>
                    <a:pt x="198" y="146"/>
                  </a:cubicBezTo>
                  <a:cubicBezTo>
                    <a:pt x="199" y="147"/>
                    <a:pt x="194" y="147"/>
                    <a:pt x="187" y="145"/>
                  </a:cubicBezTo>
                  <a:cubicBezTo>
                    <a:pt x="180" y="143"/>
                    <a:pt x="173" y="140"/>
                    <a:pt x="171" y="139"/>
                  </a:cubicBezTo>
                  <a:cubicBezTo>
                    <a:pt x="169" y="138"/>
                    <a:pt x="167" y="136"/>
                    <a:pt x="166" y="134"/>
                  </a:cubicBezTo>
                  <a:cubicBezTo>
                    <a:pt x="165" y="132"/>
                    <a:pt x="165" y="130"/>
                    <a:pt x="166" y="129"/>
                  </a:cubicBezTo>
                  <a:cubicBezTo>
                    <a:pt x="167" y="127"/>
                    <a:pt x="168" y="125"/>
                    <a:pt x="169" y="123"/>
                  </a:cubicBezTo>
                  <a:cubicBezTo>
                    <a:pt x="170" y="122"/>
                    <a:pt x="170" y="119"/>
                    <a:pt x="169" y="117"/>
                  </a:cubicBezTo>
                  <a:cubicBezTo>
                    <a:pt x="168" y="116"/>
                    <a:pt x="167" y="113"/>
                    <a:pt x="166" y="111"/>
                  </a:cubicBezTo>
                  <a:cubicBezTo>
                    <a:pt x="165" y="109"/>
                    <a:pt x="163" y="108"/>
                    <a:pt x="161" y="109"/>
                  </a:cubicBezTo>
                  <a:cubicBezTo>
                    <a:pt x="160" y="111"/>
                    <a:pt x="159" y="108"/>
                    <a:pt x="159" y="104"/>
                  </a:cubicBezTo>
                  <a:cubicBezTo>
                    <a:pt x="160" y="100"/>
                    <a:pt x="160" y="97"/>
                    <a:pt x="160" y="97"/>
                  </a:cubicBezTo>
                  <a:cubicBezTo>
                    <a:pt x="160" y="97"/>
                    <a:pt x="158" y="98"/>
                    <a:pt x="155" y="99"/>
                  </a:cubicBezTo>
                  <a:cubicBezTo>
                    <a:pt x="152" y="100"/>
                    <a:pt x="148" y="102"/>
                    <a:pt x="146" y="103"/>
                  </a:cubicBezTo>
                  <a:cubicBezTo>
                    <a:pt x="145" y="104"/>
                    <a:pt x="142" y="104"/>
                    <a:pt x="140" y="104"/>
                  </a:cubicBezTo>
                  <a:cubicBezTo>
                    <a:pt x="138" y="104"/>
                    <a:pt x="136" y="104"/>
                    <a:pt x="135" y="103"/>
                  </a:cubicBezTo>
                  <a:cubicBezTo>
                    <a:pt x="134" y="102"/>
                    <a:pt x="132" y="98"/>
                    <a:pt x="132" y="94"/>
                  </a:cubicBezTo>
                  <a:cubicBezTo>
                    <a:pt x="131" y="90"/>
                    <a:pt x="131" y="85"/>
                    <a:pt x="131" y="84"/>
                  </a:cubicBezTo>
                  <a:cubicBezTo>
                    <a:pt x="131" y="82"/>
                    <a:pt x="131" y="78"/>
                    <a:pt x="131" y="74"/>
                  </a:cubicBezTo>
                  <a:cubicBezTo>
                    <a:pt x="130" y="71"/>
                    <a:pt x="130" y="67"/>
                    <a:pt x="130" y="65"/>
                  </a:cubicBezTo>
                  <a:cubicBezTo>
                    <a:pt x="130" y="64"/>
                    <a:pt x="130" y="61"/>
                    <a:pt x="129" y="58"/>
                  </a:cubicBezTo>
                  <a:cubicBezTo>
                    <a:pt x="128" y="55"/>
                    <a:pt x="126" y="51"/>
                    <a:pt x="124" y="49"/>
                  </a:cubicBezTo>
                  <a:cubicBezTo>
                    <a:pt x="123" y="47"/>
                    <a:pt x="121" y="43"/>
                    <a:pt x="121" y="41"/>
                  </a:cubicBezTo>
                  <a:cubicBezTo>
                    <a:pt x="121" y="38"/>
                    <a:pt x="121" y="32"/>
                    <a:pt x="120" y="27"/>
                  </a:cubicBezTo>
                  <a:cubicBezTo>
                    <a:pt x="120" y="22"/>
                    <a:pt x="117" y="14"/>
                    <a:pt x="114" y="9"/>
                  </a:cubicBezTo>
                  <a:cubicBezTo>
                    <a:pt x="110" y="4"/>
                    <a:pt x="108" y="0"/>
                    <a:pt x="108" y="0"/>
                  </a:cubicBezTo>
                  <a:cubicBezTo>
                    <a:pt x="108" y="0"/>
                    <a:pt x="107" y="2"/>
                    <a:pt x="105" y="3"/>
                  </a:cubicBezTo>
                  <a:cubicBezTo>
                    <a:pt x="104" y="5"/>
                    <a:pt x="102" y="7"/>
                    <a:pt x="100" y="7"/>
                  </a:cubicBezTo>
                  <a:cubicBezTo>
                    <a:pt x="99" y="7"/>
                    <a:pt x="95" y="11"/>
                    <a:pt x="93" y="16"/>
                  </a:cubicBezTo>
                  <a:cubicBezTo>
                    <a:pt x="90" y="20"/>
                    <a:pt x="86" y="27"/>
                    <a:pt x="84" y="30"/>
                  </a:cubicBezTo>
                  <a:cubicBezTo>
                    <a:pt x="83" y="34"/>
                    <a:pt x="79" y="38"/>
                    <a:pt x="76" y="40"/>
                  </a:cubicBezTo>
                  <a:cubicBezTo>
                    <a:pt x="74" y="42"/>
                    <a:pt x="68" y="47"/>
                    <a:pt x="63" y="52"/>
                  </a:cubicBezTo>
                  <a:cubicBezTo>
                    <a:pt x="59" y="57"/>
                    <a:pt x="52" y="62"/>
                    <a:pt x="49" y="64"/>
                  </a:cubicBezTo>
                  <a:cubicBezTo>
                    <a:pt x="46" y="66"/>
                    <a:pt x="39" y="71"/>
                    <a:pt x="35" y="75"/>
                  </a:cubicBezTo>
                  <a:cubicBezTo>
                    <a:pt x="30" y="79"/>
                    <a:pt x="25" y="84"/>
                    <a:pt x="23" y="87"/>
                  </a:cubicBezTo>
                  <a:cubicBezTo>
                    <a:pt x="21" y="90"/>
                    <a:pt x="18" y="92"/>
                    <a:pt x="16" y="92"/>
                  </a:cubicBezTo>
                  <a:cubicBezTo>
                    <a:pt x="14" y="92"/>
                    <a:pt x="13" y="91"/>
                    <a:pt x="12" y="90"/>
                  </a:cubicBezTo>
                  <a:cubicBezTo>
                    <a:pt x="11" y="89"/>
                    <a:pt x="10" y="89"/>
                    <a:pt x="8" y="90"/>
                  </a:cubicBezTo>
                  <a:cubicBezTo>
                    <a:pt x="6" y="91"/>
                    <a:pt x="4" y="94"/>
                    <a:pt x="2" y="97"/>
                  </a:cubicBezTo>
                  <a:cubicBezTo>
                    <a:pt x="0" y="100"/>
                    <a:pt x="0" y="105"/>
                    <a:pt x="2" y="107"/>
                  </a:cubicBezTo>
                  <a:cubicBezTo>
                    <a:pt x="3" y="110"/>
                    <a:pt x="4" y="114"/>
                    <a:pt x="4" y="116"/>
                  </a:cubicBezTo>
                  <a:cubicBezTo>
                    <a:pt x="3" y="119"/>
                    <a:pt x="3" y="122"/>
                    <a:pt x="4" y="125"/>
                  </a:cubicBezTo>
                  <a:cubicBezTo>
                    <a:pt x="5" y="127"/>
                    <a:pt x="7" y="132"/>
                    <a:pt x="10" y="135"/>
                  </a:cubicBezTo>
                  <a:cubicBezTo>
                    <a:pt x="12" y="138"/>
                    <a:pt x="16" y="141"/>
                    <a:pt x="19" y="143"/>
                  </a:cubicBezTo>
                  <a:cubicBezTo>
                    <a:pt x="21" y="144"/>
                    <a:pt x="24" y="147"/>
                    <a:pt x="25" y="149"/>
                  </a:cubicBezTo>
                  <a:cubicBezTo>
                    <a:pt x="27" y="151"/>
                    <a:pt x="29" y="155"/>
                    <a:pt x="31" y="158"/>
                  </a:cubicBezTo>
                  <a:cubicBezTo>
                    <a:pt x="33" y="161"/>
                    <a:pt x="38" y="163"/>
                    <a:pt x="41" y="162"/>
                  </a:cubicBezTo>
                  <a:cubicBezTo>
                    <a:pt x="44" y="161"/>
                    <a:pt x="47" y="158"/>
                    <a:pt x="48" y="156"/>
                  </a:cubicBezTo>
                  <a:cubicBezTo>
                    <a:pt x="49" y="154"/>
                    <a:pt x="52" y="152"/>
                    <a:pt x="54" y="151"/>
                  </a:cubicBezTo>
                  <a:cubicBezTo>
                    <a:pt x="57" y="150"/>
                    <a:pt x="61" y="150"/>
                    <a:pt x="64" y="151"/>
                  </a:cubicBezTo>
                  <a:cubicBezTo>
                    <a:pt x="67" y="152"/>
                    <a:pt x="69" y="155"/>
                    <a:pt x="70" y="158"/>
                  </a:cubicBezTo>
                  <a:cubicBezTo>
                    <a:pt x="71" y="161"/>
                    <a:pt x="70" y="165"/>
                    <a:pt x="68" y="166"/>
                  </a:cubicBezTo>
                  <a:cubicBezTo>
                    <a:pt x="66" y="167"/>
                    <a:pt x="66" y="169"/>
                    <a:pt x="67" y="171"/>
                  </a:cubicBezTo>
                  <a:cubicBezTo>
                    <a:pt x="68" y="173"/>
                    <a:pt x="69" y="178"/>
                    <a:pt x="69" y="181"/>
                  </a:cubicBezTo>
                  <a:cubicBezTo>
                    <a:pt x="70" y="184"/>
                    <a:pt x="69" y="189"/>
                    <a:pt x="69" y="191"/>
                  </a:cubicBezTo>
                  <a:cubicBezTo>
                    <a:pt x="69" y="193"/>
                    <a:pt x="67" y="196"/>
                    <a:pt x="64" y="199"/>
                  </a:cubicBezTo>
                  <a:cubicBezTo>
                    <a:pt x="62" y="201"/>
                    <a:pt x="59" y="205"/>
                    <a:pt x="57" y="207"/>
                  </a:cubicBezTo>
                  <a:cubicBezTo>
                    <a:pt x="55" y="209"/>
                    <a:pt x="54" y="210"/>
                    <a:pt x="54" y="210"/>
                  </a:cubicBezTo>
                  <a:cubicBezTo>
                    <a:pt x="54" y="210"/>
                    <a:pt x="55" y="211"/>
                    <a:pt x="57" y="211"/>
                  </a:cubicBezTo>
                  <a:cubicBezTo>
                    <a:pt x="59" y="211"/>
                    <a:pt x="63" y="211"/>
                    <a:pt x="64" y="20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1" name="Freeform 34">
              <a:extLst>
                <a:ext uri="{FF2B5EF4-FFF2-40B4-BE49-F238E27FC236}">
                  <a16:creationId xmlns:a16="http://schemas.microsoft.com/office/drawing/2014/main" id="{7F666204-D0AD-9F14-9ABB-2C7C95B03B02}"/>
                </a:ext>
              </a:extLst>
            </p:cNvPr>
            <p:cNvSpPr>
              <a:spLocks/>
            </p:cNvSpPr>
            <p:nvPr/>
          </p:nvSpPr>
          <p:spPr bwMode="auto">
            <a:xfrm>
              <a:off x="4687859" y="4354495"/>
              <a:ext cx="412750" cy="495300"/>
            </a:xfrm>
            <a:custGeom>
              <a:avLst/>
              <a:gdLst/>
              <a:ahLst/>
              <a:cxnLst>
                <a:cxn ang="0">
                  <a:pos x="44" y="116"/>
                </a:cxn>
                <a:cxn ang="0">
                  <a:pos x="47" y="107"/>
                </a:cxn>
                <a:cxn ang="0">
                  <a:pos x="47" y="101"/>
                </a:cxn>
                <a:cxn ang="0">
                  <a:pos x="49" y="99"/>
                </a:cxn>
                <a:cxn ang="0">
                  <a:pos x="51" y="95"/>
                </a:cxn>
                <a:cxn ang="0">
                  <a:pos x="56" y="87"/>
                </a:cxn>
                <a:cxn ang="0">
                  <a:pos x="59" y="82"/>
                </a:cxn>
                <a:cxn ang="0">
                  <a:pos x="62" y="80"/>
                </a:cxn>
                <a:cxn ang="0">
                  <a:pos x="69" y="76"/>
                </a:cxn>
                <a:cxn ang="0">
                  <a:pos x="74" y="72"/>
                </a:cxn>
                <a:cxn ang="0">
                  <a:pos x="76" y="64"/>
                </a:cxn>
                <a:cxn ang="0">
                  <a:pos x="80" y="56"/>
                </a:cxn>
                <a:cxn ang="0">
                  <a:pos x="84" y="49"/>
                </a:cxn>
                <a:cxn ang="0">
                  <a:pos x="86" y="42"/>
                </a:cxn>
                <a:cxn ang="0">
                  <a:pos x="89" y="37"/>
                </a:cxn>
                <a:cxn ang="0">
                  <a:pos x="94" y="36"/>
                </a:cxn>
                <a:cxn ang="0">
                  <a:pos x="100" y="35"/>
                </a:cxn>
                <a:cxn ang="0">
                  <a:pos x="106" y="33"/>
                </a:cxn>
                <a:cxn ang="0">
                  <a:pos x="110" y="32"/>
                </a:cxn>
                <a:cxn ang="0">
                  <a:pos x="109" y="24"/>
                </a:cxn>
                <a:cxn ang="0">
                  <a:pos x="107" y="24"/>
                </a:cxn>
                <a:cxn ang="0">
                  <a:pos x="105" y="20"/>
                </a:cxn>
                <a:cxn ang="0">
                  <a:pos x="104" y="12"/>
                </a:cxn>
                <a:cxn ang="0">
                  <a:pos x="101" y="4"/>
                </a:cxn>
                <a:cxn ang="0">
                  <a:pos x="97" y="0"/>
                </a:cxn>
                <a:cxn ang="0">
                  <a:pos x="93" y="3"/>
                </a:cxn>
                <a:cxn ang="0">
                  <a:pos x="88" y="9"/>
                </a:cxn>
                <a:cxn ang="0">
                  <a:pos x="81" y="14"/>
                </a:cxn>
                <a:cxn ang="0">
                  <a:pos x="74" y="16"/>
                </a:cxn>
                <a:cxn ang="0">
                  <a:pos x="68" y="13"/>
                </a:cxn>
                <a:cxn ang="0">
                  <a:pos x="62" y="9"/>
                </a:cxn>
                <a:cxn ang="0">
                  <a:pos x="57" y="11"/>
                </a:cxn>
                <a:cxn ang="0">
                  <a:pos x="55" y="14"/>
                </a:cxn>
                <a:cxn ang="0">
                  <a:pos x="55" y="19"/>
                </a:cxn>
                <a:cxn ang="0">
                  <a:pos x="58" y="25"/>
                </a:cxn>
                <a:cxn ang="0">
                  <a:pos x="57" y="31"/>
                </a:cxn>
                <a:cxn ang="0">
                  <a:pos x="48" y="34"/>
                </a:cxn>
                <a:cxn ang="0">
                  <a:pos x="39" y="32"/>
                </a:cxn>
                <a:cxn ang="0">
                  <a:pos x="35" y="38"/>
                </a:cxn>
                <a:cxn ang="0">
                  <a:pos x="35" y="47"/>
                </a:cxn>
                <a:cxn ang="0">
                  <a:pos x="32" y="53"/>
                </a:cxn>
                <a:cxn ang="0">
                  <a:pos x="26" y="54"/>
                </a:cxn>
                <a:cxn ang="0">
                  <a:pos x="19" y="54"/>
                </a:cxn>
                <a:cxn ang="0">
                  <a:pos x="10" y="54"/>
                </a:cxn>
                <a:cxn ang="0">
                  <a:pos x="4" y="58"/>
                </a:cxn>
                <a:cxn ang="0">
                  <a:pos x="2" y="64"/>
                </a:cxn>
                <a:cxn ang="0">
                  <a:pos x="0" y="72"/>
                </a:cxn>
                <a:cxn ang="0">
                  <a:pos x="3" y="80"/>
                </a:cxn>
                <a:cxn ang="0">
                  <a:pos x="6" y="88"/>
                </a:cxn>
                <a:cxn ang="0">
                  <a:pos x="9" y="96"/>
                </a:cxn>
                <a:cxn ang="0">
                  <a:pos x="15" y="104"/>
                </a:cxn>
                <a:cxn ang="0">
                  <a:pos x="18" y="108"/>
                </a:cxn>
                <a:cxn ang="0">
                  <a:pos x="20" y="108"/>
                </a:cxn>
                <a:cxn ang="0">
                  <a:pos x="24" y="112"/>
                </a:cxn>
                <a:cxn ang="0">
                  <a:pos x="27" y="120"/>
                </a:cxn>
                <a:cxn ang="0">
                  <a:pos x="30" y="128"/>
                </a:cxn>
                <a:cxn ang="0">
                  <a:pos x="32" y="132"/>
                </a:cxn>
                <a:cxn ang="0">
                  <a:pos x="36" y="126"/>
                </a:cxn>
                <a:cxn ang="0">
                  <a:pos x="44" y="116"/>
                </a:cxn>
              </a:cxnLst>
              <a:rect l="0" t="0" r="r" b="b"/>
              <a:pathLst>
                <a:path w="110" h="132">
                  <a:moveTo>
                    <a:pt x="44" y="116"/>
                  </a:moveTo>
                  <a:cubicBezTo>
                    <a:pt x="47" y="113"/>
                    <a:pt x="48" y="110"/>
                    <a:pt x="47" y="107"/>
                  </a:cubicBezTo>
                  <a:cubicBezTo>
                    <a:pt x="47" y="105"/>
                    <a:pt x="47" y="102"/>
                    <a:pt x="47" y="101"/>
                  </a:cubicBezTo>
                  <a:cubicBezTo>
                    <a:pt x="48" y="100"/>
                    <a:pt x="49" y="99"/>
                    <a:pt x="49" y="99"/>
                  </a:cubicBezTo>
                  <a:cubicBezTo>
                    <a:pt x="49" y="99"/>
                    <a:pt x="50" y="97"/>
                    <a:pt x="51" y="95"/>
                  </a:cubicBezTo>
                  <a:cubicBezTo>
                    <a:pt x="53" y="93"/>
                    <a:pt x="55" y="89"/>
                    <a:pt x="56" y="87"/>
                  </a:cubicBezTo>
                  <a:cubicBezTo>
                    <a:pt x="58" y="84"/>
                    <a:pt x="59" y="82"/>
                    <a:pt x="59" y="82"/>
                  </a:cubicBezTo>
                  <a:cubicBezTo>
                    <a:pt x="59" y="82"/>
                    <a:pt x="61" y="81"/>
                    <a:pt x="62" y="80"/>
                  </a:cubicBezTo>
                  <a:cubicBezTo>
                    <a:pt x="64" y="79"/>
                    <a:pt x="67" y="77"/>
                    <a:pt x="69" y="76"/>
                  </a:cubicBezTo>
                  <a:cubicBezTo>
                    <a:pt x="71" y="76"/>
                    <a:pt x="74" y="74"/>
                    <a:pt x="74" y="72"/>
                  </a:cubicBezTo>
                  <a:cubicBezTo>
                    <a:pt x="75" y="70"/>
                    <a:pt x="76" y="67"/>
                    <a:pt x="76" y="64"/>
                  </a:cubicBezTo>
                  <a:cubicBezTo>
                    <a:pt x="76" y="61"/>
                    <a:pt x="78" y="57"/>
                    <a:pt x="80" y="56"/>
                  </a:cubicBezTo>
                  <a:cubicBezTo>
                    <a:pt x="83" y="55"/>
                    <a:pt x="84" y="52"/>
                    <a:pt x="84" y="49"/>
                  </a:cubicBezTo>
                  <a:cubicBezTo>
                    <a:pt x="84" y="47"/>
                    <a:pt x="85" y="44"/>
                    <a:pt x="86" y="42"/>
                  </a:cubicBezTo>
                  <a:cubicBezTo>
                    <a:pt x="87" y="40"/>
                    <a:pt x="88" y="38"/>
                    <a:pt x="89" y="37"/>
                  </a:cubicBezTo>
                  <a:cubicBezTo>
                    <a:pt x="90" y="36"/>
                    <a:pt x="92" y="36"/>
                    <a:pt x="94" y="36"/>
                  </a:cubicBezTo>
                  <a:cubicBezTo>
                    <a:pt x="96" y="37"/>
                    <a:pt x="98" y="36"/>
                    <a:pt x="100" y="35"/>
                  </a:cubicBezTo>
                  <a:cubicBezTo>
                    <a:pt x="101" y="34"/>
                    <a:pt x="104" y="33"/>
                    <a:pt x="106" y="33"/>
                  </a:cubicBezTo>
                  <a:cubicBezTo>
                    <a:pt x="109" y="33"/>
                    <a:pt x="110" y="32"/>
                    <a:pt x="110" y="32"/>
                  </a:cubicBezTo>
                  <a:cubicBezTo>
                    <a:pt x="109" y="24"/>
                    <a:pt x="109" y="24"/>
                    <a:pt x="109" y="24"/>
                  </a:cubicBezTo>
                  <a:cubicBezTo>
                    <a:pt x="109" y="24"/>
                    <a:pt x="108" y="24"/>
                    <a:pt x="107" y="24"/>
                  </a:cubicBezTo>
                  <a:cubicBezTo>
                    <a:pt x="106" y="24"/>
                    <a:pt x="105" y="22"/>
                    <a:pt x="105" y="20"/>
                  </a:cubicBezTo>
                  <a:cubicBezTo>
                    <a:pt x="106" y="18"/>
                    <a:pt x="105" y="15"/>
                    <a:pt x="104" y="12"/>
                  </a:cubicBezTo>
                  <a:cubicBezTo>
                    <a:pt x="103" y="10"/>
                    <a:pt x="101" y="7"/>
                    <a:pt x="101" y="4"/>
                  </a:cubicBezTo>
                  <a:cubicBezTo>
                    <a:pt x="100" y="2"/>
                    <a:pt x="99" y="0"/>
                    <a:pt x="97" y="0"/>
                  </a:cubicBezTo>
                  <a:cubicBezTo>
                    <a:pt x="96" y="0"/>
                    <a:pt x="94" y="1"/>
                    <a:pt x="93" y="3"/>
                  </a:cubicBezTo>
                  <a:cubicBezTo>
                    <a:pt x="91" y="4"/>
                    <a:pt x="89" y="7"/>
                    <a:pt x="88" y="9"/>
                  </a:cubicBezTo>
                  <a:cubicBezTo>
                    <a:pt x="86" y="11"/>
                    <a:pt x="83" y="14"/>
                    <a:pt x="81" y="14"/>
                  </a:cubicBezTo>
                  <a:cubicBezTo>
                    <a:pt x="79" y="15"/>
                    <a:pt x="76" y="16"/>
                    <a:pt x="74" y="16"/>
                  </a:cubicBezTo>
                  <a:cubicBezTo>
                    <a:pt x="72" y="16"/>
                    <a:pt x="69" y="15"/>
                    <a:pt x="68" y="13"/>
                  </a:cubicBezTo>
                  <a:cubicBezTo>
                    <a:pt x="67" y="12"/>
                    <a:pt x="65" y="10"/>
                    <a:pt x="62" y="9"/>
                  </a:cubicBezTo>
                  <a:cubicBezTo>
                    <a:pt x="60" y="8"/>
                    <a:pt x="58" y="9"/>
                    <a:pt x="57" y="11"/>
                  </a:cubicBezTo>
                  <a:cubicBezTo>
                    <a:pt x="56" y="13"/>
                    <a:pt x="55" y="14"/>
                    <a:pt x="55" y="14"/>
                  </a:cubicBezTo>
                  <a:cubicBezTo>
                    <a:pt x="55" y="14"/>
                    <a:pt x="55" y="16"/>
                    <a:pt x="55" y="19"/>
                  </a:cubicBezTo>
                  <a:cubicBezTo>
                    <a:pt x="55" y="21"/>
                    <a:pt x="57" y="24"/>
                    <a:pt x="58" y="25"/>
                  </a:cubicBezTo>
                  <a:cubicBezTo>
                    <a:pt x="60" y="27"/>
                    <a:pt x="60" y="29"/>
                    <a:pt x="57" y="31"/>
                  </a:cubicBezTo>
                  <a:cubicBezTo>
                    <a:pt x="55" y="33"/>
                    <a:pt x="51" y="34"/>
                    <a:pt x="48" y="34"/>
                  </a:cubicBezTo>
                  <a:cubicBezTo>
                    <a:pt x="45" y="33"/>
                    <a:pt x="41" y="32"/>
                    <a:pt x="39" y="32"/>
                  </a:cubicBezTo>
                  <a:cubicBezTo>
                    <a:pt x="37" y="32"/>
                    <a:pt x="36" y="35"/>
                    <a:pt x="35" y="38"/>
                  </a:cubicBezTo>
                  <a:cubicBezTo>
                    <a:pt x="35" y="41"/>
                    <a:pt x="35" y="45"/>
                    <a:pt x="35" y="47"/>
                  </a:cubicBezTo>
                  <a:cubicBezTo>
                    <a:pt x="35" y="49"/>
                    <a:pt x="34" y="52"/>
                    <a:pt x="32" y="53"/>
                  </a:cubicBezTo>
                  <a:cubicBezTo>
                    <a:pt x="30" y="54"/>
                    <a:pt x="28" y="55"/>
                    <a:pt x="26" y="54"/>
                  </a:cubicBezTo>
                  <a:cubicBezTo>
                    <a:pt x="24" y="53"/>
                    <a:pt x="21" y="53"/>
                    <a:pt x="19" y="54"/>
                  </a:cubicBezTo>
                  <a:cubicBezTo>
                    <a:pt x="18" y="54"/>
                    <a:pt x="14" y="55"/>
                    <a:pt x="10" y="54"/>
                  </a:cubicBezTo>
                  <a:cubicBezTo>
                    <a:pt x="7" y="54"/>
                    <a:pt x="4" y="55"/>
                    <a:pt x="4" y="58"/>
                  </a:cubicBezTo>
                  <a:cubicBezTo>
                    <a:pt x="4" y="60"/>
                    <a:pt x="3" y="63"/>
                    <a:pt x="2" y="64"/>
                  </a:cubicBezTo>
                  <a:cubicBezTo>
                    <a:pt x="1" y="66"/>
                    <a:pt x="0" y="69"/>
                    <a:pt x="0" y="72"/>
                  </a:cubicBezTo>
                  <a:cubicBezTo>
                    <a:pt x="0" y="74"/>
                    <a:pt x="2" y="78"/>
                    <a:pt x="3" y="80"/>
                  </a:cubicBezTo>
                  <a:cubicBezTo>
                    <a:pt x="4" y="81"/>
                    <a:pt x="6" y="85"/>
                    <a:pt x="6" y="88"/>
                  </a:cubicBezTo>
                  <a:cubicBezTo>
                    <a:pt x="6" y="91"/>
                    <a:pt x="7" y="94"/>
                    <a:pt x="9" y="96"/>
                  </a:cubicBezTo>
                  <a:cubicBezTo>
                    <a:pt x="10" y="98"/>
                    <a:pt x="13" y="101"/>
                    <a:pt x="15" y="104"/>
                  </a:cubicBezTo>
                  <a:cubicBezTo>
                    <a:pt x="16" y="106"/>
                    <a:pt x="18" y="108"/>
                    <a:pt x="18" y="108"/>
                  </a:cubicBezTo>
                  <a:cubicBezTo>
                    <a:pt x="18" y="108"/>
                    <a:pt x="19" y="108"/>
                    <a:pt x="20" y="108"/>
                  </a:cubicBezTo>
                  <a:cubicBezTo>
                    <a:pt x="21" y="108"/>
                    <a:pt x="23" y="110"/>
                    <a:pt x="24" y="112"/>
                  </a:cubicBezTo>
                  <a:cubicBezTo>
                    <a:pt x="25" y="114"/>
                    <a:pt x="26" y="118"/>
                    <a:pt x="27" y="120"/>
                  </a:cubicBezTo>
                  <a:cubicBezTo>
                    <a:pt x="27" y="123"/>
                    <a:pt x="28" y="126"/>
                    <a:pt x="30" y="128"/>
                  </a:cubicBezTo>
                  <a:cubicBezTo>
                    <a:pt x="31" y="130"/>
                    <a:pt x="32" y="132"/>
                    <a:pt x="32" y="132"/>
                  </a:cubicBezTo>
                  <a:cubicBezTo>
                    <a:pt x="32" y="132"/>
                    <a:pt x="34" y="129"/>
                    <a:pt x="36" y="126"/>
                  </a:cubicBezTo>
                  <a:cubicBezTo>
                    <a:pt x="39" y="122"/>
                    <a:pt x="42" y="118"/>
                    <a:pt x="44"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2" name="Freeform 35">
              <a:extLst>
                <a:ext uri="{FF2B5EF4-FFF2-40B4-BE49-F238E27FC236}">
                  <a16:creationId xmlns:a16="http://schemas.microsoft.com/office/drawing/2014/main" id="{F623CEEF-9AF1-C460-F0D7-7AB56D509983}"/>
                </a:ext>
              </a:extLst>
            </p:cNvPr>
            <p:cNvSpPr>
              <a:spLocks/>
            </p:cNvSpPr>
            <p:nvPr/>
          </p:nvSpPr>
          <p:spPr bwMode="auto">
            <a:xfrm>
              <a:off x="4267172" y="4279883"/>
              <a:ext cx="646113" cy="574675"/>
            </a:xfrm>
            <a:custGeom>
              <a:avLst/>
              <a:gdLst/>
              <a:ahLst/>
              <a:cxnLst>
                <a:cxn ang="0">
                  <a:pos x="118" y="108"/>
                </a:cxn>
                <a:cxn ang="0">
                  <a:pos x="112" y="92"/>
                </a:cxn>
                <a:cxn ang="0">
                  <a:pos x="116" y="78"/>
                </a:cxn>
                <a:cxn ang="0">
                  <a:pos x="131" y="74"/>
                </a:cxn>
                <a:cxn ang="0">
                  <a:pos x="144" y="73"/>
                </a:cxn>
                <a:cxn ang="0">
                  <a:pos x="147" y="58"/>
                </a:cxn>
                <a:cxn ang="0">
                  <a:pos x="160" y="54"/>
                </a:cxn>
                <a:cxn ang="0">
                  <a:pos x="170" y="45"/>
                </a:cxn>
                <a:cxn ang="0">
                  <a:pos x="167" y="34"/>
                </a:cxn>
                <a:cxn ang="0">
                  <a:pos x="152" y="28"/>
                </a:cxn>
                <a:cxn ang="0">
                  <a:pos x="134" y="20"/>
                </a:cxn>
                <a:cxn ang="0">
                  <a:pos x="119" y="17"/>
                </a:cxn>
                <a:cxn ang="0">
                  <a:pos x="113" y="28"/>
                </a:cxn>
                <a:cxn ang="0">
                  <a:pos x="98" y="25"/>
                </a:cxn>
                <a:cxn ang="0">
                  <a:pos x="85" y="14"/>
                </a:cxn>
                <a:cxn ang="0">
                  <a:pos x="67" y="8"/>
                </a:cxn>
                <a:cxn ang="0">
                  <a:pos x="57" y="1"/>
                </a:cxn>
                <a:cxn ang="0">
                  <a:pos x="43" y="3"/>
                </a:cxn>
                <a:cxn ang="0">
                  <a:pos x="38" y="6"/>
                </a:cxn>
                <a:cxn ang="0">
                  <a:pos x="37" y="20"/>
                </a:cxn>
                <a:cxn ang="0">
                  <a:pos x="35" y="31"/>
                </a:cxn>
                <a:cxn ang="0">
                  <a:pos x="35" y="43"/>
                </a:cxn>
                <a:cxn ang="0">
                  <a:pos x="24" y="52"/>
                </a:cxn>
                <a:cxn ang="0">
                  <a:pos x="3" y="78"/>
                </a:cxn>
                <a:cxn ang="0">
                  <a:pos x="3" y="93"/>
                </a:cxn>
                <a:cxn ang="0">
                  <a:pos x="3" y="112"/>
                </a:cxn>
                <a:cxn ang="0">
                  <a:pos x="4" y="118"/>
                </a:cxn>
                <a:cxn ang="0">
                  <a:pos x="11" y="126"/>
                </a:cxn>
                <a:cxn ang="0">
                  <a:pos x="26" y="129"/>
                </a:cxn>
                <a:cxn ang="0">
                  <a:pos x="39" y="121"/>
                </a:cxn>
                <a:cxn ang="0">
                  <a:pos x="47" y="122"/>
                </a:cxn>
                <a:cxn ang="0">
                  <a:pos x="49" y="133"/>
                </a:cxn>
                <a:cxn ang="0">
                  <a:pos x="61" y="143"/>
                </a:cxn>
                <a:cxn ang="0">
                  <a:pos x="74" y="138"/>
                </a:cxn>
                <a:cxn ang="0">
                  <a:pos x="78" y="145"/>
                </a:cxn>
                <a:cxn ang="0">
                  <a:pos x="86" y="150"/>
                </a:cxn>
                <a:cxn ang="0">
                  <a:pos x="99" y="153"/>
                </a:cxn>
                <a:cxn ang="0">
                  <a:pos x="117" y="151"/>
                </a:cxn>
                <a:cxn ang="0">
                  <a:pos x="126" y="141"/>
                </a:cxn>
                <a:cxn ang="0">
                  <a:pos x="130" y="128"/>
                </a:cxn>
                <a:cxn ang="0">
                  <a:pos x="121" y="116"/>
                </a:cxn>
              </a:cxnLst>
              <a:rect l="0" t="0" r="r" b="b"/>
              <a:pathLst>
                <a:path w="172" h="153">
                  <a:moveTo>
                    <a:pt x="121" y="116"/>
                  </a:moveTo>
                  <a:cubicBezTo>
                    <a:pt x="119" y="114"/>
                    <a:pt x="118" y="111"/>
                    <a:pt x="118" y="108"/>
                  </a:cubicBezTo>
                  <a:cubicBezTo>
                    <a:pt x="118" y="105"/>
                    <a:pt x="116" y="101"/>
                    <a:pt x="115" y="100"/>
                  </a:cubicBezTo>
                  <a:cubicBezTo>
                    <a:pt x="114" y="98"/>
                    <a:pt x="112" y="94"/>
                    <a:pt x="112" y="92"/>
                  </a:cubicBezTo>
                  <a:cubicBezTo>
                    <a:pt x="112" y="89"/>
                    <a:pt x="113" y="86"/>
                    <a:pt x="114" y="84"/>
                  </a:cubicBezTo>
                  <a:cubicBezTo>
                    <a:pt x="115" y="83"/>
                    <a:pt x="116" y="80"/>
                    <a:pt x="116" y="78"/>
                  </a:cubicBezTo>
                  <a:cubicBezTo>
                    <a:pt x="116" y="75"/>
                    <a:pt x="119" y="74"/>
                    <a:pt x="122" y="74"/>
                  </a:cubicBezTo>
                  <a:cubicBezTo>
                    <a:pt x="126" y="75"/>
                    <a:pt x="130" y="74"/>
                    <a:pt x="131" y="74"/>
                  </a:cubicBezTo>
                  <a:cubicBezTo>
                    <a:pt x="133" y="73"/>
                    <a:pt x="136" y="73"/>
                    <a:pt x="138" y="74"/>
                  </a:cubicBezTo>
                  <a:cubicBezTo>
                    <a:pt x="140" y="75"/>
                    <a:pt x="142" y="74"/>
                    <a:pt x="144" y="73"/>
                  </a:cubicBezTo>
                  <a:cubicBezTo>
                    <a:pt x="146" y="72"/>
                    <a:pt x="147" y="69"/>
                    <a:pt x="147" y="67"/>
                  </a:cubicBezTo>
                  <a:cubicBezTo>
                    <a:pt x="147" y="65"/>
                    <a:pt x="147" y="61"/>
                    <a:pt x="147" y="58"/>
                  </a:cubicBezTo>
                  <a:cubicBezTo>
                    <a:pt x="148" y="55"/>
                    <a:pt x="149" y="52"/>
                    <a:pt x="151" y="52"/>
                  </a:cubicBezTo>
                  <a:cubicBezTo>
                    <a:pt x="153" y="52"/>
                    <a:pt x="157" y="53"/>
                    <a:pt x="160" y="54"/>
                  </a:cubicBezTo>
                  <a:cubicBezTo>
                    <a:pt x="163" y="54"/>
                    <a:pt x="167" y="53"/>
                    <a:pt x="169" y="51"/>
                  </a:cubicBezTo>
                  <a:cubicBezTo>
                    <a:pt x="172" y="49"/>
                    <a:pt x="172" y="47"/>
                    <a:pt x="170" y="45"/>
                  </a:cubicBezTo>
                  <a:cubicBezTo>
                    <a:pt x="169" y="44"/>
                    <a:pt x="167" y="41"/>
                    <a:pt x="167" y="39"/>
                  </a:cubicBezTo>
                  <a:cubicBezTo>
                    <a:pt x="167" y="36"/>
                    <a:pt x="167" y="34"/>
                    <a:pt x="167" y="34"/>
                  </a:cubicBezTo>
                  <a:cubicBezTo>
                    <a:pt x="167" y="34"/>
                    <a:pt x="165" y="34"/>
                    <a:pt x="163" y="33"/>
                  </a:cubicBezTo>
                  <a:cubicBezTo>
                    <a:pt x="160" y="32"/>
                    <a:pt x="156" y="30"/>
                    <a:pt x="152" y="28"/>
                  </a:cubicBezTo>
                  <a:cubicBezTo>
                    <a:pt x="149" y="26"/>
                    <a:pt x="145" y="24"/>
                    <a:pt x="143" y="23"/>
                  </a:cubicBezTo>
                  <a:cubicBezTo>
                    <a:pt x="141" y="22"/>
                    <a:pt x="137" y="21"/>
                    <a:pt x="134" y="20"/>
                  </a:cubicBezTo>
                  <a:cubicBezTo>
                    <a:pt x="131" y="19"/>
                    <a:pt x="127" y="17"/>
                    <a:pt x="125" y="16"/>
                  </a:cubicBezTo>
                  <a:cubicBezTo>
                    <a:pt x="123" y="14"/>
                    <a:pt x="120" y="15"/>
                    <a:pt x="119" y="17"/>
                  </a:cubicBezTo>
                  <a:cubicBezTo>
                    <a:pt x="117" y="19"/>
                    <a:pt x="116" y="22"/>
                    <a:pt x="116" y="24"/>
                  </a:cubicBezTo>
                  <a:cubicBezTo>
                    <a:pt x="116" y="25"/>
                    <a:pt x="115" y="27"/>
                    <a:pt x="113" y="28"/>
                  </a:cubicBezTo>
                  <a:cubicBezTo>
                    <a:pt x="111" y="29"/>
                    <a:pt x="108" y="29"/>
                    <a:pt x="106" y="29"/>
                  </a:cubicBezTo>
                  <a:cubicBezTo>
                    <a:pt x="103" y="29"/>
                    <a:pt x="100" y="27"/>
                    <a:pt x="98" y="25"/>
                  </a:cubicBezTo>
                  <a:cubicBezTo>
                    <a:pt x="97" y="22"/>
                    <a:pt x="93" y="20"/>
                    <a:pt x="91" y="19"/>
                  </a:cubicBezTo>
                  <a:cubicBezTo>
                    <a:pt x="89" y="19"/>
                    <a:pt x="86" y="17"/>
                    <a:pt x="85" y="14"/>
                  </a:cubicBezTo>
                  <a:cubicBezTo>
                    <a:pt x="83" y="12"/>
                    <a:pt x="80" y="10"/>
                    <a:pt x="77" y="9"/>
                  </a:cubicBezTo>
                  <a:cubicBezTo>
                    <a:pt x="74" y="9"/>
                    <a:pt x="69" y="8"/>
                    <a:pt x="67" y="8"/>
                  </a:cubicBezTo>
                  <a:cubicBezTo>
                    <a:pt x="64" y="8"/>
                    <a:pt x="62" y="7"/>
                    <a:pt x="61" y="6"/>
                  </a:cubicBezTo>
                  <a:cubicBezTo>
                    <a:pt x="60" y="5"/>
                    <a:pt x="58" y="3"/>
                    <a:pt x="57" y="1"/>
                  </a:cubicBezTo>
                  <a:cubicBezTo>
                    <a:pt x="55" y="0"/>
                    <a:pt x="52" y="0"/>
                    <a:pt x="50" y="1"/>
                  </a:cubicBezTo>
                  <a:cubicBezTo>
                    <a:pt x="49" y="3"/>
                    <a:pt x="45" y="3"/>
                    <a:pt x="43" y="3"/>
                  </a:cubicBezTo>
                  <a:cubicBezTo>
                    <a:pt x="41" y="3"/>
                    <a:pt x="40" y="2"/>
                    <a:pt x="40" y="2"/>
                  </a:cubicBezTo>
                  <a:cubicBezTo>
                    <a:pt x="40" y="2"/>
                    <a:pt x="39" y="4"/>
                    <a:pt x="38" y="6"/>
                  </a:cubicBezTo>
                  <a:cubicBezTo>
                    <a:pt x="37" y="7"/>
                    <a:pt x="37" y="11"/>
                    <a:pt x="39" y="14"/>
                  </a:cubicBezTo>
                  <a:cubicBezTo>
                    <a:pt x="40" y="16"/>
                    <a:pt x="39" y="19"/>
                    <a:pt x="37" y="20"/>
                  </a:cubicBezTo>
                  <a:cubicBezTo>
                    <a:pt x="35" y="21"/>
                    <a:pt x="33" y="24"/>
                    <a:pt x="33" y="25"/>
                  </a:cubicBezTo>
                  <a:cubicBezTo>
                    <a:pt x="32" y="27"/>
                    <a:pt x="33" y="30"/>
                    <a:pt x="35" y="31"/>
                  </a:cubicBezTo>
                  <a:cubicBezTo>
                    <a:pt x="36" y="33"/>
                    <a:pt x="37" y="36"/>
                    <a:pt x="37" y="38"/>
                  </a:cubicBezTo>
                  <a:cubicBezTo>
                    <a:pt x="37" y="40"/>
                    <a:pt x="36" y="42"/>
                    <a:pt x="35" y="43"/>
                  </a:cubicBezTo>
                  <a:cubicBezTo>
                    <a:pt x="34" y="44"/>
                    <a:pt x="32" y="46"/>
                    <a:pt x="30" y="47"/>
                  </a:cubicBezTo>
                  <a:cubicBezTo>
                    <a:pt x="28" y="49"/>
                    <a:pt x="26" y="51"/>
                    <a:pt x="24" y="52"/>
                  </a:cubicBezTo>
                  <a:cubicBezTo>
                    <a:pt x="22" y="53"/>
                    <a:pt x="17" y="58"/>
                    <a:pt x="13" y="63"/>
                  </a:cubicBezTo>
                  <a:cubicBezTo>
                    <a:pt x="9" y="68"/>
                    <a:pt x="5" y="75"/>
                    <a:pt x="3" y="78"/>
                  </a:cubicBezTo>
                  <a:cubicBezTo>
                    <a:pt x="1" y="82"/>
                    <a:pt x="0" y="86"/>
                    <a:pt x="0" y="87"/>
                  </a:cubicBezTo>
                  <a:cubicBezTo>
                    <a:pt x="0" y="88"/>
                    <a:pt x="1" y="91"/>
                    <a:pt x="3" y="93"/>
                  </a:cubicBezTo>
                  <a:cubicBezTo>
                    <a:pt x="5" y="94"/>
                    <a:pt x="6" y="99"/>
                    <a:pt x="6" y="102"/>
                  </a:cubicBezTo>
                  <a:cubicBezTo>
                    <a:pt x="5" y="105"/>
                    <a:pt x="4" y="110"/>
                    <a:pt x="3" y="112"/>
                  </a:cubicBezTo>
                  <a:cubicBezTo>
                    <a:pt x="2" y="115"/>
                    <a:pt x="2" y="116"/>
                    <a:pt x="2" y="116"/>
                  </a:cubicBezTo>
                  <a:cubicBezTo>
                    <a:pt x="2" y="116"/>
                    <a:pt x="3" y="117"/>
                    <a:pt x="4" y="118"/>
                  </a:cubicBezTo>
                  <a:cubicBezTo>
                    <a:pt x="5" y="118"/>
                    <a:pt x="7" y="120"/>
                    <a:pt x="8" y="121"/>
                  </a:cubicBezTo>
                  <a:cubicBezTo>
                    <a:pt x="10" y="122"/>
                    <a:pt x="11" y="124"/>
                    <a:pt x="11" y="126"/>
                  </a:cubicBezTo>
                  <a:cubicBezTo>
                    <a:pt x="11" y="129"/>
                    <a:pt x="13" y="130"/>
                    <a:pt x="16" y="130"/>
                  </a:cubicBezTo>
                  <a:cubicBezTo>
                    <a:pt x="19" y="129"/>
                    <a:pt x="23" y="129"/>
                    <a:pt x="26" y="129"/>
                  </a:cubicBezTo>
                  <a:cubicBezTo>
                    <a:pt x="29" y="129"/>
                    <a:pt x="32" y="127"/>
                    <a:pt x="33" y="125"/>
                  </a:cubicBezTo>
                  <a:cubicBezTo>
                    <a:pt x="34" y="123"/>
                    <a:pt x="36" y="121"/>
                    <a:pt x="39" y="121"/>
                  </a:cubicBezTo>
                  <a:cubicBezTo>
                    <a:pt x="42" y="121"/>
                    <a:pt x="44" y="120"/>
                    <a:pt x="44" y="120"/>
                  </a:cubicBezTo>
                  <a:cubicBezTo>
                    <a:pt x="44" y="120"/>
                    <a:pt x="45" y="121"/>
                    <a:pt x="47" y="122"/>
                  </a:cubicBezTo>
                  <a:cubicBezTo>
                    <a:pt x="49" y="123"/>
                    <a:pt x="50" y="125"/>
                    <a:pt x="50" y="126"/>
                  </a:cubicBezTo>
                  <a:cubicBezTo>
                    <a:pt x="49" y="127"/>
                    <a:pt x="49" y="130"/>
                    <a:pt x="49" y="133"/>
                  </a:cubicBezTo>
                  <a:cubicBezTo>
                    <a:pt x="49" y="136"/>
                    <a:pt x="51" y="139"/>
                    <a:pt x="53" y="141"/>
                  </a:cubicBezTo>
                  <a:cubicBezTo>
                    <a:pt x="55" y="142"/>
                    <a:pt x="59" y="143"/>
                    <a:pt x="61" y="143"/>
                  </a:cubicBezTo>
                  <a:cubicBezTo>
                    <a:pt x="63" y="143"/>
                    <a:pt x="66" y="141"/>
                    <a:pt x="67" y="140"/>
                  </a:cubicBezTo>
                  <a:cubicBezTo>
                    <a:pt x="68" y="139"/>
                    <a:pt x="71" y="138"/>
                    <a:pt x="74" y="138"/>
                  </a:cubicBezTo>
                  <a:cubicBezTo>
                    <a:pt x="77" y="138"/>
                    <a:pt x="79" y="140"/>
                    <a:pt x="79" y="141"/>
                  </a:cubicBezTo>
                  <a:cubicBezTo>
                    <a:pt x="80" y="142"/>
                    <a:pt x="79" y="144"/>
                    <a:pt x="78" y="145"/>
                  </a:cubicBezTo>
                  <a:cubicBezTo>
                    <a:pt x="77" y="146"/>
                    <a:pt x="77" y="148"/>
                    <a:pt x="78" y="149"/>
                  </a:cubicBezTo>
                  <a:cubicBezTo>
                    <a:pt x="79" y="150"/>
                    <a:pt x="83" y="151"/>
                    <a:pt x="86" y="150"/>
                  </a:cubicBezTo>
                  <a:cubicBezTo>
                    <a:pt x="90" y="150"/>
                    <a:pt x="93" y="151"/>
                    <a:pt x="94" y="152"/>
                  </a:cubicBezTo>
                  <a:cubicBezTo>
                    <a:pt x="95" y="153"/>
                    <a:pt x="98" y="153"/>
                    <a:pt x="99" y="153"/>
                  </a:cubicBezTo>
                  <a:cubicBezTo>
                    <a:pt x="100" y="152"/>
                    <a:pt x="104" y="152"/>
                    <a:pt x="107" y="152"/>
                  </a:cubicBezTo>
                  <a:cubicBezTo>
                    <a:pt x="110" y="152"/>
                    <a:pt x="115" y="151"/>
                    <a:pt x="117" y="151"/>
                  </a:cubicBezTo>
                  <a:cubicBezTo>
                    <a:pt x="119" y="150"/>
                    <a:pt x="121" y="149"/>
                    <a:pt x="123" y="148"/>
                  </a:cubicBezTo>
                  <a:cubicBezTo>
                    <a:pt x="124" y="147"/>
                    <a:pt x="126" y="144"/>
                    <a:pt x="126" y="141"/>
                  </a:cubicBezTo>
                  <a:cubicBezTo>
                    <a:pt x="127" y="139"/>
                    <a:pt x="128" y="134"/>
                    <a:pt x="129" y="132"/>
                  </a:cubicBezTo>
                  <a:cubicBezTo>
                    <a:pt x="129" y="130"/>
                    <a:pt x="130" y="128"/>
                    <a:pt x="130" y="128"/>
                  </a:cubicBezTo>
                  <a:cubicBezTo>
                    <a:pt x="130" y="128"/>
                    <a:pt x="128" y="126"/>
                    <a:pt x="127" y="124"/>
                  </a:cubicBezTo>
                  <a:cubicBezTo>
                    <a:pt x="125" y="121"/>
                    <a:pt x="122" y="118"/>
                    <a:pt x="121" y="11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3" name="Freeform 36">
              <a:extLst>
                <a:ext uri="{FF2B5EF4-FFF2-40B4-BE49-F238E27FC236}">
                  <a16:creationId xmlns:a16="http://schemas.microsoft.com/office/drawing/2014/main" id="{9729EBBE-9D77-D568-D3F0-288143FFD2C0}"/>
                </a:ext>
              </a:extLst>
            </p:cNvPr>
            <p:cNvSpPr>
              <a:spLocks/>
            </p:cNvSpPr>
            <p:nvPr/>
          </p:nvSpPr>
          <p:spPr bwMode="auto">
            <a:xfrm>
              <a:off x="3659159" y="3317858"/>
              <a:ext cx="960438" cy="1193800"/>
            </a:xfrm>
            <a:custGeom>
              <a:avLst/>
              <a:gdLst/>
              <a:ahLst/>
              <a:cxnLst>
                <a:cxn ang="0">
                  <a:pos x="217" y="229"/>
                </a:cxn>
                <a:cxn ang="0">
                  <a:pos x="218" y="206"/>
                </a:cxn>
                <a:cxn ang="0">
                  <a:pos x="196" y="204"/>
                </a:cxn>
                <a:cxn ang="0">
                  <a:pos x="173" y="197"/>
                </a:cxn>
                <a:cxn ang="0">
                  <a:pos x="152" y="173"/>
                </a:cxn>
                <a:cxn ang="0">
                  <a:pos x="150" y="145"/>
                </a:cxn>
                <a:cxn ang="0">
                  <a:pos x="164" y="140"/>
                </a:cxn>
                <a:cxn ang="0">
                  <a:pos x="197" y="112"/>
                </a:cxn>
                <a:cxn ang="0">
                  <a:pos x="232" y="78"/>
                </a:cxn>
                <a:cxn ang="0">
                  <a:pos x="253" y="51"/>
                </a:cxn>
                <a:cxn ang="0">
                  <a:pos x="237" y="42"/>
                </a:cxn>
                <a:cxn ang="0">
                  <a:pos x="218" y="27"/>
                </a:cxn>
                <a:cxn ang="0">
                  <a:pos x="199" y="26"/>
                </a:cxn>
                <a:cxn ang="0">
                  <a:pos x="181" y="9"/>
                </a:cxn>
                <a:cxn ang="0">
                  <a:pos x="139" y="1"/>
                </a:cxn>
                <a:cxn ang="0">
                  <a:pos x="129" y="17"/>
                </a:cxn>
                <a:cxn ang="0">
                  <a:pos x="123" y="58"/>
                </a:cxn>
                <a:cxn ang="0">
                  <a:pos x="74" y="55"/>
                </a:cxn>
                <a:cxn ang="0">
                  <a:pos x="48" y="77"/>
                </a:cxn>
                <a:cxn ang="0">
                  <a:pos x="37" y="105"/>
                </a:cxn>
                <a:cxn ang="0">
                  <a:pos x="29" y="122"/>
                </a:cxn>
                <a:cxn ang="0">
                  <a:pos x="13" y="152"/>
                </a:cxn>
                <a:cxn ang="0">
                  <a:pos x="4" y="202"/>
                </a:cxn>
                <a:cxn ang="0">
                  <a:pos x="0" y="222"/>
                </a:cxn>
                <a:cxn ang="0">
                  <a:pos x="21" y="216"/>
                </a:cxn>
                <a:cxn ang="0">
                  <a:pos x="25" y="197"/>
                </a:cxn>
                <a:cxn ang="0">
                  <a:pos x="36" y="187"/>
                </a:cxn>
                <a:cxn ang="0">
                  <a:pos x="33" y="210"/>
                </a:cxn>
                <a:cxn ang="0">
                  <a:pos x="38" y="212"/>
                </a:cxn>
                <a:cxn ang="0">
                  <a:pos x="47" y="199"/>
                </a:cxn>
                <a:cxn ang="0">
                  <a:pos x="48" y="217"/>
                </a:cxn>
                <a:cxn ang="0">
                  <a:pos x="55" y="236"/>
                </a:cxn>
                <a:cxn ang="0">
                  <a:pos x="68" y="215"/>
                </a:cxn>
                <a:cxn ang="0">
                  <a:pos x="74" y="209"/>
                </a:cxn>
                <a:cxn ang="0">
                  <a:pos x="93" y="223"/>
                </a:cxn>
                <a:cxn ang="0">
                  <a:pos x="87" y="242"/>
                </a:cxn>
                <a:cxn ang="0">
                  <a:pos x="60" y="259"/>
                </a:cxn>
                <a:cxn ang="0">
                  <a:pos x="47" y="284"/>
                </a:cxn>
                <a:cxn ang="0">
                  <a:pos x="43" y="304"/>
                </a:cxn>
                <a:cxn ang="0">
                  <a:pos x="66" y="312"/>
                </a:cxn>
                <a:cxn ang="0">
                  <a:pos x="92" y="314"/>
                </a:cxn>
                <a:cxn ang="0">
                  <a:pos x="104" y="300"/>
                </a:cxn>
                <a:cxn ang="0">
                  <a:pos x="121" y="283"/>
                </a:cxn>
                <a:cxn ang="0">
                  <a:pos x="112" y="265"/>
                </a:cxn>
                <a:cxn ang="0">
                  <a:pos x="114" y="243"/>
                </a:cxn>
                <a:cxn ang="0">
                  <a:pos x="136" y="219"/>
                </a:cxn>
                <a:cxn ang="0">
                  <a:pos x="156" y="218"/>
                </a:cxn>
                <a:cxn ang="0">
                  <a:pos x="171" y="231"/>
                </a:cxn>
                <a:cxn ang="0">
                  <a:pos x="183" y="247"/>
                </a:cxn>
                <a:cxn ang="0">
                  <a:pos x="202" y="258"/>
                </a:cxn>
              </a:cxnLst>
              <a:rect l="0" t="0" r="r" b="b"/>
              <a:pathLst>
                <a:path w="256" h="318">
                  <a:moveTo>
                    <a:pt x="212" y="247"/>
                  </a:moveTo>
                  <a:cubicBezTo>
                    <a:pt x="215" y="244"/>
                    <a:pt x="217" y="241"/>
                    <a:pt x="217" y="239"/>
                  </a:cubicBezTo>
                  <a:cubicBezTo>
                    <a:pt x="217" y="237"/>
                    <a:pt x="218" y="232"/>
                    <a:pt x="217" y="229"/>
                  </a:cubicBezTo>
                  <a:cubicBezTo>
                    <a:pt x="217" y="226"/>
                    <a:pt x="216" y="221"/>
                    <a:pt x="215" y="219"/>
                  </a:cubicBezTo>
                  <a:cubicBezTo>
                    <a:pt x="214" y="217"/>
                    <a:pt x="214" y="215"/>
                    <a:pt x="216" y="214"/>
                  </a:cubicBezTo>
                  <a:cubicBezTo>
                    <a:pt x="218" y="213"/>
                    <a:pt x="219" y="209"/>
                    <a:pt x="218" y="206"/>
                  </a:cubicBezTo>
                  <a:cubicBezTo>
                    <a:pt x="217" y="203"/>
                    <a:pt x="215" y="200"/>
                    <a:pt x="212" y="199"/>
                  </a:cubicBezTo>
                  <a:cubicBezTo>
                    <a:pt x="209" y="198"/>
                    <a:pt x="205" y="198"/>
                    <a:pt x="202" y="199"/>
                  </a:cubicBezTo>
                  <a:cubicBezTo>
                    <a:pt x="200" y="200"/>
                    <a:pt x="197" y="202"/>
                    <a:pt x="196" y="204"/>
                  </a:cubicBezTo>
                  <a:cubicBezTo>
                    <a:pt x="195" y="206"/>
                    <a:pt x="192" y="209"/>
                    <a:pt x="189" y="210"/>
                  </a:cubicBezTo>
                  <a:cubicBezTo>
                    <a:pt x="186" y="211"/>
                    <a:pt x="181" y="209"/>
                    <a:pt x="179" y="206"/>
                  </a:cubicBezTo>
                  <a:cubicBezTo>
                    <a:pt x="177" y="203"/>
                    <a:pt x="175" y="199"/>
                    <a:pt x="173" y="197"/>
                  </a:cubicBezTo>
                  <a:cubicBezTo>
                    <a:pt x="172" y="195"/>
                    <a:pt x="169" y="192"/>
                    <a:pt x="167" y="191"/>
                  </a:cubicBezTo>
                  <a:cubicBezTo>
                    <a:pt x="164" y="189"/>
                    <a:pt x="160" y="186"/>
                    <a:pt x="158" y="183"/>
                  </a:cubicBezTo>
                  <a:cubicBezTo>
                    <a:pt x="155" y="180"/>
                    <a:pt x="153" y="175"/>
                    <a:pt x="152" y="173"/>
                  </a:cubicBezTo>
                  <a:cubicBezTo>
                    <a:pt x="151" y="170"/>
                    <a:pt x="151" y="167"/>
                    <a:pt x="152" y="164"/>
                  </a:cubicBezTo>
                  <a:cubicBezTo>
                    <a:pt x="152" y="162"/>
                    <a:pt x="151" y="158"/>
                    <a:pt x="150" y="155"/>
                  </a:cubicBezTo>
                  <a:cubicBezTo>
                    <a:pt x="148" y="153"/>
                    <a:pt x="148" y="148"/>
                    <a:pt x="150" y="145"/>
                  </a:cubicBezTo>
                  <a:cubicBezTo>
                    <a:pt x="152" y="142"/>
                    <a:pt x="154" y="139"/>
                    <a:pt x="156" y="138"/>
                  </a:cubicBezTo>
                  <a:cubicBezTo>
                    <a:pt x="158" y="137"/>
                    <a:pt x="159" y="137"/>
                    <a:pt x="160" y="138"/>
                  </a:cubicBezTo>
                  <a:cubicBezTo>
                    <a:pt x="161" y="139"/>
                    <a:pt x="162" y="140"/>
                    <a:pt x="164" y="140"/>
                  </a:cubicBezTo>
                  <a:cubicBezTo>
                    <a:pt x="166" y="140"/>
                    <a:pt x="169" y="138"/>
                    <a:pt x="171" y="135"/>
                  </a:cubicBezTo>
                  <a:cubicBezTo>
                    <a:pt x="173" y="132"/>
                    <a:pt x="178" y="127"/>
                    <a:pt x="183" y="123"/>
                  </a:cubicBezTo>
                  <a:cubicBezTo>
                    <a:pt x="187" y="119"/>
                    <a:pt x="194" y="114"/>
                    <a:pt x="197" y="112"/>
                  </a:cubicBezTo>
                  <a:cubicBezTo>
                    <a:pt x="200" y="110"/>
                    <a:pt x="207" y="105"/>
                    <a:pt x="211" y="100"/>
                  </a:cubicBezTo>
                  <a:cubicBezTo>
                    <a:pt x="216" y="95"/>
                    <a:pt x="222" y="90"/>
                    <a:pt x="224" y="88"/>
                  </a:cubicBezTo>
                  <a:cubicBezTo>
                    <a:pt x="227" y="86"/>
                    <a:pt x="231" y="82"/>
                    <a:pt x="232" y="78"/>
                  </a:cubicBezTo>
                  <a:cubicBezTo>
                    <a:pt x="234" y="75"/>
                    <a:pt x="238" y="68"/>
                    <a:pt x="241" y="64"/>
                  </a:cubicBezTo>
                  <a:cubicBezTo>
                    <a:pt x="243" y="59"/>
                    <a:pt x="247" y="55"/>
                    <a:pt x="248" y="55"/>
                  </a:cubicBezTo>
                  <a:cubicBezTo>
                    <a:pt x="250" y="55"/>
                    <a:pt x="252" y="53"/>
                    <a:pt x="253" y="51"/>
                  </a:cubicBezTo>
                  <a:cubicBezTo>
                    <a:pt x="255" y="50"/>
                    <a:pt x="256" y="48"/>
                    <a:pt x="256" y="48"/>
                  </a:cubicBezTo>
                  <a:cubicBezTo>
                    <a:pt x="256" y="48"/>
                    <a:pt x="253" y="47"/>
                    <a:pt x="249" y="46"/>
                  </a:cubicBezTo>
                  <a:cubicBezTo>
                    <a:pt x="246" y="44"/>
                    <a:pt x="240" y="42"/>
                    <a:pt x="237" y="42"/>
                  </a:cubicBezTo>
                  <a:cubicBezTo>
                    <a:pt x="234" y="41"/>
                    <a:pt x="231" y="38"/>
                    <a:pt x="230" y="35"/>
                  </a:cubicBezTo>
                  <a:cubicBezTo>
                    <a:pt x="230" y="32"/>
                    <a:pt x="227" y="29"/>
                    <a:pt x="225" y="27"/>
                  </a:cubicBezTo>
                  <a:cubicBezTo>
                    <a:pt x="223" y="26"/>
                    <a:pt x="220" y="26"/>
                    <a:pt x="218" y="27"/>
                  </a:cubicBezTo>
                  <a:cubicBezTo>
                    <a:pt x="215" y="28"/>
                    <a:pt x="212" y="29"/>
                    <a:pt x="209" y="30"/>
                  </a:cubicBezTo>
                  <a:cubicBezTo>
                    <a:pt x="206" y="31"/>
                    <a:pt x="203" y="32"/>
                    <a:pt x="201" y="32"/>
                  </a:cubicBezTo>
                  <a:cubicBezTo>
                    <a:pt x="200" y="31"/>
                    <a:pt x="199" y="29"/>
                    <a:pt x="199" y="26"/>
                  </a:cubicBezTo>
                  <a:cubicBezTo>
                    <a:pt x="199" y="24"/>
                    <a:pt x="198" y="21"/>
                    <a:pt x="195" y="20"/>
                  </a:cubicBezTo>
                  <a:cubicBezTo>
                    <a:pt x="192" y="19"/>
                    <a:pt x="189" y="17"/>
                    <a:pt x="187" y="16"/>
                  </a:cubicBezTo>
                  <a:cubicBezTo>
                    <a:pt x="185" y="15"/>
                    <a:pt x="182" y="12"/>
                    <a:pt x="181" y="9"/>
                  </a:cubicBezTo>
                  <a:cubicBezTo>
                    <a:pt x="180" y="6"/>
                    <a:pt x="177" y="4"/>
                    <a:pt x="175" y="4"/>
                  </a:cubicBezTo>
                  <a:cubicBezTo>
                    <a:pt x="172" y="4"/>
                    <a:pt x="167" y="3"/>
                    <a:pt x="163" y="2"/>
                  </a:cubicBezTo>
                  <a:cubicBezTo>
                    <a:pt x="159" y="0"/>
                    <a:pt x="148" y="0"/>
                    <a:pt x="139" y="1"/>
                  </a:cubicBezTo>
                  <a:cubicBezTo>
                    <a:pt x="130" y="2"/>
                    <a:pt x="123" y="5"/>
                    <a:pt x="123" y="7"/>
                  </a:cubicBezTo>
                  <a:cubicBezTo>
                    <a:pt x="123" y="9"/>
                    <a:pt x="124" y="10"/>
                    <a:pt x="124" y="10"/>
                  </a:cubicBezTo>
                  <a:cubicBezTo>
                    <a:pt x="124" y="10"/>
                    <a:pt x="126" y="13"/>
                    <a:pt x="129" y="17"/>
                  </a:cubicBezTo>
                  <a:cubicBezTo>
                    <a:pt x="132" y="21"/>
                    <a:pt x="134" y="31"/>
                    <a:pt x="134" y="40"/>
                  </a:cubicBezTo>
                  <a:cubicBezTo>
                    <a:pt x="134" y="48"/>
                    <a:pt x="133" y="56"/>
                    <a:pt x="131" y="56"/>
                  </a:cubicBezTo>
                  <a:cubicBezTo>
                    <a:pt x="130" y="56"/>
                    <a:pt x="126" y="57"/>
                    <a:pt x="123" y="58"/>
                  </a:cubicBezTo>
                  <a:cubicBezTo>
                    <a:pt x="121" y="59"/>
                    <a:pt x="112" y="59"/>
                    <a:pt x="105" y="57"/>
                  </a:cubicBezTo>
                  <a:cubicBezTo>
                    <a:pt x="98" y="56"/>
                    <a:pt x="90" y="54"/>
                    <a:pt x="87" y="53"/>
                  </a:cubicBezTo>
                  <a:cubicBezTo>
                    <a:pt x="84" y="52"/>
                    <a:pt x="78" y="53"/>
                    <a:pt x="74" y="55"/>
                  </a:cubicBezTo>
                  <a:cubicBezTo>
                    <a:pt x="70" y="57"/>
                    <a:pt x="65" y="61"/>
                    <a:pt x="63" y="63"/>
                  </a:cubicBezTo>
                  <a:cubicBezTo>
                    <a:pt x="61" y="65"/>
                    <a:pt x="57" y="69"/>
                    <a:pt x="55" y="71"/>
                  </a:cubicBezTo>
                  <a:cubicBezTo>
                    <a:pt x="53" y="74"/>
                    <a:pt x="50" y="77"/>
                    <a:pt x="48" y="77"/>
                  </a:cubicBezTo>
                  <a:cubicBezTo>
                    <a:pt x="46" y="78"/>
                    <a:pt x="43" y="79"/>
                    <a:pt x="41" y="81"/>
                  </a:cubicBezTo>
                  <a:cubicBezTo>
                    <a:pt x="39" y="82"/>
                    <a:pt x="37" y="86"/>
                    <a:pt x="37" y="90"/>
                  </a:cubicBezTo>
                  <a:cubicBezTo>
                    <a:pt x="36" y="94"/>
                    <a:pt x="36" y="101"/>
                    <a:pt x="37" y="105"/>
                  </a:cubicBezTo>
                  <a:cubicBezTo>
                    <a:pt x="37" y="110"/>
                    <a:pt x="37" y="114"/>
                    <a:pt x="36" y="116"/>
                  </a:cubicBezTo>
                  <a:cubicBezTo>
                    <a:pt x="36" y="117"/>
                    <a:pt x="34" y="118"/>
                    <a:pt x="33" y="118"/>
                  </a:cubicBezTo>
                  <a:cubicBezTo>
                    <a:pt x="32" y="118"/>
                    <a:pt x="31" y="120"/>
                    <a:pt x="29" y="122"/>
                  </a:cubicBezTo>
                  <a:cubicBezTo>
                    <a:pt x="28" y="124"/>
                    <a:pt x="24" y="127"/>
                    <a:pt x="21" y="129"/>
                  </a:cubicBezTo>
                  <a:cubicBezTo>
                    <a:pt x="18" y="131"/>
                    <a:pt x="16" y="135"/>
                    <a:pt x="16" y="139"/>
                  </a:cubicBezTo>
                  <a:cubicBezTo>
                    <a:pt x="16" y="143"/>
                    <a:pt x="15" y="149"/>
                    <a:pt x="13" y="152"/>
                  </a:cubicBezTo>
                  <a:cubicBezTo>
                    <a:pt x="12" y="155"/>
                    <a:pt x="11" y="161"/>
                    <a:pt x="10" y="166"/>
                  </a:cubicBezTo>
                  <a:cubicBezTo>
                    <a:pt x="9" y="171"/>
                    <a:pt x="9" y="180"/>
                    <a:pt x="8" y="186"/>
                  </a:cubicBezTo>
                  <a:cubicBezTo>
                    <a:pt x="8" y="192"/>
                    <a:pt x="6" y="199"/>
                    <a:pt x="4" y="202"/>
                  </a:cubicBezTo>
                  <a:cubicBezTo>
                    <a:pt x="2" y="205"/>
                    <a:pt x="1" y="208"/>
                    <a:pt x="2" y="209"/>
                  </a:cubicBezTo>
                  <a:cubicBezTo>
                    <a:pt x="3" y="210"/>
                    <a:pt x="3" y="213"/>
                    <a:pt x="2" y="216"/>
                  </a:cubicBezTo>
                  <a:cubicBezTo>
                    <a:pt x="1" y="219"/>
                    <a:pt x="0" y="222"/>
                    <a:pt x="0" y="222"/>
                  </a:cubicBezTo>
                  <a:cubicBezTo>
                    <a:pt x="0" y="222"/>
                    <a:pt x="2" y="221"/>
                    <a:pt x="3" y="221"/>
                  </a:cubicBezTo>
                  <a:cubicBezTo>
                    <a:pt x="5" y="220"/>
                    <a:pt x="9" y="219"/>
                    <a:pt x="12" y="218"/>
                  </a:cubicBezTo>
                  <a:cubicBezTo>
                    <a:pt x="15" y="217"/>
                    <a:pt x="19" y="216"/>
                    <a:pt x="21" y="216"/>
                  </a:cubicBezTo>
                  <a:cubicBezTo>
                    <a:pt x="24" y="216"/>
                    <a:pt x="26" y="214"/>
                    <a:pt x="27" y="212"/>
                  </a:cubicBezTo>
                  <a:cubicBezTo>
                    <a:pt x="28" y="209"/>
                    <a:pt x="28" y="206"/>
                    <a:pt x="27" y="204"/>
                  </a:cubicBezTo>
                  <a:cubicBezTo>
                    <a:pt x="26" y="203"/>
                    <a:pt x="25" y="199"/>
                    <a:pt x="25" y="197"/>
                  </a:cubicBezTo>
                  <a:cubicBezTo>
                    <a:pt x="25" y="194"/>
                    <a:pt x="26" y="191"/>
                    <a:pt x="27" y="189"/>
                  </a:cubicBezTo>
                  <a:cubicBezTo>
                    <a:pt x="28" y="188"/>
                    <a:pt x="30" y="187"/>
                    <a:pt x="31" y="187"/>
                  </a:cubicBezTo>
                  <a:cubicBezTo>
                    <a:pt x="32" y="186"/>
                    <a:pt x="34" y="186"/>
                    <a:pt x="36" y="187"/>
                  </a:cubicBezTo>
                  <a:cubicBezTo>
                    <a:pt x="38" y="187"/>
                    <a:pt x="39" y="189"/>
                    <a:pt x="39" y="192"/>
                  </a:cubicBezTo>
                  <a:cubicBezTo>
                    <a:pt x="38" y="195"/>
                    <a:pt x="37" y="199"/>
                    <a:pt x="36" y="202"/>
                  </a:cubicBezTo>
                  <a:cubicBezTo>
                    <a:pt x="35" y="204"/>
                    <a:pt x="33" y="208"/>
                    <a:pt x="33" y="210"/>
                  </a:cubicBezTo>
                  <a:cubicBezTo>
                    <a:pt x="32" y="212"/>
                    <a:pt x="32" y="218"/>
                    <a:pt x="32" y="222"/>
                  </a:cubicBezTo>
                  <a:cubicBezTo>
                    <a:pt x="32" y="226"/>
                    <a:pt x="33" y="226"/>
                    <a:pt x="34" y="223"/>
                  </a:cubicBezTo>
                  <a:cubicBezTo>
                    <a:pt x="36" y="220"/>
                    <a:pt x="38" y="215"/>
                    <a:pt x="38" y="212"/>
                  </a:cubicBezTo>
                  <a:cubicBezTo>
                    <a:pt x="39" y="210"/>
                    <a:pt x="40" y="206"/>
                    <a:pt x="41" y="204"/>
                  </a:cubicBezTo>
                  <a:cubicBezTo>
                    <a:pt x="42" y="202"/>
                    <a:pt x="43" y="200"/>
                    <a:pt x="44" y="200"/>
                  </a:cubicBezTo>
                  <a:cubicBezTo>
                    <a:pt x="45" y="199"/>
                    <a:pt x="46" y="199"/>
                    <a:pt x="47" y="199"/>
                  </a:cubicBezTo>
                  <a:cubicBezTo>
                    <a:pt x="48" y="199"/>
                    <a:pt x="49" y="201"/>
                    <a:pt x="50" y="203"/>
                  </a:cubicBezTo>
                  <a:cubicBezTo>
                    <a:pt x="51" y="205"/>
                    <a:pt x="50" y="208"/>
                    <a:pt x="49" y="210"/>
                  </a:cubicBezTo>
                  <a:cubicBezTo>
                    <a:pt x="48" y="212"/>
                    <a:pt x="48" y="215"/>
                    <a:pt x="48" y="217"/>
                  </a:cubicBezTo>
                  <a:cubicBezTo>
                    <a:pt x="48" y="220"/>
                    <a:pt x="48" y="223"/>
                    <a:pt x="48" y="226"/>
                  </a:cubicBezTo>
                  <a:cubicBezTo>
                    <a:pt x="48" y="228"/>
                    <a:pt x="50" y="231"/>
                    <a:pt x="51" y="234"/>
                  </a:cubicBezTo>
                  <a:cubicBezTo>
                    <a:pt x="52" y="236"/>
                    <a:pt x="54" y="237"/>
                    <a:pt x="55" y="236"/>
                  </a:cubicBezTo>
                  <a:cubicBezTo>
                    <a:pt x="56" y="236"/>
                    <a:pt x="59" y="233"/>
                    <a:pt x="60" y="232"/>
                  </a:cubicBezTo>
                  <a:cubicBezTo>
                    <a:pt x="62" y="230"/>
                    <a:pt x="65" y="226"/>
                    <a:pt x="66" y="224"/>
                  </a:cubicBezTo>
                  <a:cubicBezTo>
                    <a:pt x="68" y="221"/>
                    <a:pt x="69" y="217"/>
                    <a:pt x="68" y="215"/>
                  </a:cubicBezTo>
                  <a:cubicBezTo>
                    <a:pt x="67" y="213"/>
                    <a:pt x="67" y="210"/>
                    <a:pt x="67" y="209"/>
                  </a:cubicBezTo>
                  <a:cubicBezTo>
                    <a:pt x="68" y="208"/>
                    <a:pt x="69" y="206"/>
                    <a:pt x="70" y="206"/>
                  </a:cubicBezTo>
                  <a:cubicBezTo>
                    <a:pt x="71" y="206"/>
                    <a:pt x="73" y="208"/>
                    <a:pt x="74" y="209"/>
                  </a:cubicBezTo>
                  <a:cubicBezTo>
                    <a:pt x="75" y="210"/>
                    <a:pt x="78" y="213"/>
                    <a:pt x="79" y="215"/>
                  </a:cubicBezTo>
                  <a:cubicBezTo>
                    <a:pt x="81" y="216"/>
                    <a:pt x="85" y="218"/>
                    <a:pt x="88" y="219"/>
                  </a:cubicBezTo>
                  <a:cubicBezTo>
                    <a:pt x="91" y="220"/>
                    <a:pt x="93" y="222"/>
                    <a:pt x="93" y="223"/>
                  </a:cubicBezTo>
                  <a:cubicBezTo>
                    <a:pt x="93" y="224"/>
                    <a:pt x="92" y="228"/>
                    <a:pt x="90" y="230"/>
                  </a:cubicBezTo>
                  <a:cubicBezTo>
                    <a:pt x="89" y="232"/>
                    <a:pt x="88" y="235"/>
                    <a:pt x="89" y="235"/>
                  </a:cubicBezTo>
                  <a:cubicBezTo>
                    <a:pt x="90" y="236"/>
                    <a:pt x="89" y="239"/>
                    <a:pt x="87" y="242"/>
                  </a:cubicBezTo>
                  <a:cubicBezTo>
                    <a:pt x="84" y="245"/>
                    <a:pt x="81" y="247"/>
                    <a:pt x="79" y="247"/>
                  </a:cubicBezTo>
                  <a:cubicBezTo>
                    <a:pt x="77" y="248"/>
                    <a:pt x="72" y="249"/>
                    <a:pt x="69" y="251"/>
                  </a:cubicBezTo>
                  <a:cubicBezTo>
                    <a:pt x="66" y="252"/>
                    <a:pt x="62" y="256"/>
                    <a:pt x="60" y="259"/>
                  </a:cubicBezTo>
                  <a:cubicBezTo>
                    <a:pt x="58" y="262"/>
                    <a:pt x="57" y="267"/>
                    <a:pt x="57" y="269"/>
                  </a:cubicBezTo>
                  <a:cubicBezTo>
                    <a:pt x="57" y="272"/>
                    <a:pt x="56" y="276"/>
                    <a:pt x="55" y="278"/>
                  </a:cubicBezTo>
                  <a:cubicBezTo>
                    <a:pt x="53" y="280"/>
                    <a:pt x="50" y="283"/>
                    <a:pt x="47" y="284"/>
                  </a:cubicBezTo>
                  <a:cubicBezTo>
                    <a:pt x="44" y="286"/>
                    <a:pt x="42" y="288"/>
                    <a:pt x="41" y="289"/>
                  </a:cubicBezTo>
                  <a:cubicBezTo>
                    <a:pt x="40" y="291"/>
                    <a:pt x="40" y="295"/>
                    <a:pt x="40" y="299"/>
                  </a:cubicBezTo>
                  <a:cubicBezTo>
                    <a:pt x="40" y="303"/>
                    <a:pt x="41" y="305"/>
                    <a:pt x="43" y="304"/>
                  </a:cubicBezTo>
                  <a:cubicBezTo>
                    <a:pt x="45" y="303"/>
                    <a:pt x="48" y="303"/>
                    <a:pt x="49" y="304"/>
                  </a:cubicBezTo>
                  <a:cubicBezTo>
                    <a:pt x="50" y="306"/>
                    <a:pt x="53" y="307"/>
                    <a:pt x="55" y="308"/>
                  </a:cubicBezTo>
                  <a:cubicBezTo>
                    <a:pt x="58" y="309"/>
                    <a:pt x="62" y="310"/>
                    <a:pt x="66" y="312"/>
                  </a:cubicBezTo>
                  <a:cubicBezTo>
                    <a:pt x="69" y="313"/>
                    <a:pt x="75" y="315"/>
                    <a:pt x="79" y="316"/>
                  </a:cubicBezTo>
                  <a:cubicBezTo>
                    <a:pt x="83" y="317"/>
                    <a:pt x="87" y="318"/>
                    <a:pt x="88" y="318"/>
                  </a:cubicBezTo>
                  <a:cubicBezTo>
                    <a:pt x="90" y="318"/>
                    <a:pt x="91" y="316"/>
                    <a:pt x="92" y="314"/>
                  </a:cubicBezTo>
                  <a:cubicBezTo>
                    <a:pt x="93" y="311"/>
                    <a:pt x="93" y="308"/>
                    <a:pt x="93" y="305"/>
                  </a:cubicBezTo>
                  <a:cubicBezTo>
                    <a:pt x="93" y="303"/>
                    <a:pt x="94" y="301"/>
                    <a:pt x="96" y="301"/>
                  </a:cubicBezTo>
                  <a:cubicBezTo>
                    <a:pt x="97" y="300"/>
                    <a:pt x="101" y="300"/>
                    <a:pt x="104" y="300"/>
                  </a:cubicBezTo>
                  <a:cubicBezTo>
                    <a:pt x="107" y="300"/>
                    <a:pt x="111" y="299"/>
                    <a:pt x="112" y="297"/>
                  </a:cubicBezTo>
                  <a:cubicBezTo>
                    <a:pt x="114" y="295"/>
                    <a:pt x="117" y="292"/>
                    <a:pt x="118" y="290"/>
                  </a:cubicBezTo>
                  <a:cubicBezTo>
                    <a:pt x="119" y="288"/>
                    <a:pt x="121" y="285"/>
                    <a:pt x="121" y="283"/>
                  </a:cubicBezTo>
                  <a:cubicBezTo>
                    <a:pt x="121" y="281"/>
                    <a:pt x="119" y="279"/>
                    <a:pt x="117" y="277"/>
                  </a:cubicBezTo>
                  <a:cubicBezTo>
                    <a:pt x="114" y="276"/>
                    <a:pt x="112" y="273"/>
                    <a:pt x="112" y="270"/>
                  </a:cubicBezTo>
                  <a:cubicBezTo>
                    <a:pt x="112" y="267"/>
                    <a:pt x="112" y="265"/>
                    <a:pt x="112" y="265"/>
                  </a:cubicBezTo>
                  <a:cubicBezTo>
                    <a:pt x="112" y="265"/>
                    <a:pt x="110" y="264"/>
                    <a:pt x="109" y="263"/>
                  </a:cubicBezTo>
                  <a:cubicBezTo>
                    <a:pt x="108" y="261"/>
                    <a:pt x="107" y="258"/>
                    <a:pt x="107" y="255"/>
                  </a:cubicBezTo>
                  <a:cubicBezTo>
                    <a:pt x="108" y="252"/>
                    <a:pt x="111" y="247"/>
                    <a:pt x="114" y="243"/>
                  </a:cubicBezTo>
                  <a:cubicBezTo>
                    <a:pt x="117" y="239"/>
                    <a:pt x="121" y="233"/>
                    <a:pt x="122" y="229"/>
                  </a:cubicBezTo>
                  <a:cubicBezTo>
                    <a:pt x="124" y="226"/>
                    <a:pt x="127" y="223"/>
                    <a:pt x="129" y="222"/>
                  </a:cubicBezTo>
                  <a:cubicBezTo>
                    <a:pt x="131" y="222"/>
                    <a:pt x="134" y="220"/>
                    <a:pt x="136" y="219"/>
                  </a:cubicBezTo>
                  <a:cubicBezTo>
                    <a:pt x="138" y="217"/>
                    <a:pt x="141" y="215"/>
                    <a:pt x="143" y="213"/>
                  </a:cubicBezTo>
                  <a:cubicBezTo>
                    <a:pt x="145" y="212"/>
                    <a:pt x="148" y="212"/>
                    <a:pt x="150" y="214"/>
                  </a:cubicBezTo>
                  <a:cubicBezTo>
                    <a:pt x="151" y="215"/>
                    <a:pt x="154" y="217"/>
                    <a:pt x="156" y="218"/>
                  </a:cubicBezTo>
                  <a:cubicBezTo>
                    <a:pt x="158" y="219"/>
                    <a:pt x="161" y="221"/>
                    <a:pt x="162" y="222"/>
                  </a:cubicBezTo>
                  <a:cubicBezTo>
                    <a:pt x="164" y="223"/>
                    <a:pt x="167" y="224"/>
                    <a:pt x="168" y="224"/>
                  </a:cubicBezTo>
                  <a:cubicBezTo>
                    <a:pt x="169" y="225"/>
                    <a:pt x="170" y="228"/>
                    <a:pt x="171" y="231"/>
                  </a:cubicBezTo>
                  <a:cubicBezTo>
                    <a:pt x="172" y="234"/>
                    <a:pt x="174" y="239"/>
                    <a:pt x="176" y="241"/>
                  </a:cubicBezTo>
                  <a:cubicBezTo>
                    <a:pt x="178" y="244"/>
                    <a:pt x="179" y="246"/>
                    <a:pt x="179" y="246"/>
                  </a:cubicBezTo>
                  <a:cubicBezTo>
                    <a:pt x="179" y="246"/>
                    <a:pt x="181" y="246"/>
                    <a:pt x="183" y="247"/>
                  </a:cubicBezTo>
                  <a:cubicBezTo>
                    <a:pt x="185" y="248"/>
                    <a:pt x="188" y="249"/>
                    <a:pt x="190" y="249"/>
                  </a:cubicBezTo>
                  <a:cubicBezTo>
                    <a:pt x="192" y="249"/>
                    <a:pt x="195" y="251"/>
                    <a:pt x="198" y="254"/>
                  </a:cubicBezTo>
                  <a:cubicBezTo>
                    <a:pt x="200" y="256"/>
                    <a:pt x="202" y="258"/>
                    <a:pt x="202" y="258"/>
                  </a:cubicBezTo>
                  <a:cubicBezTo>
                    <a:pt x="202" y="258"/>
                    <a:pt x="203" y="257"/>
                    <a:pt x="205" y="255"/>
                  </a:cubicBezTo>
                  <a:cubicBezTo>
                    <a:pt x="207" y="253"/>
                    <a:pt x="210" y="249"/>
                    <a:pt x="212" y="24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4" name="Freeform 37">
              <a:extLst>
                <a:ext uri="{FF2B5EF4-FFF2-40B4-BE49-F238E27FC236}">
                  <a16:creationId xmlns:a16="http://schemas.microsoft.com/office/drawing/2014/main" id="{61A886B1-7666-37D8-C17E-2117CCEB3EFA}"/>
                </a:ext>
              </a:extLst>
            </p:cNvPr>
            <p:cNvSpPr>
              <a:spLocks/>
            </p:cNvSpPr>
            <p:nvPr/>
          </p:nvSpPr>
          <p:spPr bwMode="auto">
            <a:xfrm>
              <a:off x="5213322" y="4095733"/>
              <a:ext cx="1493838" cy="1509713"/>
            </a:xfrm>
            <a:custGeom>
              <a:avLst/>
              <a:gdLst/>
              <a:ahLst/>
              <a:cxnLst>
                <a:cxn ang="0">
                  <a:pos x="23" y="4"/>
                </a:cxn>
                <a:cxn ang="0">
                  <a:pos x="7" y="7"/>
                </a:cxn>
                <a:cxn ang="0">
                  <a:pos x="15" y="29"/>
                </a:cxn>
                <a:cxn ang="0">
                  <a:pos x="6" y="47"/>
                </a:cxn>
                <a:cxn ang="0">
                  <a:pos x="0" y="62"/>
                </a:cxn>
                <a:cxn ang="0">
                  <a:pos x="8" y="83"/>
                </a:cxn>
                <a:cxn ang="0">
                  <a:pos x="22" y="99"/>
                </a:cxn>
                <a:cxn ang="0">
                  <a:pos x="30" y="123"/>
                </a:cxn>
                <a:cxn ang="0">
                  <a:pos x="15" y="131"/>
                </a:cxn>
                <a:cxn ang="0">
                  <a:pos x="9" y="158"/>
                </a:cxn>
                <a:cxn ang="0">
                  <a:pos x="22" y="157"/>
                </a:cxn>
                <a:cxn ang="0">
                  <a:pos x="49" y="143"/>
                </a:cxn>
                <a:cxn ang="0">
                  <a:pos x="59" y="128"/>
                </a:cxn>
                <a:cxn ang="0">
                  <a:pos x="70" y="142"/>
                </a:cxn>
                <a:cxn ang="0">
                  <a:pos x="74" y="156"/>
                </a:cxn>
                <a:cxn ang="0">
                  <a:pos x="77" y="178"/>
                </a:cxn>
                <a:cxn ang="0">
                  <a:pos x="108" y="177"/>
                </a:cxn>
                <a:cxn ang="0">
                  <a:pos x="101" y="201"/>
                </a:cxn>
                <a:cxn ang="0">
                  <a:pos x="98" y="226"/>
                </a:cxn>
                <a:cxn ang="0">
                  <a:pos x="106" y="240"/>
                </a:cxn>
                <a:cxn ang="0">
                  <a:pos x="116" y="254"/>
                </a:cxn>
                <a:cxn ang="0">
                  <a:pos x="106" y="279"/>
                </a:cxn>
                <a:cxn ang="0">
                  <a:pos x="116" y="297"/>
                </a:cxn>
                <a:cxn ang="0">
                  <a:pos x="139" y="303"/>
                </a:cxn>
                <a:cxn ang="0">
                  <a:pos x="163" y="301"/>
                </a:cxn>
                <a:cxn ang="0">
                  <a:pos x="187" y="326"/>
                </a:cxn>
                <a:cxn ang="0">
                  <a:pos x="213" y="331"/>
                </a:cxn>
                <a:cxn ang="0">
                  <a:pos x="214" y="368"/>
                </a:cxn>
                <a:cxn ang="0">
                  <a:pos x="245" y="372"/>
                </a:cxn>
                <a:cxn ang="0">
                  <a:pos x="279" y="389"/>
                </a:cxn>
                <a:cxn ang="0">
                  <a:pos x="340" y="402"/>
                </a:cxn>
                <a:cxn ang="0">
                  <a:pos x="375" y="397"/>
                </a:cxn>
                <a:cxn ang="0">
                  <a:pos x="390" y="388"/>
                </a:cxn>
                <a:cxn ang="0">
                  <a:pos x="395" y="376"/>
                </a:cxn>
                <a:cxn ang="0">
                  <a:pos x="378" y="362"/>
                </a:cxn>
                <a:cxn ang="0">
                  <a:pos x="350" y="342"/>
                </a:cxn>
                <a:cxn ang="0">
                  <a:pos x="337" y="319"/>
                </a:cxn>
                <a:cxn ang="0">
                  <a:pos x="303" y="312"/>
                </a:cxn>
                <a:cxn ang="0">
                  <a:pos x="280" y="294"/>
                </a:cxn>
                <a:cxn ang="0">
                  <a:pos x="240" y="283"/>
                </a:cxn>
                <a:cxn ang="0">
                  <a:pos x="210" y="292"/>
                </a:cxn>
                <a:cxn ang="0">
                  <a:pos x="201" y="298"/>
                </a:cxn>
                <a:cxn ang="0">
                  <a:pos x="207" y="279"/>
                </a:cxn>
                <a:cxn ang="0">
                  <a:pos x="198" y="259"/>
                </a:cxn>
                <a:cxn ang="0">
                  <a:pos x="178" y="238"/>
                </a:cxn>
                <a:cxn ang="0">
                  <a:pos x="166" y="202"/>
                </a:cxn>
                <a:cxn ang="0">
                  <a:pos x="140" y="168"/>
                </a:cxn>
                <a:cxn ang="0">
                  <a:pos x="107" y="131"/>
                </a:cxn>
                <a:cxn ang="0">
                  <a:pos x="85" y="86"/>
                </a:cxn>
                <a:cxn ang="0">
                  <a:pos x="70" y="62"/>
                </a:cxn>
                <a:cxn ang="0">
                  <a:pos x="62" y="31"/>
                </a:cxn>
                <a:cxn ang="0">
                  <a:pos x="40" y="7"/>
                </a:cxn>
              </a:cxnLst>
              <a:rect l="0" t="0" r="r" b="b"/>
              <a:pathLst>
                <a:path w="398" h="402">
                  <a:moveTo>
                    <a:pt x="40" y="7"/>
                  </a:moveTo>
                  <a:cubicBezTo>
                    <a:pt x="37" y="6"/>
                    <a:pt x="34" y="4"/>
                    <a:pt x="33" y="2"/>
                  </a:cubicBezTo>
                  <a:cubicBezTo>
                    <a:pt x="31" y="1"/>
                    <a:pt x="29" y="0"/>
                    <a:pt x="27" y="0"/>
                  </a:cubicBezTo>
                  <a:cubicBezTo>
                    <a:pt x="26" y="1"/>
                    <a:pt x="24" y="2"/>
                    <a:pt x="23" y="4"/>
                  </a:cubicBezTo>
                  <a:cubicBezTo>
                    <a:pt x="23" y="5"/>
                    <a:pt x="20" y="5"/>
                    <a:pt x="16" y="4"/>
                  </a:cubicBezTo>
                  <a:cubicBezTo>
                    <a:pt x="13" y="3"/>
                    <a:pt x="9" y="3"/>
                    <a:pt x="8" y="3"/>
                  </a:cubicBezTo>
                  <a:cubicBezTo>
                    <a:pt x="6" y="4"/>
                    <a:pt x="5" y="4"/>
                    <a:pt x="5" y="4"/>
                  </a:cubicBezTo>
                  <a:cubicBezTo>
                    <a:pt x="5" y="4"/>
                    <a:pt x="6" y="5"/>
                    <a:pt x="7" y="7"/>
                  </a:cubicBezTo>
                  <a:cubicBezTo>
                    <a:pt x="8" y="9"/>
                    <a:pt x="10" y="11"/>
                    <a:pt x="11" y="12"/>
                  </a:cubicBezTo>
                  <a:cubicBezTo>
                    <a:pt x="12" y="12"/>
                    <a:pt x="15" y="14"/>
                    <a:pt x="17" y="16"/>
                  </a:cubicBezTo>
                  <a:cubicBezTo>
                    <a:pt x="19" y="18"/>
                    <a:pt x="20" y="21"/>
                    <a:pt x="19" y="23"/>
                  </a:cubicBezTo>
                  <a:cubicBezTo>
                    <a:pt x="18" y="25"/>
                    <a:pt x="16" y="28"/>
                    <a:pt x="15" y="29"/>
                  </a:cubicBezTo>
                  <a:cubicBezTo>
                    <a:pt x="14" y="30"/>
                    <a:pt x="10" y="33"/>
                    <a:pt x="8" y="35"/>
                  </a:cubicBezTo>
                  <a:cubicBezTo>
                    <a:pt x="6" y="36"/>
                    <a:pt x="4" y="38"/>
                    <a:pt x="4" y="38"/>
                  </a:cubicBezTo>
                  <a:cubicBezTo>
                    <a:pt x="5" y="39"/>
                    <a:pt x="5" y="41"/>
                    <a:pt x="5" y="42"/>
                  </a:cubicBezTo>
                  <a:cubicBezTo>
                    <a:pt x="5" y="44"/>
                    <a:pt x="5" y="46"/>
                    <a:pt x="6" y="47"/>
                  </a:cubicBezTo>
                  <a:cubicBezTo>
                    <a:pt x="7" y="48"/>
                    <a:pt x="9" y="51"/>
                    <a:pt x="10" y="52"/>
                  </a:cubicBezTo>
                  <a:cubicBezTo>
                    <a:pt x="11" y="54"/>
                    <a:pt x="10" y="56"/>
                    <a:pt x="8" y="57"/>
                  </a:cubicBezTo>
                  <a:cubicBezTo>
                    <a:pt x="7" y="58"/>
                    <a:pt x="4" y="59"/>
                    <a:pt x="2" y="60"/>
                  </a:cubicBezTo>
                  <a:cubicBezTo>
                    <a:pt x="1" y="61"/>
                    <a:pt x="0" y="62"/>
                    <a:pt x="0" y="62"/>
                  </a:cubicBezTo>
                  <a:cubicBezTo>
                    <a:pt x="0" y="62"/>
                    <a:pt x="0" y="64"/>
                    <a:pt x="0" y="66"/>
                  </a:cubicBezTo>
                  <a:cubicBezTo>
                    <a:pt x="0" y="68"/>
                    <a:pt x="2" y="70"/>
                    <a:pt x="4" y="71"/>
                  </a:cubicBezTo>
                  <a:cubicBezTo>
                    <a:pt x="7" y="72"/>
                    <a:pt x="8" y="76"/>
                    <a:pt x="8" y="78"/>
                  </a:cubicBezTo>
                  <a:cubicBezTo>
                    <a:pt x="8" y="81"/>
                    <a:pt x="8" y="83"/>
                    <a:pt x="8" y="83"/>
                  </a:cubicBezTo>
                  <a:cubicBezTo>
                    <a:pt x="8" y="83"/>
                    <a:pt x="9" y="84"/>
                    <a:pt x="10" y="86"/>
                  </a:cubicBezTo>
                  <a:cubicBezTo>
                    <a:pt x="11" y="87"/>
                    <a:pt x="12" y="89"/>
                    <a:pt x="12" y="91"/>
                  </a:cubicBezTo>
                  <a:cubicBezTo>
                    <a:pt x="11" y="93"/>
                    <a:pt x="13" y="96"/>
                    <a:pt x="14" y="98"/>
                  </a:cubicBezTo>
                  <a:cubicBezTo>
                    <a:pt x="16" y="100"/>
                    <a:pt x="20" y="100"/>
                    <a:pt x="22" y="99"/>
                  </a:cubicBezTo>
                  <a:cubicBezTo>
                    <a:pt x="25" y="97"/>
                    <a:pt x="27" y="98"/>
                    <a:pt x="27" y="100"/>
                  </a:cubicBezTo>
                  <a:cubicBezTo>
                    <a:pt x="27" y="103"/>
                    <a:pt x="29" y="105"/>
                    <a:pt x="32" y="106"/>
                  </a:cubicBezTo>
                  <a:cubicBezTo>
                    <a:pt x="35" y="106"/>
                    <a:pt x="36" y="109"/>
                    <a:pt x="34" y="112"/>
                  </a:cubicBezTo>
                  <a:cubicBezTo>
                    <a:pt x="32" y="116"/>
                    <a:pt x="30" y="121"/>
                    <a:pt x="30" y="123"/>
                  </a:cubicBezTo>
                  <a:cubicBezTo>
                    <a:pt x="30" y="125"/>
                    <a:pt x="29" y="127"/>
                    <a:pt x="28" y="127"/>
                  </a:cubicBezTo>
                  <a:cubicBezTo>
                    <a:pt x="26" y="127"/>
                    <a:pt x="24" y="126"/>
                    <a:pt x="22" y="125"/>
                  </a:cubicBezTo>
                  <a:cubicBezTo>
                    <a:pt x="20" y="125"/>
                    <a:pt x="19" y="125"/>
                    <a:pt x="18" y="127"/>
                  </a:cubicBezTo>
                  <a:cubicBezTo>
                    <a:pt x="17" y="129"/>
                    <a:pt x="16" y="130"/>
                    <a:pt x="15" y="131"/>
                  </a:cubicBezTo>
                  <a:cubicBezTo>
                    <a:pt x="14" y="132"/>
                    <a:pt x="14" y="133"/>
                    <a:pt x="15" y="134"/>
                  </a:cubicBezTo>
                  <a:cubicBezTo>
                    <a:pt x="16" y="136"/>
                    <a:pt x="15" y="138"/>
                    <a:pt x="13" y="141"/>
                  </a:cubicBezTo>
                  <a:cubicBezTo>
                    <a:pt x="11" y="143"/>
                    <a:pt x="9" y="147"/>
                    <a:pt x="9" y="150"/>
                  </a:cubicBezTo>
                  <a:cubicBezTo>
                    <a:pt x="9" y="152"/>
                    <a:pt x="9" y="156"/>
                    <a:pt x="9" y="158"/>
                  </a:cubicBezTo>
                  <a:cubicBezTo>
                    <a:pt x="10" y="160"/>
                    <a:pt x="11" y="162"/>
                    <a:pt x="11" y="164"/>
                  </a:cubicBezTo>
                  <a:cubicBezTo>
                    <a:pt x="11" y="165"/>
                    <a:pt x="13" y="165"/>
                    <a:pt x="14" y="164"/>
                  </a:cubicBezTo>
                  <a:cubicBezTo>
                    <a:pt x="16" y="163"/>
                    <a:pt x="18" y="161"/>
                    <a:pt x="18" y="159"/>
                  </a:cubicBezTo>
                  <a:cubicBezTo>
                    <a:pt x="19" y="158"/>
                    <a:pt x="21" y="157"/>
                    <a:pt x="22" y="157"/>
                  </a:cubicBezTo>
                  <a:cubicBezTo>
                    <a:pt x="24" y="157"/>
                    <a:pt x="27" y="155"/>
                    <a:pt x="28" y="152"/>
                  </a:cubicBezTo>
                  <a:cubicBezTo>
                    <a:pt x="30" y="149"/>
                    <a:pt x="33" y="145"/>
                    <a:pt x="35" y="144"/>
                  </a:cubicBezTo>
                  <a:cubicBezTo>
                    <a:pt x="36" y="143"/>
                    <a:pt x="39" y="142"/>
                    <a:pt x="42" y="142"/>
                  </a:cubicBezTo>
                  <a:cubicBezTo>
                    <a:pt x="44" y="142"/>
                    <a:pt x="47" y="143"/>
                    <a:pt x="49" y="143"/>
                  </a:cubicBezTo>
                  <a:cubicBezTo>
                    <a:pt x="50" y="143"/>
                    <a:pt x="52" y="143"/>
                    <a:pt x="52" y="143"/>
                  </a:cubicBezTo>
                  <a:cubicBezTo>
                    <a:pt x="52" y="143"/>
                    <a:pt x="52" y="141"/>
                    <a:pt x="52" y="139"/>
                  </a:cubicBezTo>
                  <a:cubicBezTo>
                    <a:pt x="53" y="137"/>
                    <a:pt x="54" y="133"/>
                    <a:pt x="55" y="132"/>
                  </a:cubicBezTo>
                  <a:cubicBezTo>
                    <a:pt x="56" y="130"/>
                    <a:pt x="57" y="129"/>
                    <a:pt x="59" y="128"/>
                  </a:cubicBezTo>
                  <a:cubicBezTo>
                    <a:pt x="60" y="128"/>
                    <a:pt x="62" y="128"/>
                    <a:pt x="64" y="128"/>
                  </a:cubicBezTo>
                  <a:cubicBezTo>
                    <a:pt x="65" y="129"/>
                    <a:pt x="67" y="130"/>
                    <a:pt x="67" y="133"/>
                  </a:cubicBezTo>
                  <a:cubicBezTo>
                    <a:pt x="67" y="135"/>
                    <a:pt x="68" y="137"/>
                    <a:pt x="69" y="138"/>
                  </a:cubicBezTo>
                  <a:cubicBezTo>
                    <a:pt x="69" y="139"/>
                    <a:pt x="70" y="141"/>
                    <a:pt x="70" y="142"/>
                  </a:cubicBezTo>
                  <a:cubicBezTo>
                    <a:pt x="70" y="143"/>
                    <a:pt x="71" y="143"/>
                    <a:pt x="73" y="143"/>
                  </a:cubicBezTo>
                  <a:cubicBezTo>
                    <a:pt x="75" y="143"/>
                    <a:pt x="77" y="145"/>
                    <a:pt x="78" y="146"/>
                  </a:cubicBezTo>
                  <a:cubicBezTo>
                    <a:pt x="79" y="148"/>
                    <a:pt x="79" y="151"/>
                    <a:pt x="78" y="153"/>
                  </a:cubicBezTo>
                  <a:cubicBezTo>
                    <a:pt x="78" y="155"/>
                    <a:pt x="76" y="156"/>
                    <a:pt x="74" y="156"/>
                  </a:cubicBezTo>
                  <a:cubicBezTo>
                    <a:pt x="72" y="156"/>
                    <a:pt x="70" y="156"/>
                    <a:pt x="68" y="156"/>
                  </a:cubicBezTo>
                  <a:cubicBezTo>
                    <a:pt x="67" y="157"/>
                    <a:pt x="66" y="160"/>
                    <a:pt x="66" y="164"/>
                  </a:cubicBezTo>
                  <a:cubicBezTo>
                    <a:pt x="66" y="167"/>
                    <a:pt x="67" y="171"/>
                    <a:pt x="69" y="173"/>
                  </a:cubicBezTo>
                  <a:cubicBezTo>
                    <a:pt x="70" y="175"/>
                    <a:pt x="74" y="177"/>
                    <a:pt x="77" y="178"/>
                  </a:cubicBezTo>
                  <a:cubicBezTo>
                    <a:pt x="80" y="180"/>
                    <a:pt x="84" y="179"/>
                    <a:pt x="86" y="176"/>
                  </a:cubicBezTo>
                  <a:cubicBezTo>
                    <a:pt x="88" y="173"/>
                    <a:pt x="90" y="171"/>
                    <a:pt x="91" y="171"/>
                  </a:cubicBezTo>
                  <a:cubicBezTo>
                    <a:pt x="93" y="171"/>
                    <a:pt x="96" y="172"/>
                    <a:pt x="99" y="173"/>
                  </a:cubicBezTo>
                  <a:cubicBezTo>
                    <a:pt x="102" y="175"/>
                    <a:pt x="107" y="176"/>
                    <a:pt x="108" y="177"/>
                  </a:cubicBezTo>
                  <a:cubicBezTo>
                    <a:pt x="110" y="178"/>
                    <a:pt x="112" y="179"/>
                    <a:pt x="111" y="181"/>
                  </a:cubicBezTo>
                  <a:cubicBezTo>
                    <a:pt x="111" y="182"/>
                    <a:pt x="110" y="185"/>
                    <a:pt x="109" y="187"/>
                  </a:cubicBezTo>
                  <a:cubicBezTo>
                    <a:pt x="108" y="189"/>
                    <a:pt x="106" y="192"/>
                    <a:pt x="104" y="194"/>
                  </a:cubicBezTo>
                  <a:cubicBezTo>
                    <a:pt x="102" y="196"/>
                    <a:pt x="101" y="199"/>
                    <a:pt x="101" y="201"/>
                  </a:cubicBezTo>
                  <a:cubicBezTo>
                    <a:pt x="102" y="202"/>
                    <a:pt x="102" y="206"/>
                    <a:pt x="102" y="208"/>
                  </a:cubicBezTo>
                  <a:cubicBezTo>
                    <a:pt x="102" y="210"/>
                    <a:pt x="101" y="212"/>
                    <a:pt x="100" y="213"/>
                  </a:cubicBezTo>
                  <a:cubicBezTo>
                    <a:pt x="98" y="213"/>
                    <a:pt x="96" y="216"/>
                    <a:pt x="96" y="218"/>
                  </a:cubicBezTo>
                  <a:cubicBezTo>
                    <a:pt x="95" y="220"/>
                    <a:pt x="96" y="223"/>
                    <a:pt x="98" y="226"/>
                  </a:cubicBezTo>
                  <a:cubicBezTo>
                    <a:pt x="101" y="229"/>
                    <a:pt x="101" y="231"/>
                    <a:pt x="99" y="232"/>
                  </a:cubicBezTo>
                  <a:cubicBezTo>
                    <a:pt x="97" y="233"/>
                    <a:pt x="96" y="234"/>
                    <a:pt x="96" y="234"/>
                  </a:cubicBezTo>
                  <a:cubicBezTo>
                    <a:pt x="96" y="234"/>
                    <a:pt x="97" y="235"/>
                    <a:pt x="99" y="236"/>
                  </a:cubicBezTo>
                  <a:cubicBezTo>
                    <a:pt x="101" y="237"/>
                    <a:pt x="104" y="239"/>
                    <a:pt x="106" y="240"/>
                  </a:cubicBezTo>
                  <a:cubicBezTo>
                    <a:pt x="107" y="241"/>
                    <a:pt x="111" y="242"/>
                    <a:pt x="114" y="243"/>
                  </a:cubicBezTo>
                  <a:cubicBezTo>
                    <a:pt x="118" y="244"/>
                    <a:pt x="121" y="246"/>
                    <a:pt x="123" y="247"/>
                  </a:cubicBezTo>
                  <a:cubicBezTo>
                    <a:pt x="124" y="247"/>
                    <a:pt x="124" y="249"/>
                    <a:pt x="122" y="251"/>
                  </a:cubicBezTo>
                  <a:cubicBezTo>
                    <a:pt x="121" y="252"/>
                    <a:pt x="118" y="253"/>
                    <a:pt x="116" y="254"/>
                  </a:cubicBezTo>
                  <a:cubicBezTo>
                    <a:pt x="114" y="254"/>
                    <a:pt x="111" y="255"/>
                    <a:pt x="109" y="256"/>
                  </a:cubicBezTo>
                  <a:cubicBezTo>
                    <a:pt x="108" y="258"/>
                    <a:pt x="106" y="261"/>
                    <a:pt x="106" y="264"/>
                  </a:cubicBezTo>
                  <a:cubicBezTo>
                    <a:pt x="106" y="266"/>
                    <a:pt x="107" y="270"/>
                    <a:pt x="108" y="273"/>
                  </a:cubicBezTo>
                  <a:cubicBezTo>
                    <a:pt x="108" y="275"/>
                    <a:pt x="108" y="278"/>
                    <a:pt x="106" y="279"/>
                  </a:cubicBezTo>
                  <a:cubicBezTo>
                    <a:pt x="104" y="280"/>
                    <a:pt x="102" y="283"/>
                    <a:pt x="102" y="285"/>
                  </a:cubicBezTo>
                  <a:cubicBezTo>
                    <a:pt x="102" y="287"/>
                    <a:pt x="102" y="290"/>
                    <a:pt x="103" y="292"/>
                  </a:cubicBezTo>
                  <a:cubicBezTo>
                    <a:pt x="104" y="294"/>
                    <a:pt x="106" y="295"/>
                    <a:pt x="109" y="295"/>
                  </a:cubicBezTo>
                  <a:cubicBezTo>
                    <a:pt x="111" y="295"/>
                    <a:pt x="115" y="296"/>
                    <a:pt x="116" y="297"/>
                  </a:cubicBezTo>
                  <a:cubicBezTo>
                    <a:pt x="118" y="297"/>
                    <a:pt x="120" y="300"/>
                    <a:pt x="120" y="302"/>
                  </a:cubicBezTo>
                  <a:cubicBezTo>
                    <a:pt x="120" y="304"/>
                    <a:pt x="121" y="306"/>
                    <a:pt x="122" y="307"/>
                  </a:cubicBezTo>
                  <a:cubicBezTo>
                    <a:pt x="122" y="308"/>
                    <a:pt x="125" y="308"/>
                    <a:pt x="128" y="306"/>
                  </a:cubicBezTo>
                  <a:cubicBezTo>
                    <a:pt x="131" y="305"/>
                    <a:pt x="136" y="303"/>
                    <a:pt x="139" y="303"/>
                  </a:cubicBezTo>
                  <a:cubicBezTo>
                    <a:pt x="142" y="303"/>
                    <a:pt x="146" y="301"/>
                    <a:pt x="148" y="299"/>
                  </a:cubicBezTo>
                  <a:cubicBezTo>
                    <a:pt x="150" y="297"/>
                    <a:pt x="152" y="296"/>
                    <a:pt x="154" y="298"/>
                  </a:cubicBezTo>
                  <a:cubicBezTo>
                    <a:pt x="156" y="300"/>
                    <a:pt x="157" y="302"/>
                    <a:pt x="157" y="302"/>
                  </a:cubicBezTo>
                  <a:cubicBezTo>
                    <a:pt x="157" y="302"/>
                    <a:pt x="160" y="302"/>
                    <a:pt x="163" y="301"/>
                  </a:cubicBezTo>
                  <a:cubicBezTo>
                    <a:pt x="166" y="300"/>
                    <a:pt x="170" y="302"/>
                    <a:pt x="171" y="305"/>
                  </a:cubicBezTo>
                  <a:cubicBezTo>
                    <a:pt x="173" y="307"/>
                    <a:pt x="175" y="311"/>
                    <a:pt x="177" y="314"/>
                  </a:cubicBezTo>
                  <a:cubicBezTo>
                    <a:pt x="178" y="316"/>
                    <a:pt x="181" y="319"/>
                    <a:pt x="182" y="321"/>
                  </a:cubicBezTo>
                  <a:cubicBezTo>
                    <a:pt x="184" y="322"/>
                    <a:pt x="186" y="325"/>
                    <a:pt x="187" y="326"/>
                  </a:cubicBezTo>
                  <a:cubicBezTo>
                    <a:pt x="188" y="328"/>
                    <a:pt x="190" y="329"/>
                    <a:pt x="192" y="329"/>
                  </a:cubicBezTo>
                  <a:cubicBezTo>
                    <a:pt x="194" y="329"/>
                    <a:pt x="198" y="330"/>
                    <a:pt x="201" y="331"/>
                  </a:cubicBezTo>
                  <a:cubicBezTo>
                    <a:pt x="203" y="332"/>
                    <a:pt x="207" y="333"/>
                    <a:pt x="208" y="332"/>
                  </a:cubicBezTo>
                  <a:cubicBezTo>
                    <a:pt x="209" y="331"/>
                    <a:pt x="212" y="331"/>
                    <a:pt x="213" y="331"/>
                  </a:cubicBezTo>
                  <a:cubicBezTo>
                    <a:pt x="215" y="332"/>
                    <a:pt x="217" y="335"/>
                    <a:pt x="218" y="339"/>
                  </a:cubicBezTo>
                  <a:cubicBezTo>
                    <a:pt x="219" y="343"/>
                    <a:pt x="218" y="348"/>
                    <a:pt x="217" y="350"/>
                  </a:cubicBezTo>
                  <a:cubicBezTo>
                    <a:pt x="215" y="353"/>
                    <a:pt x="213" y="357"/>
                    <a:pt x="213" y="360"/>
                  </a:cubicBezTo>
                  <a:cubicBezTo>
                    <a:pt x="213" y="362"/>
                    <a:pt x="213" y="366"/>
                    <a:pt x="214" y="368"/>
                  </a:cubicBezTo>
                  <a:cubicBezTo>
                    <a:pt x="214" y="370"/>
                    <a:pt x="217" y="374"/>
                    <a:pt x="220" y="377"/>
                  </a:cubicBezTo>
                  <a:cubicBezTo>
                    <a:pt x="222" y="379"/>
                    <a:pt x="227" y="381"/>
                    <a:pt x="230" y="380"/>
                  </a:cubicBezTo>
                  <a:cubicBezTo>
                    <a:pt x="233" y="380"/>
                    <a:pt x="237" y="378"/>
                    <a:pt x="239" y="376"/>
                  </a:cubicBezTo>
                  <a:cubicBezTo>
                    <a:pt x="241" y="375"/>
                    <a:pt x="244" y="373"/>
                    <a:pt x="245" y="372"/>
                  </a:cubicBezTo>
                  <a:cubicBezTo>
                    <a:pt x="246" y="372"/>
                    <a:pt x="249" y="370"/>
                    <a:pt x="252" y="369"/>
                  </a:cubicBezTo>
                  <a:cubicBezTo>
                    <a:pt x="255" y="367"/>
                    <a:pt x="258" y="368"/>
                    <a:pt x="260" y="370"/>
                  </a:cubicBezTo>
                  <a:cubicBezTo>
                    <a:pt x="261" y="373"/>
                    <a:pt x="265" y="377"/>
                    <a:pt x="269" y="381"/>
                  </a:cubicBezTo>
                  <a:cubicBezTo>
                    <a:pt x="273" y="384"/>
                    <a:pt x="278" y="388"/>
                    <a:pt x="279" y="389"/>
                  </a:cubicBezTo>
                  <a:cubicBezTo>
                    <a:pt x="280" y="390"/>
                    <a:pt x="282" y="392"/>
                    <a:pt x="282" y="394"/>
                  </a:cubicBezTo>
                  <a:cubicBezTo>
                    <a:pt x="283" y="395"/>
                    <a:pt x="284" y="398"/>
                    <a:pt x="285" y="399"/>
                  </a:cubicBezTo>
                  <a:cubicBezTo>
                    <a:pt x="286" y="400"/>
                    <a:pt x="294" y="401"/>
                    <a:pt x="304" y="402"/>
                  </a:cubicBezTo>
                  <a:cubicBezTo>
                    <a:pt x="313" y="402"/>
                    <a:pt x="330" y="402"/>
                    <a:pt x="340" y="402"/>
                  </a:cubicBezTo>
                  <a:cubicBezTo>
                    <a:pt x="350" y="401"/>
                    <a:pt x="361" y="401"/>
                    <a:pt x="364" y="402"/>
                  </a:cubicBezTo>
                  <a:cubicBezTo>
                    <a:pt x="366" y="402"/>
                    <a:pt x="368" y="402"/>
                    <a:pt x="368" y="402"/>
                  </a:cubicBezTo>
                  <a:cubicBezTo>
                    <a:pt x="368" y="402"/>
                    <a:pt x="369" y="401"/>
                    <a:pt x="370" y="400"/>
                  </a:cubicBezTo>
                  <a:cubicBezTo>
                    <a:pt x="371" y="399"/>
                    <a:pt x="373" y="398"/>
                    <a:pt x="375" y="397"/>
                  </a:cubicBezTo>
                  <a:cubicBezTo>
                    <a:pt x="376" y="396"/>
                    <a:pt x="379" y="395"/>
                    <a:pt x="382" y="395"/>
                  </a:cubicBezTo>
                  <a:cubicBezTo>
                    <a:pt x="384" y="396"/>
                    <a:pt x="386" y="396"/>
                    <a:pt x="386" y="396"/>
                  </a:cubicBezTo>
                  <a:cubicBezTo>
                    <a:pt x="386" y="396"/>
                    <a:pt x="388" y="395"/>
                    <a:pt x="389" y="393"/>
                  </a:cubicBezTo>
                  <a:cubicBezTo>
                    <a:pt x="390" y="392"/>
                    <a:pt x="391" y="389"/>
                    <a:pt x="390" y="388"/>
                  </a:cubicBezTo>
                  <a:cubicBezTo>
                    <a:pt x="389" y="386"/>
                    <a:pt x="389" y="384"/>
                    <a:pt x="390" y="383"/>
                  </a:cubicBezTo>
                  <a:cubicBezTo>
                    <a:pt x="391" y="382"/>
                    <a:pt x="393" y="381"/>
                    <a:pt x="395" y="382"/>
                  </a:cubicBezTo>
                  <a:cubicBezTo>
                    <a:pt x="397" y="382"/>
                    <a:pt x="398" y="382"/>
                    <a:pt x="398" y="381"/>
                  </a:cubicBezTo>
                  <a:cubicBezTo>
                    <a:pt x="398" y="380"/>
                    <a:pt x="397" y="378"/>
                    <a:pt x="395" y="376"/>
                  </a:cubicBezTo>
                  <a:cubicBezTo>
                    <a:pt x="393" y="375"/>
                    <a:pt x="392" y="374"/>
                    <a:pt x="392" y="374"/>
                  </a:cubicBezTo>
                  <a:cubicBezTo>
                    <a:pt x="392" y="374"/>
                    <a:pt x="390" y="374"/>
                    <a:pt x="388" y="373"/>
                  </a:cubicBezTo>
                  <a:cubicBezTo>
                    <a:pt x="387" y="373"/>
                    <a:pt x="385" y="371"/>
                    <a:pt x="384" y="369"/>
                  </a:cubicBezTo>
                  <a:cubicBezTo>
                    <a:pt x="384" y="367"/>
                    <a:pt x="381" y="364"/>
                    <a:pt x="378" y="362"/>
                  </a:cubicBezTo>
                  <a:cubicBezTo>
                    <a:pt x="375" y="361"/>
                    <a:pt x="370" y="359"/>
                    <a:pt x="367" y="358"/>
                  </a:cubicBezTo>
                  <a:cubicBezTo>
                    <a:pt x="365" y="357"/>
                    <a:pt x="361" y="355"/>
                    <a:pt x="360" y="353"/>
                  </a:cubicBezTo>
                  <a:cubicBezTo>
                    <a:pt x="358" y="351"/>
                    <a:pt x="355" y="348"/>
                    <a:pt x="353" y="347"/>
                  </a:cubicBezTo>
                  <a:cubicBezTo>
                    <a:pt x="351" y="346"/>
                    <a:pt x="349" y="344"/>
                    <a:pt x="350" y="342"/>
                  </a:cubicBezTo>
                  <a:cubicBezTo>
                    <a:pt x="350" y="340"/>
                    <a:pt x="350" y="337"/>
                    <a:pt x="350" y="336"/>
                  </a:cubicBezTo>
                  <a:cubicBezTo>
                    <a:pt x="349" y="334"/>
                    <a:pt x="349" y="332"/>
                    <a:pt x="348" y="330"/>
                  </a:cubicBezTo>
                  <a:cubicBezTo>
                    <a:pt x="348" y="328"/>
                    <a:pt x="345" y="324"/>
                    <a:pt x="342" y="322"/>
                  </a:cubicBezTo>
                  <a:cubicBezTo>
                    <a:pt x="339" y="320"/>
                    <a:pt x="337" y="319"/>
                    <a:pt x="337" y="319"/>
                  </a:cubicBezTo>
                  <a:cubicBezTo>
                    <a:pt x="333" y="320"/>
                    <a:pt x="328" y="322"/>
                    <a:pt x="325" y="323"/>
                  </a:cubicBezTo>
                  <a:cubicBezTo>
                    <a:pt x="322" y="324"/>
                    <a:pt x="317" y="324"/>
                    <a:pt x="314" y="323"/>
                  </a:cubicBezTo>
                  <a:cubicBezTo>
                    <a:pt x="311" y="322"/>
                    <a:pt x="308" y="320"/>
                    <a:pt x="307" y="317"/>
                  </a:cubicBezTo>
                  <a:cubicBezTo>
                    <a:pt x="306" y="315"/>
                    <a:pt x="304" y="313"/>
                    <a:pt x="303" y="312"/>
                  </a:cubicBezTo>
                  <a:cubicBezTo>
                    <a:pt x="301" y="311"/>
                    <a:pt x="299" y="309"/>
                    <a:pt x="298" y="308"/>
                  </a:cubicBezTo>
                  <a:cubicBezTo>
                    <a:pt x="297" y="306"/>
                    <a:pt x="295" y="303"/>
                    <a:pt x="294" y="301"/>
                  </a:cubicBezTo>
                  <a:cubicBezTo>
                    <a:pt x="293" y="299"/>
                    <a:pt x="290" y="297"/>
                    <a:pt x="288" y="296"/>
                  </a:cubicBezTo>
                  <a:cubicBezTo>
                    <a:pt x="286" y="295"/>
                    <a:pt x="283" y="294"/>
                    <a:pt x="280" y="294"/>
                  </a:cubicBezTo>
                  <a:cubicBezTo>
                    <a:pt x="278" y="294"/>
                    <a:pt x="275" y="293"/>
                    <a:pt x="272" y="291"/>
                  </a:cubicBezTo>
                  <a:cubicBezTo>
                    <a:pt x="270" y="290"/>
                    <a:pt x="266" y="287"/>
                    <a:pt x="264" y="285"/>
                  </a:cubicBezTo>
                  <a:cubicBezTo>
                    <a:pt x="262" y="283"/>
                    <a:pt x="257" y="282"/>
                    <a:pt x="254" y="282"/>
                  </a:cubicBezTo>
                  <a:cubicBezTo>
                    <a:pt x="250" y="282"/>
                    <a:pt x="244" y="283"/>
                    <a:pt x="240" y="283"/>
                  </a:cubicBezTo>
                  <a:cubicBezTo>
                    <a:pt x="236" y="284"/>
                    <a:pt x="230" y="283"/>
                    <a:pt x="227" y="282"/>
                  </a:cubicBezTo>
                  <a:cubicBezTo>
                    <a:pt x="224" y="281"/>
                    <a:pt x="220" y="281"/>
                    <a:pt x="218" y="282"/>
                  </a:cubicBezTo>
                  <a:cubicBezTo>
                    <a:pt x="217" y="282"/>
                    <a:pt x="214" y="284"/>
                    <a:pt x="212" y="285"/>
                  </a:cubicBezTo>
                  <a:cubicBezTo>
                    <a:pt x="210" y="286"/>
                    <a:pt x="209" y="289"/>
                    <a:pt x="210" y="292"/>
                  </a:cubicBezTo>
                  <a:cubicBezTo>
                    <a:pt x="210" y="294"/>
                    <a:pt x="209" y="297"/>
                    <a:pt x="207" y="297"/>
                  </a:cubicBezTo>
                  <a:cubicBezTo>
                    <a:pt x="206" y="298"/>
                    <a:pt x="203" y="299"/>
                    <a:pt x="202" y="301"/>
                  </a:cubicBezTo>
                  <a:cubicBezTo>
                    <a:pt x="201" y="303"/>
                    <a:pt x="199" y="303"/>
                    <a:pt x="198" y="303"/>
                  </a:cubicBezTo>
                  <a:cubicBezTo>
                    <a:pt x="198" y="302"/>
                    <a:pt x="199" y="300"/>
                    <a:pt x="201" y="298"/>
                  </a:cubicBezTo>
                  <a:cubicBezTo>
                    <a:pt x="204" y="296"/>
                    <a:pt x="206" y="293"/>
                    <a:pt x="206" y="292"/>
                  </a:cubicBezTo>
                  <a:cubicBezTo>
                    <a:pt x="206" y="290"/>
                    <a:pt x="206" y="288"/>
                    <a:pt x="207" y="287"/>
                  </a:cubicBezTo>
                  <a:cubicBezTo>
                    <a:pt x="208" y="285"/>
                    <a:pt x="208" y="283"/>
                    <a:pt x="209" y="282"/>
                  </a:cubicBezTo>
                  <a:cubicBezTo>
                    <a:pt x="209" y="281"/>
                    <a:pt x="208" y="280"/>
                    <a:pt x="207" y="279"/>
                  </a:cubicBezTo>
                  <a:cubicBezTo>
                    <a:pt x="205" y="278"/>
                    <a:pt x="203" y="276"/>
                    <a:pt x="201" y="276"/>
                  </a:cubicBezTo>
                  <a:cubicBezTo>
                    <a:pt x="199" y="276"/>
                    <a:pt x="199" y="274"/>
                    <a:pt x="200" y="271"/>
                  </a:cubicBezTo>
                  <a:cubicBezTo>
                    <a:pt x="201" y="269"/>
                    <a:pt x="201" y="266"/>
                    <a:pt x="201" y="264"/>
                  </a:cubicBezTo>
                  <a:cubicBezTo>
                    <a:pt x="200" y="263"/>
                    <a:pt x="199" y="260"/>
                    <a:pt x="198" y="259"/>
                  </a:cubicBezTo>
                  <a:cubicBezTo>
                    <a:pt x="197" y="258"/>
                    <a:pt x="194" y="255"/>
                    <a:pt x="193" y="254"/>
                  </a:cubicBezTo>
                  <a:cubicBezTo>
                    <a:pt x="192" y="253"/>
                    <a:pt x="190" y="250"/>
                    <a:pt x="189" y="249"/>
                  </a:cubicBezTo>
                  <a:cubicBezTo>
                    <a:pt x="189" y="247"/>
                    <a:pt x="187" y="245"/>
                    <a:pt x="184" y="243"/>
                  </a:cubicBezTo>
                  <a:cubicBezTo>
                    <a:pt x="182" y="241"/>
                    <a:pt x="179" y="239"/>
                    <a:pt x="178" y="238"/>
                  </a:cubicBezTo>
                  <a:cubicBezTo>
                    <a:pt x="177" y="236"/>
                    <a:pt x="175" y="234"/>
                    <a:pt x="175" y="231"/>
                  </a:cubicBezTo>
                  <a:cubicBezTo>
                    <a:pt x="175" y="229"/>
                    <a:pt x="174" y="226"/>
                    <a:pt x="173" y="224"/>
                  </a:cubicBezTo>
                  <a:cubicBezTo>
                    <a:pt x="172" y="222"/>
                    <a:pt x="171" y="217"/>
                    <a:pt x="169" y="213"/>
                  </a:cubicBezTo>
                  <a:cubicBezTo>
                    <a:pt x="168" y="209"/>
                    <a:pt x="166" y="204"/>
                    <a:pt x="166" y="202"/>
                  </a:cubicBezTo>
                  <a:cubicBezTo>
                    <a:pt x="165" y="200"/>
                    <a:pt x="163" y="196"/>
                    <a:pt x="161" y="193"/>
                  </a:cubicBezTo>
                  <a:cubicBezTo>
                    <a:pt x="159" y="191"/>
                    <a:pt x="155" y="187"/>
                    <a:pt x="153" y="185"/>
                  </a:cubicBezTo>
                  <a:cubicBezTo>
                    <a:pt x="151" y="182"/>
                    <a:pt x="148" y="179"/>
                    <a:pt x="146" y="176"/>
                  </a:cubicBezTo>
                  <a:cubicBezTo>
                    <a:pt x="145" y="174"/>
                    <a:pt x="142" y="170"/>
                    <a:pt x="140" y="168"/>
                  </a:cubicBezTo>
                  <a:cubicBezTo>
                    <a:pt x="138" y="165"/>
                    <a:pt x="135" y="161"/>
                    <a:pt x="132" y="158"/>
                  </a:cubicBezTo>
                  <a:cubicBezTo>
                    <a:pt x="129" y="155"/>
                    <a:pt x="125" y="152"/>
                    <a:pt x="123" y="151"/>
                  </a:cubicBezTo>
                  <a:cubicBezTo>
                    <a:pt x="121" y="151"/>
                    <a:pt x="117" y="147"/>
                    <a:pt x="114" y="142"/>
                  </a:cubicBezTo>
                  <a:cubicBezTo>
                    <a:pt x="110" y="138"/>
                    <a:pt x="107" y="133"/>
                    <a:pt x="107" y="131"/>
                  </a:cubicBezTo>
                  <a:cubicBezTo>
                    <a:pt x="106" y="128"/>
                    <a:pt x="104" y="124"/>
                    <a:pt x="103" y="122"/>
                  </a:cubicBezTo>
                  <a:cubicBezTo>
                    <a:pt x="102" y="119"/>
                    <a:pt x="98" y="113"/>
                    <a:pt x="96" y="108"/>
                  </a:cubicBezTo>
                  <a:cubicBezTo>
                    <a:pt x="93" y="103"/>
                    <a:pt x="91" y="98"/>
                    <a:pt x="90" y="95"/>
                  </a:cubicBezTo>
                  <a:cubicBezTo>
                    <a:pt x="89" y="93"/>
                    <a:pt x="87" y="89"/>
                    <a:pt x="85" y="86"/>
                  </a:cubicBezTo>
                  <a:cubicBezTo>
                    <a:pt x="83" y="83"/>
                    <a:pt x="82" y="79"/>
                    <a:pt x="82" y="77"/>
                  </a:cubicBezTo>
                  <a:cubicBezTo>
                    <a:pt x="82" y="76"/>
                    <a:pt x="81" y="74"/>
                    <a:pt x="80" y="74"/>
                  </a:cubicBezTo>
                  <a:cubicBezTo>
                    <a:pt x="80" y="74"/>
                    <a:pt x="78" y="72"/>
                    <a:pt x="76" y="70"/>
                  </a:cubicBezTo>
                  <a:cubicBezTo>
                    <a:pt x="74" y="68"/>
                    <a:pt x="71" y="65"/>
                    <a:pt x="70" y="62"/>
                  </a:cubicBezTo>
                  <a:cubicBezTo>
                    <a:pt x="68" y="59"/>
                    <a:pt x="67" y="56"/>
                    <a:pt x="67" y="53"/>
                  </a:cubicBezTo>
                  <a:cubicBezTo>
                    <a:pt x="67" y="51"/>
                    <a:pt x="67" y="49"/>
                    <a:pt x="66" y="48"/>
                  </a:cubicBezTo>
                  <a:cubicBezTo>
                    <a:pt x="65" y="47"/>
                    <a:pt x="65" y="45"/>
                    <a:pt x="65" y="42"/>
                  </a:cubicBezTo>
                  <a:cubicBezTo>
                    <a:pt x="64" y="40"/>
                    <a:pt x="63" y="35"/>
                    <a:pt x="62" y="31"/>
                  </a:cubicBezTo>
                  <a:cubicBezTo>
                    <a:pt x="61" y="28"/>
                    <a:pt x="60" y="22"/>
                    <a:pt x="60" y="20"/>
                  </a:cubicBezTo>
                  <a:cubicBezTo>
                    <a:pt x="59" y="17"/>
                    <a:pt x="59" y="15"/>
                    <a:pt x="59" y="15"/>
                  </a:cubicBezTo>
                  <a:cubicBezTo>
                    <a:pt x="59" y="15"/>
                    <a:pt x="56" y="13"/>
                    <a:pt x="52" y="11"/>
                  </a:cubicBezTo>
                  <a:cubicBezTo>
                    <a:pt x="49" y="9"/>
                    <a:pt x="43" y="7"/>
                    <a:pt x="40" y="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5" name="Freeform 40">
              <a:extLst>
                <a:ext uri="{FF2B5EF4-FFF2-40B4-BE49-F238E27FC236}">
                  <a16:creationId xmlns:a16="http://schemas.microsoft.com/office/drawing/2014/main" id="{7E807BDD-7D78-3A32-B798-148347EF27FD}"/>
                </a:ext>
              </a:extLst>
            </p:cNvPr>
            <p:cNvSpPr>
              <a:spLocks/>
            </p:cNvSpPr>
            <p:nvPr/>
          </p:nvSpPr>
          <p:spPr bwMode="auto">
            <a:xfrm>
              <a:off x="4671984" y="4725970"/>
              <a:ext cx="646113" cy="563563"/>
            </a:xfrm>
            <a:custGeom>
              <a:avLst/>
              <a:gdLst/>
              <a:ahLst/>
              <a:cxnLst>
                <a:cxn ang="0">
                  <a:pos x="92" y="113"/>
                </a:cxn>
                <a:cxn ang="0">
                  <a:pos x="97" y="102"/>
                </a:cxn>
                <a:cxn ang="0">
                  <a:pos x="104" y="94"/>
                </a:cxn>
                <a:cxn ang="0">
                  <a:pos x="103" y="81"/>
                </a:cxn>
                <a:cxn ang="0">
                  <a:pos x="106" y="63"/>
                </a:cxn>
                <a:cxn ang="0">
                  <a:pos x="117" y="67"/>
                </a:cxn>
                <a:cxn ang="0">
                  <a:pos x="122" y="84"/>
                </a:cxn>
                <a:cxn ang="0">
                  <a:pos x="125" y="93"/>
                </a:cxn>
                <a:cxn ang="0">
                  <a:pos x="129" y="97"/>
                </a:cxn>
                <a:cxn ang="0">
                  <a:pos x="136" y="106"/>
                </a:cxn>
                <a:cxn ang="0">
                  <a:pos x="144" y="104"/>
                </a:cxn>
                <a:cxn ang="0">
                  <a:pos x="147" y="98"/>
                </a:cxn>
                <a:cxn ang="0">
                  <a:pos x="145" y="75"/>
                </a:cxn>
                <a:cxn ang="0">
                  <a:pos x="146" y="67"/>
                </a:cxn>
                <a:cxn ang="0">
                  <a:pos x="146" y="58"/>
                </a:cxn>
                <a:cxn ang="0">
                  <a:pos x="166" y="55"/>
                </a:cxn>
                <a:cxn ang="0">
                  <a:pos x="165" y="52"/>
                </a:cxn>
                <a:cxn ang="0">
                  <a:pos x="139" y="37"/>
                </a:cxn>
                <a:cxn ang="0">
                  <a:pos x="121" y="23"/>
                </a:cxn>
                <a:cxn ang="0">
                  <a:pos x="104" y="29"/>
                </a:cxn>
                <a:cxn ang="0">
                  <a:pos x="96" y="40"/>
                </a:cxn>
                <a:cxn ang="0">
                  <a:pos x="83" y="26"/>
                </a:cxn>
                <a:cxn ang="0">
                  <a:pos x="73" y="13"/>
                </a:cxn>
                <a:cxn ang="0">
                  <a:pos x="56" y="3"/>
                </a:cxn>
                <a:cxn ang="0">
                  <a:pos x="51" y="2"/>
                </a:cxn>
                <a:cxn ang="0">
                  <a:pos x="48" y="17"/>
                </a:cxn>
                <a:cxn ang="0">
                  <a:pos x="36" y="33"/>
                </a:cxn>
                <a:cxn ang="0">
                  <a:pos x="32" y="52"/>
                </a:cxn>
                <a:cxn ang="0">
                  <a:pos x="28" y="74"/>
                </a:cxn>
                <a:cxn ang="0">
                  <a:pos x="20" y="89"/>
                </a:cxn>
                <a:cxn ang="0">
                  <a:pos x="6" y="108"/>
                </a:cxn>
                <a:cxn ang="0">
                  <a:pos x="4" y="115"/>
                </a:cxn>
                <a:cxn ang="0">
                  <a:pos x="14" y="122"/>
                </a:cxn>
                <a:cxn ang="0">
                  <a:pos x="17" y="135"/>
                </a:cxn>
                <a:cxn ang="0">
                  <a:pos x="23" y="148"/>
                </a:cxn>
                <a:cxn ang="0">
                  <a:pos x="38" y="141"/>
                </a:cxn>
                <a:cxn ang="0">
                  <a:pos x="51" y="133"/>
                </a:cxn>
                <a:cxn ang="0">
                  <a:pos x="65" y="130"/>
                </a:cxn>
                <a:cxn ang="0">
                  <a:pos x="78" y="128"/>
                </a:cxn>
                <a:cxn ang="0">
                  <a:pos x="84" y="127"/>
                </a:cxn>
              </a:cxnLst>
              <a:rect l="0" t="0" r="r" b="b"/>
              <a:pathLst>
                <a:path w="172" h="150">
                  <a:moveTo>
                    <a:pt x="87" y="118"/>
                  </a:moveTo>
                  <a:cubicBezTo>
                    <a:pt x="88" y="117"/>
                    <a:pt x="91" y="114"/>
                    <a:pt x="92" y="113"/>
                  </a:cubicBezTo>
                  <a:cubicBezTo>
                    <a:pt x="94" y="112"/>
                    <a:pt x="96" y="109"/>
                    <a:pt x="96" y="108"/>
                  </a:cubicBezTo>
                  <a:cubicBezTo>
                    <a:pt x="97" y="107"/>
                    <a:pt x="97" y="104"/>
                    <a:pt x="97" y="102"/>
                  </a:cubicBezTo>
                  <a:cubicBezTo>
                    <a:pt x="97" y="100"/>
                    <a:pt x="99" y="98"/>
                    <a:pt x="101" y="96"/>
                  </a:cubicBezTo>
                  <a:cubicBezTo>
                    <a:pt x="103" y="95"/>
                    <a:pt x="104" y="94"/>
                    <a:pt x="104" y="94"/>
                  </a:cubicBezTo>
                  <a:cubicBezTo>
                    <a:pt x="104" y="94"/>
                    <a:pt x="104" y="92"/>
                    <a:pt x="105" y="89"/>
                  </a:cubicBezTo>
                  <a:cubicBezTo>
                    <a:pt x="105" y="87"/>
                    <a:pt x="104" y="83"/>
                    <a:pt x="103" y="81"/>
                  </a:cubicBezTo>
                  <a:cubicBezTo>
                    <a:pt x="102" y="79"/>
                    <a:pt x="102" y="75"/>
                    <a:pt x="102" y="73"/>
                  </a:cubicBezTo>
                  <a:cubicBezTo>
                    <a:pt x="102" y="70"/>
                    <a:pt x="104" y="66"/>
                    <a:pt x="106" y="63"/>
                  </a:cubicBezTo>
                  <a:cubicBezTo>
                    <a:pt x="108" y="60"/>
                    <a:pt x="111" y="59"/>
                    <a:pt x="112" y="60"/>
                  </a:cubicBezTo>
                  <a:cubicBezTo>
                    <a:pt x="114" y="61"/>
                    <a:pt x="116" y="65"/>
                    <a:pt x="117" y="67"/>
                  </a:cubicBezTo>
                  <a:cubicBezTo>
                    <a:pt x="117" y="69"/>
                    <a:pt x="119" y="73"/>
                    <a:pt x="120" y="76"/>
                  </a:cubicBezTo>
                  <a:cubicBezTo>
                    <a:pt x="122" y="79"/>
                    <a:pt x="123" y="82"/>
                    <a:pt x="122" y="84"/>
                  </a:cubicBezTo>
                  <a:cubicBezTo>
                    <a:pt x="122" y="86"/>
                    <a:pt x="122" y="88"/>
                    <a:pt x="123" y="89"/>
                  </a:cubicBezTo>
                  <a:cubicBezTo>
                    <a:pt x="124" y="89"/>
                    <a:pt x="124" y="91"/>
                    <a:pt x="125" y="93"/>
                  </a:cubicBezTo>
                  <a:cubicBezTo>
                    <a:pt x="125" y="95"/>
                    <a:pt x="125" y="96"/>
                    <a:pt x="125" y="96"/>
                  </a:cubicBezTo>
                  <a:cubicBezTo>
                    <a:pt x="125" y="96"/>
                    <a:pt x="127" y="97"/>
                    <a:pt x="129" y="97"/>
                  </a:cubicBezTo>
                  <a:cubicBezTo>
                    <a:pt x="131" y="98"/>
                    <a:pt x="133" y="100"/>
                    <a:pt x="133" y="101"/>
                  </a:cubicBezTo>
                  <a:cubicBezTo>
                    <a:pt x="134" y="103"/>
                    <a:pt x="135" y="105"/>
                    <a:pt x="136" y="106"/>
                  </a:cubicBezTo>
                  <a:cubicBezTo>
                    <a:pt x="137" y="107"/>
                    <a:pt x="139" y="106"/>
                    <a:pt x="140" y="105"/>
                  </a:cubicBezTo>
                  <a:cubicBezTo>
                    <a:pt x="141" y="104"/>
                    <a:pt x="143" y="103"/>
                    <a:pt x="144" y="104"/>
                  </a:cubicBezTo>
                  <a:cubicBezTo>
                    <a:pt x="145" y="104"/>
                    <a:pt x="146" y="104"/>
                    <a:pt x="146" y="104"/>
                  </a:cubicBezTo>
                  <a:cubicBezTo>
                    <a:pt x="146" y="104"/>
                    <a:pt x="146" y="101"/>
                    <a:pt x="147" y="98"/>
                  </a:cubicBezTo>
                  <a:cubicBezTo>
                    <a:pt x="147" y="95"/>
                    <a:pt x="147" y="89"/>
                    <a:pt x="146" y="86"/>
                  </a:cubicBezTo>
                  <a:cubicBezTo>
                    <a:pt x="146" y="82"/>
                    <a:pt x="146" y="78"/>
                    <a:pt x="145" y="75"/>
                  </a:cubicBezTo>
                  <a:cubicBezTo>
                    <a:pt x="145" y="73"/>
                    <a:pt x="145" y="71"/>
                    <a:pt x="145" y="71"/>
                  </a:cubicBezTo>
                  <a:cubicBezTo>
                    <a:pt x="145" y="71"/>
                    <a:pt x="145" y="70"/>
                    <a:pt x="146" y="67"/>
                  </a:cubicBezTo>
                  <a:cubicBezTo>
                    <a:pt x="146" y="65"/>
                    <a:pt x="145" y="63"/>
                    <a:pt x="144" y="62"/>
                  </a:cubicBezTo>
                  <a:cubicBezTo>
                    <a:pt x="143" y="61"/>
                    <a:pt x="143" y="59"/>
                    <a:pt x="146" y="58"/>
                  </a:cubicBezTo>
                  <a:cubicBezTo>
                    <a:pt x="148" y="56"/>
                    <a:pt x="152" y="55"/>
                    <a:pt x="155" y="54"/>
                  </a:cubicBezTo>
                  <a:cubicBezTo>
                    <a:pt x="157" y="54"/>
                    <a:pt x="162" y="54"/>
                    <a:pt x="166" y="55"/>
                  </a:cubicBezTo>
                  <a:cubicBezTo>
                    <a:pt x="169" y="55"/>
                    <a:pt x="172" y="55"/>
                    <a:pt x="172" y="55"/>
                  </a:cubicBezTo>
                  <a:cubicBezTo>
                    <a:pt x="172" y="55"/>
                    <a:pt x="169" y="54"/>
                    <a:pt x="165" y="52"/>
                  </a:cubicBezTo>
                  <a:cubicBezTo>
                    <a:pt x="161" y="50"/>
                    <a:pt x="155" y="46"/>
                    <a:pt x="152" y="43"/>
                  </a:cubicBezTo>
                  <a:cubicBezTo>
                    <a:pt x="149" y="41"/>
                    <a:pt x="144" y="38"/>
                    <a:pt x="139" y="37"/>
                  </a:cubicBezTo>
                  <a:cubicBezTo>
                    <a:pt x="135" y="36"/>
                    <a:pt x="130" y="32"/>
                    <a:pt x="128" y="29"/>
                  </a:cubicBezTo>
                  <a:cubicBezTo>
                    <a:pt x="127" y="26"/>
                    <a:pt x="123" y="24"/>
                    <a:pt x="121" y="23"/>
                  </a:cubicBezTo>
                  <a:cubicBezTo>
                    <a:pt x="119" y="23"/>
                    <a:pt x="115" y="24"/>
                    <a:pt x="112" y="25"/>
                  </a:cubicBezTo>
                  <a:cubicBezTo>
                    <a:pt x="109" y="26"/>
                    <a:pt x="106" y="28"/>
                    <a:pt x="104" y="29"/>
                  </a:cubicBezTo>
                  <a:cubicBezTo>
                    <a:pt x="103" y="31"/>
                    <a:pt x="101" y="34"/>
                    <a:pt x="100" y="36"/>
                  </a:cubicBezTo>
                  <a:cubicBezTo>
                    <a:pt x="100" y="38"/>
                    <a:pt x="98" y="40"/>
                    <a:pt x="96" y="40"/>
                  </a:cubicBezTo>
                  <a:cubicBezTo>
                    <a:pt x="94" y="41"/>
                    <a:pt x="90" y="39"/>
                    <a:pt x="87" y="36"/>
                  </a:cubicBezTo>
                  <a:cubicBezTo>
                    <a:pt x="84" y="33"/>
                    <a:pt x="82" y="29"/>
                    <a:pt x="83" y="26"/>
                  </a:cubicBezTo>
                  <a:cubicBezTo>
                    <a:pt x="83" y="24"/>
                    <a:pt x="82" y="20"/>
                    <a:pt x="81" y="17"/>
                  </a:cubicBezTo>
                  <a:cubicBezTo>
                    <a:pt x="79" y="14"/>
                    <a:pt x="76" y="12"/>
                    <a:pt x="73" y="13"/>
                  </a:cubicBezTo>
                  <a:cubicBezTo>
                    <a:pt x="70" y="14"/>
                    <a:pt x="66" y="13"/>
                    <a:pt x="64" y="10"/>
                  </a:cubicBezTo>
                  <a:cubicBezTo>
                    <a:pt x="62" y="8"/>
                    <a:pt x="58" y="4"/>
                    <a:pt x="56" y="3"/>
                  </a:cubicBezTo>
                  <a:cubicBezTo>
                    <a:pt x="54" y="1"/>
                    <a:pt x="53" y="0"/>
                    <a:pt x="53" y="0"/>
                  </a:cubicBezTo>
                  <a:cubicBezTo>
                    <a:pt x="53" y="0"/>
                    <a:pt x="52" y="1"/>
                    <a:pt x="51" y="2"/>
                  </a:cubicBezTo>
                  <a:cubicBezTo>
                    <a:pt x="51" y="3"/>
                    <a:pt x="51" y="6"/>
                    <a:pt x="51" y="8"/>
                  </a:cubicBezTo>
                  <a:cubicBezTo>
                    <a:pt x="52" y="11"/>
                    <a:pt x="51" y="14"/>
                    <a:pt x="48" y="17"/>
                  </a:cubicBezTo>
                  <a:cubicBezTo>
                    <a:pt x="46" y="19"/>
                    <a:pt x="43" y="23"/>
                    <a:pt x="40" y="27"/>
                  </a:cubicBezTo>
                  <a:cubicBezTo>
                    <a:pt x="38" y="30"/>
                    <a:pt x="36" y="33"/>
                    <a:pt x="36" y="33"/>
                  </a:cubicBezTo>
                  <a:cubicBezTo>
                    <a:pt x="36" y="33"/>
                    <a:pt x="36" y="35"/>
                    <a:pt x="35" y="38"/>
                  </a:cubicBezTo>
                  <a:cubicBezTo>
                    <a:pt x="34" y="41"/>
                    <a:pt x="33" y="47"/>
                    <a:pt x="32" y="52"/>
                  </a:cubicBezTo>
                  <a:cubicBezTo>
                    <a:pt x="31" y="56"/>
                    <a:pt x="31" y="62"/>
                    <a:pt x="33" y="65"/>
                  </a:cubicBezTo>
                  <a:cubicBezTo>
                    <a:pt x="34" y="68"/>
                    <a:pt x="32" y="72"/>
                    <a:pt x="28" y="74"/>
                  </a:cubicBezTo>
                  <a:cubicBezTo>
                    <a:pt x="25" y="76"/>
                    <a:pt x="22" y="79"/>
                    <a:pt x="22" y="81"/>
                  </a:cubicBezTo>
                  <a:cubicBezTo>
                    <a:pt x="22" y="84"/>
                    <a:pt x="21" y="87"/>
                    <a:pt x="20" y="89"/>
                  </a:cubicBezTo>
                  <a:cubicBezTo>
                    <a:pt x="19" y="90"/>
                    <a:pt x="17" y="94"/>
                    <a:pt x="15" y="97"/>
                  </a:cubicBezTo>
                  <a:cubicBezTo>
                    <a:pt x="13" y="99"/>
                    <a:pt x="9" y="104"/>
                    <a:pt x="6" y="108"/>
                  </a:cubicBezTo>
                  <a:cubicBezTo>
                    <a:pt x="3" y="112"/>
                    <a:pt x="0" y="115"/>
                    <a:pt x="0" y="115"/>
                  </a:cubicBezTo>
                  <a:cubicBezTo>
                    <a:pt x="0" y="115"/>
                    <a:pt x="2" y="115"/>
                    <a:pt x="4" y="115"/>
                  </a:cubicBezTo>
                  <a:cubicBezTo>
                    <a:pt x="7" y="116"/>
                    <a:pt x="10" y="117"/>
                    <a:pt x="11" y="118"/>
                  </a:cubicBezTo>
                  <a:cubicBezTo>
                    <a:pt x="13" y="119"/>
                    <a:pt x="14" y="121"/>
                    <a:pt x="14" y="122"/>
                  </a:cubicBezTo>
                  <a:cubicBezTo>
                    <a:pt x="13" y="124"/>
                    <a:pt x="13" y="126"/>
                    <a:pt x="13" y="128"/>
                  </a:cubicBezTo>
                  <a:cubicBezTo>
                    <a:pt x="13" y="130"/>
                    <a:pt x="15" y="133"/>
                    <a:pt x="17" y="135"/>
                  </a:cubicBezTo>
                  <a:cubicBezTo>
                    <a:pt x="19" y="136"/>
                    <a:pt x="20" y="139"/>
                    <a:pt x="20" y="141"/>
                  </a:cubicBezTo>
                  <a:cubicBezTo>
                    <a:pt x="20" y="142"/>
                    <a:pt x="21" y="146"/>
                    <a:pt x="23" y="148"/>
                  </a:cubicBezTo>
                  <a:cubicBezTo>
                    <a:pt x="24" y="150"/>
                    <a:pt x="28" y="150"/>
                    <a:pt x="31" y="148"/>
                  </a:cubicBezTo>
                  <a:cubicBezTo>
                    <a:pt x="33" y="146"/>
                    <a:pt x="37" y="143"/>
                    <a:pt x="38" y="141"/>
                  </a:cubicBezTo>
                  <a:cubicBezTo>
                    <a:pt x="39" y="139"/>
                    <a:pt x="41" y="137"/>
                    <a:pt x="43" y="136"/>
                  </a:cubicBezTo>
                  <a:cubicBezTo>
                    <a:pt x="44" y="136"/>
                    <a:pt x="48" y="134"/>
                    <a:pt x="51" y="133"/>
                  </a:cubicBezTo>
                  <a:cubicBezTo>
                    <a:pt x="54" y="132"/>
                    <a:pt x="58" y="131"/>
                    <a:pt x="60" y="132"/>
                  </a:cubicBezTo>
                  <a:cubicBezTo>
                    <a:pt x="62" y="133"/>
                    <a:pt x="64" y="132"/>
                    <a:pt x="65" y="130"/>
                  </a:cubicBezTo>
                  <a:cubicBezTo>
                    <a:pt x="66" y="128"/>
                    <a:pt x="69" y="126"/>
                    <a:pt x="71" y="125"/>
                  </a:cubicBezTo>
                  <a:cubicBezTo>
                    <a:pt x="73" y="124"/>
                    <a:pt x="76" y="125"/>
                    <a:pt x="78" y="128"/>
                  </a:cubicBezTo>
                  <a:cubicBezTo>
                    <a:pt x="81" y="130"/>
                    <a:pt x="82" y="133"/>
                    <a:pt x="82" y="133"/>
                  </a:cubicBezTo>
                  <a:cubicBezTo>
                    <a:pt x="82" y="133"/>
                    <a:pt x="83" y="130"/>
                    <a:pt x="84" y="127"/>
                  </a:cubicBezTo>
                  <a:cubicBezTo>
                    <a:pt x="85" y="123"/>
                    <a:pt x="86" y="119"/>
                    <a:pt x="87" y="11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6" name="Freeform 41">
              <a:extLst>
                <a:ext uri="{FF2B5EF4-FFF2-40B4-BE49-F238E27FC236}">
                  <a16:creationId xmlns:a16="http://schemas.microsoft.com/office/drawing/2014/main" id="{B128D591-DB0A-5F7D-F4A6-9CD92FAA20BD}"/>
                </a:ext>
              </a:extLst>
            </p:cNvPr>
            <p:cNvSpPr>
              <a:spLocks/>
            </p:cNvSpPr>
            <p:nvPr/>
          </p:nvSpPr>
          <p:spPr bwMode="auto">
            <a:xfrm>
              <a:off x="5208559" y="4895833"/>
              <a:ext cx="288925" cy="165100"/>
            </a:xfrm>
            <a:custGeom>
              <a:avLst/>
              <a:gdLst/>
              <a:ahLst/>
              <a:cxnLst>
                <a:cxn ang="0">
                  <a:pos x="23" y="10"/>
                </a:cxn>
                <a:cxn ang="0">
                  <a:pos x="12" y="9"/>
                </a:cxn>
                <a:cxn ang="0">
                  <a:pos x="3" y="13"/>
                </a:cxn>
                <a:cxn ang="0">
                  <a:pos x="1" y="17"/>
                </a:cxn>
                <a:cxn ang="0">
                  <a:pos x="3" y="22"/>
                </a:cxn>
                <a:cxn ang="0">
                  <a:pos x="2" y="26"/>
                </a:cxn>
                <a:cxn ang="0">
                  <a:pos x="8" y="28"/>
                </a:cxn>
                <a:cxn ang="0">
                  <a:pos x="19" y="34"/>
                </a:cxn>
                <a:cxn ang="0">
                  <a:pos x="31" y="42"/>
                </a:cxn>
                <a:cxn ang="0">
                  <a:pos x="41" y="44"/>
                </a:cxn>
                <a:cxn ang="0">
                  <a:pos x="49" y="43"/>
                </a:cxn>
                <a:cxn ang="0">
                  <a:pos x="59" y="40"/>
                </a:cxn>
                <a:cxn ang="0">
                  <a:pos x="64" y="37"/>
                </a:cxn>
                <a:cxn ang="0">
                  <a:pos x="70" y="34"/>
                </a:cxn>
                <a:cxn ang="0">
                  <a:pos x="77" y="34"/>
                </a:cxn>
                <a:cxn ang="0">
                  <a:pos x="74" y="29"/>
                </a:cxn>
                <a:cxn ang="0">
                  <a:pos x="66" y="19"/>
                </a:cxn>
                <a:cxn ang="0">
                  <a:pos x="58" y="12"/>
                </a:cxn>
                <a:cxn ang="0">
                  <a:pos x="52" y="9"/>
                </a:cxn>
                <a:cxn ang="0">
                  <a:pos x="48" y="3"/>
                </a:cxn>
                <a:cxn ang="0">
                  <a:pos x="44" y="2"/>
                </a:cxn>
                <a:cxn ang="0">
                  <a:pos x="37" y="4"/>
                </a:cxn>
                <a:cxn ang="0">
                  <a:pos x="32" y="2"/>
                </a:cxn>
                <a:cxn ang="0">
                  <a:pos x="29" y="10"/>
                </a:cxn>
                <a:cxn ang="0">
                  <a:pos x="23" y="10"/>
                </a:cxn>
              </a:cxnLst>
              <a:rect l="0" t="0" r="r" b="b"/>
              <a:pathLst>
                <a:path w="77" h="44">
                  <a:moveTo>
                    <a:pt x="23" y="10"/>
                  </a:moveTo>
                  <a:cubicBezTo>
                    <a:pt x="19" y="9"/>
                    <a:pt x="14" y="9"/>
                    <a:pt x="12" y="9"/>
                  </a:cubicBezTo>
                  <a:cubicBezTo>
                    <a:pt x="9" y="10"/>
                    <a:pt x="5" y="11"/>
                    <a:pt x="3" y="13"/>
                  </a:cubicBezTo>
                  <a:cubicBezTo>
                    <a:pt x="0" y="14"/>
                    <a:pt x="0" y="16"/>
                    <a:pt x="1" y="17"/>
                  </a:cubicBezTo>
                  <a:cubicBezTo>
                    <a:pt x="2" y="18"/>
                    <a:pt x="3" y="20"/>
                    <a:pt x="3" y="22"/>
                  </a:cubicBezTo>
                  <a:cubicBezTo>
                    <a:pt x="2" y="25"/>
                    <a:pt x="2" y="26"/>
                    <a:pt x="2" y="26"/>
                  </a:cubicBezTo>
                  <a:cubicBezTo>
                    <a:pt x="2" y="26"/>
                    <a:pt x="5" y="27"/>
                    <a:pt x="8" y="28"/>
                  </a:cubicBezTo>
                  <a:cubicBezTo>
                    <a:pt x="11" y="29"/>
                    <a:pt x="16" y="32"/>
                    <a:pt x="19" y="34"/>
                  </a:cubicBezTo>
                  <a:cubicBezTo>
                    <a:pt x="22" y="37"/>
                    <a:pt x="27" y="40"/>
                    <a:pt x="31" y="42"/>
                  </a:cubicBezTo>
                  <a:cubicBezTo>
                    <a:pt x="34" y="43"/>
                    <a:pt x="38" y="44"/>
                    <a:pt x="41" y="44"/>
                  </a:cubicBezTo>
                  <a:cubicBezTo>
                    <a:pt x="43" y="44"/>
                    <a:pt x="47" y="44"/>
                    <a:pt x="49" y="43"/>
                  </a:cubicBezTo>
                  <a:cubicBezTo>
                    <a:pt x="52" y="42"/>
                    <a:pt x="56" y="41"/>
                    <a:pt x="59" y="40"/>
                  </a:cubicBezTo>
                  <a:cubicBezTo>
                    <a:pt x="62" y="40"/>
                    <a:pt x="64" y="38"/>
                    <a:pt x="64" y="37"/>
                  </a:cubicBezTo>
                  <a:cubicBezTo>
                    <a:pt x="63" y="35"/>
                    <a:pt x="66" y="34"/>
                    <a:pt x="70" y="34"/>
                  </a:cubicBezTo>
                  <a:cubicBezTo>
                    <a:pt x="74" y="34"/>
                    <a:pt x="77" y="34"/>
                    <a:pt x="77" y="34"/>
                  </a:cubicBezTo>
                  <a:cubicBezTo>
                    <a:pt x="77" y="34"/>
                    <a:pt x="76" y="32"/>
                    <a:pt x="74" y="29"/>
                  </a:cubicBezTo>
                  <a:cubicBezTo>
                    <a:pt x="72" y="27"/>
                    <a:pt x="69" y="22"/>
                    <a:pt x="66" y="19"/>
                  </a:cubicBezTo>
                  <a:cubicBezTo>
                    <a:pt x="63" y="16"/>
                    <a:pt x="60" y="13"/>
                    <a:pt x="58" y="12"/>
                  </a:cubicBezTo>
                  <a:cubicBezTo>
                    <a:pt x="56" y="11"/>
                    <a:pt x="53" y="9"/>
                    <a:pt x="52" y="9"/>
                  </a:cubicBezTo>
                  <a:cubicBezTo>
                    <a:pt x="51" y="8"/>
                    <a:pt x="49" y="6"/>
                    <a:pt x="48" y="3"/>
                  </a:cubicBezTo>
                  <a:cubicBezTo>
                    <a:pt x="48" y="1"/>
                    <a:pt x="46" y="0"/>
                    <a:pt x="44" y="2"/>
                  </a:cubicBezTo>
                  <a:cubicBezTo>
                    <a:pt x="43" y="4"/>
                    <a:pt x="39" y="4"/>
                    <a:pt x="37" y="4"/>
                  </a:cubicBezTo>
                  <a:cubicBezTo>
                    <a:pt x="34" y="3"/>
                    <a:pt x="32" y="2"/>
                    <a:pt x="32" y="2"/>
                  </a:cubicBezTo>
                  <a:cubicBezTo>
                    <a:pt x="29" y="10"/>
                    <a:pt x="29" y="10"/>
                    <a:pt x="29" y="10"/>
                  </a:cubicBezTo>
                  <a:cubicBezTo>
                    <a:pt x="29" y="10"/>
                    <a:pt x="26" y="10"/>
                    <a:pt x="23" y="1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7" name="Freeform 44">
              <a:extLst>
                <a:ext uri="{FF2B5EF4-FFF2-40B4-BE49-F238E27FC236}">
                  <a16:creationId xmlns:a16="http://schemas.microsoft.com/office/drawing/2014/main" id="{134A52AE-74C6-AD61-DE9E-FD628BAA89D1}"/>
                </a:ext>
              </a:extLst>
            </p:cNvPr>
            <p:cNvSpPr>
              <a:spLocks/>
            </p:cNvSpPr>
            <p:nvPr/>
          </p:nvSpPr>
          <p:spPr bwMode="auto">
            <a:xfrm>
              <a:off x="4870422" y="4406883"/>
              <a:ext cx="538163" cy="527050"/>
            </a:xfrm>
            <a:custGeom>
              <a:avLst/>
              <a:gdLst/>
              <a:ahLst/>
              <a:cxnLst>
                <a:cxn ang="0">
                  <a:pos x="90" y="17"/>
                </a:cxn>
                <a:cxn ang="0">
                  <a:pos x="76" y="17"/>
                </a:cxn>
                <a:cxn ang="0">
                  <a:pos x="64" y="9"/>
                </a:cxn>
                <a:cxn ang="0">
                  <a:pos x="61" y="18"/>
                </a:cxn>
                <a:cxn ang="0">
                  <a:pos x="51" y="21"/>
                </a:cxn>
                <a:cxn ang="0">
                  <a:pos x="40" y="23"/>
                </a:cxn>
                <a:cxn ang="0">
                  <a:pos x="35" y="35"/>
                </a:cxn>
                <a:cxn ang="0">
                  <a:pos x="27" y="50"/>
                </a:cxn>
                <a:cxn ang="0">
                  <a:pos x="20" y="62"/>
                </a:cxn>
                <a:cxn ang="0">
                  <a:pos x="10" y="68"/>
                </a:cxn>
                <a:cxn ang="0">
                  <a:pos x="2" y="81"/>
                </a:cxn>
                <a:cxn ang="0">
                  <a:pos x="3" y="88"/>
                </a:cxn>
                <a:cxn ang="0">
                  <a:pos x="20" y="98"/>
                </a:cxn>
                <a:cxn ang="0">
                  <a:pos x="30" y="111"/>
                </a:cxn>
                <a:cxn ang="0">
                  <a:pos x="43" y="125"/>
                </a:cxn>
                <a:cxn ang="0">
                  <a:pos x="51" y="114"/>
                </a:cxn>
                <a:cxn ang="0">
                  <a:pos x="68" y="108"/>
                </a:cxn>
                <a:cxn ang="0">
                  <a:pos x="86" y="122"/>
                </a:cxn>
                <a:cxn ang="0">
                  <a:pos x="112" y="137"/>
                </a:cxn>
                <a:cxn ang="0">
                  <a:pos x="122" y="132"/>
                </a:cxn>
                <a:cxn ang="0">
                  <a:pos x="126" y="113"/>
                </a:cxn>
                <a:cxn ang="0">
                  <a:pos x="130" y="96"/>
                </a:cxn>
                <a:cxn ang="0">
                  <a:pos x="121" y="91"/>
                </a:cxn>
                <a:cxn ang="0">
                  <a:pos x="130" y="80"/>
                </a:cxn>
                <a:cxn ang="0">
                  <a:pos x="141" y="66"/>
                </a:cxn>
                <a:cxn ang="0">
                  <a:pos x="140" y="60"/>
                </a:cxn>
                <a:cxn ang="0">
                  <a:pos x="126" y="61"/>
                </a:cxn>
                <a:cxn ang="0">
                  <a:pos x="113" y="74"/>
                </a:cxn>
                <a:cxn ang="0">
                  <a:pos x="105" y="81"/>
                </a:cxn>
                <a:cxn ang="0">
                  <a:pos x="100" y="75"/>
                </a:cxn>
                <a:cxn ang="0">
                  <a:pos x="104" y="58"/>
                </a:cxn>
                <a:cxn ang="0">
                  <a:pos x="106" y="48"/>
                </a:cxn>
                <a:cxn ang="0">
                  <a:pos x="113" y="42"/>
                </a:cxn>
                <a:cxn ang="0">
                  <a:pos x="121" y="40"/>
                </a:cxn>
                <a:cxn ang="0">
                  <a:pos x="123" y="23"/>
                </a:cxn>
                <a:cxn ang="0">
                  <a:pos x="113" y="16"/>
                </a:cxn>
                <a:cxn ang="0">
                  <a:pos x="103" y="8"/>
                </a:cxn>
                <a:cxn ang="0">
                  <a:pos x="99" y="0"/>
                </a:cxn>
                <a:cxn ang="0">
                  <a:pos x="94" y="12"/>
                </a:cxn>
              </a:cxnLst>
              <a:rect l="0" t="0" r="r" b="b"/>
              <a:pathLst>
                <a:path w="143" h="140">
                  <a:moveTo>
                    <a:pt x="94" y="12"/>
                  </a:moveTo>
                  <a:cubicBezTo>
                    <a:pt x="93" y="15"/>
                    <a:pt x="92" y="17"/>
                    <a:pt x="90" y="17"/>
                  </a:cubicBezTo>
                  <a:cubicBezTo>
                    <a:pt x="88" y="17"/>
                    <a:pt x="84" y="18"/>
                    <a:pt x="82" y="18"/>
                  </a:cubicBezTo>
                  <a:cubicBezTo>
                    <a:pt x="80" y="19"/>
                    <a:pt x="77" y="19"/>
                    <a:pt x="76" y="17"/>
                  </a:cubicBezTo>
                  <a:cubicBezTo>
                    <a:pt x="74" y="16"/>
                    <a:pt x="71" y="13"/>
                    <a:pt x="70" y="12"/>
                  </a:cubicBezTo>
                  <a:cubicBezTo>
                    <a:pt x="69" y="10"/>
                    <a:pt x="66" y="9"/>
                    <a:pt x="64" y="9"/>
                  </a:cubicBezTo>
                  <a:cubicBezTo>
                    <a:pt x="62" y="9"/>
                    <a:pt x="60" y="10"/>
                    <a:pt x="60" y="10"/>
                  </a:cubicBezTo>
                  <a:cubicBezTo>
                    <a:pt x="61" y="18"/>
                    <a:pt x="61" y="18"/>
                    <a:pt x="61" y="18"/>
                  </a:cubicBezTo>
                  <a:cubicBezTo>
                    <a:pt x="61" y="18"/>
                    <a:pt x="60" y="19"/>
                    <a:pt x="57" y="19"/>
                  </a:cubicBezTo>
                  <a:cubicBezTo>
                    <a:pt x="55" y="19"/>
                    <a:pt x="52" y="20"/>
                    <a:pt x="51" y="21"/>
                  </a:cubicBezTo>
                  <a:cubicBezTo>
                    <a:pt x="49" y="22"/>
                    <a:pt x="47" y="23"/>
                    <a:pt x="45" y="22"/>
                  </a:cubicBezTo>
                  <a:cubicBezTo>
                    <a:pt x="43" y="22"/>
                    <a:pt x="41" y="22"/>
                    <a:pt x="40" y="23"/>
                  </a:cubicBezTo>
                  <a:cubicBezTo>
                    <a:pt x="39" y="24"/>
                    <a:pt x="38" y="26"/>
                    <a:pt x="37" y="28"/>
                  </a:cubicBezTo>
                  <a:cubicBezTo>
                    <a:pt x="36" y="30"/>
                    <a:pt x="35" y="33"/>
                    <a:pt x="35" y="35"/>
                  </a:cubicBezTo>
                  <a:cubicBezTo>
                    <a:pt x="35" y="38"/>
                    <a:pt x="34" y="41"/>
                    <a:pt x="31" y="42"/>
                  </a:cubicBezTo>
                  <a:cubicBezTo>
                    <a:pt x="29" y="43"/>
                    <a:pt x="27" y="47"/>
                    <a:pt x="27" y="50"/>
                  </a:cubicBezTo>
                  <a:cubicBezTo>
                    <a:pt x="27" y="53"/>
                    <a:pt x="26" y="56"/>
                    <a:pt x="25" y="58"/>
                  </a:cubicBezTo>
                  <a:cubicBezTo>
                    <a:pt x="25" y="60"/>
                    <a:pt x="22" y="62"/>
                    <a:pt x="20" y="62"/>
                  </a:cubicBezTo>
                  <a:cubicBezTo>
                    <a:pt x="18" y="63"/>
                    <a:pt x="15" y="65"/>
                    <a:pt x="13" y="66"/>
                  </a:cubicBezTo>
                  <a:cubicBezTo>
                    <a:pt x="12" y="67"/>
                    <a:pt x="10" y="68"/>
                    <a:pt x="10" y="68"/>
                  </a:cubicBezTo>
                  <a:cubicBezTo>
                    <a:pt x="10" y="68"/>
                    <a:pt x="9" y="70"/>
                    <a:pt x="7" y="73"/>
                  </a:cubicBezTo>
                  <a:cubicBezTo>
                    <a:pt x="6" y="75"/>
                    <a:pt x="4" y="79"/>
                    <a:pt x="2" y="81"/>
                  </a:cubicBezTo>
                  <a:cubicBezTo>
                    <a:pt x="1" y="83"/>
                    <a:pt x="0" y="85"/>
                    <a:pt x="0" y="85"/>
                  </a:cubicBezTo>
                  <a:cubicBezTo>
                    <a:pt x="0" y="85"/>
                    <a:pt x="1" y="86"/>
                    <a:pt x="3" y="88"/>
                  </a:cubicBezTo>
                  <a:cubicBezTo>
                    <a:pt x="5" y="89"/>
                    <a:pt x="9" y="93"/>
                    <a:pt x="11" y="95"/>
                  </a:cubicBezTo>
                  <a:cubicBezTo>
                    <a:pt x="13" y="98"/>
                    <a:pt x="17" y="99"/>
                    <a:pt x="20" y="98"/>
                  </a:cubicBezTo>
                  <a:cubicBezTo>
                    <a:pt x="23" y="97"/>
                    <a:pt x="26" y="99"/>
                    <a:pt x="28" y="102"/>
                  </a:cubicBezTo>
                  <a:cubicBezTo>
                    <a:pt x="29" y="105"/>
                    <a:pt x="30" y="109"/>
                    <a:pt x="30" y="111"/>
                  </a:cubicBezTo>
                  <a:cubicBezTo>
                    <a:pt x="29" y="114"/>
                    <a:pt x="31" y="118"/>
                    <a:pt x="34" y="121"/>
                  </a:cubicBezTo>
                  <a:cubicBezTo>
                    <a:pt x="37" y="124"/>
                    <a:pt x="41" y="126"/>
                    <a:pt x="43" y="125"/>
                  </a:cubicBezTo>
                  <a:cubicBezTo>
                    <a:pt x="45" y="125"/>
                    <a:pt x="47" y="123"/>
                    <a:pt x="47" y="121"/>
                  </a:cubicBezTo>
                  <a:cubicBezTo>
                    <a:pt x="48" y="119"/>
                    <a:pt x="50" y="116"/>
                    <a:pt x="51" y="114"/>
                  </a:cubicBezTo>
                  <a:cubicBezTo>
                    <a:pt x="53" y="113"/>
                    <a:pt x="56" y="111"/>
                    <a:pt x="59" y="110"/>
                  </a:cubicBezTo>
                  <a:cubicBezTo>
                    <a:pt x="62" y="109"/>
                    <a:pt x="66" y="108"/>
                    <a:pt x="68" y="108"/>
                  </a:cubicBezTo>
                  <a:cubicBezTo>
                    <a:pt x="70" y="109"/>
                    <a:pt x="74" y="111"/>
                    <a:pt x="75" y="114"/>
                  </a:cubicBezTo>
                  <a:cubicBezTo>
                    <a:pt x="77" y="117"/>
                    <a:pt x="82" y="121"/>
                    <a:pt x="86" y="122"/>
                  </a:cubicBezTo>
                  <a:cubicBezTo>
                    <a:pt x="91" y="123"/>
                    <a:pt x="96" y="126"/>
                    <a:pt x="99" y="128"/>
                  </a:cubicBezTo>
                  <a:cubicBezTo>
                    <a:pt x="102" y="131"/>
                    <a:pt x="108" y="135"/>
                    <a:pt x="112" y="137"/>
                  </a:cubicBezTo>
                  <a:cubicBezTo>
                    <a:pt x="116" y="139"/>
                    <a:pt x="119" y="140"/>
                    <a:pt x="119" y="140"/>
                  </a:cubicBezTo>
                  <a:cubicBezTo>
                    <a:pt x="122" y="132"/>
                    <a:pt x="122" y="132"/>
                    <a:pt x="122" y="132"/>
                  </a:cubicBezTo>
                  <a:cubicBezTo>
                    <a:pt x="122" y="132"/>
                    <a:pt x="122" y="130"/>
                    <a:pt x="122" y="127"/>
                  </a:cubicBezTo>
                  <a:cubicBezTo>
                    <a:pt x="122" y="124"/>
                    <a:pt x="124" y="118"/>
                    <a:pt x="126" y="113"/>
                  </a:cubicBezTo>
                  <a:cubicBezTo>
                    <a:pt x="128" y="109"/>
                    <a:pt x="130" y="105"/>
                    <a:pt x="131" y="103"/>
                  </a:cubicBezTo>
                  <a:cubicBezTo>
                    <a:pt x="131" y="102"/>
                    <a:pt x="131" y="99"/>
                    <a:pt x="130" y="96"/>
                  </a:cubicBezTo>
                  <a:cubicBezTo>
                    <a:pt x="129" y="94"/>
                    <a:pt x="127" y="92"/>
                    <a:pt x="125" y="93"/>
                  </a:cubicBezTo>
                  <a:cubicBezTo>
                    <a:pt x="123" y="93"/>
                    <a:pt x="121" y="92"/>
                    <a:pt x="121" y="91"/>
                  </a:cubicBezTo>
                  <a:cubicBezTo>
                    <a:pt x="121" y="90"/>
                    <a:pt x="122" y="87"/>
                    <a:pt x="123" y="86"/>
                  </a:cubicBezTo>
                  <a:cubicBezTo>
                    <a:pt x="124" y="85"/>
                    <a:pt x="127" y="82"/>
                    <a:pt x="130" y="80"/>
                  </a:cubicBezTo>
                  <a:cubicBezTo>
                    <a:pt x="133" y="77"/>
                    <a:pt x="136" y="75"/>
                    <a:pt x="137" y="73"/>
                  </a:cubicBezTo>
                  <a:cubicBezTo>
                    <a:pt x="139" y="72"/>
                    <a:pt x="141" y="69"/>
                    <a:pt x="141" y="66"/>
                  </a:cubicBezTo>
                  <a:cubicBezTo>
                    <a:pt x="142" y="63"/>
                    <a:pt x="143" y="60"/>
                    <a:pt x="143" y="60"/>
                  </a:cubicBezTo>
                  <a:cubicBezTo>
                    <a:pt x="143" y="60"/>
                    <a:pt x="141" y="60"/>
                    <a:pt x="140" y="60"/>
                  </a:cubicBezTo>
                  <a:cubicBezTo>
                    <a:pt x="138" y="60"/>
                    <a:pt x="135" y="59"/>
                    <a:pt x="133" y="59"/>
                  </a:cubicBezTo>
                  <a:cubicBezTo>
                    <a:pt x="130" y="59"/>
                    <a:pt x="127" y="60"/>
                    <a:pt x="126" y="61"/>
                  </a:cubicBezTo>
                  <a:cubicBezTo>
                    <a:pt x="124" y="62"/>
                    <a:pt x="121" y="66"/>
                    <a:pt x="119" y="69"/>
                  </a:cubicBezTo>
                  <a:cubicBezTo>
                    <a:pt x="118" y="72"/>
                    <a:pt x="115" y="74"/>
                    <a:pt x="113" y="74"/>
                  </a:cubicBezTo>
                  <a:cubicBezTo>
                    <a:pt x="112" y="74"/>
                    <a:pt x="110" y="75"/>
                    <a:pt x="109" y="76"/>
                  </a:cubicBezTo>
                  <a:cubicBezTo>
                    <a:pt x="109" y="78"/>
                    <a:pt x="107" y="80"/>
                    <a:pt x="105" y="81"/>
                  </a:cubicBezTo>
                  <a:cubicBezTo>
                    <a:pt x="104" y="82"/>
                    <a:pt x="102" y="82"/>
                    <a:pt x="102" y="81"/>
                  </a:cubicBezTo>
                  <a:cubicBezTo>
                    <a:pt x="102" y="79"/>
                    <a:pt x="101" y="77"/>
                    <a:pt x="100" y="75"/>
                  </a:cubicBezTo>
                  <a:cubicBezTo>
                    <a:pt x="100" y="73"/>
                    <a:pt x="100" y="69"/>
                    <a:pt x="100" y="67"/>
                  </a:cubicBezTo>
                  <a:cubicBezTo>
                    <a:pt x="100" y="64"/>
                    <a:pt x="102" y="60"/>
                    <a:pt x="104" y="58"/>
                  </a:cubicBezTo>
                  <a:cubicBezTo>
                    <a:pt x="106" y="55"/>
                    <a:pt x="107" y="53"/>
                    <a:pt x="106" y="51"/>
                  </a:cubicBezTo>
                  <a:cubicBezTo>
                    <a:pt x="105" y="50"/>
                    <a:pt x="105" y="49"/>
                    <a:pt x="106" y="48"/>
                  </a:cubicBezTo>
                  <a:cubicBezTo>
                    <a:pt x="107" y="47"/>
                    <a:pt x="108" y="46"/>
                    <a:pt x="109" y="44"/>
                  </a:cubicBezTo>
                  <a:cubicBezTo>
                    <a:pt x="110" y="42"/>
                    <a:pt x="111" y="42"/>
                    <a:pt x="113" y="42"/>
                  </a:cubicBezTo>
                  <a:cubicBezTo>
                    <a:pt x="115" y="43"/>
                    <a:pt x="117" y="44"/>
                    <a:pt x="119" y="44"/>
                  </a:cubicBezTo>
                  <a:cubicBezTo>
                    <a:pt x="120" y="44"/>
                    <a:pt x="121" y="42"/>
                    <a:pt x="121" y="40"/>
                  </a:cubicBezTo>
                  <a:cubicBezTo>
                    <a:pt x="121" y="38"/>
                    <a:pt x="123" y="33"/>
                    <a:pt x="125" y="29"/>
                  </a:cubicBezTo>
                  <a:cubicBezTo>
                    <a:pt x="127" y="26"/>
                    <a:pt x="126" y="23"/>
                    <a:pt x="123" y="23"/>
                  </a:cubicBezTo>
                  <a:cubicBezTo>
                    <a:pt x="120" y="22"/>
                    <a:pt x="118" y="20"/>
                    <a:pt x="118" y="17"/>
                  </a:cubicBezTo>
                  <a:cubicBezTo>
                    <a:pt x="118" y="15"/>
                    <a:pt x="116" y="14"/>
                    <a:pt x="113" y="16"/>
                  </a:cubicBezTo>
                  <a:cubicBezTo>
                    <a:pt x="111" y="17"/>
                    <a:pt x="107" y="17"/>
                    <a:pt x="105" y="15"/>
                  </a:cubicBezTo>
                  <a:cubicBezTo>
                    <a:pt x="104" y="13"/>
                    <a:pt x="102" y="10"/>
                    <a:pt x="103" y="8"/>
                  </a:cubicBezTo>
                  <a:cubicBezTo>
                    <a:pt x="103" y="6"/>
                    <a:pt x="102" y="4"/>
                    <a:pt x="101" y="3"/>
                  </a:cubicBezTo>
                  <a:cubicBezTo>
                    <a:pt x="100" y="1"/>
                    <a:pt x="99" y="0"/>
                    <a:pt x="99" y="0"/>
                  </a:cubicBezTo>
                  <a:cubicBezTo>
                    <a:pt x="99" y="0"/>
                    <a:pt x="98" y="2"/>
                    <a:pt x="97" y="3"/>
                  </a:cubicBezTo>
                  <a:cubicBezTo>
                    <a:pt x="95" y="5"/>
                    <a:pt x="94" y="9"/>
                    <a:pt x="94" y="1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8" name="Freeform 45">
              <a:extLst>
                <a:ext uri="{FF2B5EF4-FFF2-40B4-BE49-F238E27FC236}">
                  <a16:creationId xmlns:a16="http://schemas.microsoft.com/office/drawing/2014/main" id="{2B3C10F3-3DC8-7F1D-4DD4-8602B3F42F3A}"/>
                </a:ext>
              </a:extLst>
            </p:cNvPr>
            <p:cNvSpPr>
              <a:spLocks/>
            </p:cNvSpPr>
            <p:nvPr/>
          </p:nvSpPr>
          <p:spPr bwMode="auto">
            <a:xfrm>
              <a:off x="7788247" y="4148120"/>
              <a:ext cx="684213" cy="1168400"/>
            </a:xfrm>
            <a:custGeom>
              <a:avLst/>
              <a:gdLst/>
              <a:ahLst/>
              <a:cxnLst>
                <a:cxn ang="0">
                  <a:pos x="178" y="48"/>
                </a:cxn>
                <a:cxn ang="0">
                  <a:pos x="182" y="38"/>
                </a:cxn>
                <a:cxn ang="0">
                  <a:pos x="178" y="28"/>
                </a:cxn>
                <a:cxn ang="0">
                  <a:pos x="176" y="18"/>
                </a:cxn>
                <a:cxn ang="0">
                  <a:pos x="170" y="10"/>
                </a:cxn>
                <a:cxn ang="0">
                  <a:pos x="157" y="0"/>
                </a:cxn>
                <a:cxn ang="0">
                  <a:pos x="144" y="5"/>
                </a:cxn>
                <a:cxn ang="0">
                  <a:pos x="132" y="8"/>
                </a:cxn>
                <a:cxn ang="0">
                  <a:pos x="141" y="13"/>
                </a:cxn>
                <a:cxn ang="0">
                  <a:pos x="130" y="14"/>
                </a:cxn>
                <a:cxn ang="0">
                  <a:pos x="128" y="51"/>
                </a:cxn>
                <a:cxn ang="0">
                  <a:pos x="0" y="169"/>
                </a:cxn>
                <a:cxn ang="0">
                  <a:pos x="32" y="308"/>
                </a:cxn>
                <a:cxn ang="0">
                  <a:pos x="34" y="296"/>
                </a:cxn>
                <a:cxn ang="0">
                  <a:pos x="49" y="300"/>
                </a:cxn>
                <a:cxn ang="0">
                  <a:pos x="57" y="295"/>
                </a:cxn>
                <a:cxn ang="0">
                  <a:pos x="64" y="282"/>
                </a:cxn>
                <a:cxn ang="0">
                  <a:pos x="70" y="272"/>
                </a:cxn>
                <a:cxn ang="0">
                  <a:pos x="74" y="261"/>
                </a:cxn>
                <a:cxn ang="0">
                  <a:pos x="81" y="253"/>
                </a:cxn>
                <a:cxn ang="0">
                  <a:pos x="91" y="254"/>
                </a:cxn>
                <a:cxn ang="0">
                  <a:pos x="98" y="237"/>
                </a:cxn>
                <a:cxn ang="0">
                  <a:pos x="103" y="224"/>
                </a:cxn>
                <a:cxn ang="0">
                  <a:pos x="108" y="231"/>
                </a:cxn>
                <a:cxn ang="0">
                  <a:pos x="107" y="245"/>
                </a:cxn>
                <a:cxn ang="0">
                  <a:pos x="112" y="252"/>
                </a:cxn>
                <a:cxn ang="0">
                  <a:pos x="121" y="265"/>
                </a:cxn>
                <a:cxn ang="0">
                  <a:pos x="126" y="264"/>
                </a:cxn>
                <a:cxn ang="0">
                  <a:pos x="132" y="245"/>
                </a:cxn>
                <a:cxn ang="0">
                  <a:pos x="134" y="228"/>
                </a:cxn>
                <a:cxn ang="0">
                  <a:pos x="137" y="209"/>
                </a:cxn>
                <a:cxn ang="0">
                  <a:pos x="140" y="192"/>
                </a:cxn>
                <a:cxn ang="0">
                  <a:pos x="141" y="181"/>
                </a:cxn>
                <a:cxn ang="0">
                  <a:pos x="135" y="186"/>
                </a:cxn>
                <a:cxn ang="0">
                  <a:pos x="131" y="181"/>
                </a:cxn>
                <a:cxn ang="0">
                  <a:pos x="137" y="172"/>
                </a:cxn>
                <a:cxn ang="0">
                  <a:pos x="142" y="171"/>
                </a:cxn>
                <a:cxn ang="0">
                  <a:pos x="147" y="159"/>
                </a:cxn>
                <a:cxn ang="0">
                  <a:pos x="138" y="162"/>
                </a:cxn>
                <a:cxn ang="0">
                  <a:pos x="127" y="162"/>
                </a:cxn>
                <a:cxn ang="0">
                  <a:pos x="123" y="155"/>
                </a:cxn>
                <a:cxn ang="0">
                  <a:pos x="131" y="149"/>
                </a:cxn>
                <a:cxn ang="0">
                  <a:pos x="140" y="140"/>
                </a:cxn>
                <a:cxn ang="0">
                  <a:pos x="141" y="128"/>
                </a:cxn>
                <a:cxn ang="0">
                  <a:pos x="142" y="110"/>
                </a:cxn>
                <a:cxn ang="0">
                  <a:pos x="152" y="89"/>
                </a:cxn>
                <a:cxn ang="0">
                  <a:pos x="167" y="73"/>
                </a:cxn>
                <a:cxn ang="0">
                  <a:pos x="175" y="57"/>
                </a:cxn>
              </a:cxnLst>
              <a:rect l="0" t="0" r="r" b="b"/>
              <a:pathLst>
                <a:path w="182" h="311">
                  <a:moveTo>
                    <a:pt x="175" y="57"/>
                  </a:moveTo>
                  <a:cubicBezTo>
                    <a:pt x="176" y="55"/>
                    <a:pt x="177" y="51"/>
                    <a:pt x="178" y="48"/>
                  </a:cubicBezTo>
                  <a:cubicBezTo>
                    <a:pt x="178" y="46"/>
                    <a:pt x="180" y="44"/>
                    <a:pt x="180" y="43"/>
                  </a:cubicBezTo>
                  <a:cubicBezTo>
                    <a:pt x="181" y="43"/>
                    <a:pt x="182" y="41"/>
                    <a:pt x="182" y="38"/>
                  </a:cubicBezTo>
                  <a:cubicBezTo>
                    <a:pt x="182" y="36"/>
                    <a:pt x="181" y="33"/>
                    <a:pt x="180" y="32"/>
                  </a:cubicBezTo>
                  <a:cubicBezTo>
                    <a:pt x="179" y="31"/>
                    <a:pt x="178" y="29"/>
                    <a:pt x="178" y="28"/>
                  </a:cubicBezTo>
                  <a:cubicBezTo>
                    <a:pt x="178" y="27"/>
                    <a:pt x="177" y="25"/>
                    <a:pt x="177" y="23"/>
                  </a:cubicBezTo>
                  <a:cubicBezTo>
                    <a:pt x="176" y="21"/>
                    <a:pt x="176" y="19"/>
                    <a:pt x="176" y="18"/>
                  </a:cubicBezTo>
                  <a:cubicBezTo>
                    <a:pt x="176" y="16"/>
                    <a:pt x="175" y="14"/>
                    <a:pt x="175" y="13"/>
                  </a:cubicBezTo>
                  <a:cubicBezTo>
                    <a:pt x="174" y="11"/>
                    <a:pt x="172" y="10"/>
                    <a:pt x="170" y="10"/>
                  </a:cubicBezTo>
                  <a:cubicBezTo>
                    <a:pt x="169" y="10"/>
                    <a:pt x="166" y="8"/>
                    <a:pt x="164" y="5"/>
                  </a:cubicBezTo>
                  <a:cubicBezTo>
                    <a:pt x="162" y="3"/>
                    <a:pt x="159" y="1"/>
                    <a:pt x="157" y="0"/>
                  </a:cubicBezTo>
                  <a:cubicBezTo>
                    <a:pt x="155" y="0"/>
                    <a:pt x="152" y="1"/>
                    <a:pt x="150" y="2"/>
                  </a:cubicBezTo>
                  <a:cubicBezTo>
                    <a:pt x="149" y="3"/>
                    <a:pt x="146" y="5"/>
                    <a:pt x="144" y="5"/>
                  </a:cubicBezTo>
                  <a:cubicBezTo>
                    <a:pt x="142" y="6"/>
                    <a:pt x="139" y="6"/>
                    <a:pt x="138" y="6"/>
                  </a:cubicBezTo>
                  <a:cubicBezTo>
                    <a:pt x="136" y="6"/>
                    <a:pt x="134" y="7"/>
                    <a:pt x="132" y="8"/>
                  </a:cubicBezTo>
                  <a:cubicBezTo>
                    <a:pt x="130" y="10"/>
                    <a:pt x="131" y="11"/>
                    <a:pt x="133" y="11"/>
                  </a:cubicBezTo>
                  <a:cubicBezTo>
                    <a:pt x="136" y="11"/>
                    <a:pt x="139" y="12"/>
                    <a:pt x="141" y="13"/>
                  </a:cubicBezTo>
                  <a:cubicBezTo>
                    <a:pt x="142" y="13"/>
                    <a:pt x="142" y="14"/>
                    <a:pt x="139" y="14"/>
                  </a:cubicBezTo>
                  <a:cubicBezTo>
                    <a:pt x="136" y="15"/>
                    <a:pt x="132" y="14"/>
                    <a:pt x="130" y="14"/>
                  </a:cubicBezTo>
                  <a:cubicBezTo>
                    <a:pt x="128" y="13"/>
                    <a:pt x="126" y="13"/>
                    <a:pt x="124" y="12"/>
                  </a:cubicBezTo>
                  <a:cubicBezTo>
                    <a:pt x="124" y="12"/>
                    <a:pt x="128" y="49"/>
                    <a:pt x="128" y="51"/>
                  </a:cubicBezTo>
                  <a:cubicBezTo>
                    <a:pt x="114" y="82"/>
                    <a:pt x="114" y="82"/>
                    <a:pt x="114" y="82"/>
                  </a:cubicBezTo>
                  <a:cubicBezTo>
                    <a:pt x="0" y="169"/>
                    <a:pt x="0" y="169"/>
                    <a:pt x="0" y="169"/>
                  </a:cubicBezTo>
                  <a:cubicBezTo>
                    <a:pt x="10" y="311"/>
                    <a:pt x="10" y="311"/>
                    <a:pt x="10" y="311"/>
                  </a:cubicBezTo>
                  <a:cubicBezTo>
                    <a:pt x="32" y="308"/>
                    <a:pt x="32" y="308"/>
                    <a:pt x="32" y="308"/>
                  </a:cubicBezTo>
                  <a:cubicBezTo>
                    <a:pt x="32" y="308"/>
                    <a:pt x="31" y="306"/>
                    <a:pt x="31" y="303"/>
                  </a:cubicBezTo>
                  <a:cubicBezTo>
                    <a:pt x="31" y="300"/>
                    <a:pt x="32" y="297"/>
                    <a:pt x="34" y="296"/>
                  </a:cubicBezTo>
                  <a:cubicBezTo>
                    <a:pt x="37" y="295"/>
                    <a:pt x="40" y="295"/>
                    <a:pt x="41" y="296"/>
                  </a:cubicBezTo>
                  <a:cubicBezTo>
                    <a:pt x="43" y="297"/>
                    <a:pt x="46" y="299"/>
                    <a:pt x="49" y="300"/>
                  </a:cubicBezTo>
                  <a:cubicBezTo>
                    <a:pt x="52" y="301"/>
                    <a:pt x="54" y="301"/>
                    <a:pt x="55" y="300"/>
                  </a:cubicBezTo>
                  <a:cubicBezTo>
                    <a:pt x="55" y="299"/>
                    <a:pt x="56" y="296"/>
                    <a:pt x="57" y="295"/>
                  </a:cubicBezTo>
                  <a:cubicBezTo>
                    <a:pt x="58" y="294"/>
                    <a:pt x="60" y="292"/>
                    <a:pt x="61" y="290"/>
                  </a:cubicBezTo>
                  <a:cubicBezTo>
                    <a:pt x="62" y="288"/>
                    <a:pt x="64" y="284"/>
                    <a:pt x="64" y="282"/>
                  </a:cubicBezTo>
                  <a:cubicBezTo>
                    <a:pt x="64" y="280"/>
                    <a:pt x="66" y="277"/>
                    <a:pt x="67" y="277"/>
                  </a:cubicBezTo>
                  <a:cubicBezTo>
                    <a:pt x="68" y="276"/>
                    <a:pt x="70" y="274"/>
                    <a:pt x="70" y="272"/>
                  </a:cubicBezTo>
                  <a:cubicBezTo>
                    <a:pt x="70" y="270"/>
                    <a:pt x="71" y="267"/>
                    <a:pt x="72" y="267"/>
                  </a:cubicBezTo>
                  <a:cubicBezTo>
                    <a:pt x="72" y="266"/>
                    <a:pt x="73" y="264"/>
                    <a:pt x="74" y="261"/>
                  </a:cubicBezTo>
                  <a:cubicBezTo>
                    <a:pt x="74" y="259"/>
                    <a:pt x="75" y="256"/>
                    <a:pt x="76" y="255"/>
                  </a:cubicBezTo>
                  <a:cubicBezTo>
                    <a:pt x="76" y="254"/>
                    <a:pt x="79" y="253"/>
                    <a:pt x="81" y="253"/>
                  </a:cubicBezTo>
                  <a:cubicBezTo>
                    <a:pt x="83" y="253"/>
                    <a:pt x="86" y="254"/>
                    <a:pt x="88" y="254"/>
                  </a:cubicBezTo>
                  <a:cubicBezTo>
                    <a:pt x="89" y="254"/>
                    <a:pt x="91" y="254"/>
                    <a:pt x="91" y="254"/>
                  </a:cubicBezTo>
                  <a:cubicBezTo>
                    <a:pt x="94" y="243"/>
                    <a:pt x="94" y="243"/>
                    <a:pt x="94" y="243"/>
                  </a:cubicBezTo>
                  <a:cubicBezTo>
                    <a:pt x="98" y="237"/>
                    <a:pt x="98" y="237"/>
                    <a:pt x="98" y="237"/>
                  </a:cubicBezTo>
                  <a:cubicBezTo>
                    <a:pt x="98" y="237"/>
                    <a:pt x="99" y="234"/>
                    <a:pt x="100" y="231"/>
                  </a:cubicBezTo>
                  <a:cubicBezTo>
                    <a:pt x="100" y="228"/>
                    <a:pt x="102" y="225"/>
                    <a:pt x="103" y="224"/>
                  </a:cubicBezTo>
                  <a:cubicBezTo>
                    <a:pt x="104" y="223"/>
                    <a:pt x="106" y="223"/>
                    <a:pt x="107" y="224"/>
                  </a:cubicBezTo>
                  <a:cubicBezTo>
                    <a:pt x="108" y="225"/>
                    <a:pt x="108" y="228"/>
                    <a:pt x="108" y="231"/>
                  </a:cubicBezTo>
                  <a:cubicBezTo>
                    <a:pt x="108" y="234"/>
                    <a:pt x="108" y="237"/>
                    <a:pt x="108" y="239"/>
                  </a:cubicBezTo>
                  <a:cubicBezTo>
                    <a:pt x="108" y="241"/>
                    <a:pt x="108" y="243"/>
                    <a:pt x="107" y="245"/>
                  </a:cubicBezTo>
                  <a:cubicBezTo>
                    <a:pt x="106" y="247"/>
                    <a:pt x="106" y="249"/>
                    <a:pt x="107" y="250"/>
                  </a:cubicBezTo>
                  <a:cubicBezTo>
                    <a:pt x="108" y="250"/>
                    <a:pt x="110" y="251"/>
                    <a:pt x="112" y="252"/>
                  </a:cubicBezTo>
                  <a:cubicBezTo>
                    <a:pt x="115" y="252"/>
                    <a:pt x="117" y="255"/>
                    <a:pt x="118" y="258"/>
                  </a:cubicBezTo>
                  <a:cubicBezTo>
                    <a:pt x="118" y="260"/>
                    <a:pt x="120" y="264"/>
                    <a:pt x="121" y="265"/>
                  </a:cubicBezTo>
                  <a:cubicBezTo>
                    <a:pt x="122" y="266"/>
                    <a:pt x="123" y="268"/>
                    <a:pt x="124" y="268"/>
                  </a:cubicBezTo>
                  <a:cubicBezTo>
                    <a:pt x="125" y="269"/>
                    <a:pt x="126" y="267"/>
                    <a:pt x="126" y="264"/>
                  </a:cubicBezTo>
                  <a:cubicBezTo>
                    <a:pt x="127" y="261"/>
                    <a:pt x="129" y="256"/>
                    <a:pt x="130" y="254"/>
                  </a:cubicBezTo>
                  <a:cubicBezTo>
                    <a:pt x="131" y="252"/>
                    <a:pt x="132" y="248"/>
                    <a:pt x="132" y="245"/>
                  </a:cubicBezTo>
                  <a:cubicBezTo>
                    <a:pt x="132" y="242"/>
                    <a:pt x="132" y="237"/>
                    <a:pt x="132" y="235"/>
                  </a:cubicBezTo>
                  <a:cubicBezTo>
                    <a:pt x="132" y="233"/>
                    <a:pt x="133" y="229"/>
                    <a:pt x="134" y="228"/>
                  </a:cubicBezTo>
                  <a:cubicBezTo>
                    <a:pt x="135" y="227"/>
                    <a:pt x="136" y="223"/>
                    <a:pt x="136" y="220"/>
                  </a:cubicBezTo>
                  <a:cubicBezTo>
                    <a:pt x="137" y="217"/>
                    <a:pt x="137" y="212"/>
                    <a:pt x="137" y="209"/>
                  </a:cubicBezTo>
                  <a:cubicBezTo>
                    <a:pt x="137" y="205"/>
                    <a:pt x="138" y="201"/>
                    <a:pt x="139" y="200"/>
                  </a:cubicBezTo>
                  <a:cubicBezTo>
                    <a:pt x="140" y="198"/>
                    <a:pt x="140" y="195"/>
                    <a:pt x="140" y="192"/>
                  </a:cubicBezTo>
                  <a:cubicBezTo>
                    <a:pt x="140" y="190"/>
                    <a:pt x="141" y="186"/>
                    <a:pt x="142" y="185"/>
                  </a:cubicBezTo>
                  <a:cubicBezTo>
                    <a:pt x="142" y="183"/>
                    <a:pt x="142" y="181"/>
                    <a:pt x="141" y="181"/>
                  </a:cubicBezTo>
                  <a:cubicBezTo>
                    <a:pt x="140" y="180"/>
                    <a:pt x="139" y="181"/>
                    <a:pt x="137" y="182"/>
                  </a:cubicBezTo>
                  <a:cubicBezTo>
                    <a:pt x="136" y="183"/>
                    <a:pt x="135" y="185"/>
                    <a:pt x="135" y="186"/>
                  </a:cubicBezTo>
                  <a:cubicBezTo>
                    <a:pt x="134" y="187"/>
                    <a:pt x="133" y="188"/>
                    <a:pt x="132" y="187"/>
                  </a:cubicBezTo>
                  <a:cubicBezTo>
                    <a:pt x="131" y="186"/>
                    <a:pt x="130" y="183"/>
                    <a:pt x="131" y="181"/>
                  </a:cubicBezTo>
                  <a:cubicBezTo>
                    <a:pt x="131" y="179"/>
                    <a:pt x="132" y="176"/>
                    <a:pt x="133" y="175"/>
                  </a:cubicBezTo>
                  <a:cubicBezTo>
                    <a:pt x="134" y="174"/>
                    <a:pt x="136" y="173"/>
                    <a:pt x="137" y="172"/>
                  </a:cubicBezTo>
                  <a:cubicBezTo>
                    <a:pt x="138" y="171"/>
                    <a:pt x="139" y="171"/>
                    <a:pt x="139" y="172"/>
                  </a:cubicBezTo>
                  <a:cubicBezTo>
                    <a:pt x="139" y="173"/>
                    <a:pt x="141" y="172"/>
                    <a:pt x="142" y="171"/>
                  </a:cubicBezTo>
                  <a:cubicBezTo>
                    <a:pt x="144" y="169"/>
                    <a:pt x="146" y="166"/>
                    <a:pt x="147" y="165"/>
                  </a:cubicBezTo>
                  <a:cubicBezTo>
                    <a:pt x="147" y="163"/>
                    <a:pt x="147" y="160"/>
                    <a:pt x="147" y="159"/>
                  </a:cubicBezTo>
                  <a:cubicBezTo>
                    <a:pt x="146" y="158"/>
                    <a:pt x="145" y="158"/>
                    <a:pt x="144" y="159"/>
                  </a:cubicBezTo>
                  <a:cubicBezTo>
                    <a:pt x="143" y="161"/>
                    <a:pt x="140" y="162"/>
                    <a:pt x="138" y="162"/>
                  </a:cubicBezTo>
                  <a:cubicBezTo>
                    <a:pt x="137" y="161"/>
                    <a:pt x="134" y="162"/>
                    <a:pt x="132" y="163"/>
                  </a:cubicBezTo>
                  <a:cubicBezTo>
                    <a:pt x="131" y="163"/>
                    <a:pt x="128" y="163"/>
                    <a:pt x="127" y="162"/>
                  </a:cubicBezTo>
                  <a:cubicBezTo>
                    <a:pt x="126" y="160"/>
                    <a:pt x="124" y="159"/>
                    <a:pt x="123" y="158"/>
                  </a:cubicBezTo>
                  <a:cubicBezTo>
                    <a:pt x="123" y="157"/>
                    <a:pt x="123" y="156"/>
                    <a:pt x="123" y="155"/>
                  </a:cubicBezTo>
                  <a:cubicBezTo>
                    <a:pt x="123" y="155"/>
                    <a:pt x="125" y="154"/>
                    <a:pt x="126" y="155"/>
                  </a:cubicBezTo>
                  <a:cubicBezTo>
                    <a:pt x="127" y="155"/>
                    <a:pt x="130" y="153"/>
                    <a:pt x="131" y="149"/>
                  </a:cubicBezTo>
                  <a:cubicBezTo>
                    <a:pt x="132" y="146"/>
                    <a:pt x="135" y="143"/>
                    <a:pt x="136" y="142"/>
                  </a:cubicBezTo>
                  <a:cubicBezTo>
                    <a:pt x="137" y="142"/>
                    <a:pt x="139" y="141"/>
                    <a:pt x="140" y="140"/>
                  </a:cubicBezTo>
                  <a:cubicBezTo>
                    <a:pt x="141" y="139"/>
                    <a:pt x="142" y="137"/>
                    <a:pt x="142" y="136"/>
                  </a:cubicBezTo>
                  <a:cubicBezTo>
                    <a:pt x="142" y="134"/>
                    <a:pt x="141" y="131"/>
                    <a:pt x="141" y="128"/>
                  </a:cubicBezTo>
                  <a:cubicBezTo>
                    <a:pt x="140" y="125"/>
                    <a:pt x="140" y="122"/>
                    <a:pt x="140" y="120"/>
                  </a:cubicBezTo>
                  <a:cubicBezTo>
                    <a:pt x="140" y="118"/>
                    <a:pt x="141" y="113"/>
                    <a:pt x="142" y="110"/>
                  </a:cubicBezTo>
                  <a:cubicBezTo>
                    <a:pt x="143" y="107"/>
                    <a:pt x="145" y="102"/>
                    <a:pt x="146" y="100"/>
                  </a:cubicBezTo>
                  <a:cubicBezTo>
                    <a:pt x="147" y="98"/>
                    <a:pt x="150" y="93"/>
                    <a:pt x="152" y="89"/>
                  </a:cubicBezTo>
                  <a:cubicBezTo>
                    <a:pt x="154" y="85"/>
                    <a:pt x="158" y="80"/>
                    <a:pt x="160" y="79"/>
                  </a:cubicBezTo>
                  <a:cubicBezTo>
                    <a:pt x="163" y="78"/>
                    <a:pt x="165" y="75"/>
                    <a:pt x="167" y="73"/>
                  </a:cubicBezTo>
                  <a:cubicBezTo>
                    <a:pt x="168" y="70"/>
                    <a:pt x="170" y="67"/>
                    <a:pt x="172" y="65"/>
                  </a:cubicBezTo>
                  <a:cubicBezTo>
                    <a:pt x="173" y="63"/>
                    <a:pt x="175" y="59"/>
                    <a:pt x="175"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29" name="Freeform 46">
              <a:extLst>
                <a:ext uri="{FF2B5EF4-FFF2-40B4-BE49-F238E27FC236}">
                  <a16:creationId xmlns:a16="http://schemas.microsoft.com/office/drawing/2014/main" id="{D210078D-48FB-A729-264E-DED626B6FAA3}"/>
                </a:ext>
              </a:extLst>
            </p:cNvPr>
            <p:cNvSpPr>
              <a:spLocks/>
            </p:cNvSpPr>
            <p:nvPr/>
          </p:nvSpPr>
          <p:spPr bwMode="auto">
            <a:xfrm>
              <a:off x="7473922" y="4178283"/>
              <a:ext cx="795338" cy="604838"/>
            </a:xfrm>
            <a:custGeom>
              <a:avLst/>
              <a:gdLst/>
              <a:ahLst/>
              <a:cxnLst>
                <a:cxn ang="0">
                  <a:pos x="13" y="96"/>
                </a:cxn>
                <a:cxn ang="0">
                  <a:pos x="18" y="100"/>
                </a:cxn>
                <a:cxn ang="0">
                  <a:pos x="26" y="101"/>
                </a:cxn>
                <a:cxn ang="0">
                  <a:pos x="34" y="100"/>
                </a:cxn>
                <a:cxn ang="0">
                  <a:pos x="84" y="161"/>
                </a:cxn>
                <a:cxn ang="0">
                  <a:pos x="198" y="74"/>
                </a:cxn>
                <a:cxn ang="0">
                  <a:pos x="212" y="43"/>
                </a:cxn>
                <a:cxn ang="0">
                  <a:pos x="208" y="4"/>
                </a:cxn>
                <a:cxn ang="0">
                  <a:pos x="204" y="4"/>
                </a:cxn>
                <a:cxn ang="0">
                  <a:pos x="195" y="3"/>
                </a:cxn>
                <a:cxn ang="0">
                  <a:pos x="188" y="3"/>
                </a:cxn>
                <a:cxn ang="0">
                  <a:pos x="182" y="2"/>
                </a:cxn>
                <a:cxn ang="0">
                  <a:pos x="176" y="1"/>
                </a:cxn>
                <a:cxn ang="0">
                  <a:pos x="168" y="1"/>
                </a:cxn>
                <a:cxn ang="0">
                  <a:pos x="157" y="2"/>
                </a:cxn>
                <a:cxn ang="0">
                  <a:pos x="148" y="4"/>
                </a:cxn>
                <a:cxn ang="0">
                  <a:pos x="137" y="5"/>
                </a:cxn>
                <a:cxn ang="0">
                  <a:pos x="127" y="10"/>
                </a:cxn>
                <a:cxn ang="0">
                  <a:pos x="120" y="16"/>
                </a:cxn>
                <a:cxn ang="0">
                  <a:pos x="108" y="20"/>
                </a:cxn>
                <a:cxn ang="0">
                  <a:pos x="95" y="23"/>
                </a:cxn>
                <a:cxn ang="0">
                  <a:pos x="86" y="26"/>
                </a:cxn>
                <a:cxn ang="0">
                  <a:pos x="76" y="27"/>
                </a:cxn>
                <a:cxn ang="0">
                  <a:pos x="65" y="30"/>
                </a:cxn>
                <a:cxn ang="0">
                  <a:pos x="54" y="33"/>
                </a:cxn>
                <a:cxn ang="0">
                  <a:pos x="43" y="35"/>
                </a:cxn>
                <a:cxn ang="0">
                  <a:pos x="34" y="40"/>
                </a:cxn>
                <a:cxn ang="0">
                  <a:pos x="25" y="44"/>
                </a:cxn>
                <a:cxn ang="0">
                  <a:pos x="18" y="49"/>
                </a:cxn>
                <a:cxn ang="0">
                  <a:pos x="9" y="55"/>
                </a:cxn>
                <a:cxn ang="0">
                  <a:pos x="3" y="62"/>
                </a:cxn>
                <a:cxn ang="0">
                  <a:pos x="1" y="71"/>
                </a:cxn>
                <a:cxn ang="0">
                  <a:pos x="3" y="70"/>
                </a:cxn>
                <a:cxn ang="0">
                  <a:pos x="5" y="69"/>
                </a:cxn>
                <a:cxn ang="0">
                  <a:pos x="4" y="73"/>
                </a:cxn>
                <a:cxn ang="0">
                  <a:pos x="7" y="96"/>
                </a:cxn>
                <a:cxn ang="0">
                  <a:pos x="13" y="96"/>
                </a:cxn>
              </a:cxnLst>
              <a:rect l="0" t="0" r="r" b="b"/>
              <a:pathLst>
                <a:path w="212" h="161">
                  <a:moveTo>
                    <a:pt x="13" y="96"/>
                  </a:moveTo>
                  <a:cubicBezTo>
                    <a:pt x="16" y="97"/>
                    <a:pt x="18" y="98"/>
                    <a:pt x="18" y="100"/>
                  </a:cubicBezTo>
                  <a:cubicBezTo>
                    <a:pt x="18" y="101"/>
                    <a:pt x="21" y="102"/>
                    <a:pt x="26" y="101"/>
                  </a:cubicBezTo>
                  <a:cubicBezTo>
                    <a:pt x="30" y="101"/>
                    <a:pt x="34" y="100"/>
                    <a:pt x="34" y="100"/>
                  </a:cubicBezTo>
                  <a:cubicBezTo>
                    <a:pt x="84" y="161"/>
                    <a:pt x="84" y="161"/>
                    <a:pt x="84" y="161"/>
                  </a:cubicBezTo>
                  <a:cubicBezTo>
                    <a:pt x="198" y="74"/>
                    <a:pt x="198" y="74"/>
                    <a:pt x="198" y="74"/>
                  </a:cubicBezTo>
                  <a:cubicBezTo>
                    <a:pt x="212" y="43"/>
                    <a:pt x="212" y="43"/>
                    <a:pt x="212" y="43"/>
                  </a:cubicBezTo>
                  <a:cubicBezTo>
                    <a:pt x="212" y="41"/>
                    <a:pt x="208" y="4"/>
                    <a:pt x="208" y="4"/>
                  </a:cubicBezTo>
                  <a:cubicBezTo>
                    <a:pt x="206" y="4"/>
                    <a:pt x="205" y="4"/>
                    <a:pt x="204" y="4"/>
                  </a:cubicBezTo>
                  <a:cubicBezTo>
                    <a:pt x="201" y="3"/>
                    <a:pt x="197" y="3"/>
                    <a:pt x="195" y="3"/>
                  </a:cubicBezTo>
                  <a:cubicBezTo>
                    <a:pt x="193" y="3"/>
                    <a:pt x="190" y="3"/>
                    <a:pt x="188" y="3"/>
                  </a:cubicBezTo>
                  <a:cubicBezTo>
                    <a:pt x="186" y="3"/>
                    <a:pt x="183" y="2"/>
                    <a:pt x="182" y="2"/>
                  </a:cubicBezTo>
                  <a:cubicBezTo>
                    <a:pt x="180" y="1"/>
                    <a:pt x="178" y="1"/>
                    <a:pt x="176" y="1"/>
                  </a:cubicBezTo>
                  <a:cubicBezTo>
                    <a:pt x="175" y="2"/>
                    <a:pt x="171" y="2"/>
                    <a:pt x="168" y="1"/>
                  </a:cubicBezTo>
                  <a:cubicBezTo>
                    <a:pt x="165" y="0"/>
                    <a:pt x="160" y="1"/>
                    <a:pt x="157" y="2"/>
                  </a:cubicBezTo>
                  <a:cubicBezTo>
                    <a:pt x="155" y="3"/>
                    <a:pt x="150" y="4"/>
                    <a:pt x="148" y="4"/>
                  </a:cubicBezTo>
                  <a:cubicBezTo>
                    <a:pt x="145" y="3"/>
                    <a:pt x="140" y="4"/>
                    <a:pt x="137" y="5"/>
                  </a:cubicBezTo>
                  <a:cubicBezTo>
                    <a:pt x="133" y="6"/>
                    <a:pt x="129" y="8"/>
                    <a:pt x="127" y="10"/>
                  </a:cubicBezTo>
                  <a:cubicBezTo>
                    <a:pt x="125" y="12"/>
                    <a:pt x="122" y="15"/>
                    <a:pt x="120" y="16"/>
                  </a:cubicBezTo>
                  <a:cubicBezTo>
                    <a:pt x="118" y="17"/>
                    <a:pt x="112" y="19"/>
                    <a:pt x="108" y="20"/>
                  </a:cubicBezTo>
                  <a:cubicBezTo>
                    <a:pt x="103" y="21"/>
                    <a:pt x="97" y="22"/>
                    <a:pt x="95" y="23"/>
                  </a:cubicBezTo>
                  <a:cubicBezTo>
                    <a:pt x="93" y="24"/>
                    <a:pt x="89" y="25"/>
                    <a:pt x="86" y="26"/>
                  </a:cubicBezTo>
                  <a:cubicBezTo>
                    <a:pt x="84" y="26"/>
                    <a:pt x="79" y="27"/>
                    <a:pt x="76" y="27"/>
                  </a:cubicBezTo>
                  <a:cubicBezTo>
                    <a:pt x="72" y="28"/>
                    <a:pt x="68" y="29"/>
                    <a:pt x="65" y="30"/>
                  </a:cubicBezTo>
                  <a:cubicBezTo>
                    <a:pt x="62" y="31"/>
                    <a:pt x="58" y="32"/>
                    <a:pt x="54" y="33"/>
                  </a:cubicBezTo>
                  <a:cubicBezTo>
                    <a:pt x="51" y="33"/>
                    <a:pt x="46" y="34"/>
                    <a:pt x="43" y="35"/>
                  </a:cubicBezTo>
                  <a:cubicBezTo>
                    <a:pt x="41" y="36"/>
                    <a:pt x="36" y="38"/>
                    <a:pt x="34" y="40"/>
                  </a:cubicBezTo>
                  <a:cubicBezTo>
                    <a:pt x="31" y="41"/>
                    <a:pt x="27" y="43"/>
                    <a:pt x="25" y="44"/>
                  </a:cubicBezTo>
                  <a:cubicBezTo>
                    <a:pt x="23" y="45"/>
                    <a:pt x="20" y="47"/>
                    <a:pt x="18" y="49"/>
                  </a:cubicBezTo>
                  <a:cubicBezTo>
                    <a:pt x="16" y="50"/>
                    <a:pt x="12" y="53"/>
                    <a:pt x="9" y="55"/>
                  </a:cubicBezTo>
                  <a:cubicBezTo>
                    <a:pt x="7" y="56"/>
                    <a:pt x="4" y="60"/>
                    <a:pt x="3" y="62"/>
                  </a:cubicBezTo>
                  <a:cubicBezTo>
                    <a:pt x="2" y="64"/>
                    <a:pt x="1" y="68"/>
                    <a:pt x="1" y="71"/>
                  </a:cubicBezTo>
                  <a:cubicBezTo>
                    <a:pt x="0" y="73"/>
                    <a:pt x="1" y="73"/>
                    <a:pt x="3" y="70"/>
                  </a:cubicBezTo>
                  <a:cubicBezTo>
                    <a:pt x="5" y="68"/>
                    <a:pt x="6" y="67"/>
                    <a:pt x="5" y="69"/>
                  </a:cubicBezTo>
                  <a:cubicBezTo>
                    <a:pt x="5" y="72"/>
                    <a:pt x="4" y="73"/>
                    <a:pt x="4" y="73"/>
                  </a:cubicBezTo>
                  <a:cubicBezTo>
                    <a:pt x="7" y="96"/>
                    <a:pt x="7" y="96"/>
                    <a:pt x="7" y="96"/>
                  </a:cubicBezTo>
                  <a:cubicBezTo>
                    <a:pt x="7" y="96"/>
                    <a:pt x="10" y="96"/>
                    <a:pt x="13" y="96"/>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0" name="Freeform 47">
              <a:extLst>
                <a:ext uri="{FF2B5EF4-FFF2-40B4-BE49-F238E27FC236}">
                  <a16:creationId xmlns:a16="http://schemas.microsoft.com/office/drawing/2014/main" id="{B4A8A69A-7011-AAA0-EAFE-C28625D38279}"/>
                </a:ext>
              </a:extLst>
            </p:cNvPr>
            <p:cNvSpPr>
              <a:spLocks/>
            </p:cNvSpPr>
            <p:nvPr/>
          </p:nvSpPr>
          <p:spPr bwMode="auto">
            <a:xfrm>
              <a:off x="3560734" y="4959333"/>
              <a:ext cx="307975" cy="244475"/>
            </a:xfrm>
            <a:custGeom>
              <a:avLst/>
              <a:gdLst/>
              <a:ahLst/>
              <a:cxnLst>
                <a:cxn ang="0">
                  <a:pos x="70" y="57"/>
                </a:cxn>
                <a:cxn ang="0">
                  <a:pos x="73" y="53"/>
                </a:cxn>
                <a:cxn ang="0">
                  <a:pos x="79" y="48"/>
                </a:cxn>
                <a:cxn ang="0">
                  <a:pos x="82" y="46"/>
                </a:cxn>
                <a:cxn ang="0">
                  <a:pos x="82" y="39"/>
                </a:cxn>
                <a:cxn ang="0">
                  <a:pos x="82" y="26"/>
                </a:cxn>
                <a:cxn ang="0">
                  <a:pos x="80" y="16"/>
                </a:cxn>
                <a:cxn ang="0">
                  <a:pos x="74" y="8"/>
                </a:cxn>
                <a:cxn ang="0">
                  <a:pos x="64" y="8"/>
                </a:cxn>
                <a:cxn ang="0">
                  <a:pos x="55" y="10"/>
                </a:cxn>
                <a:cxn ang="0">
                  <a:pos x="46" y="4"/>
                </a:cxn>
                <a:cxn ang="0">
                  <a:pos x="39" y="3"/>
                </a:cxn>
                <a:cxn ang="0">
                  <a:pos x="33" y="10"/>
                </a:cxn>
                <a:cxn ang="0">
                  <a:pos x="25" y="16"/>
                </a:cxn>
                <a:cxn ang="0">
                  <a:pos x="13" y="19"/>
                </a:cxn>
                <a:cxn ang="0">
                  <a:pos x="3" y="23"/>
                </a:cxn>
                <a:cxn ang="0">
                  <a:pos x="0" y="27"/>
                </a:cxn>
                <a:cxn ang="0">
                  <a:pos x="5" y="28"/>
                </a:cxn>
                <a:cxn ang="0">
                  <a:pos x="15" y="31"/>
                </a:cxn>
                <a:cxn ang="0">
                  <a:pos x="19" y="34"/>
                </a:cxn>
                <a:cxn ang="0">
                  <a:pos x="20" y="38"/>
                </a:cxn>
                <a:cxn ang="0">
                  <a:pos x="25" y="41"/>
                </a:cxn>
                <a:cxn ang="0">
                  <a:pos x="32" y="44"/>
                </a:cxn>
                <a:cxn ang="0">
                  <a:pos x="42" y="48"/>
                </a:cxn>
                <a:cxn ang="0">
                  <a:pos x="53" y="56"/>
                </a:cxn>
                <a:cxn ang="0">
                  <a:pos x="61" y="63"/>
                </a:cxn>
                <a:cxn ang="0">
                  <a:pos x="64" y="65"/>
                </a:cxn>
                <a:cxn ang="0">
                  <a:pos x="66" y="62"/>
                </a:cxn>
                <a:cxn ang="0">
                  <a:pos x="70" y="57"/>
                </a:cxn>
              </a:cxnLst>
              <a:rect l="0" t="0" r="r" b="b"/>
              <a:pathLst>
                <a:path w="82" h="65">
                  <a:moveTo>
                    <a:pt x="70" y="57"/>
                  </a:moveTo>
                  <a:cubicBezTo>
                    <a:pt x="71" y="57"/>
                    <a:pt x="72" y="54"/>
                    <a:pt x="73" y="53"/>
                  </a:cubicBezTo>
                  <a:cubicBezTo>
                    <a:pt x="74" y="51"/>
                    <a:pt x="77" y="49"/>
                    <a:pt x="79" y="48"/>
                  </a:cubicBezTo>
                  <a:cubicBezTo>
                    <a:pt x="81" y="47"/>
                    <a:pt x="82" y="46"/>
                    <a:pt x="82" y="46"/>
                  </a:cubicBezTo>
                  <a:cubicBezTo>
                    <a:pt x="82" y="46"/>
                    <a:pt x="82" y="43"/>
                    <a:pt x="82" y="39"/>
                  </a:cubicBezTo>
                  <a:cubicBezTo>
                    <a:pt x="81" y="35"/>
                    <a:pt x="81" y="29"/>
                    <a:pt x="82" y="26"/>
                  </a:cubicBezTo>
                  <a:cubicBezTo>
                    <a:pt x="82" y="23"/>
                    <a:pt x="81" y="18"/>
                    <a:pt x="80" y="16"/>
                  </a:cubicBezTo>
                  <a:cubicBezTo>
                    <a:pt x="79" y="14"/>
                    <a:pt x="77" y="11"/>
                    <a:pt x="74" y="8"/>
                  </a:cubicBezTo>
                  <a:cubicBezTo>
                    <a:pt x="72" y="5"/>
                    <a:pt x="68" y="5"/>
                    <a:pt x="64" y="8"/>
                  </a:cubicBezTo>
                  <a:cubicBezTo>
                    <a:pt x="61" y="10"/>
                    <a:pt x="57" y="11"/>
                    <a:pt x="55" y="10"/>
                  </a:cubicBezTo>
                  <a:cubicBezTo>
                    <a:pt x="53" y="9"/>
                    <a:pt x="49" y="6"/>
                    <a:pt x="46" y="4"/>
                  </a:cubicBezTo>
                  <a:cubicBezTo>
                    <a:pt x="44" y="1"/>
                    <a:pt x="40" y="0"/>
                    <a:pt x="39" y="3"/>
                  </a:cubicBezTo>
                  <a:cubicBezTo>
                    <a:pt x="37" y="5"/>
                    <a:pt x="34" y="8"/>
                    <a:pt x="33" y="10"/>
                  </a:cubicBezTo>
                  <a:cubicBezTo>
                    <a:pt x="32" y="12"/>
                    <a:pt x="28" y="15"/>
                    <a:pt x="25" y="16"/>
                  </a:cubicBezTo>
                  <a:cubicBezTo>
                    <a:pt x="23" y="18"/>
                    <a:pt x="17" y="19"/>
                    <a:pt x="13" y="19"/>
                  </a:cubicBezTo>
                  <a:cubicBezTo>
                    <a:pt x="8" y="20"/>
                    <a:pt x="4" y="21"/>
                    <a:pt x="3" y="23"/>
                  </a:cubicBezTo>
                  <a:cubicBezTo>
                    <a:pt x="1" y="25"/>
                    <a:pt x="0" y="27"/>
                    <a:pt x="0" y="27"/>
                  </a:cubicBezTo>
                  <a:cubicBezTo>
                    <a:pt x="0" y="27"/>
                    <a:pt x="2" y="27"/>
                    <a:pt x="5" y="28"/>
                  </a:cubicBezTo>
                  <a:cubicBezTo>
                    <a:pt x="7" y="29"/>
                    <a:pt x="12" y="30"/>
                    <a:pt x="15" y="31"/>
                  </a:cubicBezTo>
                  <a:cubicBezTo>
                    <a:pt x="18" y="32"/>
                    <a:pt x="20" y="33"/>
                    <a:pt x="19" y="34"/>
                  </a:cubicBezTo>
                  <a:cubicBezTo>
                    <a:pt x="19" y="36"/>
                    <a:pt x="19" y="37"/>
                    <a:pt x="20" y="38"/>
                  </a:cubicBezTo>
                  <a:cubicBezTo>
                    <a:pt x="21" y="39"/>
                    <a:pt x="24" y="40"/>
                    <a:pt x="25" y="41"/>
                  </a:cubicBezTo>
                  <a:cubicBezTo>
                    <a:pt x="26" y="42"/>
                    <a:pt x="30" y="43"/>
                    <a:pt x="32" y="44"/>
                  </a:cubicBezTo>
                  <a:cubicBezTo>
                    <a:pt x="35" y="44"/>
                    <a:pt x="39" y="46"/>
                    <a:pt x="42" y="48"/>
                  </a:cubicBezTo>
                  <a:cubicBezTo>
                    <a:pt x="45" y="49"/>
                    <a:pt x="50" y="53"/>
                    <a:pt x="53" y="56"/>
                  </a:cubicBezTo>
                  <a:cubicBezTo>
                    <a:pt x="55" y="58"/>
                    <a:pt x="59" y="62"/>
                    <a:pt x="61" y="63"/>
                  </a:cubicBezTo>
                  <a:cubicBezTo>
                    <a:pt x="62" y="64"/>
                    <a:pt x="64" y="65"/>
                    <a:pt x="64" y="65"/>
                  </a:cubicBezTo>
                  <a:cubicBezTo>
                    <a:pt x="64" y="65"/>
                    <a:pt x="65" y="64"/>
                    <a:pt x="66" y="62"/>
                  </a:cubicBezTo>
                  <a:cubicBezTo>
                    <a:pt x="67" y="60"/>
                    <a:pt x="69" y="58"/>
                    <a:pt x="70" y="57"/>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2" name="Freeform 50">
              <a:extLst>
                <a:ext uri="{FF2B5EF4-FFF2-40B4-BE49-F238E27FC236}">
                  <a16:creationId xmlns:a16="http://schemas.microsoft.com/office/drawing/2014/main" id="{EE707547-E204-89A9-9F95-971542B5BBE2}"/>
                </a:ext>
              </a:extLst>
            </p:cNvPr>
            <p:cNvSpPr>
              <a:spLocks/>
            </p:cNvSpPr>
            <p:nvPr/>
          </p:nvSpPr>
          <p:spPr bwMode="auto">
            <a:xfrm>
              <a:off x="6478559" y="5129195"/>
              <a:ext cx="915988" cy="396875"/>
            </a:xfrm>
            <a:custGeom>
              <a:avLst/>
              <a:gdLst/>
              <a:ahLst/>
              <a:cxnLst>
                <a:cxn ang="0">
                  <a:pos x="224" y="48"/>
                </a:cxn>
                <a:cxn ang="0">
                  <a:pos x="213" y="44"/>
                </a:cxn>
                <a:cxn ang="0">
                  <a:pos x="199" y="42"/>
                </a:cxn>
                <a:cxn ang="0">
                  <a:pos x="193" y="52"/>
                </a:cxn>
                <a:cxn ang="0">
                  <a:pos x="176" y="53"/>
                </a:cxn>
                <a:cxn ang="0">
                  <a:pos x="161" y="44"/>
                </a:cxn>
                <a:cxn ang="0">
                  <a:pos x="152" y="23"/>
                </a:cxn>
                <a:cxn ang="0">
                  <a:pos x="142" y="17"/>
                </a:cxn>
                <a:cxn ang="0">
                  <a:pos x="134" y="15"/>
                </a:cxn>
                <a:cxn ang="0">
                  <a:pos x="126" y="3"/>
                </a:cxn>
                <a:cxn ang="0">
                  <a:pos x="121" y="2"/>
                </a:cxn>
                <a:cxn ang="0">
                  <a:pos x="110" y="7"/>
                </a:cxn>
                <a:cxn ang="0">
                  <a:pos x="101" y="16"/>
                </a:cxn>
                <a:cxn ang="0">
                  <a:pos x="84" y="20"/>
                </a:cxn>
                <a:cxn ang="0">
                  <a:pos x="78" y="25"/>
                </a:cxn>
                <a:cxn ang="0">
                  <a:pos x="71" y="21"/>
                </a:cxn>
                <a:cxn ang="0">
                  <a:pos x="51" y="23"/>
                </a:cxn>
                <a:cxn ang="0">
                  <a:pos x="31" y="33"/>
                </a:cxn>
                <a:cxn ang="0">
                  <a:pos x="42" y="32"/>
                </a:cxn>
                <a:cxn ang="0">
                  <a:pos x="25" y="39"/>
                </a:cxn>
                <a:cxn ang="0">
                  <a:pos x="21" y="36"/>
                </a:cxn>
                <a:cxn ang="0">
                  <a:pos x="0" y="44"/>
                </a:cxn>
                <a:cxn ang="0">
                  <a:pos x="11" y="55"/>
                </a:cxn>
                <a:cxn ang="0">
                  <a:pos x="13" y="67"/>
                </a:cxn>
                <a:cxn ang="0">
                  <a:pos x="23" y="78"/>
                </a:cxn>
                <a:cxn ang="0">
                  <a:pos x="41" y="87"/>
                </a:cxn>
                <a:cxn ang="0">
                  <a:pos x="51" y="98"/>
                </a:cxn>
                <a:cxn ang="0">
                  <a:pos x="54" y="95"/>
                </a:cxn>
                <a:cxn ang="0">
                  <a:pos x="60" y="85"/>
                </a:cxn>
                <a:cxn ang="0">
                  <a:pos x="61" y="79"/>
                </a:cxn>
                <a:cxn ang="0">
                  <a:pos x="62" y="71"/>
                </a:cxn>
                <a:cxn ang="0">
                  <a:pos x="68" y="60"/>
                </a:cxn>
                <a:cxn ang="0">
                  <a:pos x="82" y="60"/>
                </a:cxn>
                <a:cxn ang="0">
                  <a:pos x="91" y="61"/>
                </a:cxn>
                <a:cxn ang="0">
                  <a:pos x="92" y="72"/>
                </a:cxn>
                <a:cxn ang="0">
                  <a:pos x="98" y="93"/>
                </a:cxn>
                <a:cxn ang="0">
                  <a:pos x="123" y="97"/>
                </a:cxn>
                <a:cxn ang="0">
                  <a:pos x="136" y="87"/>
                </a:cxn>
                <a:cxn ang="0">
                  <a:pos x="146" y="75"/>
                </a:cxn>
                <a:cxn ang="0">
                  <a:pos x="163" y="68"/>
                </a:cxn>
                <a:cxn ang="0">
                  <a:pos x="167" y="60"/>
                </a:cxn>
                <a:cxn ang="0">
                  <a:pos x="170" y="61"/>
                </a:cxn>
                <a:cxn ang="0">
                  <a:pos x="179" y="61"/>
                </a:cxn>
                <a:cxn ang="0">
                  <a:pos x="185" y="69"/>
                </a:cxn>
                <a:cxn ang="0">
                  <a:pos x="194" y="76"/>
                </a:cxn>
                <a:cxn ang="0">
                  <a:pos x="201" y="89"/>
                </a:cxn>
                <a:cxn ang="0">
                  <a:pos x="207" y="91"/>
                </a:cxn>
                <a:cxn ang="0">
                  <a:pos x="211" y="97"/>
                </a:cxn>
                <a:cxn ang="0">
                  <a:pos x="215" y="106"/>
                </a:cxn>
                <a:cxn ang="0">
                  <a:pos x="244" y="60"/>
                </a:cxn>
                <a:cxn ang="0">
                  <a:pos x="235" y="49"/>
                </a:cxn>
              </a:cxnLst>
              <a:rect l="0" t="0" r="r" b="b"/>
              <a:pathLst>
                <a:path w="244" h="106">
                  <a:moveTo>
                    <a:pt x="235" y="49"/>
                  </a:moveTo>
                  <a:cubicBezTo>
                    <a:pt x="231" y="49"/>
                    <a:pt x="226" y="49"/>
                    <a:pt x="224" y="48"/>
                  </a:cubicBezTo>
                  <a:cubicBezTo>
                    <a:pt x="221" y="48"/>
                    <a:pt x="219" y="47"/>
                    <a:pt x="218" y="46"/>
                  </a:cubicBezTo>
                  <a:cubicBezTo>
                    <a:pt x="217" y="45"/>
                    <a:pt x="215" y="44"/>
                    <a:pt x="213" y="44"/>
                  </a:cubicBezTo>
                  <a:cubicBezTo>
                    <a:pt x="211" y="44"/>
                    <a:pt x="208" y="43"/>
                    <a:pt x="206" y="42"/>
                  </a:cubicBezTo>
                  <a:cubicBezTo>
                    <a:pt x="204" y="41"/>
                    <a:pt x="201" y="41"/>
                    <a:pt x="199" y="42"/>
                  </a:cubicBezTo>
                  <a:cubicBezTo>
                    <a:pt x="198" y="43"/>
                    <a:pt x="197" y="48"/>
                    <a:pt x="197" y="52"/>
                  </a:cubicBezTo>
                  <a:cubicBezTo>
                    <a:pt x="197" y="52"/>
                    <a:pt x="197" y="52"/>
                    <a:pt x="193" y="52"/>
                  </a:cubicBezTo>
                  <a:cubicBezTo>
                    <a:pt x="189" y="52"/>
                    <a:pt x="189" y="52"/>
                    <a:pt x="189" y="52"/>
                  </a:cubicBezTo>
                  <a:cubicBezTo>
                    <a:pt x="185" y="54"/>
                    <a:pt x="179" y="54"/>
                    <a:pt x="176" y="53"/>
                  </a:cubicBezTo>
                  <a:cubicBezTo>
                    <a:pt x="173" y="52"/>
                    <a:pt x="170" y="50"/>
                    <a:pt x="168" y="50"/>
                  </a:cubicBezTo>
                  <a:cubicBezTo>
                    <a:pt x="167" y="49"/>
                    <a:pt x="164" y="47"/>
                    <a:pt x="161" y="44"/>
                  </a:cubicBezTo>
                  <a:cubicBezTo>
                    <a:pt x="158" y="42"/>
                    <a:pt x="155" y="38"/>
                    <a:pt x="154" y="34"/>
                  </a:cubicBezTo>
                  <a:cubicBezTo>
                    <a:pt x="153" y="31"/>
                    <a:pt x="152" y="26"/>
                    <a:pt x="152" y="23"/>
                  </a:cubicBezTo>
                  <a:cubicBezTo>
                    <a:pt x="152" y="20"/>
                    <a:pt x="150" y="17"/>
                    <a:pt x="147" y="17"/>
                  </a:cubicBezTo>
                  <a:cubicBezTo>
                    <a:pt x="144" y="17"/>
                    <a:pt x="142" y="17"/>
                    <a:pt x="142" y="17"/>
                  </a:cubicBezTo>
                  <a:cubicBezTo>
                    <a:pt x="142" y="17"/>
                    <a:pt x="141" y="17"/>
                    <a:pt x="139" y="17"/>
                  </a:cubicBezTo>
                  <a:cubicBezTo>
                    <a:pt x="137" y="17"/>
                    <a:pt x="135" y="16"/>
                    <a:pt x="134" y="15"/>
                  </a:cubicBezTo>
                  <a:cubicBezTo>
                    <a:pt x="133" y="13"/>
                    <a:pt x="132" y="11"/>
                    <a:pt x="130" y="9"/>
                  </a:cubicBezTo>
                  <a:cubicBezTo>
                    <a:pt x="129" y="7"/>
                    <a:pt x="127" y="4"/>
                    <a:pt x="126" y="3"/>
                  </a:cubicBezTo>
                  <a:cubicBezTo>
                    <a:pt x="125" y="2"/>
                    <a:pt x="124" y="0"/>
                    <a:pt x="124" y="0"/>
                  </a:cubicBezTo>
                  <a:cubicBezTo>
                    <a:pt x="124" y="0"/>
                    <a:pt x="123" y="1"/>
                    <a:pt x="121" y="2"/>
                  </a:cubicBezTo>
                  <a:cubicBezTo>
                    <a:pt x="120" y="3"/>
                    <a:pt x="117" y="4"/>
                    <a:pt x="114" y="5"/>
                  </a:cubicBezTo>
                  <a:cubicBezTo>
                    <a:pt x="112" y="6"/>
                    <a:pt x="110" y="7"/>
                    <a:pt x="110" y="7"/>
                  </a:cubicBezTo>
                  <a:cubicBezTo>
                    <a:pt x="110" y="7"/>
                    <a:pt x="109" y="9"/>
                    <a:pt x="107" y="11"/>
                  </a:cubicBezTo>
                  <a:cubicBezTo>
                    <a:pt x="105" y="13"/>
                    <a:pt x="103" y="15"/>
                    <a:pt x="101" y="16"/>
                  </a:cubicBezTo>
                  <a:cubicBezTo>
                    <a:pt x="99" y="16"/>
                    <a:pt x="96" y="18"/>
                    <a:pt x="93" y="18"/>
                  </a:cubicBezTo>
                  <a:cubicBezTo>
                    <a:pt x="91" y="19"/>
                    <a:pt x="87" y="20"/>
                    <a:pt x="84" y="20"/>
                  </a:cubicBezTo>
                  <a:cubicBezTo>
                    <a:pt x="82" y="20"/>
                    <a:pt x="80" y="21"/>
                    <a:pt x="80" y="23"/>
                  </a:cubicBezTo>
                  <a:cubicBezTo>
                    <a:pt x="80" y="24"/>
                    <a:pt x="79" y="25"/>
                    <a:pt x="78" y="25"/>
                  </a:cubicBezTo>
                  <a:cubicBezTo>
                    <a:pt x="76" y="25"/>
                    <a:pt x="75" y="24"/>
                    <a:pt x="75" y="23"/>
                  </a:cubicBezTo>
                  <a:cubicBezTo>
                    <a:pt x="75" y="22"/>
                    <a:pt x="73" y="21"/>
                    <a:pt x="71" y="21"/>
                  </a:cubicBezTo>
                  <a:cubicBezTo>
                    <a:pt x="70" y="21"/>
                    <a:pt x="65" y="21"/>
                    <a:pt x="62" y="21"/>
                  </a:cubicBezTo>
                  <a:cubicBezTo>
                    <a:pt x="58" y="22"/>
                    <a:pt x="54" y="22"/>
                    <a:pt x="51" y="23"/>
                  </a:cubicBezTo>
                  <a:cubicBezTo>
                    <a:pt x="49" y="24"/>
                    <a:pt x="43" y="27"/>
                    <a:pt x="37" y="29"/>
                  </a:cubicBezTo>
                  <a:cubicBezTo>
                    <a:pt x="31" y="32"/>
                    <a:pt x="28" y="34"/>
                    <a:pt x="31" y="33"/>
                  </a:cubicBezTo>
                  <a:cubicBezTo>
                    <a:pt x="34" y="32"/>
                    <a:pt x="39" y="31"/>
                    <a:pt x="42" y="31"/>
                  </a:cubicBezTo>
                  <a:cubicBezTo>
                    <a:pt x="44" y="30"/>
                    <a:pt x="45" y="31"/>
                    <a:pt x="42" y="32"/>
                  </a:cubicBezTo>
                  <a:cubicBezTo>
                    <a:pt x="39" y="33"/>
                    <a:pt x="35" y="35"/>
                    <a:pt x="33" y="36"/>
                  </a:cubicBezTo>
                  <a:cubicBezTo>
                    <a:pt x="30" y="37"/>
                    <a:pt x="27" y="38"/>
                    <a:pt x="25" y="39"/>
                  </a:cubicBezTo>
                  <a:cubicBezTo>
                    <a:pt x="23" y="39"/>
                    <a:pt x="22" y="38"/>
                    <a:pt x="22" y="37"/>
                  </a:cubicBezTo>
                  <a:cubicBezTo>
                    <a:pt x="22" y="36"/>
                    <a:pt x="21" y="36"/>
                    <a:pt x="21" y="36"/>
                  </a:cubicBezTo>
                  <a:cubicBezTo>
                    <a:pt x="20" y="36"/>
                    <a:pt x="16" y="37"/>
                    <a:pt x="13" y="39"/>
                  </a:cubicBezTo>
                  <a:cubicBezTo>
                    <a:pt x="10" y="40"/>
                    <a:pt x="4" y="43"/>
                    <a:pt x="0" y="44"/>
                  </a:cubicBezTo>
                  <a:cubicBezTo>
                    <a:pt x="0" y="44"/>
                    <a:pt x="2" y="45"/>
                    <a:pt x="5" y="47"/>
                  </a:cubicBezTo>
                  <a:cubicBezTo>
                    <a:pt x="8" y="49"/>
                    <a:pt x="11" y="53"/>
                    <a:pt x="11" y="55"/>
                  </a:cubicBezTo>
                  <a:cubicBezTo>
                    <a:pt x="12" y="57"/>
                    <a:pt x="12" y="59"/>
                    <a:pt x="13" y="61"/>
                  </a:cubicBezTo>
                  <a:cubicBezTo>
                    <a:pt x="13" y="62"/>
                    <a:pt x="13" y="65"/>
                    <a:pt x="13" y="67"/>
                  </a:cubicBezTo>
                  <a:cubicBezTo>
                    <a:pt x="12" y="69"/>
                    <a:pt x="14" y="71"/>
                    <a:pt x="16" y="72"/>
                  </a:cubicBezTo>
                  <a:cubicBezTo>
                    <a:pt x="18" y="73"/>
                    <a:pt x="21" y="76"/>
                    <a:pt x="23" y="78"/>
                  </a:cubicBezTo>
                  <a:cubicBezTo>
                    <a:pt x="24" y="80"/>
                    <a:pt x="28" y="82"/>
                    <a:pt x="30" y="83"/>
                  </a:cubicBezTo>
                  <a:cubicBezTo>
                    <a:pt x="33" y="84"/>
                    <a:pt x="38" y="86"/>
                    <a:pt x="41" y="87"/>
                  </a:cubicBezTo>
                  <a:cubicBezTo>
                    <a:pt x="44" y="89"/>
                    <a:pt x="47" y="92"/>
                    <a:pt x="47" y="94"/>
                  </a:cubicBezTo>
                  <a:cubicBezTo>
                    <a:pt x="48" y="96"/>
                    <a:pt x="50" y="98"/>
                    <a:pt x="51" y="98"/>
                  </a:cubicBezTo>
                  <a:cubicBezTo>
                    <a:pt x="53" y="99"/>
                    <a:pt x="55" y="99"/>
                    <a:pt x="55" y="99"/>
                  </a:cubicBezTo>
                  <a:cubicBezTo>
                    <a:pt x="55" y="99"/>
                    <a:pt x="55" y="97"/>
                    <a:pt x="54" y="95"/>
                  </a:cubicBezTo>
                  <a:cubicBezTo>
                    <a:pt x="54" y="93"/>
                    <a:pt x="55" y="90"/>
                    <a:pt x="56" y="89"/>
                  </a:cubicBezTo>
                  <a:cubicBezTo>
                    <a:pt x="58" y="88"/>
                    <a:pt x="59" y="86"/>
                    <a:pt x="60" y="85"/>
                  </a:cubicBezTo>
                  <a:cubicBezTo>
                    <a:pt x="61" y="84"/>
                    <a:pt x="61" y="83"/>
                    <a:pt x="61" y="82"/>
                  </a:cubicBezTo>
                  <a:cubicBezTo>
                    <a:pt x="61" y="81"/>
                    <a:pt x="61" y="80"/>
                    <a:pt x="61" y="79"/>
                  </a:cubicBezTo>
                  <a:cubicBezTo>
                    <a:pt x="61" y="78"/>
                    <a:pt x="61" y="76"/>
                    <a:pt x="60" y="75"/>
                  </a:cubicBezTo>
                  <a:cubicBezTo>
                    <a:pt x="60" y="74"/>
                    <a:pt x="61" y="73"/>
                    <a:pt x="62" y="71"/>
                  </a:cubicBezTo>
                  <a:cubicBezTo>
                    <a:pt x="63" y="70"/>
                    <a:pt x="64" y="67"/>
                    <a:pt x="64" y="65"/>
                  </a:cubicBezTo>
                  <a:cubicBezTo>
                    <a:pt x="64" y="63"/>
                    <a:pt x="66" y="61"/>
                    <a:pt x="68" y="60"/>
                  </a:cubicBezTo>
                  <a:cubicBezTo>
                    <a:pt x="70" y="59"/>
                    <a:pt x="74" y="58"/>
                    <a:pt x="76" y="58"/>
                  </a:cubicBezTo>
                  <a:cubicBezTo>
                    <a:pt x="78" y="57"/>
                    <a:pt x="81" y="58"/>
                    <a:pt x="82" y="60"/>
                  </a:cubicBezTo>
                  <a:cubicBezTo>
                    <a:pt x="83" y="62"/>
                    <a:pt x="86" y="63"/>
                    <a:pt x="88" y="62"/>
                  </a:cubicBezTo>
                  <a:cubicBezTo>
                    <a:pt x="89" y="62"/>
                    <a:pt x="91" y="61"/>
                    <a:pt x="91" y="61"/>
                  </a:cubicBezTo>
                  <a:cubicBezTo>
                    <a:pt x="91" y="61"/>
                    <a:pt x="91" y="63"/>
                    <a:pt x="92" y="65"/>
                  </a:cubicBezTo>
                  <a:cubicBezTo>
                    <a:pt x="92" y="67"/>
                    <a:pt x="93" y="70"/>
                    <a:pt x="92" y="72"/>
                  </a:cubicBezTo>
                  <a:cubicBezTo>
                    <a:pt x="92" y="74"/>
                    <a:pt x="93" y="79"/>
                    <a:pt x="94" y="83"/>
                  </a:cubicBezTo>
                  <a:cubicBezTo>
                    <a:pt x="95" y="87"/>
                    <a:pt x="97" y="92"/>
                    <a:pt x="98" y="93"/>
                  </a:cubicBezTo>
                  <a:cubicBezTo>
                    <a:pt x="99" y="94"/>
                    <a:pt x="105" y="97"/>
                    <a:pt x="109" y="100"/>
                  </a:cubicBezTo>
                  <a:cubicBezTo>
                    <a:pt x="114" y="102"/>
                    <a:pt x="120" y="101"/>
                    <a:pt x="123" y="97"/>
                  </a:cubicBezTo>
                  <a:cubicBezTo>
                    <a:pt x="126" y="94"/>
                    <a:pt x="130" y="90"/>
                    <a:pt x="131" y="89"/>
                  </a:cubicBezTo>
                  <a:cubicBezTo>
                    <a:pt x="133" y="88"/>
                    <a:pt x="135" y="87"/>
                    <a:pt x="136" y="87"/>
                  </a:cubicBezTo>
                  <a:cubicBezTo>
                    <a:pt x="138" y="87"/>
                    <a:pt x="140" y="85"/>
                    <a:pt x="141" y="82"/>
                  </a:cubicBezTo>
                  <a:cubicBezTo>
                    <a:pt x="142" y="79"/>
                    <a:pt x="144" y="76"/>
                    <a:pt x="146" y="75"/>
                  </a:cubicBezTo>
                  <a:cubicBezTo>
                    <a:pt x="148" y="74"/>
                    <a:pt x="153" y="72"/>
                    <a:pt x="157" y="72"/>
                  </a:cubicBezTo>
                  <a:cubicBezTo>
                    <a:pt x="160" y="71"/>
                    <a:pt x="163" y="69"/>
                    <a:pt x="163" y="68"/>
                  </a:cubicBezTo>
                  <a:cubicBezTo>
                    <a:pt x="163" y="67"/>
                    <a:pt x="163" y="65"/>
                    <a:pt x="164" y="64"/>
                  </a:cubicBezTo>
                  <a:cubicBezTo>
                    <a:pt x="165" y="63"/>
                    <a:pt x="167" y="61"/>
                    <a:pt x="167" y="60"/>
                  </a:cubicBezTo>
                  <a:cubicBezTo>
                    <a:pt x="168" y="60"/>
                    <a:pt x="169" y="59"/>
                    <a:pt x="169" y="59"/>
                  </a:cubicBezTo>
                  <a:cubicBezTo>
                    <a:pt x="169" y="59"/>
                    <a:pt x="169" y="60"/>
                    <a:pt x="170" y="61"/>
                  </a:cubicBezTo>
                  <a:cubicBezTo>
                    <a:pt x="170" y="62"/>
                    <a:pt x="172" y="62"/>
                    <a:pt x="173" y="62"/>
                  </a:cubicBezTo>
                  <a:cubicBezTo>
                    <a:pt x="174" y="61"/>
                    <a:pt x="177" y="61"/>
                    <a:pt x="179" y="61"/>
                  </a:cubicBezTo>
                  <a:cubicBezTo>
                    <a:pt x="181" y="61"/>
                    <a:pt x="183" y="63"/>
                    <a:pt x="184" y="65"/>
                  </a:cubicBezTo>
                  <a:cubicBezTo>
                    <a:pt x="185" y="67"/>
                    <a:pt x="185" y="69"/>
                    <a:pt x="185" y="69"/>
                  </a:cubicBezTo>
                  <a:cubicBezTo>
                    <a:pt x="185" y="69"/>
                    <a:pt x="187" y="70"/>
                    <a:pt x="189" y="71"/>
                  </a:cubicBezTo>
                  <a:cubicBezTo>
                    <a:pt x="191" y="73"/>
                    <a:pt x="193" y="75"/>
                    <a:pt x="194" y="76"/>
                  </a:cubicBezTo>
                  <a:cubicBezTo>
                    <a:pt x="195" y="78"/>
                    <a:pt x="195" y="81"/>
                    <a:pt x="196" y="84"/>
                  </a:cubicBezTo>
                  <a:cubicBezTo>
                    <a:pt x="196" y="86"/>
                    <a:pt x="198" y="89"/>
                    <a:pt x="201" y="89"/>
                  </a:cubicBezTo>
                  <a:cubicBezTo>
                    <a:pt x="204" y="89"/>
                    <a:pt x="206" y="90"/>
                    <a:pt x="206" y="90"/>
                  </a:cubicBezTo>
                  <a:cubicBezTo>
                    <a:pt x="206" y="90"/>
                    <a:pt x="207" y="90"/>
                    <a:pt x="207" y="91"/>
                  </a:cubicBezTo>
                  <a:cubicBezTo>
                    <a:pt x="208" y="91"/>
                    <a:pt x="209" y="93"/>
                    <a:pt x="209" y="94"/>
                  </a:cubicBezTo>
                  <a:cubicBezTo>
                    <a:pt x="209" y="95"/>
                    <a:pt x="210" y="96"/>
                    <a:pt x="211" y="97"/>
                  </a:cubicBezTo>
                  <a:cubicBezTo>
                    <a:pt x="213" y="97"/>
                    <a:pt x="214" y="99"/>
                    <a:pt x="214" y="102"/>
                  </a:cubicBezTo>
                  <a:cubicBezTo>
                    <a:pt x="215" y="104"/>
                    <a:pt x="215" y="106"/>
                    <a:pt x="215" y="106"/>
                  </a:cubicBezTo>
                  <a:cubicBezTo>
                    <a:pt x="243" y="104"/>
                    <a:pt x="243" y="104"/>
                    <a:pt x="243" y="104"/>
                  </a:cubicBezTo>
                  <a:cubicBezTo>
                    <a:pt x="244" y="60"/>
                    <a:pt x="244" y="60"/>
                    <a:pt x="244" y="60"/>
                  </a:cubicBezTo>
                  <a:cubicBezTo>
                    <a:pt x="244" y="60"/>
                    <a:pt x="244" y="57"/>
                    <a:pt x="243" y="55"/>
                  </a:cubicBezTo>
                  <a:cubicBezTo>
                    <a:pt x="243" y="52"/>
                    <a:pt x="239" y="50"/>
                    <a:pt x="235" y="49"/>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3" name="Freeform 51">
              <a:extLst>
                <a:ext uri="{FF2B5EF4-FFF2-40B4-BE49-F238E27FC236}">
                  <a16:creationId xmlns:a16="http://schemas.microsoft.com/office/drawing/2014/main" id="{05609CD3-A695-46E4-0458-1FC99FB54C76}"/>
                </a:ext>
              </a:extLst>
            </p:cNvPr>
            <p:cNvSpPr>
              <a:spLocks/>
            </p:cNvSpPr>
            <p:nvPr/>
          </p:nvSpPr>
          <p:spPr bwMode="auto">
            <a:xfrm>
              <a:off x="6538884" y="5341920"/>
              <a:ext cx="1042988" cy="996950"/>
            </a:xfrm>
            <a:custGeom>
              <a:avLst/>
              <a:gdLst/>
              <a:ahLst/>
              <a:cxnLst>
                <a:cxn ang="0">
                  <a:pos x="193" y="37"/>
                </a:cxn>
                <a:cxn ang="0">
                  <a:pos x="190" y="33"/>
                </a:cxn>
                <a:cxn ang="0">
                  <a:pos x="180" y="27"/>
                </a:cxn>
                <a:cxn ang="0">
                  <a:pos x="173" y="14"/>
                </a:cxn>
                <a:cxn ang="0">
                  <a:pos x="168" y="8"/>
                </a:cxn>
                <a:cxn ang="0">
                  <a:pos x="157" y="5"/>
                </a:cxn>
                <a:cxn ang="0">
                  <a:pos x="153" y="2"/>
                </a:cxn>
                <a:cxn ang="0">
                  <a:pos x="148" y="7"/>
                </a:cxn>
                <a:cxn ang="0">
                  <a:pos x="141" y="15"/>
                </a:cxn>
                <a:cxn ang="0">
                  <a:pos x="125" y="25"/>
                </a:cxn>
                <a:cxn ang="0">
                  <a:pos x="115" y="32"/>
                </a:cxn>
                <a:cxn ang="0">
                  <a:pos x="93" y="43"/>
                </a:cxn>
                <a:cxn ang="0">
                  <a:pos x="78" y="26"/>
                </a:cxn>
                <a:cxn ang="0">
                  <a:pos x="76" y="8"/>
                </a:cxn>
                <a:cxn ang="0">
                  <a:pos x="72" y="5"/>
                </a:cxn>
                <a:cxn ang="0">
                  <a:pos x="60" y="1"/>
                </a:cxn>
                <a:cxn ang="0">
                  <a:pos x="48" y="8"/>
                </a:cxn>
                <a:cxn ang="0">
                  <a:pos x="44" y="18"/>
                </a:cxn>
                <a:cxn ang="0">
                  <a:pos x="45" y="25"/>
                </a:cxn>
                <a:cxn ang="0">
                  <a:pos x="40" y="32"/>
                </a:cxn>
                <a:cxn ang="0">
                  <a:pos x="39" y="42"/>
                </a:cxn>
                <a:cxn ang="0">
                  <a:pos x="45" y="49"/>
                </a:cxn>
                <a:cxn ang="0">
                  <a:pos x="37" y="51"/>
                </a:cxn>
                <a:cxn ang="0">
                  <a:pos x="36" y="61"/>
                </a:cxn>
                <a:cxn ang="0">
                  <a:pos x="29" y="63"/>
                </a:cxn>
                <a:cxn ang="0">
                  <a:pos x="17" y="68"/>
                </a:cxn>
                <a:cxn ang="0">
                  <a:pos x="15" y="74"/>
                </a:cxn>
                <a:cxn ang="0">
                  <a:pos x="13" y="87"/>
                </a:cxn>
                <a:cxn ang="0">
                  <a:pos x="4" y="101"/>
                </a:cxn>
                <a:cxn ang="0">
                  <a:pos x="1" y="115"/>
                </a:cxn>
                <a:cxn ang="0">
                  <a:pos x="5" y="137"/>
                </a:cxn>
                <a:cxn ang="0">
                  <a:pos x="4" y="149"/>
                </a:cxn>
                <a:cxn ang="0">
                  <a:pos x="13" y="150"/>
                </a:cxn>
                <a:cxn ang="0">
                  <a:pos x="17" y="157"/>
                </a:cxn>
                <a:cxn ang="0">
                  <a:pos x="34" y="169"/>
                </a:cxn>
                <a:cxn ang="0">
                  <a:pos x="55" y="184"/>
                </a:cxn>
                <a:cxn ang="0">
                  <a:pos x="75" y="200"/>
                </a:cxn>
                <a:cxn ang="0">
                  <a:pos x="93" y="213"/>
                </a:cxn>
                <a:cxn ang="0">
                  <a:pos x="108" y="220"/>
                </a:cxn>
                <a:cxn ang="0">
                  <a:pos x="105" y="224"/>
                </a:cxn>
                <a:cxn ang="0">
                  <a:pos x="126" y="244"/>
                </a:cxn>
                <a:cxn ang="0">
                  <a:pos x="148" y="263"/>
                </a:cxn>
                <a:cxn ang="0">
                  <a:pos x="153" y="261"/>
                </a:cxn>
                <a:cxn ang="0">
                  <a:pos x="154" y="240"/>
                </a:cxn>
                <a:cxn ang="0">
                  <a:pos x="157" y="227"/>
                </a:cxn>
                <a:cxn ang="0">
                  <a:pos x="149" y="208"/>
                </a:cxn>
                <a:cxn ang="0">
                  <a:pos x="261" y="137"/>
                </a:cxn>
                <a:cxn ang="0">
                  <a:pos x="275" y="135"/>
                </a:cxn>
                <a:cxn ang="0">
                  <a:pos x="277" y="119"/>
                </a:cxn>
                <a:cxn ang="0">
                  <a:pos x="276" y="108"/>
                </a:cxn>
                <a:cxn ang="0">
                  <a:pos x="264" y="103"/>
                </a:cxn>
                <a:cxn ang="0">
                  <a:pos x="253" y="89"/>
                </a:cxn>
                <a:cxn ang="0">
                  <a:pos x="236" y="76"/>
                </a:cxn>
                <a:cxn ang="0">
                  <a:pos x="225" y="66"/>
                </a:cxn>
                <a:cxn ang="0">
                  <a:pos x="218" y="66"/>
                </a:cxn>
                <a:cxn ang="0">
                  <a:pos x="202" y="52"/>
                </a:cxn>
                <a:cxn ang="0">
                  <a:pos x="198" y="45"/>
                </a:cxn>
              </a:cxnLst>
              <a:rect l="0" t="0" r="r" b="b"/>
              <a:pathLst>
                <a:path w="278" h="265">
                  <a:moveTo>
                    <a:pt x="195" y="40"/>
                  </a:moveTo>
                  <a:cubicBezTo>
                    <a:pt x="194" y="39"/>
                    <a:pt x="193" y="38"/>
                    <a:pt x="193" y="37"/>
                  </a:cubicBezTo>
                  <a:cubicBezTo>
                    <a:pt x="193" y="36"/>
                    <a:pt x="192" y="34"/>
                    <a:pt x="191" y="34"/>
                  </a:cubicBezTo>
                  <a:cubicBezTo>
                    <a:pt x="191" y="33"/>
                    <a:pt x="190" y="33"/>
                    <a:pt x="190" y="33"/>
                  </a:cubicBezTo>
                  <a:cubicBezTo>
                    <a:pt x="190" y="33"/>
                    <a:pt x="188" y="32"/>
                    <a:pt x="185" y="32"/>
                  </a:cubicBezTo>
                  <a:cubicBezTo>
                    <a:pt x="182" y="32"/>
                    <a:pt x="180" y="29"/>
                    <a:pt x="180" y="27"/>
                  </a:cubicBezTo>
                  <a:cubicBezTo>
                    <a:pt x="179" y="24"/>
                    <a:pt x="179" y="21"/>
                    <a:pt x="178" y="19"/>
                  </a:cubicBezTo>
                  <a:cubicBezTo>
                    <a:pt x="177" y="18"/>
                    <a:pt x="175" y="16"/>
                    <a:pt x="173" y="14"/>
                  </a:cubicBezTo>
                  <a:cubicBezTo>
                    <a:pt x="171" y="13"/>
                    <a:pt x="169" y="12"/>
                    <a:pt x="169" y="12"/>
                  </a:cubicBezTo>
                  <a:cubicBezTo>
                    <a:pt x="169" y="12"/>
                    <a:pt x="169" y="10"/>
                    <a:pt x="168" y="8"/>
                  </a:cubicBezTo>
                  <a:cubicBezTo>
                    <a:pt x="167" y="6"/>
                    <a:pt x="165" y="4"/>
                    <a:pt x="163" y="4"/>
                  </a:cubicBezTo>
                  <a:cubicBezTo>
                    <a:pt x="161" y="4"/>
                    <a:pt x="158" y="4"/>
                    <a:pt x="157" y="5"/>
                  </a:cubicBezTo>
                  <a:cubicBezTo>
                    <a:pt x="156" y="5"/>
                    <a:pt x="154" y="5"/>
                    <a:pt x="154" y="4"/>
                  </a:cubicBezTo>
                  <a:cubicBezTo>
                    <a:pt x="153" y="3"/>
                    <a:pt x="153" y="2"/>
                    <a:pt x="153" y="2"/>
                  </a:cubicBezTo>
                  <a:cubicBezTo>
                    <a:pt x="153" y="2"/>
                    <a:pt x="152" y="3"/>
                    <a:pt x="151" y="3"/>
                  </a:cubicBezTo>
                  <a:cubicBezTo>
                    <a:pt x="151" y="4"/>
                    <a:pt x="149" y="6"/>
                    <a:pt x="148" y="7"/>
                  </a:cubicBezTo>
                  <a:cubicBezTo>
                    <a:pt x="147" y="8"/>
                    <a:pt x="147" y="10"/>
                    <a:pt x="147" y="11"/>
                  </a:cubicBezTo>
                  <a:cubicBezTo>
                    <a:pt x="147" y="12"/>
                    <a:pt x="144" y="14"/>
                    <a:pt x="141" y="15"/>
                  </a:cubicBezTo>
                  <a:cubicBezTo>
                    <a:pt x="137" y="15"/>
                    <a:pt x="132" y="17"/>
                    <a:pt x="130" y="18"/>
                  </a:cubicBezTo>
                  <a:cubicBezTo>
                    <a:pt x="128" y="19"/>
                    <a:pt x="126" y="22"/>
                    <a:pt x="125" y="25"/>
                  </a:cubicBezTo>
                  <a:cubicBezTo>
                    <a:pt x="124" y="28"/>
                    <a:pt x="122" y="30"/>
                    <a:pt x="120" y="30"/>
                  </a:cubicBezTo>
                  <a:cubicBezTo>
                    <a:pt x="119" y="30"/>
                    <a:pt x="117" y="31"/>
                    <a:pt x="115" y="32"/>
                  </a:cubicBezTo>
                  <a:cubicBezTo>
                    <a:pt x="114" y="33"/>
                    <a:pt x="110" y="37"/>
                    <a:pt x="107" y="40"/>
                  </a:cubicBezTo>
                  <a:cubicBezTo>
                    <a:pt x="104" y="44"/>
                    <a:pt x="98" y="45"/>
                    <a:pt x="93" y="43"/>
                  </a:cubicBezTo>
                  <a:cubicBezTo>
                    <a:pt x="89" y="40"/>
                    <a:pt x="83" y="37"/>
                    <a:pt x="82" y="36"/>
                  </a:cubicBezTo>
                  <a:cubicBezTo>
                    <a:pt x="81" y="35"/>
                    <a:pt x="79" y="30"/>
                    <a:pt x="78" y="26"/>
                  </a:cubicBezTo>
                  <a:cubicBezTo>
                    <a:pt x="77" y="22"/>
                    <a:pt x="76" y="17"/>
                    <a:pt x="76" y="15"/>
                  </a:cubicBezTo>
                  <a:cubicBezTo>
                    <a:pt x="77" y="13"/>
                    <a:pt x="76" y="10"/>
                    <a:pt x="76" y="8"/>
                  </a:cubicBezTo>
                  <a:cubicBezTo>
                    <a:pt x="75" y="6"/>
                    <a:pt x="75" y="4"/>
                    <a:pt x="75" y="4"/>
                  </a:cubicBezTo>
                  <a:cubicBezTo>
                    <a:pt x="75" y="4"/>
                    <a:pt x="73" y="5"/>
                    <a:pt x="72" y="5"/>
                  </a:cubicBezTo>
                  <a:cubicBezTo>
                    <a:pt x="70" y="6"/>
                    <a:pt x="67" y="5"/>
                    <a:pt x="66" y="3"/>
                  </a:cubicBezTo>
                  <a:cubicBezTo>
                    <a:pt x="65" y="1"/>
                    <a:pt x="62" y="0"/>
                    <a:pt x="60" y="1"/>
                  </a:cubicBezTo>
                  <a:cubicBezTo>
                    <a:pt x="58" y="1"/>
                    <a:pt x="54" y="2"/>
                    <a:pt x="52" y="3"/>
                  </a:cubicBezTo>
                  <a:cubicBezTo>
                    <a:pt x="50" y="4"/>
                    <a:pt x="48" y="6"/>
                    <a:pt x="48" y="8"/>
                  </a:cubicBezTo>
                  <a:cubicBezTo>
                    <a:pt x="48" y="10"/>
                    <a:pt x="47" y="13"/>
                    <a:pt x="46" y="14"/>
                  </a:cubicBezTo>
                  <a:cubicBezTo>
                    <a:pt x="45" y="16"/>
                    <a:pt x="44" y="17"/>
                    <a:pt x="44" y="18"/>
                  </a:cubicBezTo>
                  <a:cubicBezTo>
                    <a:pt x="45" y="19"/>
                    <a:pt x="45" y="21"/>
                    <a:pt x="45" y="22"/>
                  </a:cubicBezTo>
                  <a:cubicBezTo>
                    <a:pt x="45" y="23"/>
                    <a:pt x="45" y="24"/>
                    <a:pt x="45" y="25"/>
                  </a:cubicBezTo>
                  <a:cubicBezTo>
                    <a:pt x="45" y="26"/>
                    <a:pt x="45" y="27"/>
                    <a:pt x="44" y="28"/>
                  </a:cubicBezTo>
                  <a:cubicBezTo>
                    <a:pt x="43" y="29"/>
                    <a:pt x="42" y="31"/>
                    <a:pt x="40" y="32"/>
                  </a:cubicBezTo>
                  <a:cubicBezTo>
                    <a:pt x="39" y="33"/>
                    <a:pt x="38" y="36"/>
                    <a:pt x="38" y="38"/>
                  </a:cubicBezTo>
                  <a:cubicBezTo>
                    <a:pt x="39" y="40"/>
                    <a:pt x="39" y="42"/>
                    <a:pt x="39" y="42"/>
                  </a:cubicBezTo>
                  <a:cubicBezTo>
                    <a:pt x="39" y="42"/>
                    <a:pt x="40" y="43"/>
                    <a:pt x="42" y="44"/>
                  </a:cubicBezTo>
                  <a:cubicBezTo>
                    <a:pt x="44" y="46"/>
                    <a:pt x="45" y="48"/>
                    <a:pt x="45" y="49"/>
                  </a:cubicBezTo>
                  <a:cubicBezTo>
                    <a:pt x="45" y="50"/>
                    <a:pt x="44" y="50"/>
                    <a:pt x="42" y="50"/>
                  </a:cubicBezTo>
                  <a:cubicBezTo>
                    <a:pt x="40" y="49"/>
                    <a:pt x="38" y="50"/>
                    <a:pt x="37" y="51"/>
                  </a:cubicBezTo>
                  <a:cubicBezTo>
                    <a:pt x="36" y="52"/>
                    <a:pt x="36" y="54"/>
                    <a:pt x="37" y="56"/>
                  </a:cubicBezTo>
                  <a:cubicBezTo>
                    <a:pt x="38" y="57"/>
                    <a:pt x="37" y="60"/>
                    <a:pt x="36" y="61"/>
                  </a:cubicBezTo>
                  <a:cubicBezTo>
                    <a:pt x="35" y="63"/>
                    <a:pt x="33" y="64"/>
                    <a:pt x="33" y="64"/>
                  </a:cubicBezTo>
                  <a:cubicBezTo>
                    <a:pt x="33" y="64"/>
                    <a:pt x="31" y="64"/>
                    <a:pt x="29" y="63"/>
                  </a:cubicBezTo>
                  <a:cubicBezTo>
                    <a:pt x="26" y="63"/>
                    <a:pt x="23" y="64"/>
                    <a:pt x="22" y="65"/>
                  </a:cubicBezTo>
                  <a:cubicBezTo>
                    <a:pt x="20" y="66"/>
                    <a:pt x="18" y="67"/>
                    <a:pt x="17" y="68"/>
                  </a:cubicBezTo>
                  <a:cubicBezTo>
                    <a:pt x="16" y="69"/>
                    <a:pt x="15" y="70"/>
                    <a:pt x="15" y="70"/>
                  </a:cubicBezTo>
                  <a:cubicBezTo>
                    <a:pt x="15" y="70"/>
                    <a:pt x="15" y="72"/>
                    <a:pt x="15" y="74"/>
                  </a:cubicBezTo>
                  <a:cubicBezTo>
                    <a:pt x="15" y="76"/>
                    <a:pt x="14" y="79"/>
                    <a:pt x="13" y="81"/>
                  </a:cubicBezTo>
                  <a:cubicBezTo>
                    <a:pt x="13" y="82"/>
                    <a:pt x="12" y="85"/>
                    <a:pt x="13" y="87"/>
                  </a:cubicBezTo>
                  <a:cubicBezTo>
                    <a:pt x="13" y="90"/>
                    <a:pt x="11" y="93"/>
                    <a:pt x="9" y="94"/>
                  </a:cubicBezTo>
                  <a:cubicBezTo>
                    <a:pt x="6" y="95"/>
                    <a:pt x="4" y="98"/>
                    <a:pt x="4" y="101"/>
                  </a:cubicBezTo>
                  <a:cubicBezTo>
                    <a:pt x="5" y="103"/>
                    <a:pt x="4" y="106"/>
                    <a:pt x="4" y="107"/>
                  </a:cubicBezTo>
                  <a:cubicBezTo>
                    <a:pt x="3" y="108"/>
                    <a:pt x="2" y="112"/>
                    <a:pt x="1" y="115"/>
                  </a:cubicBezTo>
                  <a:cubicBezTo>
                    <a:pt x="0" y="119"/>
                    <a:pt x="0" y="124"/>
                    <a:pt x="1" y="127"/>
                  </a:cubicBezTo>
                  <a:cubicBezTo>
                    <a:pt x="2" y="131"/>
                    <a:pt x="4" y="135"/>
                    <a:pt x="5" y="137"/>
                  </a:cubicBezTo>
                  <a:cubicBezTo>
                    <a:pt x="5" y="138"/>
                    <a:pt x="6" y="142"/>
                    <a:pt x="5" y="145"/>
                  </a:cubicBezTo>
                  <a:cubicBezTo>
                    <a:pt x="4" y="147"/>
                    <a:pt x="4" y="149"/>
                    <a:pt x="4" y="149"/>
                  </a:cubicBezTo>
                  <a:cubicBezTo>
                    <a:pt x="4" y="149"/>
                    <a:pt x="5" y="150"/>
                    <a:pt x="7" y="150"/>
                  </a:cubicBezTo>
                  <a:cubicBezTo>
                    <a:pt x="9" y="150"/>
                    <a:pt x="11" y="151"/>
                    <a:pt x="13" y="150"/>
                  </a:cubicBezTo>
                  <a:cubicBezTo>
                    <a:pt x="15" y="150"/>
                    <a:pt x="17" y="151"/>
                    <a:pt x="17" y="152"/>
                  </a:cubicBezTo>
                  <a:cubicBezTo>
                    <a:pt x="18" y="153"/>
                    <a:pt x="18" y="155"/>
                    <a:pt x="17" y="157"/>
                  </a:cubicBezTo>
                  <a:cubicBezTo>
                    <a:pt x="17" y="158"/>
                    <a:pt x="19" y="161"/>
                    <a:pt x="22" y="163"/>
                  </a:cubicBezTo>
                  <a:cubicBezTo>
                    <a:pt x="26" y="164"/>
                    <a:pt x="31" y="167"/>
                    <a:pt x="34" y="169"/>
                  </a:cubicBezTo>
                  <a:cubicBezTo>
                    <a:pt x="37" y="171"/>
                    <a:pt x="41" y="174"/>
                    <a:pt x="44" y="176"/>
                  </a:cubicBezTo>
                  <a:cubicBezTo>
                    <a:pt x="47" y="178"/>
                    <a:pt x="51" y="182"/>
                    <a:pt x="55" y="184"/>
                  </a:cubicBezTo>
                  <a:cubicBezTo>
                    <a:pt x="58" y="186"/>
                    <a:pt x="63" y="189"/>
                    <a:pt x="65" y="191"/>
                  </a:cubicBezTo>
                  <a:cubicBezTo>
                    <a:pt x="67" y="194"/>
                    <a:pt x="72" y="197"/>
                    <a:pt x="75" y="200"/>
                  </a:cubicBezTo>
                  <a:cubicBezTo>
                    <a:pt x="78" y="203"/>
                    <a:pt x="82" y="206"/>
                    <a:pt x="84" y="207"/>
                  </a:cubicBezTo>
                  <a:cubicBezTo>
                    <a:pt x="86" y="209"/>
                    <a:pt x="90" y="211"/>
                    <a:pt x="93" y="213"/>
                  </a:cubicBezTo>
                  <a:cubicBezTo>
                    <a:pt x="96" y="214"/>
                    <a:pt x="100" y="216"/>
                    <a:pt x="102" y="217"/>
                  </a:cubicBezTo>
                  <a:cubicBezTo>
                    <a:pt x="105" y="217"/>
                    <a:pt x="107" y="219"/>
                    <a:pt x="108" y="220"/>
                  </a:cubicBezTo>
                  <a:cubicBezTo>
                    <a:pt x="108" y="221"/>
                    <a:pt x="107" y="221"/>
                    <a:pt x="105" y="221"/>
                  </a:cubicBezTo>
                  <a:cubicBezTo>
                    <a:pt x="102" y="220"/>
                    <a:pt x="102" y="221"/>
                    <a:pt x="105" y="224"/>
                  </a:cubicBezTo>
                  <a:cubicBezTo>
                    <a:pt x="107" y="226"/>
                    <a:pt x="112" y="231"/>
                    <a:pt x="115" y="234"/>
                  </a:cubicBezTo>
                  <a:cubicBezTo>
                    <a:pt x="118" y="237"/>
                    <a:pt x="123" y="242"/>
                    <a:pt x="126" y="244"/>
                  </a:cubicBezTo>
                  <a:cubicBezTo>
                    <a:pt x="129" y="246"/>
                    <a:pt x="134" y="251"/>
                    <a:pt x="138" y="254"/>
                  </a:cubicBezTo>
                  <a:cubicBezTo>
                    <a:pt x="142" y="258"/>
                    <a:pt x="147" y="262"/>
                    <a:pt x="148" y="263"/>
                  </a:cubicBezTo>
                  <a:cubicBezTo>
                    <a:pt x="149" y="264"/>
                    <a:pt x="151" y="265"/>
                    <a:pt x="151" y="265"/>
                  </a:cubicBezTo>
                  <a:cubicBezTo>
                    <a:pt x="151" y="265"/>
                    <a:pt x="152" y="263"/>
                    <a:pt x="153" y="261"/>
                  </a:cubicBezTo>
                  <a:cubicBezTo>
                    <a:pt x="154" y="258"/>
                    <a:pt x="154" y="253"/>
                    <a:pt x="154" y="249"/>
                  </a:cubicBezTo>
                  <a:cubicBezTo>
                    <a:pt x="153" y="246"/>
                    <a:pt x="153" y="242"/>
                    <a:pt x="154" y="240"/>
                  </a:cubicBezTo>
                  <a:cubicBezTo>
                    <a:pt x="154" y="239"/>
                    <a:pt x="155" y="236"/>
                    <a:pt x="154" y="234"/>
                  </a:cubicBezTo>
                  <a:cubicBezTo>
                    <a:pt x="154" y="232"/>
                    <a:pt x="155" y="228"/>
                    <a:pt x="157" y="227"/>
                  </a:cubicBezTo>
                  <a:cubicBezTo>
                    <a:pt x="158" y="225"/>
                    <a:pt x="157" y="220"/>
                    <a:pt x="154" y="216"/>
                  </a:cubicBezTo>
                  <a:cubicBezTo>
                    <a:pt x="151" y="211"/>
                    <a:pt x="149" y="208"/>
                    <a:pt x="149" y="208"/>
                  </a:cubicBezTo>
                  <a:cubicBezTo>
                    <a:pt x="180" y="143"/>
                    <a:pt x="180" y="143"/>
                    <a:pt x="180" y="143"/>
                  </a:cubicBezTo>
                  <a:cubicBezTo>
                    <a:pt x="261" y="137"/>
                    <a:pt x="261" y="137"/>
                    <a:pt x="261" y="137"/>
                  </a:cubicBezTo>
                  <a:cubicBezTo>
                    <a:pt x="261" y="137"/>
                    <a:pt x="263" y="137"/>
                    <a:pt x="267" y="137"/>
                  </a:cubicBezTo>
                  <a:cubicBezTo>
                    <a:pt x="270" y="137"/>
                    <a:pt x="274" y="136"/>
                    <a:pt x="275" y="135"/>
                  </a:cubicBezTo>
                  <a:cubicBezTo>
                    <a:pt x="276" y="135"/>
                    <a:pt x="277" y="132"/>
                    <a:pt x="277" y="129"/>
                  </a:cubicBezTo>
                  <a:cubicBezTo>
                    <a:pt x="276" y="126"/>
                    <a:pt x="276" y="122"/>
                    <a:pt x="277" y="119"/>
                  </a:cubicBezTo>
                  <a:cubicBezTo>
                    <a:pt x="277" y="117"/>
                    <a:pt x="277" y="114"/>
                    <a:pt x="278" y="112"/>
                  </a:cubicBezTo>
                  <a:cubicBezTo>
                    <a:pt x="278" y="111"/>
                    <a:pt x="277" y="109"/>
                    <a:pt x="276" y="108"/>
                  </a:cubicBezTo>
                  <a:cubicBezTo>
                    <a:pt x="274" y="107"/>
                    <a:pt x="272" y="106"/>
                    <a:pt x="270" y="105"/>
                  </a:cubicBezTo>
                  <a:cubicBezTo>
                    <a:pt x="269" y="104"/>
                    <a:pt x="266" y="103"/>
                    <a:pt x="264" y="103"/>
                  </a:cubicBezTo>
                  <a:cubicBezTo>
                    <a:pt x="262" y="103"/>
                    <a:pt x="260" y="101"/>
                    <a:pt x="259" y="98"/>
                  </a:cubicBezTo>
                  <a:cubicBezTo>
                    <a:pt x="258" y="95"/>
                    <a:pt x="255" y="91"/>
                    <a:pt x="253" y="89"/>
                  </a:cubicBezTo>
                  <a:cubicBezTo>
                    <a:pt x="251" y="86"/>
                    <a:pt x="246" y="83"/>
                    <a:pt x="243" y="82"/>
                  </a:cubicBezTo>
                  <a:cubicBezTo>
                    <a:pt x="240" y="81"/>
                    <a:pt x="237" y="78"/>
                    <a:pt x="236" y="76"/>
                  </a:cubicBezTo>
                  <a:cubicBezTo>
                    <a:pt x="234" y="74"/>
                    <a:pt x="232" y="73"/>
                    <a:pt x="230" y="74"/>
                  </a:cubicBezTo>
                  <a:cubicBezTo>
                    <a:pt x="228" y="74"/>
                    <a:pt x="225" y="71"/>
                    <a:pt x="225" y="66"/>
                  </a:cubicBezTo>
                  <a:cubicBezTo>
                    <a:pt x="225" y="66"/>
                    <a:pt x="225" y="66"/>
                    <a:pt x="221" y="66"/>
                  </a:cubicBezTo>
                  <a:cubicBezTo>
                    <a:pt x="218" y="66"/>
                    <a:pt x="218" y="66"/>
                    <a:pt x="218" y="66"/>
                  </a:cubicBezTo>
                  <a:cubicBezTo>
                    <a:pt x="213" y="63"/>
                    <a:pt x="208" y="59"/>
                    <a:pt x="207" y="57"/>
                  </a:cubicBezTo>
                  <a:cubicBezTo>
                    <a:pt x="206" y="56"/>
                    <a:pt x="203" y="53"/>
                    <a:pt x="202" y="52"/>
                  </a:cubicBezTo>
                  <a:cubicBezTo>
                    <a:pt x="200" y="50"/>
                    <a:pt x="199" y="49"/>
                    <a:pt x="199" y="49"/>
                  </a:cubicBezTo>
                  <a:cubicBezTo>
                    <a:pt x="199" y="49"/>
                    <a:pt x="199" y="47"/>
                    <a:pt x="198" y="45"/>
                  </a:cubicBezTo>
                  <a:cubicBezTo>
                    <a:pt x="198" y="42"/>
                    <a:pt x="197" y="40"/>
                    <a:pt x="195" y="4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nvGrpSpPr>
            <p:cNvPr id="34" name="Group 249">
              <a:extLst>
                <a:ext uri="{FF2B5EF4-FFF2-40B4-BE49-F238E27FC236}">
                  <a16:creationId xmlns:a16="http://schemas.microsoft.com/office/drawing/2014/main" id="{403F264B-2AF7-5F97-9858-94C12AF32DFA}"/>
                </a:ext>
              </a:extLst>
            </p:cNvPr>
            <p:cNvGrpSpPr/>
            <p:nvPr/>
          </p:nvGrpSpPr>
          <p:grpSpPr>
            <a:xfrm>
              <a:off x="500034" y="928670"/>
              <a:ext cx="987425" cy="1438275"/>
              <a:chOff x="500034" y="928670"/>
              <a:chExt cx="987425" cy="1438275"/>
            </a:xfrm>
            <a:grpFill/>
          </p:grpSpPr>
          <p:sp>
            <p:nvSpPr>
              <p:cNvPr id="43" name="Freeform 28">
                <a:extLst>
                  <a:ext uri="{FF2B5EF4-FFF2-40B4-BE49-F238E27FC236}">
                    <a16:creationId xmlns:a16="http://schemas.microsoft.com/office/drawing/2014/main" id="{1CAA7915-4BF1-9D8F-CBF0-27550CA97C5D}"/>
                  </a:ext>
                </a:extLst>
              </p:cNvPr>
              <p:cNvSpPr>
                <a:spLocks/>
              </p:cNvSpPr>
              <p:nvPr/>
            </p:nvSpPr>
            <p:spPr bwMode="auto">
              <a:xfrm>
                <a:off x="500034" y="928670"/>
                <a:ext cx="987425" cy="1438275"/>
              </a:xfrm>
              <a:custGeom>
                <a:avLst/>
                <a:gdLst/>
                <a:ahLst/>
                <a:cxnLst>
                  <a:cxn ang="0">
                    <a:pos x="140" y="40"/>
                  </a:cxn>
                  <a:cxn ang="0">
                    <a:pos x="143" y="29"/>
                  </a:cxn>
                  <a:cxn ang="0">
                    <a:pos x="155" y="18"/>
                  </a:cxn>
                  <a:cxn ang="0">
                    <a:pos x="162" y="3"/>
                  </a:cxn>
                  <a:cxn ang="0">
                    <a:pos x="0" y="5"/>
                  </a:cxn>
                  <a:cxn ang="0">
                    <a:pos x="9" y="23"/>
                  </a:cxn>
                  <a:cxn ang="0">
                    <a:pos x="16" y="45"/>
                  </a:cxn>
                  <a:cxn ang="0">
                    <a:pos x="27" y="60"/>
                  </a:cxn>
                  <a:cxn ang="0">
                    <a:pos x="22" y="68"/>
                  </a:cxn>
                  <a:cxn ang="0">
                    <a:pos x="24" y="81"/>
                  </a:cxn>
                  <a:cxn ang="0">
                    <a:pos x="41" y="112"/>
                  </a:cxn>
                  <a:cxn ang="0">
                    <a:pos x="44" y="129"/>
                  </a:cxn>
                  <a:cxn ang="0">
                    <a:pos x="57" y="152"/>
                  </a:cxn>
                  <a:cxn ang="0">
                    <a:pos x="55" y="171"/>
                  </a:cxn>
                  <a:cxn ang="0">
                    <a:pos x="60" y="171"/>
                  </a:cxn>
                  <a:cxn ang="0">
                    <a:pos x="69" y="190"/>
                  </a:cxn>
                  <a:cxn ang="0">
                    <a:pos x="70" y="211"/>
                  </a:cxn>
                  <a:cxn ang="0">
                    <a:pos x="77" y="230"/>
                  </a:cxn>
                  <a:cxn ang="0">
                    <a:pos x="88" y="241"/>
                  </a:cxn>
                  <a:cxn ang="0">
                    <a:pos x="110" y="257"/>
                  </a:cxn>
                  <a:cxn ang="0">
                    <a:pos x="128" y="274"/>
                  </a:cxn>
                  <a:cxn ang="0">
                    <a:pos x="142" y="291"/>
                  </a:cxn>
                  <a:cxn ang="0">
                    <a:pos x="157" y="313"/>
                  </a:cxn>
                  <a:cxn ang="0">
                    <a:pos x="169" y="327"/>
                  </a:cxn>
                  <a:cxn ang="0">
                    <a:pos x="172" y="348"/>
                  </a:cxn>
                  <a:cxn ang="0">
                    <a:pos x="167" y="367"/>
                  </a:cxn>
                  <a:cxn ang="0">
                    <a:pos x="180" y="376"/>
                  </a:cxn>
                  <a:cxn ang="0">
                    <a:pos x="262" y="379"/>
                  </a:cxn>
                  <a:cxn ang="0">
                    <a:pos x="257" y="357"/>
                  </a:cxn>
                  <a:cxn ang="0">
                    <a:pos x="246" y="340"/>
                  </a:cxn>
                  <a:cxn ang="0">
                    <a:pos x="235" y="315"/>
                  </a:cxn>
                  <a:cxn ang="0">
                    <a:pos x="227" y="311"/>
                  </a:cxn>
                  <a:cxn ang="0">
                    <a:pos x="217" y="305"/>
                  </a:cxn>
                  <a:cxn ang="0">
                    <a:pos x="212" y="287"/>
                  </a:cxn>
                  <a:cxn ang="0">
                    <a:pos x="198" y="263"/>
                  </a:cxn>
                  <a:cxn ang="0">
                    <a:pos x="170" y="236"/>
                  </a:cxn>
                  <a:cxn ang="0">
                    <a:pos x="159" y="220"/>
                  </a:cxn>
                  <a:cxn ang="0">
                    <a:pos x="149" y="204"/>
                  </a:cxn>
                  <a:cxn ang="0">
                    <a:pos x="149" y="170"/>
                  </a:cxn>
                  <a:cxn ang="0">
                    <a:pos x="148" y="145"/>
                  </a:cxn>
                  <a:cxn ang="0">
                    <a:pos x="140" y="127"/>
                  </a:cxn>
                  <a:cxn ang="0">
                    <a:pos x="143" y="93"/>
                  </a:cxn>
                  <a:cxn ang="0">
                    <a:pos x="143" y="72"/>
                  </a:cxn>
                  <a:cxn ang="0">
                    <a:pos x="138" y="60"/>
                  </a:cxn>
                </a:cxnLst>
                <a:rect l="0" t="0" r="r" b="b"/>
                <a:pathLst>
                  <a:path w="263" h="383">
                    <a:moveTo>
                      <a:pt x="143" y="55"/>
                    </a:moveTo>
                    <a:cubicBezTo>
                      <a:pt x="144" y="53"/>
                      <a:pt x="145" y="50"/>
                      <a:pt x="144" y="48"/>
                    </a:cubicBezTo>
                    <a:cubicBezTo>
                      <a:pt x="143" y="46"/>
                      <a:pt x="141" y="43"/>
                      <a:pt x="140" y="40"/>
                    </a:cubicBezTo>
                    <a:cubicBezTo>
                      <a:pt x="138" y="38"/>
                      <a:pt x="137" y="36"/>
                      <a:pt x="137" y="36"/>
                    </a:cubicBezTo>
                    <a:cubicBezTo>
                      <a:pt x="137" y="36"/>
                      <a:pt x="138" y="35"/>
                      <a:pt x="140" y="33"/>
                    </a:cubicBezTo>
                    <a:cubicBezTo>
                      <a:pt x="141" y="32"/>
                      <a:pt x="142" y="30"/>
                      <a:pt x="143" y="29"/>
                    </a:cubicBezTo>
                    <a:cubicBezTo>
                      <a:pt x="144" y="28"/>
                      <a:pt x="145" y="26"/>
                      <a:pt x="145" y="24"/>
                    </a:cubicBezTo>
                    <a:cubicBezTo>
                      <a:pt x="146" y="22"/>
                      <a:pt x="148" y="20"/>
                      <a:pt x="151" y="20"/>
                    </a:cubicBezTo>
                    <a:cubicBezTo>
                      <a:pt x="153" y="19"/>
                      <a:pt x="155" y="18"/>
                      <a:pt x="155" y="18"/>
                    </a:cubicBezTo>
                    <a:cubicBezTo>
                      <a:pt x="155" y="18"/>
                      <a:pt x="155" y="17"/>
                      <a:pt x="155" y="15"/>
                    </a:cubicBezTo>
                    <a:cubicBezTo>
                      <a:pt x="155" y="13"/>
                      <a:pt x="156" y="10"/>
                      <a:pt x="157" y="8"/>
                    </a:cubicBezTo>
                    <a:cubicBezTo>
                      <a:pt x="158" y="7"/>
                      <a:pt x="161" y="5"/>
                      <a:pt x="162" y="3"/>
                    </a:cubicBezTo>
                    <a:cubicBezTo>
                      <a:pt x="164" y="2"/>
                      <a:pt x="165" y="1"/>
                      <a:pt x="165" y="1"/>
                    </a:cubicBezTo>
                    <a:cubicBezTo>
                      <a:pt x="0" y="0"/>
                      <a:pt x="0" y="0"/>
                      <a:pt x="0" y="0"/>
                    </a:cubicBezTo>
                    <a:cubicBezTo>
                      <a:pt x="0" y="0"/>
                      <a:pt x="0" y="3"/>
                      <a:pt x="0" y="5"/>
                    </a:cubicBezTo>
                    <a:cubicBezTo>
                      <a:pt x="1" y="8"/>
                      <a:pt x="1" y="12"/>
                      <a:pt x="2" y="14"/>
                    </a:cubicBezTo>
                    <a:cubicBezTo>
                      <a:pt x="3" y="15"/>
                      <a:pt x="4" y="18"/>
                      <a:pt x="5" y="19"/>
                    </a:cubicBezTo>
                    <a:cubicBezTo>
                      <a:pt x="6" y="20"/>
                      <a:pt x="8" y="22"/>
                      <a:pt x="9" y="23"/>
                    </a:cubicBezTo>
                    <a:cubicBezTo>
                      <a:pt x="10" y="24"/>
                      <a:pt x="11" y="27"/>
                      <a:pt x="11" y="29"/>
                    </a:cubicBezTo>
                    <a:cubicBezTo>
                      <a:pt x="11" y="32"/>
                      <a:pt x="12" y="36"/>
                      <a:pt x="12" y="38"/>
                    </a:cubicBezTo>
                    <a:cubicBezTo>
                      <a:pt x="12" y="40"/>
                      <a:pt x="14" y="44"/>
                      <a:pt x="16" y="45"/>
                    </a:cubicBezTo>
                    <a:cubicBezTo>
                      <a:pt x="18" y="47"/>
                      <a:pt x="21" y="50"/>
                      <a:pt x="22" y="51"/>
                    </a:cubicBezTo>
                    <a:cubicBezTo>
                      <a:pt x="23" y="52"/>
                      <a:pt x="25" y="55"/>
                      <a:pt x="26" y="56"/>
                    </a:cubicBezTo>
                    <a:cubicBezTo>
                      <a:pt x="26" y="57"/>
                      <a:pt x="27" y="59"/>
                      <a:pt x="27" y="60"/>
                    </a:cubicBezTo>
                    <a:cubicBezTo>
                      <a:pt x="27" y="61"/>
                      <a:pt x="26" y="63"/>
                      <a:pt x="25" y="63"/>
                    </a:cubicBezTo>
                    <a:cubicBezTo>
                      <a:pt x="25" y="64"/>
                      <a:pt x="23" y="64"/>
                      <a:pt x="22" y="64"/>
                    </a:cubicBezTo>
                    <a:cubicBezTo>
                      <a:pt x="21" y="64"/>
                      <a:pt x="21" y="66"/>
                      <a:pt x="22" y="68"/>
                    </a:cubicBezTo>
                    <a:cubicBezTo>
                      <a:pt x="23" y="69"/>
                      <a:pt x="24" y="72"/>
                      <a:pt x="24" y="74"/>
                    </a:cubicBezTo>
                    <a:cubicBezTo>
                      <a:pt x="24" y="75"/>
                      <a:pt x="23" y="76"/>
                      <a:pt x="23" y="76"/>
                    </a:cubicBezTo>
                    <a:cubicBezTo>
                      <a:pt x="22" y="76"/>
                      <a:pt x="22" y="78"/>
                      <a:pt x="24" y="81"/>
                    </a:cubicBezTo>
                    <a:cubicBezTo>
                      <a:pt x="25" y="84"/>
                      <a:pt x="27" y="87"/>
                      <a:pt x="29" y="88"/>
                    </a:cubicBezTo>
                    <a:cubicBezTo>
                      <a:pt x="30" y="89"/>
                      <a:pt x="33" y="93"/>
                      <a:pt x="36" y="98"/>
                    </a:cubicBezTo>
                    <a:cubicBezTo>
                      <a:pt x="38" y="103"/>
                      <a:pt x="41" y="109"/>
                      <a:pt x="41" y="112"/>
                    </a:cubicBezTo>
                    <a:cubicBezTo>
                      <a:pt x="42" y="115"/>
                      <a:pt x="42" y="119"/>
                      <a:pt x="42" y="120"/>
                    </a:cubicBezTo>
                    <a:cubicBezTo>
                      <a:pt x="41" y="122"/>
                      <a:pt x="41" y="124"/>
                      <a:pt x="41" y="125"/>
                    </a:cubicBezTo>
                    <a:cubicBezTo>
                      <a:pt x="42" y="127"/>
                      <a:pt x="43" y="128"/>
                      <a:pt x="44" y="129"/>
                    </a:cubicBezTo>
                    <a:cubicBezTo>
                      <a:pt x="45" y="130"/>
                      <a:pt x="47" y="133"/>
                      <a:pt x="49" y="135"/>
                    </a:cubicBezTo>
                    <a:cubicBezTo>
                      <a:pt x="51" y="137"/>
                      <a:pt x="53" y="140"/>
                      <a:pt x="54" y="142"/>
                    </a:cubicBezTo>
                    <a:cubicBezTo>
                      <a:pt x="56" y="143"/>
                      <a:pt x="57" y="148"/>
                      <a:pt x="57" y="152"/>
                    </a:cubicBezTo>
                    <a:cubicBezTo>
                      <a:pt x="57" y="156"/>
                      <a:pt x="57" y="160"/>
                      <a:pt x="56" y="161"/>
                    </a:cubicBezTo>
                    <a:cubicBezTo>
                      <a:pt x="56" y="162"/>
                      <a:pt x="56" y="164"/>
                      <a:pt x="55" y="165"/>
                    </a:cubicBezTo>
                    <a:cubicBezTo>
                      <a:pt x="54" y="166"/>
                      <a:pt x="54" y="169"/>
                      <a:pt x="55" y="171"/>
                    </a:cubicBezTo>
                    <a:cubicBezTo>
                      <a:pt x="55" y="174"/>
                      <a:pt x="56" y="175"/>
                      <a:pt x="56" y="173"/>
                    </a:cubicBezTo>
                    <a:cubicBezTo>
                      <a:pt x="57" y="172"/>
                      <a:pt x="58" y="170"/>
                      <a:pt x="59" y="169"/>
                    </a:cubicBezTo>
                    <a:cubicBezTo>
                      <a:pt x="60" y="169"/>
                      <a:pt x="61" y="170"/>
                      <a:pt x="60" y="171"/>
                    </a:cubicBezTo>
                    <a:cubicBezTo>
                      <a:pt x="60" y="173"/>
                      <a:pt x="61" y="175"/>
                      <a:pt x="63" y="175"/>
                    </a:cubicBezTo>
                    <a:cubicBezTo>
                      <a:pt x="65" y="176"/>
                      <a:pt x="67" y="178"/>
                      <a:pt x="68" y="181"/>
                    </a:cubicBezTo>
                    <a:cubicBezTo>
                      <a:pt x="69" y="184"/>
                      <a:pt x="69" y="188"/>
                      <a:pt x="69" y="190"/>
                    </a:cubicBezTo>
                    <a:cubicBezTo>
                      <a:pt x="69" y="192"/>
                      <a:pt x="69" y="196"/>
                      <a:pt x="69" y="198"/>
                    </a:cubicBezTo>
                    <a:cubicBezTo>
                      <a:pt x="69" y="200"/>
                      <a:pt x="69" y="203"/>
                      <a:pt x="68" y="204"/>
                    </a:cubicBezTo>
                    <a:cubicBezTo>
                      <a:pt x="68" y="205"/>
                      <a:pt x="69" y="208"/>
                      <a:pt x="70" y="211"/>
                    </a:cubicBezTo>
                    <a:cubicBezTo>
                      <a:pt x="72" y="214"/>
                      <a:pt x="73" y="217"/>
                      <a:pt x="73" y="220"/>
                    </a:cubicBezTo>
                    <a:cubicBezTo>
                      <a:pt x="73" y="222"/>
                      <a:pt x="74" y="225"/>
                      <a:pt x="75" y="227"/>
                    </a:cubicBezTo>
                    <a:cubicBezTo>
                      <a:pt x="75" y="228"/>
                      <a:pt x="77" y="230"/>
                      <a:pt x="77" y="230"/>
                    </a:cubicBezTo>
                    <a:cubicBezTo>
                      <a:pt x="78" y="230"/>
                      <a:pt x="80" y="231"/>
                      <a:pt x="81" y="233"/>
                    </a:cubicBezTo>
                    <a:cubicBezTo>
                      <a:pt x="82" y="235"/>
                      <a:pt x="83" y="237"/>
                      <a:pt x="84" y="238"/>
                    </a:cubicBezTo>
                    <a:cubicBezTo>
                      <a:pt x="85" y="238"/>
                      <a:pt x="87" y="240"/>
                      <a:pt x="88" y="241"/>
                    </a:cubicBezTo>
                    <a:cubicBezTo>
                      <a:pt x="90" y="242"/>
                      <a:pt x="93" y="245"/>
                      <a:pt x="96" y="247"/>
                    </a:cubicBezTo>
                    <a:cubicBezTo>
                      <a:pt x="98" y="248"/>
                      <a:pt x="102" y="251"/>
                      <a:pt x="103" y="253"/>
                    </a:cubicBezTo>
                    <a:cubicBezTo>
                      <a:pt x="104" y="255"/>
                      <a:pt x="107" y="257"/>
                      <a:pt x="110" y="257"/>
                    </a:cubicBezTo>
                    <a:cubicBezTo>
                      <a:pt x="113" y="258"/>
                      <a:pt x="116" y="259"/>
                      <a:pt x="118" y="259"/>
                    </a:cubicBezTo>
                    <a:cubicBezTo>
                      <a:pt x="120" y="260"/>
                      <a:pt x="123" y="263"/>
                      <a:pt x="124" y="265"/>
                    </a:cubicBezTo>
                    <a:cubicBezTo>
                      <a:pt x="125" y="268"/>
                      <a:pt x="127" y="272"/>
                      <a:pt x="128" y="274"/>
                    </a:cubicBezTo>
                    <a:cubicBezTo>
                      <a:pt x="129" y="275"/>
                      <a:pt x="131" y="278"/>
                      <a:pt x="132" y="279"/>
                    </a:cubicBezTo>
                    <a:cubicBezTo>
                      <a:pt x="134" y="281"/>
                      <a:pt x="136" y="283"/>
                      <a:pt x="138" y="284"/>
                    </a:cubicBezTo>
                    <a:cubicBezTo>
                      <a:pt x="139" y="286"/>
                      <a:pt x="141" y="289"/>
                      <a:pt x="142" y="291"/>
                    </a:cubicBezTo>
                    <a:cubicBezTo>
                      <a:pt x="143" y="293"/>
                      <a:pt x="145" y="296"/>
                      <a:pt x="148" y="298"/>
                    </a:cubicBezTo>
                    <a:cubicBezTo>
                      <a:pt x="150" y="300"/>
                      <a:pt x="153" y="303"/>
                      <a:pt x="154" y="305"/>
                    </a:cubicBezTo>
                    <a:cubicBezTo>
                      <a:pt x="156" y="308"/>
                      <a:pt x="157" y="311"/>
                      <a:pt x="157" y="313"/>
                    </a:cubicBezTo>
                    <a:cubicBezTo>
                      <a:pt x="157" y="314"/>
                      <a:pt x="158" y="317"/>
                      <a:pt x="160" y="318"/>
                    </a:cubicBezTo>
                    <a:cubicBezTo>
                      <a:pt x="162" y="319"/>
                      <a:pt x="165" y="321"/>
                      <a:pt x="167" y="322"/>
                    </a:cubicBezTo>
                    <a:cubicBezTo>
                      <a:pt x="168" y="324"/>
                      <a:pt x="169" y="326"/>
                      <a:pt x="169" y="327"/>
                    </a:cubicBezTo>
                    <a:cubicBezTo>
                      <a:pt x="169" y="329"/>
                      <a:pt x="170" y="331"/>
                      <a:pt x="172" y="333"/>
                    </a:cubicBezTo>
                    <a:cubicBezTo>
                      <a:pt x="173" y="335"/>
                      <a:pt x="175" y="338"/>
                      <a:pt x="174" y="340"/>
                    </a:cubicBezTo>
                    <a:cubicBezTo>
                      <a:pt x="174" y="341"/>
                      <a:pt x="173" y="345"/>
                      <a:pt x="172" y="348"/>
                    </a:cubicBezTo>
                    <a:cubicBezTo>
                      <a:pt x="170" y="351"/>
                      <a:pt x="170" y="354"/>
                      <a:pt x="171" y="355"/>
                    </a:cubicBezTo>
                    <a:cubicBezTo>
                      <a:pt x="172" y="356"/>
                      <a:pt x="172" y="359"/>
                      <a:pt x="171" y="361"/>
                    </a:cubicBezTo>
                    <a:cubicBezTo>
                      <a:pt x="170" y="363"/>
                      <a:pt x="168" y="366"/>
                      <a:pt x="167" y="367"/>
                    </a:cubicBezTo>
                    <a:cubicBezTo>
                      <a:pt x="166" y="369"/>
                      <a:pt x="164" y="371"/>
                      <a:pt x="163" y="372"/>
                    </a:cubicBezTo>
                    <a:cubicBezTo>
                      <a:pt x="162" y="374"/>
                      <a:pt x="161" y="375"/>
                      <a:pt x="161" y="375"/>
                    </a:cubicBezTo>
                    <a:cubicBezTo>
                      <a:pt x="161" y="375"/>
                      <a:pt x="169" y="375"/>
                      <a:pt x="180" y="376"/>
                    </a:cubicBezTo>
                    <a:cubicBezTo>
                      <a:pt x="190" y="377"/>
                      <a:pt x="213" y="378"/>
                      <a:pt x="231" y="380"/>
                    </a:cubicBezTo>
                    <a:cubicBezTo>
                      <a:pt x="248" y="382"/>
                      <a:pt x="263" y="383"/>
                      <a:pt x="263" y="383"/>
                    </a:cubicBezTo>
                    <a:cubicBezTo>
                      <a:pt x="263" y="383"/>
                      <a:pt x="262" y="381"/>
                      <a:pt x="262" y="379"/>
                    </a:cubicBezTo>
                    <a:cubicBezTo>
                      <a:pt x="261" y="377"/>
                      <a:pt x="261" y="373"/>
                      <a:pt x="261" y="371"/>
                    </a:cubicBezTo>
                    <a:cubicBezTo>
                      <a:pt x="262" y="369"/>
                      <a:pt x="261" y="366"/>
                      <a:pt x="259" y="364"/>
                    </a:cubicBezTo>
                    <a:cubicBezTo>
                      <a:pt x="258" y="362"/>
                      <a:pt x="257" y="359"/>
                      <a:pt x="257" y="357"/>
                    </a:cubicBezTo>
                    <a:cubicBezTo>
                      <a:pt x="257" y="355"/>
                      <a:pt x="257" y="352"/>
                      <a:pt x="258" y="349"/>
                    </a:cubicBezTo>
                    <a:cubicBezTo>
                      <a:pt x="258" y="347"/>
                      <a:pt x="256" y="344"/>
                      <a:pt x="254" y="343"/>
                    </a:cubicBezTo>
                    <a:cubicBezTo>
                      <a:pt x="251" y="342"/>
                      <a:pt x="248" y="341"/>
                      <a:pt x="246" y="340"/>
                    </a:cubicBezTo>
                    <a:cubicBezTo>
                      <a:pt x="244" y="339"/>
                      <a:pt x="242" y="335"/>
                      <a:pt x="241" y="332"/>
                    </a:cubicBezTo>
                    <a:cubicBezTo>
                      <a:pt x="240" y="328"/>
                      <a:pt x="238" y="324"/>
                      <a:pt x="238" y="321"/>
                    </a:cubicBezTo>
                    <a:cubicBezTo>
                      <a:pt x="238" y="318"/>
                      <a:pt x="236" y="316"/>
                      <a:pt x="235" y="315"/>
                    </a:cubicBezTo>
                    <a:cubicBezTo>
                      <a:pt x="234" y="314"/>
                      <a:pt x="232" y="314"/>
                      <a:pt x="231" y="315"/>
                    </a:cubicBezTo>
                    <a:cubicBezTo>
                      <a:pt x="229" y="315"/>
                      <a:pt x="228" y="315"/>
                      <a:pt x="227" y="315"/>
                    </a:cubicBezTo>
                    <a:cubicBezTo>
                      <a:pt x="226" y="315"/>
                      <a:pt x="226" y="313"/>
                      <a:pt x="227" y="311"/>
                    </a:cubicBezTo>
                    <a:cubicBezTo>
                      <a:pt x="228" y="309"/>
                      <a:pt x="227" y="306"/>
                      <a:pt x="225" y="305"/>
                    </a:cubicBezTo>
                    <a:cubicBezTo>
                      <a:pt x="223" y="304"/>
                      <a:pt x="221" y="303"/>
                      <a:pt x="220" y="304"/>
                    </a:cubicBezTo>
                    <a:cubicBezTo>
                      <a:pt x="219" y="305"/>
                      <a:pt x="217" y="306"/>
                      <a:pt x="217" y="305"/>
                    </a:cubicBezTo>
                    <a:cubicBezTo>
                      <a:pt x="216" y="304"/>
                      <a:pt x="215" y="303"/>
                      <a:pt x="215" y="301"/>
                    </a:cubicBezTo>
                    <a:cubicBezTo>
                      <a:pt x="215" y="300"/>
                      <a:pt x="215" y="297"/>
                      <a:pt x="215" y="295"/>
                    </a:cubicBezTo>
                    <a:cubicBezTo>
                      <a:pt x="215" y="293"/>
                      <a:pt x="214" y="290"/>
                      <a:pt x="212" y="287"/>
                    </a:cubicBezTo>
                    <a:cubicBezTo>
                      <a:pt x="211" y="284"/>
                      <a:pt x="209" y="281"/>
                      <a:pt x="209" y="280"/>
                    </a:cubicBezTo>
                    <a:cubicBezTo>
                      <a:pt x="209" y="279"/>
                      <a:pt x="208" y="276"/>
                      <a:pt x="206" y="272"/>
                    </a:cubicBezTo>
                    <a:cubicBezTo>
                      <a:pt x="204" y="269"/>
                      <a:pt x="200" y="265"/>
                      <a:pt x="198" y="263"/>
                    </a:cubicBezTo>
                    <a:cubicBezTo>
                      <a:pt x="196" y="261"/>
                      <a:pt x="191" y="257"/>
                      <a:pt x="188" y="254"/>
                    </a:cubicBezTo>
                    <a:cubicBezTo>
                      <a:pt x="185" y="251"/>
                      <a:pt x="181" y="246"/>
                      <a:pt x="178" y="242"/>
                    </a:cubicBezTo>
                    <a:cubicBezTo>
                      <a:pt x="175" y="239"/>
                      <a:pt x="172" y="236"/>
                      <a:pt x="170" y="236"/>
                    </a:cubicBezTo>
                    <a:cubicBezTo>
                      <a:pt x="169" y="235"/>
                      <a:pt x="166" y="234"/>
                      <a:pt x="165" y="232"/>
                    </a:cubicBezTo>
                    <a:cubicBezTo>
                      <a:pt x="163" y="231"/>
                      <a:pt x="162" y="228"/>
                      <a:pt x="162" y="227"/>
                    </a:cubicBezTo>
                    <a:cubicBezTo>
                      <a:pt x="161" y="225"/>
                      <a:pt x="160" y="222"/>
                      <a:pt x="159" y="220"/>
                    </a:cubicBezTo>
                    <a:cubicBezTo>
                      <a:pt x="158" y="218"/>
                      <a:pt x="155" y="216"/>
                      <a:pt x="154" y="215"/>
                    </a:cubicBezTo>
                    <a:cubicBezTo>
                      <a:pt x="153" y="214"/>
                      <a:pt x="151" y="212"/>
                      <a:pt x="151" y="211"/>
                    </a:cubicBezTo>
                    <a:cubicBezTo>
                      <a:pt x="151" y="209"/>
                      <a:pt x="150" y="206"/>
                      <a:pt x="149" y="204"/>
                    </a:cubicBezTo>
                    <a:cubicBezTo>
                      <a:pt x="148" y="201"/>
                      <a:pt x="148" y="197"/>
                      <a:pt x="148" y="194"/>
                    </a:cubicBezTo>
                    <a:cubicBezTo>
                      <a:pt x="148" y="192"/>
                      <a:pt x="149" y="187"/>
                      <a:pt x="149" y="183"/>
                    </a:cubicBezTo>
                    <a:cubicBezTo>
                      <a:pt x="150" y="179"/>
                      <a:pt x="149" y="174"/>
                      <a:pt x="149" y="170"/>
                    </a:cubicBezTo>
                    <a:cubicBezTo>
                      <a:pt x="148" y="167"/>
                      <a:pt x="147" y="163"/>
                      <a:pt x="147" y="161"/>
                    </a:cubicBezTo>
                    <a:cubicBezTo>
                      <a:pt x="147" y="159"/>
                      <a:pt x="147" y="155"/>
                      <a:pt x="148" y="154"/>
                    </a:cubicBezTo>
                    <a:cubicBezTo>
                      <a:pt x="148" y="152"/>
                      <a:pt x="148" y="148"/>
                      <a:pt x="148" y="145"/>
                    </a:cubicBezTo>
                    <a:cubicBezTo>
                      <a:pt x="148" y="142"/>
                      <a:pt x="146" y="138"/>
                      <a:pt x="144" y="137"/>
                    </a:cubicBezTo>
                    <a:cubicBezTo>
                      <a:pt x="141" y="136"/>
                      <a:pt x="140" y="134"/>
                      <a:pt x="140" y="133"/>
                    </a:cubicBezTo>
                    <a:cubicBezTo>
                      <a:pt x="141" y="131"/>
                      <a:pt x="141" y="129"/>
                      <a:pt x="140" y="127"/>
                    </a:cubicBezTo>
                    <a:cubicBezTo>
                      <a:pt x="139" y="125"/>
                      <a:pt x="139" y="120"/>
                      <a:pt x="140" y="115"/>
                    </a:cubicBezTo>
                    <a:cubicBezTo>
                      <a:pt x="140" y="111"/>
                      <a:pt x="141" y="104"/>
                      <a:pt x="142" y="101"/>
                    </a:cubicBezTo>
                    <a:cubicBezTo>
                      <a:pt x="142" y="98"/>
                      <a:pt x="143" y="94"/>
                      <a:pt x="143" y="93"/>
                    </a:cubicBezTo>
                    <a:cubicBezTo>
                      <a:pt x="144" y="91"/>
                      <a:pt x="145" y="89"/>
                      <a:pt x="146" y="87"/>
                    </a:cubicBezTo>
                    <a:cubicBezTo>
                      <a:pt x="147" y="86"/>
                      <a:pt x="147" y="83"/>
                      <a:pt x="146" y="80"/>
                    </a:cubicBezTo>
                    <a:cubicBezTo>
                      <a:pt x="146" y="77"/>
                      <a:pt x="144" y="73"/>
                      <a:pt x="143" y="72"/>
                    </a:cubicBezTo>
                    <a:cubicBezTo>
                      <a:pt x="142" y="71"/>
                      <a:pt x="140" y="68"/>
                      <a:pt x="139" y="66"/>
                    </a:cubicBezTo>
                    <a:cubicBezTo>
                      <a:pt x="137" y="63"/>
                      <a:pt x="136" y="62"/>
                      <a:pt x="136" y="62"/>
                    </a:cubicBezTo>
                    <a:cubicBezTo>
                      <a:pt x="136" y="62"/>
                      <a:pt x="137" y="61"/>
                      <a:pt x="138" y="60"/>
                    </a:cubicBezTo>
                    <a:cubicBezTo>
                      <a:pt x="139" y="59"/>
                      <a:pt x="141" y="57"/>
                      <a:pt x="143" y="5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4" name="Freeform 53">
                <a:extLst>
                  <a:ext uri="{FF2B5EF4-FFF2-40B4-BE49-F238E27FC236}">
                    <a16:creationId xmlns:a16="http://schemas.microsoft.com/office/drawing/2014/main" id="{FF8D57E2-D2B7-E296-CAE0-3B7376D95CFD}"/>
                  </a:ext>
                </a:extLst>
              </p:cNvPr>
              <p:cNvSpPr>
                <a:spLocks/>
              </p:cNvSpPr>
              <p:nvPr/>
            </p:nvSpPr>
            <p:spPr bwMode="auto">
              <a:xfrm>
                <a:off x="815947" y="2198670"/>
                <a:ext cx="49213" cy="96838"/>
              </a:xfrm>
              <a:custGeom>
                <a:avLst/>
                <a:gdLst/>
                <a:ahLst/>
                <a:cxnLst>
                  <a:cxn ang="0">
                    <a:pos x="9" y="1"/>
                  </a:cxn>
                  <a:cxn ang="0">
                    <a:pos x="8" y="7"/>
                  </a:cxn>
                  <a:cxn ang="0">
                    <a:pos x="6" y="12"/>
                  </a:cxn>
                  <a:cxn ang="0">
                    <a:pos x="2" y="15"/>
                  </a:cxn>
                  <a:cxn ang="0">
                    <a:pos x="0" y="18"/>
                  </a:cxn>
                  <a:cxn ang="0">
                    <a:pos x="1" y="20"/>
                  </a:cxn>
                  <a:cxn ang="0">
                    <a:pos x="5" y="23"/>
                  </a:cxn>
                  <a:cxn ang="0">
                    <a:pos x="9" y="25"/>
                  </a:cxn>
                  <a:cxn ang="0">
                    <a:pos x="12" y="23"/>
                  </a:cxn>
                  <a:cxn ang="0">
                    <a:pos x="13" y="18"/>
                  </a:cxn>
                  <a:cxn ang="0">
                    <a:pos x="13" y="11"/>
                  </a:cxn>
                  <a:cxn ang="0">
                    <a:pos x="12" y="2"/>
                  </a:cxn>
                  <a:cxn ang="0">
                    <a:pos x="9" y="1"/>
                  </a:cxn>
                </a:cxnLst>
                <a:rect l="0" t="0" r="r" b="b"/>
                <a:pathLst>
                  <a:path w="13" h="26">
                    <a:moveTo>
                      <a:pt x="9" y="1"/>
                    </a:moveTo>
                    <a:cubicBezTo>
                      <a:pt x="9" y="3"/>
                      <a:pt x="8" y="5"/>
                      <a:pt x="8" y="7"/>
                    </a:cubicBezTo>
                    <a:cubicBezTo>
                      <a:pt x="8" y="8"/>
                      <a:pt x="7" y="11"/>
                      <a:pt x="6" y="12"/>
                    </a:cubicBezTo>
                    <a:cubicBezTo>
                      <a:pt x="5" y="13"/>
                      <a:pt x="3" y="14"/>
                      <a:pt x="2" y="15"/>
                    </a:cubicBezTo>
                    <a:cubicBezTo>
                      <a:pt x="1" y="15"/>
                      <a:pt x="0" y="17"/>
                      <a:pt x="0" y="18"/>
                    </a:cubicBezTo>
                    <a:cubicBezTo>
                      <a:pt x="0" y="19"/>
                      <a:pt x="1" y="20"/>
                      <a:pt x="1" y="20"/>
                    </a:cubicBezTo>
                    <a:cubicBezTo>
                      <a:pt x="2" y="20"/>
                      <a:pt x="4" y="22"/>
                      <a:pt x="5" y="23"/>
                    </a:cubicBezTo>
                    <a:cubicBezTo>
                      <a:pt x="6" y="24"/>
                      <a:pt x="8" y="26"/>
                      <a:pt x="9" y="25"/>
                    </a:cubicBezTo>
                    <a:cubicBezTo>
                      <a:pt x="10" y="25"/>
                      <a:pt x="11" y="24"/>
                      <a:pt x="12" y="23"/>
                    </a:cubicBezTo>
                    <a:cubicBezTo>
                      <a:pt x="12" y="21"/>
                      <a:pt x="12" y="19"/>
                      <a:pt x="13" y="18"/>
                    </a:cubicBezTo>
                    <a:cubicBezTo>
                      <a:pt x="13" y="17"/>
                      <a:pt x="13" y="13"/>
                      <a:pt x="13" y="11"/>
                    </a:cubicBezTo>
                    <a:cubicBezTo>
                      <a:pt x="13" y="8"/>
                      <a:pt x="13" y="4"/>
                      <a:pt x="12" y="2"/>
                    </a:cubicBezTo>
                    <a:cubicBezTo>
                      <a:pt x="11" y="0"/>
                      <a:pt x="10" y="0"/>
                      <a:pt x="9" y="1"/>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5" name="Freeform 54">
                <a:extLst>
                  <a:ext uri="{FF2B5EF4-FFF2-40B4-BE49-F238E27FC236}">
                    <a16:creationId xmlns:a16="http://schemas.microsoft.com/office/drawing/2014/main" id="{8789A89A-971C-8C12-1385-8A4D3E4F9909}"/>
                  </a:ext>
                </a:extLst>
              </p:cNvPr>
              <p:cNvSpPr>
                <a:spLocks/>
              </p:cNvSpPr>
              <p:nvPr/>
            </p:nvSpPr>
            <p:spPr bwMode="auto">
              <a:xfrm>
                <a:off x="1304897" y="1874820"/>
                <a:ext cx="100013" cy="173038"/>
              </a:xfrm>
              <a:custGeom>
                <a:avLst/>
                <a:gdLst/>
                <a:ahLst/>
                <a:cxnLst>
                  <a:cxn ang="0">
                    <a:pos x="11" y="8"/>
                  </a:cxn>
                  <a:cxn ang="0">
                    <a:pos x="1" y="0"/>
                  </a:cxn>
                  <a:cxn ang="0">
                    <a:pos x="1" y="2"/>
                  </a:cxn>
                  <a:cxn ang="0">
                    <a:pos x="1" y="4"/>
                  </a:cxn>
                  <a:cxn ang="0">
                    <a:pos x="0" y="11"/>
                  </a:cxn>
                  <a:cxn ang="0">
                    <a:pos x="2" y="19"/>
                  </a:cxn>
                  <a:cxn ang="0">
                    <a:pos x="7" y="25"/>
                  </a:cxn>
                  <a:cxn ang="0">
                    <a:pos x="13" y="32"/>
                  </a:cxn>
                  <a:cxn ang="0">
                    <a:pos x="20" y="41"/>
                  </a:cxn>
                  <a:cxn ang="0">
                    <a:pos x="25" y="45"/>
                  </a:cxn>
                  <a:cxn ang="0">
                    <a:pos x="27" y="45"/>
                  </a:cxn>
                  <a:cxn ang="0">
                    <a:pos x="26" y="41"/>
                  </a:cxn>
                  <a:cxn ang="0">
                    <a:pos x="26" y="32"/>
                  </a:cxn>
                  <a:cxn ang="0">
                    <a:pos x="24" y="25"/>
                  </a:cxn>
                  <a:cxn ang="0">
                    <a:pos x="17" y="24"/>
                  </a:cxn>
                  <a:cxn ang="0">
                    <a:pos x="13" y="21"/>
                  </a:cxn>
                  <a:cxn ang="0">
                    <a:pos x="14" y="14"/>
                  </a:cxn>
                  <a:cxn ang="0">
                    <a:pos x="11" y="8"/>
                  </a:cxn>
                </a:cxnLst>
                <a:rect l="0" t="0" r="r" b="b"/>
                <a:pathLst>
                  <a:path w="27" h="46">
                    <a:moveTo>
                      <a:pt x="11" y="8"/>
                    </a:moveTo>
                    <a:cubicBezTo>
                      <a:pt x="9" y="6"/>
                      <a:pt x="5" y="2"/>
                      <a:pt x="1" y="0"/>
                    </a:cubicBezTo>
                    <a:cubicBezTo>
                      <a:pt x="1" y="0"/>
                      <a:pt x="1" y="0"/>
                      <a:pt x="1" y="2"/>
                    </a:cubicBezTo>
                    <a:cubicBezTo>
                      <a:pt x="1" y="4"/>
                      <a:pt x="1" y="4"/>
                      <a:pt x="1" y="4"/>
                    </a:cubicBezTo>
                    <a:cubicBezTo>
                      <a:pt x="1" y="7"/>
                      <a:pt x="0" y="10"/>
                      <a:pt x="0" y="11"/>
                    </a:cubicBezTo>
                    <a:cubicBezTo>
                      <a:pt x="0" y="12"/>
                      <a:pt x="1" y="15"/>
                      <a:pt x="2" y="19"/>
                    </a:cubicBezTo>
                    <a:cubicBezTo>
                      <a:pt x="3" y="22"/>
                      <a:pt x="6" y="25"/>
                      <a:pt x="7" y="25"/>
                    </a:cubicBezTo>
                    <a:cubicBezTo>
                      <a:pt x="8" y="26"/>
                      <a:pt x="10" y="28"/>
                      <a:pt x="13" y="32"/>
                    </a:cubicBezTo>
                    <a:cubicBezTo>
                      <a:pt x="15" y="35"/>
                      <a:pt x="18" y="39"/>
                      <a:pt x="20" y="41"/>
                    </a:cubicBezTo>
                    <a:cubicBezTo>
                      <a:pt x="21" y="42"/>
                      <a:pt x="24" y="44"/>
                      <a:pt x="25" y="45"/>
                    </a:cubicBezTo>
                    <a:cubicBezTo>
                      <a:pt x="26" y="46"/>
                      <a:pt x="27" y="46"/>
                      <a:pt x="27" y="45"/>
                    </a:cubicBezTo>
                    <a:cubicBezTo>
                      <a:pt x="27" y="44"/>
                      <a:pt x="27" y="42"/>
                      <a:pt x="26" y="41"/>
                    </a:cubicBezTo>
                    <a:cubicBezTo>
                      <a:pt x="26" y="39"/>
                      <a:pt x="26" y="35"/>
                      <a:pt x="26" y="32"/>
                    </a:cubicBezTo>
                    <a:cubicBezTo>
                      <a:pt x="26" y="29"/>
                      <a:pt x="25" y="26"/>
                      <a:pt x="24" y="25"/>
                    </a:cubicBezTo>
                    <a:cubicBezTo>
                      <a:pt x="22" y="24"/>
                      <a:pt x="19" y="24"/>
                      <a:pt x="17" y="24"/>
                    </a:cubicBezTo>
                    <a:cubicBezTo>
                      <a:pt x="14" y="24"/>
                      <a:pt x="13" y="22"/>
                      <a:pt x="13" y="21"/>
                    </a:cubicBezTo>
                    <a:cubicBezTo>
                      <a:pt x="14" y="19"/>
                      <a:pt x="14" y="16"/>
                      <a:pt x="14" y="14"/>
                    </a:cubicBezTo>
                    <a:cubicBezTo>
                      <a:pt x="14" y="12"/>
                      <a:pt x="13" y="9"/>
                      <a:pt x="11" y="8"/>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5" name="Group 250">
              <a:extLst>
                <a:ext uri="{FF2B5EF4-FFF2-40B4-BE49-F238E27FC236}">
                  <a16:creationId xmlns:a16="http://schemas.microsoft.com/office/drawing/2014/main" id="{77E148B5-5397-BD29-21AD-0A31221B63D7}"/>
                </a:ext>
              </a:extLst>
            </p:cNvPr>
            <p:cNvGrpSpPr/>
            <p:nvPr/>
          </p:nvGrpSpPr>
          <p:grpSpPr>
            <a:xfrm>
              <a:off x="1011209" y="995345"/>
              <a:ext cx="1603375" cy="1920875"/>
              <a:chOff x="1011209" y="995345"/>
              <a:chExt cx="1603375" cy="1920875"/>
            </a:xfrm>
            <a:grpFill/>
          </p:grpSpPr>
          <p:sp>
            <p:nvSpPr>
              <p:cNvPr id="41" name="Freeform 32">
                <a:extLst>
                  <a:ext uri="{FF2B5EF4-FFF2-40B4-BE49-F238E27FC236}">
                    <a16:creationId xmlns:a16="http://schemas.microsoft.com/office/drawing/2014/main" id="{73BE3E32-51B4-0338-6881-FBB1A85325BD}"/>
                  </a:ext>
                </a:extLst>
              </p:cNvPr>
              <p:cNvSpPr>
                <a:spLocks/>
              </p:cNvSpPr>
              <p:nvPr/>
            </p:nvSpPr>
            <p:spPr bwMode="auto">
              <a:xfrm>
                <a:off x="1011209" y="995345"/>
                <a:ext cx="1603375" cy="1920875"/>
              </a:xfrm>
              <a:custGeom>
                <a:avLst/>
                <a:gdLst/>
                <a:ahLst/>
                <a:cxnLst>
                  <a:cxn ang="0">
                    <a:pos x="419" y="470"/>
                  </a:cxn>
                  <a:cxn ang="0">
                    <a:pos x="410" y="453"/>
                  </a:cxn>
                  <a:cxn ang="0">
                    <a:pos x="410" y="425"/>
                  </a:cxn>
                  <a:cxn ang="0">
                    <a:pos x="392" y="394"/>
                  </a:cxn>
                  <a:cxn ang="0">
                    <a:pos x="389" y="361"/>
                  </a:cxn>
                  <a:cxn ang="0">
                    <a:pos x="418" y="362"/>
                  </a:cxn>
                  <a:cxn ang="0">
                    <a:pos x="417" y="331"/>
                  </a:cxn>
                  <a:cxn ang="0">
                    <a:pos x="416" y="282"/>
                  </a:cxn>
                  <a:cxn ang="0">
                    <a:pos x="427" y="225"/>
                  </a:cxn>
                  <a:cxn ang="0">
                    <a:pos x="417" y="179"/>
                  </a:cxn>
                  <a:cxn ang="0">
                    <a:pos x="401" y="140"/>
                  </a:cxn>
                  <a:cxn ang="0">
                    <a:pos x="19" y="0"/>
                  </a:cxn>
                  <a:cxn ang="0">
                    <a:pos x="7" y="11"/>
                  </a:cxn>
                  <a:cxn ang="0">
                    <a:pos x="4" y="22"/>
                  </a:cxn>
                  <a:cxn ang="0">
                    <a:pos x="2" y="42"/>
                  </a:cxn>
                  <a:cxn ang="0">
                    <a:pos x="11" y="51"/>
                  </a:cxn>
                  <a:cxn ang="0">
                    <a:pos x="30" y="63"/>
                  </a:cxn>
                  <a:cxn ang="0">
                    <a:pos x="53" y="82"/>
                  </a:cxn>
                  <a:cxn ang="0">
                    <a:pos x="67" y="77"/>
                  </a:cxn>
                  <a:cxn ang="0">
                    <a:pos x="89" y="92"/>
                  </a:cxn>
                  <a:cxn ang="0">
                    <a:pos x="116" y="109"/>
                  </a:cxn>
                  <a:cxn ang="0">
                    <a:pos x="127" y="120"/>
                  </a:cxn>
                  <a:cxn ang="0">
                    <a:pos x="123" y="134"/>
                  </a:cxn>
                  <a:cxn ang="0">
                    <a:pos x="126" y="160"/>
                  </a:cxn>
                  <a:cxn ang="0">
                    <a:pos x="135" y="182"/>
                  </a:cxn>
                  <a:cxn ang="0">
                    <a:pos x="140" y="198"/>
                  </a:cxn>
                  <a:cxn ang="0">
                    <a:pos x="144" y="216"/>
                  </a:cxn>
                  <a:cxn ang="0">
                    <a:pos x="157" y="242"/>
                  </a:cxn>
                  <a:cxn ang="0">
                    <a:pos x="159" y="258"/>
                  </a:cxn>
                  <a:cxn ang="0">
                    <a:pos x="169" y="263"/>
                  </a:cxn>
                  <a:cxn ang="0">
                    <a:pos x="172" y="275"/>
                  </a:cxn>
                  <a:cxn ang="0">
                    <a:pos x="177" y="294"/>
                  </a:cxn>
                  <a:cxn ang="0">
                    <a:pos x="190" y="309"/>
                  </a:cxn>
                  <a:cxn ang="0">
                    <a:pos x="200" y="325"/>
                  </a:cxn>
                  <a:cxn ang="0">
                    <a:pos x="216" y="339"/>
                  </a:cxn>
                  <a:cxn ang="0">
                    <a:pos x="226" y="357"/>
                  </a:cxn>
                  <a:cxn ang="0">
                    <a:pos x="245" y="376"/>
                  </a:cxn>
                  <a:cxn ang="0">
                    <a:pos x="258" y="386"/>
                  </a:cxn>
                  <a:cxn ang="0">
                    <a:pos x="272" y="384"/>
                  </a:cxn>
                  <a:cxn ang="0">
                    <a:pos x="275" y="391"/>
                  </a:cxn>
                  <a:cxn ang="0">
                    <a:pos x="271" y="402"/>
                  </a:cxn>
                  <a:cxn ang="0">
                    <a:pos x="277" y="421"/>
                  </a:cxn>
                  <a:cxn ang="0">
                    <a:pos x="291" y="438"/>
                  </a:cxn>
                  <a:cxn ang="0">
                    <a:pos x="316" y="449"/>
                  </a:cxn>
                  <a:cxn ang="0">
                    <a:pos x="325" y="475"/>
                  </a:cxn>
                  <a:cxn ang="0">
                    <a:pos x="339" y="480"/>
                  </a:cxn>
                  <a:cxn ang="0">
                    <a:pos x="345" y="476"/>
                  </a:cxn>
                  <a:cxn ang="0">
                    <a:pos x="358" y="490"/>
                  </a:cxn>
                  <a:cxn ang="0">
                    <a:pos x="366" y="505"/>
                  </a:cxn>
                  <a:cxn ang="0">
                    <a:pos x="377" y="507"/>
                  </a:cxn>
                </a:cxnLst>
                <a:rect l="0" t="0" r="r" b="b"/>
                <a:pathLst>
                  <a:path w="427" h="511">
                    <a:moveTo>
                      <a:pt x="388" y="500"/>
                    </a:moveTo>
                    <a:cubicBezTo>
                      <a:pt x="390" y="498"/>
                      <a:pt x="398" y="492"/>
                      <a:pt x="405" y="487"/>
                    </a:cubicBezTo>
                    <a:cubicBezTo>
                      <a:pt x="412" y="482"/>
                      <a:pt x="418" y="474"/>
                      <a:pt x="419" y="470"/>
                    </a:cubicBezTo>
                    <a:cubicBezTo>
                      <a:pt x="420" y="465"/>
                      <a:pt x="421" y="461"/>
                      <a:pt x="421" y="461"/>
                    </a:cubicBezTo>
                    <a:cubicBezTo>
                      <a:pt x="421" y="461"/>
                      <a:pt x="419" y="461"/>
                      <a:pt x="418" y="460"/>
                    </a:cubicBezTo>
                    <a:cubicBezTo>
                      <a:pt x="416" y="459"/>
                      <a:pt x="413" y="456"/>
                      <a:pt x="410" y="453"/>
                    </a:cubicBezTo>
                    <a:cubicBezTo>
                      <a:pt x="407" y="450"/>
                      <a:pt x="407" y="445"/>
                      <a:pt x="408" y="442"/>
                    </a:cubicBezTo>
                    <a:cubicBezTo>
                      <a:pt x="410" y="439"/>
                      <a:pt x="411" y="435"/>
                      <a:pt x="410" y="433"/>
                    </a:cubicBezTo>
                    <a:cubicBezTo>
                      <a:pt x="410" y="431"/>
                      <a:pt x="409" y="427"/>
                      <a:pt x="410" y="425"/>
                    </a:cubicBezTo>
                    <a:cubicBezTo>
                      <a:pt x="410" y="422"/>
                      <a:pt x="408" y="418"/>
                      <a:pt x="405" y="415"/>
                    </a:cubicBezTo>
                    <a:cubicBezTo>
                      <a:pt x="402" y="412"/>
                      <a:pt x="399" y="407"/>
                      <a:pt x="399" y="403"/>
                    </a:cubicBezTo>
                    <a:cubicBezTo>
                      <a:pt x="398" y="399"/>
                      <a:pt x="395" y="395"/>
                      <a:pt x="392" y="394"/>
                    </a:cubicBezTo>
                    <a:cubicBezTo>
                      <a:pt x="389" y="392"/>
                      <a:pt x="384" y="386"/>
                      <a:pt x="382" y="379"/>
                    </a:cubicBezTo>
                    <a:cubicBezTo>
                      <a:pt x="380" y="372"/>
                      <a:pt x="380" y="366"/>
                      <a:pt x="382" y="364"/>
                    </a:cubicBezTo>
                    <a:cubicBezTo>
                      <a:pt x="384" y="363"/>
                      <a:pt x="387" y="361"/>
                      <a:pt x="389" y="361"/>
                    </a:cubicBezTo>
                    <a:cubicBezTo>
                      <a:pt x="392" y="360"/>
                      <a:pt x="396" y="360"/>
                      <a:pt x="399" y="360"/>
                    </a:cubicBezTo>
                    <a:cubicBezTo>
                      <a:pt x="402" y="361"/>
                      <a:pt x="406" y="362"/>
                      <a:pt x="409" y="364"/>
                    </a:cubicBezTo>
                    <a:cubicBezTo>
                      <a:pt x="412" y="365"/>
                      <a:pt x="416" y="364"/>
                      <a:pt x="418" y="362"/>
                    </a:cubicBezTo>
                    <a:cubicBezTo>
                      <a:pt x="420" y="359"/>
                      <a:pt x="421" y="355"/>
                      <a:pt x="420" y="352"/>
                    </a:cubicBezTo>
                    <a:cubicBezTo>
                      <a:pt x="419" y="349"/>
                      <a:pt x="418" y="345"/>
                      <a:pt x="418" y="342"/>
                    </a:cubicBezTo>
                    <a:cubicBezTo>
                      <a:pt x="417" y="339"/>
                      <a:pt x="417" y="334"/>
                      <a:pt x="417" y="331"/>
                    </a:cubicBezTo>
                    <a:cubicBezTo>
                      <a:pt x="417" y="327"/>
                      <a:pt x="417" y="318"/>
                      <a:pt x="416" y="311"/>
                    </a:cubicBezTo>
                    <a:cubicBezTo>
                      <a:pt x="416" y="304"/>
                      <a:pt x="416" y="296"/>
                      <a:pt x="415" y="293"/>
                    </a:cubicBezTo>
                    <a:cubicBezTo>
                      <a:pt x="415" y="290"/>
                      <a:pt x="415" y="285"/>
                      <a:pt x="416" y="282"/>
                    </a:cubicBezTo>
                    <a:cubicBezTo>
                      <a:pt x="417" y="279"/>
                      <a:pt x="418" y="274"/>
                      <a:pt x="419" y="271"/>
                    </a:cubicBezTo>
                    <a:cubicBezTo>
                      <a:pt x="420" y="268"/>
                      <a:pt x="422" y="258"/>
                      <a:pt x="424" y="250"/>
                    </a:cubicBezTo>
                    <a:cubicBezTo>
                      <a:pt x="425" y="242"/>
                      <a:pt x="426" y="230"/>
                      <a:pt x="427" y="225"/>
                    </a:cubicBezTo>
                    <a:cubicBezTo>
                      <a:pt x="427" y="219"/>
                      <a:pt x="427" y="209"/>
                      <a:pt x="427" y="202"/>
                    </a:cubicBezTo>
                    <a:cubicBezTo>
                      <a:pt x="427" y="195"/>
                      <a:pt x="426" y="187"/>
                      <a:pt x="425" y="185"/>
                    </a:cubicBezTo>
                    <a:cubicBezTo>
                      <a:pt x="423" y="183"/>
                      <a:pt x="420" y="180"/>
                      <a:pt x="417" y="179"/>
                    </a:cubicBezTo>
                    <a:cubicBezTo>
                      <a:pt x="415" y="178"/>
                      <a:pt x="411" y="176"/>
                      <a:pt x="409" y="173"/>
                    </a:cubicBezTo>
                    <a:cubicBezTo>
                      <a:pt x="406" y="170"/>
                      <a:pt x="403" y="166"/>
                      <a:pt x="401" y="164"/>
                    </a:cubicBezTo>
                    <a:cubicBezTo>
                      <a:pt x="399" y="162"/>
                      <a:pt x="399" y="151"/>
                      <a:pt x="401" y="140"/>
                    </a:cubicBezTo>
                    <a:cubicBezTo>
                      <a:pt x="404" y="129"/>
                      <a:pt x="405" y="121"/>
                      <a:pt x="405" y="121"/>
                    </a:cubicBezTo>
                    <a:cubicBezTo>
                      <a:pt x="265" y="112"/>
                      <a:pt x="265" y="112"/>
                      <a:pt x="265" y="112"/>
                    </a:cubicBezTo>
                    <a:cubicBezTo>
                      <a:pt x="19" y="0"/>
                      <a:pt x="19" y="0"/>
                      <a:pt x="19" y="0"/>
                    </a:cubicBezTo>
                    <a:cubicBezTo>
                      <a:pt x="19" y="0"/>
                      <a:pt x="17" y="1"/>
                      <a:pt x="15" y="2"/>
                    </a:cubicBezTo>
                    <a:cubicBezTo>
                      <a:pt x="12" y="2"/>
                      <a:pt x="10" y="4"/>
                      <a:pt x="9" y="6"/>
                    </a:cubicBezTo>
                    <a:cubicBezTo>
                      <a:pt x="9" y="8"/>
                      <a:pt x="8" y="10"/>
                      <a:pt x="7" y="11"/>
                    </a:cubicBezTo>
                    <a:cubicBezTo>
                      <a:pt x="6" y="12"/>
                      <a:pt x="5" y="14"/>
                      <a:pt x="4" y="15"/>
                    </a:cubicBezTo>
                    <a:cubicBezTo>
                      <a:pt x="2" y="17"/>
                      <a:pt x="1" y="18"/>
                      <a:pt x="1" y="18"/>
                    </a:cubicBezTo>
                    <a:cubicBezTo>
                      <a:pt x="1" y="18"/>
                      <a:pt x="2" y="20"/>
                      <a:pt x="4" y="22"/>
                    </a:cubicBezTo>
                    <a:cubicBezTo>
                      <a:pt x="5" y="25"/>
                      <a:pt x="7" y="28"/>
                      <a:pt x="8" y="30"/>
                    </a:cubicBezTo>
                    <a:cubicBezTo>
                      <a:pt x="9" y="32"/>
                      <a:pt x="8" y="35"/>
                      <a:pt x="7" y="37"/>
                    </a:cubicBezTo>
                    <a:cubicBezTo>
                      <a:pt x="5" y="39"/>
                      <a:pt x="3" y="41"/>
                      <a:pt x="2" y="42"/>
                    </a:cubicBezTo>
                    <a:cubicBezTo>
                      <a:pt x="1" y="43"/>
                      <a:pt x="0" y="44"/>
                      <a:pt x="0" y="44"/>
                    </a:cubicBezTo>
                    <a:cubicBezTo>
                      <a:pt x="0" y="44"/>
                      <a:pt x="2" y="45"/>
                      <a:pt x="4" y="46"/>
                    </a:cubicBezTo>
                    <a:cubicBezTo>
                      <a:pt x="7" y="47"/>
                      <a:pt x="10" y="50"/>
                      <a:pt x="11" y="51"/>
                    </a:cubicBezTo>
                    <a:cubicBezTo>
                      <a:pt x="13" y="53"/>
                      <a:pt x="16" y="55"/>
                      <a:pt x="17" y="56"/>
                    </a:cubicBezTo>
                    <a:cubicBezTo>
                      <a:pt x="19" y="57"/>
                      <a:pt x="22" y="58"/>
                      <a:pt x="24" y="58"/>
                    </a:cubicBezTo>
                    <a:cubicBezTo>
                      <a:pt x="25" y="58"/>
                      <a:pt x="28" y="61"/>
                      <a:pt x="30" y="63"/>
                    </a:cubicBezTo>
                    <a:cubicBezTo>
                      <a:pt x="32" y="66"/>
                      <a:pt x="36" y="69"/>
                      <a:pt x="38" y="71"/>
                    </a:cubicBezTo>
                    <a:cubicBezTo>
                      <a:pt x="41" y="72"/>
                      <a:pt x="44" y="74"/>
                      <a:pt x="45" y="76"/>
                    </a:cubicBezTo>
                    <a:cubicBezTo>
                      <a:pt x="47" y="78"/>
                      <a:pt x="50" y="81"/>
                      <a:pt x="53" y="82"/>
                    </a:cubicBezTo>
                    <a:cubicBezTo>
                      <a:pt x="55" y="83"/>
                      <a:pt x="58" y="84"/>
                      <a:pt x="60" y="83"/>
                    </a:cubicBezTo>
                    <a:cubicBezTo>
                      <a:pt x="61" y="83"/>
                      <a:pt x="63" y="82"/>
                      <a:pt x="64" y="82"/>
                    </a:cubicBezTo>
                    <a:cubicBezTo>
                      <a:pt x="66" y="81"/>
                      <a:pt x="67" y="79"/>
                      <a:pt x="67" y="77"/>
                    </a:cubicBezTo>
                    <a:cubicBezTo>
                      <a:pt x="68" y="76"/>
                      <a:pt x="71" y="76"/>
                      <a:pt x="74" y="78"/>
                    </a:cubicBezTo>
                    <a:cubicBezTo>
                      <a:pt x="78" y="79"/>
                      <a:pt x="82" y="82"/>
                      <a:pt x="85" y="84"/>
                    </a:cubicBezTo>
                    <a:cubicBezTo>
                      <a:pt x="87" y="86"/>
                      <a:pt x="89" y="89"/>
                      <a:pt x="89" y="92"/>
                    </a:cubicBezTo>
                    <a:cubicBezTo>
                      <a:pt x="89" y="95"/>
                      <a:pt x="91" y="98"/>
                      <a:pt x="93" y="99"/>
                    </a:cubicBezTo>
                    <a:cubicBezTo>
                      <a:pt x="95" y="101"/>
                      <a:pt x="100" y="103"/>
                      <a:pt x="105" y="105"/>
                    </a:cubicBezTo>
                    <a:cubicBezTo>
                      <a:pt x="109" y="106"/>
                      <a:pt x="114" y="108"/>
                      <a:pt x="116" y="109"/>
                    </a:cubicBezTo>
                    <a:cubicBezTo>
                      <a:pt x="118" y="110"/>
                      <a:pt x="122" y="110"/>
                      <a:pt x="123" y="110"/>
                    </a:cubicBezTo>
                    <a:cubicBezTo>
                      <a:pt x="125" y="110"/>
                      <a:pt x="127" y="112"/>
                      <a:pt x="127" y="114"/>
                    </a:cubicBezTo>
                    <a:cubicBezTo>
                      <a:pt x="128" y="115"/>
                      <a:pt x="127" y="118"/>
                      <a:pt x="127" y="120"/>
                    </a:cubicBezTo>
                    <a:cubicBezTo>
                      <a:pt x="126" y="122"/>
                      <a:pt x="125" y="124"/>
                      <a:pt x="124" y="123"/>
                    </a:cubicBezTo>
                    <a:cubicBezTo>
                      <a:pt x="123" y="123"/>
                      <a:pt x="122" y="125"/>
                      <a:pt x="122" y="127"/>
                    </a:cubicBezTo>
                    <a:cubicBezTo>
                      <a:pt x="123" y="130"/>
                      <a:pt x="123" y="133"/>
                      <a:pt x="123" y="134"/>
                    </a:cubicBezTo>
                    <a:cubicBezTo>
                      <a:pt x="123" y="135"/>
                      <a:pt x="122" y="138"/>
                      <a:pt x="121" y="140"/>
                    </a:cubicBezTo>
                    <a:cubicBezTo>
                      <a:pt x="120" y="142"/>
                      <a:pt x="119" y="146"/>
                      <a:pt x="120" y="149"/>
                    </a:cubicBezTo>
                    <a:cubicBezTo>
                      <a:pt x="121" y="151"/>
                      <a:pt x="124" y="157"/>
                      <a:pt x="126" y="160"/>
                    </a:cubicBezTo>
                    <a:cubicBezTo>
                      <a:pt x="129" y="164"/>
                      <a:pt x="132" y="169"/>
                      <a:pt x="133" y="171"/>
                    </a:cubicBezTo>
                    <a:cubicBezTo>
                      <a:pt x="134" y="173"/>
                      <a:pt x="135" y="176"/>
                      <a:pt x="135" y="177"/>
                    </a:cubicBezTo>
                    <a:cubicBezTo>
                      <a:pt x="135" y="178"/>
                      <a:pt x="135" y="180"/>
                      <a:pt x="135" y="182"/>
                    </a:cubicBezTo>
                    <a:cubicBezTo>
                      <a:pt x="134" y="184"/>
                      <a:pt x="135" y="186"/>
                      <a:pt x="137" y="187"/>
                    </a:cubicBezTo>
                    <a:cubicBezTo>
                      <a:pt x="139" y="188"/>
                      <a:pt x="140" y="191"/>
                      <a:pt x="140" y="193"/>
                    </a:cubicBezTo>
                    <a:cubicBezTo>
                      <a:pt x="141" y="195"/>
                      <a:pt x="140" y="197"/>
                      <a:pt x="140" y="198"/>
                    </a:cubicBezTo>
                    <a:cubicBezTo>
                      <a:pt x="140" y="199"/>
                      <a:pt x="139" y="202"/>
                      <a:pt x="140" y="204"/>
                    </a:cubicBezTo>
                    <a:cubicBezTo>
                      <a:pt x="140" y="206"/>
                      <a:pt x="140" y="209"/>
                      <a:pt x="141" y="211"/>
                    </a:cubicBezTo>
                    <a:cubicBezTo>
                      <a:pt x="142" y="213"/>
                      <a:pt x="143" y="215"/>
                      <a:pt x="144" y="216"/>
                    </a:cubicBezTo>
                    <a:cubicBezTo>
                      <a:pt x="145" y="216"/>
                      <a:pt x="146" y="220"/>
                      <a:pt x="148" y="223"/>
                    </a:cubicBezTo>
                    <a:cubicBezTo>
                      <a:pt x="149" y="227"/>
                      <a:pt x="151" y="231"/>
                      <a:pt x="152" y="234"/>
                    </a:cubicBezTo>
                    <a:cubicBezTo>
                      <a:pt x="153" y="236"/>
                      <a:pt x="155" y="240"/>
                      <a:pt x="157" y="242"/>
                    </a:cubicBezTo>
                    <a:cubicBezTo>
                      <a:pt x="158" y="245"/>
                      <a:pt x="160" y="248"/>
                      <a:pt x="161" y="249"/>
                    </a:cubicBezTo>
                    <a:cubicBezTo>
                      <a:pt x="162" y="250"/>
                      <a:pt x="162" y="252"/>
                      <a:pt x="161" y="253"/>
                    </a:cubicBezTo>
                    <a:cubicBezTo>
                      <a:pt x="160" y="255"/>
                      <a:pt x="159" y="257"/>
                      <a:pt x="159" y="258"/>
                    </a:cubicBezTo>
                    <a:cubicBezTo>
                      <a:pt x="159" y="259"/>
                      <a:pt x="160" y="261"/>
                      <a:pt x="161" y="261"/>
                    </a:cubicBezTo>
                    <a:cubicBezTo>
                      <a:pt x="161" y="262"/>
                      <a:pt x="163" y="262"/>
                      <a:pt x="165" y="262"/>
                    </a:cubicBezTo>
                    <a:cubicBezTo>
                      <a:pt x="166" y="262"/>
                      <a:pt x="168" y="263"/>
                      <a:pt x="169" y="263"/>
                    </a:cubicBezTo>
                    <a:cubicBezTo>
                      <a:pt x="170" y="263"/>
                      <a:pt x="171" y="264"/>
                      <a:pt x="172" y="265"/>
                    </a:cubicBezTo>
                    <a:cubicBezTo>
                      <a:pt x="172" y="266"/>
                      <a:pt x="172" y="268"/>
                      <a:pt x="172" y="270"/>
                    </a:cubicBezTo>
                    <a:cubicBezTo>
                      <a:pt x="172" y="272"/>
                      <a:pt x="172" y="274"/>
                      <a:pt x="172" y="275"/>
                    </a:cubicBezTo>
                    <a:cubicBezTo>
                      <a:pt x="173" y="277"/>
                      <a:pt x="173" y="279"/>
                      <a:pt x="173" y="281"/>
                    </a:cubicBezTo>
                    <a:cubicBezTo>
                      <a:pt x="173" y="283"/>
                      <a:pt x="174" y="286"/>
                      <a:pt x="174" y="288"/>
                    </a:cubicBezTo>
                    <a:cubicBezTo>
                      <a:pt x="174" y="289"/>
                      <a:pt x="176" y="292"/>
                      <a:pt x="177" y="294"/>
                    </a:cubicBezTo>
                    <a:cubicBezTo>
                      <a:pt x="179" y="295"/>
                      <a:pt x="182" y="298"/>
                      <a:pt x="184" y="300"/>
                    </a:cubicBezTo>
                    <a:cubicBezTo>
                      <a:pt x="186" y="301"/>
                      <a:pt x="189" y="304"/>
                      <a:pt x="190" y="305"/>
                    </a:cubicBezTo>
                    <a:cubicBezTo>
                      <a:pt x="191" y="307"/>
                      <a:pt x="191" y="308"/>
                      <a:pt x="190" y="309"/>
                    </a:cubicBezTo>
                    <a:cubicBezTo>
                      <a:pt x="189" y="309"/>
                      <a:pt x="188" y="310"/>
                      <a:pt x="189" y="311"/>
                    </a:cubicBezTo>
                    <a:cubicBezTo>
                      <a:pt x="190" y="312"/>
                      <a:pt x="193" y="315"/>
                      <a:pt x="195" y="317"/>
                    </a:cubicBezTo>
                    <a:cubicBezTo>
                      <a:pt x="197" y="319"/>
                      <a:pt x="199" y="323"/>
                      <a:pt x="200" y="325"/>
                    </a:cubicBezTo>
                    <a:cubicBezTo>
                      <a:pt x="201" y="327"/>
                      <a:pt x="202" y="330"/>
                      <a:pt x="202" y="331"/>
                    </a:cubicBezTo>
                    <a:cubicBezTo>
                      <a:pt x="203" y="333"/>
                      <a:pt x="205" y="335"/>
                      <a:pt x="208" y="336"/>
                    </a:cubicBezTo>
                    <a:cubicBezTo>
                      <a:pt x="211" y="337"/>
                      <a:pt x="214" y="338"/>
                      <a:pt x="216" y="339"/>
                    </a:cubicBezTo>
                    <a:cubicBezTo>
                      <a:pt x="218" y="340"/>
                      <a:pt x="219" y="342"/>
                      <a:pt x="219" y="343"/>
                    </a:cubicBezTo>
                    <a:cubicBezTo>
                      <a:pt x="218" y="345"/>
                      <a:pt x="219" y="347"/>
                      <a:pt x="220" y="349"/>
                    </a:cubicBezTo>
                    <a:cubicBezTo>
                      <a:pt x="222" y="350"/>
                      <a:pt x="224" y="354"/>
                      <a:pt x="226" y="357"/>
                    </a:cubicBezTo>
                    <a:cubicBezTo>
                      <a:pt x="228" y="360"/>
                      <a:pt x="231" y="365"/>
                      <a:pt x="233" y="368"/>
                    </a:cubicBezTo>
                    <a:cubicBezTo>
                      <a:pt x="236" y="370"/>
                      <a:pt x="238" y="373"/>
                      <a:pt x="239" y="374"/>
                    </a:cubicBezTo>
                    <a:cubicBezTo>
                      <a:pt x="240" y="375"/>
                      <a:pt x="243" y="376"/>
                      <a:pt x="245" y="376"/>
                    </a:cubicBezTo>
                    <a:cubicBezTo>
                      <a:pt x="247" y="376"/>
                      <a:pt x="249" y="377"/>
                      <a:pt x="249" y="378"/>
                    </a:cubicBezTo>
                    <a:cubicBezTo>
                      <a:pt x="250" y="380"/>
                      <a:pt x="252" y="382"/>
                      <a:pt x="253" y="384"/>
                    </a:cubicBezTo>
                    <a:cubicBezTo>
                      <a:pt x="255" y="385"/>
                      <a:pt x="257" y="386"/>
                      <a:pt x="258" y="386"/>
                    </a:cubicBezTo>
                    <a:cubicBezTo>
                      <a:pt x="260" y="385"/>
                      <a:pt x="261" y="384"/>
                      <a:pt x="261" y="383"/>
                    </a:cubicBezTo>
                    <a:cubicBezTo>
                      <a:pt x="261" y="381"/>
                      <a:pt x="262" y="381"/>
                      <a:pt x="265" y="382"/>
                    </a:cubicBezTo>
                    <a:cubicBezTo>
                      <a:pt x="267" y="382"/>
                      <a:pt x="270" y="383"/>
                      <a:pt x="272" y="384"/>
                    </a:cubicBezTo>
                    <a:cubicBezTo>
                      <a:pt x="273" y="384"/>
                      <a:pt x="276" y="385"/>
                      <a:pt x="278" y="386"/>
                    </a:cubicBezTo>
                    <a:cubicBezTo>
                      <a:pt x="279" y="386"/>
                      <a:pt x="279" y="387"/>
                      <a:pt x="278" y="388"/>
                    </a:cubicBezTo>
                    <a:cubicBezTo>
                      <a:pt x="276" y="388"/>
                      <a:pt x="275" y="389"/>
                      <a:pt x="275" y="391"/>
                    </a:cubicBezTo>
                    <a:cubicBezTo>
                      <a:pt x="275" y="392"/>
                      <a:pt x="275" y="394"/>
                      <a:pt x="276" y="395"/>
                    </a:cubicBezTo>
                    <a:cubicBezTo>
                      <a:pt x="276" y="396"/>
                      <a:pt x="275" y="398"/>
                      <a:pt x="274" y="399"/>
                    </a:cubicBezTo>
                    <a:cubicBezTo>
                      <a:pt x="273" y="400"/>
                      <a:pt x="271" y="402"/>
                      <a:pt x="271" y="402"/>
                    </a:cubicBezTo>
                    <a:cubicBezTo>
                      <a:pt x="271" y="402"/>
                      <a:pt x="272" y="404"/>
                      <a:pt x="273" y="406"/>
                    </a:cubicBezTo>
                    <a:cubicBezTo>
                      <a:pt x="273" y="409"/>
                      <a:pt x="274" y="413"/>
                      <a:pt x="274" y="415"/>
                    </a:cubicBezTo>
                    <a:cubicBezTo>
                      <a:pt x="274" y="417"/>
                      <a:pt x="275" y="419"/>
                      <a:pt x="277" y="421"/>
                    </a:cubicBezTo>
                    <a:cubicBezTo>
                      <a:pt x="279" y="422"/>
                      <a:pt x="279" y="424"/>
                      <a:pt x="279" y="426"/>
                    </a:cubicBezTo>
                    <a:cubicBezTo>
                      <a:pt x="278" y="427"/>
                      <a:pt x="279" y="430"/>
                      <a:pt x="282" y="431"/>
                    </a:cubicBezTo>
                    <a:cubicBezTo>
                      <a:pt x="284" y="433"/>
                      <a:pt x="288" y="436"/>
                      <a:pt x="291" y="438"/>
                    </a:cubicBezTo>
                    <a:cubicBezTo>
                      <a:pt x="294" y="441"/>
                      <a:pt x="299" y="443"/>
                      <a:pt x="302" y="444"/>
                    </a:cubicBezTo>
                    <a:cubicBezTo>
                      <a:pt x="304" y="445"/>
                      <a:pt x="308" y="446"/>
                      <a:pt x="310" y="446"/>
                    </a:cubicBezTo>
                    <a:cubicBezTo>
                      <a:pt x="312" y="447"/>
                      <a:pt x="315" y="448"/>
                      <a:pt x="316" y="449"/>
                    </a:cubicBezTo>
                    <a:cubicBezTo>
                      <a:pt x="317" y="450"/>
                      <a:pt x="317" y="452"/>
                      <a:pt x="317" y="454"/>
                    </a:cubicBezTo>
                    <a:cubicBezTo>
                      <a:pt x="317" y="456"/>
                      <a:pt x="318" y="460"/>
                      <a:pt x="319" y="464"/>
                    </a:cubicBezTo>
                    <a:cubicBezTo>
                      <a:pt x="320" y="467"/>
                      <a:pt x="323" y="472"/>
                      <a:pt x="325" y="475"/>
                    </a:cubicBezTo>
                    <a:cubicBezTo>
                      <a:pt x="328" y="477"/>
                      <a:pt x="330" y="480"/>
                      <a:pt x="331" y="481"/>
                    </a:cubicBezTo>
                    <a:cubicBezTo>
                      <a:pt x="332" y="481"/>
                      <a:pt x="334" y="481"/>
                      <a:pt x="335" y="481"/>
                    </a:cubicBezTo>
                    <a:cubicBezTo>
                      <a:pt x="336" y="480"/>
                      <a:pt x="338" y="480"/>
                      <a:pt x="339" y="480"/>
                    </a:cubicBezTo>
                    <a:cubicBezTo>
                      <a:pt x="340" y="480"/>
                      <a:pt x="342" y="480"/>
                      <a:pt x="342" y="480"/>
                    </a:cubicBezTo>
                    <a:cubicBezTo>
                      <a:pt x="343" y="480"/>
                      <a:pt x="343" y="479"/>
                      <a:pt x="343" y="477"/>
                    </a:cubicBezTo>
                    <a:cubicBezTo>
                      <a:pt x="343" y="476"/>
                      <a:pt x="344" y="475"/>
                      <a:pt x="345" y="476"/>
                    </a:cubicBezTo>
                    <a:cubicBezTo>
                      <a:pt x="346" y="477"/>
                      <a:pt x="348" y="478"/>
                      <a:pt x="348" y="479"/>
                    </a:cubicBezTo>
                    <a:cubicBezTo>
                      <a:pt x="348" y="480"/>
                      <a:pt x="350" y="482"/>
                      <a:pt x="351" y="483"/>
                    </a:cubicBezTo>
                    <a:cubicBezTo>
                      <a:pt x="353" y="484"/>
                      <a:pt x="356" y="487"/>
                      <a:pt x="358" y="490"/>
                    </a:cubicBezTo>
                    <a:cubicBezTo>
                      <a:pt x="361" y="493"/>
                      <a:pt x="363" y="497"/>
                      <a:pt x="363" y="499"/>
                    </a:cubicBezTo>
                    <a:cubicBezTo>
                      <a:pt x="363" y="501"/>
                      <a:pt x="363" y="503"/>
                      <a:pt x="363" y="504"/>
                    </a:cubicBezTo>
                    <a:cubicBezTo>
                      <a:pt x="363" y="505"/>
                      <a:pt x="365" y="506"/>
                      <a:pt x="366" y="505"/>
                    </a:cubicBezTo>
                    <a:cubicBezTo>
                      <a:pt x="367" y="505"/>
                      <a:pt x="369" y="506"/>
                      <a:pt x="369" y="508"/>
                    </a:cubicBezTo>
                    <a:cubicBezTo>
                      <a:pt x="370" y="508"/>
                      <a:pt x="370" y="510"/>
                      <a:pt x="370" y="511"/>
                    </a:cubicBezTo>
                    <a:cubicBezTo>
                      <a:pt x="370" y="511"/>
                      <a:pt x="373" y="509"/>
                      <a:pt x="377" y="507"/>
                    </a:cubicBezTo>
                    <a:cubicBezTo>
                      <a:pt x="380" y="505"/>
                      <a:pt x="385" y="502"/>
                      <a:pt x="388" y="500"/>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2" name="Freeform 55">
                <a:extLst>
                  <a:ext uri="{FF2B5EF4-FFF2-40B4-BE49-F238E27FC236}">
                    <a16:creationId xmlns:a16="http://schemas.microsoft.com/office/drawing/2014/main" id="{A0D2FB5D-BCFA-A92A-E06F-EA2C7AB1029C}"/>
                  </a:ext>
                </a:extLst>
              </p:cNvPr>
              <p:cNvSpPr>
                <a:spLocks/>
              </p:cNvSpPr>
              <p:nvPr/>
            </p:nvSpPr>
            <p:spPr bwMode="auto">
              <a:xfrm>
                <a:off x="1563659" y="2006583"/>
                <a:ext cx="85725" cy="138113"/>
              </a:xfrm>
              <a:custGeom>
                <a:avLst/>
                <a:gdLst/>
                <a:ahLst/>
                <a:cxnLst>
                  <a:cxn ang="0">
                    <a:pos x="20" y="5"/>
                  </a:cxn>
                  <a:cxn ang="0">
                    <a:pos x="17" y="0"/>
                  </a:cxn>
                  <a:cxn ang="0">
                    <a:pos x="12" y="2"/>
                  </a:cxn>
                  <a:cxn ang="0">
                    <a:pos x="9" y="3"/>
                  </a:cxn>
                  <a:cxn ang="0">
                    <a:pos x="5" y="8"/>
                  </a:cxn>
                  <a:cxn ang="0">
                    <a:pos x="3" y="17"/>
                  </a:cxn>
                  <a:cxn ang="0">
                    <a:pos x="1" y="24"/>
                  </a:cxn>
                  <a:cxn ang="0">
                    <a:pos x="2" y="29"/>
                  </a:cxn>
                  <a:cxn ang="0">
                    <a:pos x="9" y="34"/>
                  </a:cxn>
                  <a:cxn ang="0">
                    <a:pos x="15" y="37"/>
                  </a:cxn>
                  <a:cxn ang="0">
                    <a:pos x="18" y="35"/>
                  </a:cxn>
                  <a:cxn ang="0">
                    <a:pos x="19" y="31"/>
                  </a:cxn>
                  <a:cxn ang="0">
                    <a:pos x="22" y="26"/>
                  </a:cxn>
                  <a:cxn ang="0">
                    <a:pos x="23" y="20"/>
                  </a:cxn>
                  <a:cxn ang="0">
                    <a:pos x="22" y="13"/>
                  </a:cxn>
                  <a:cxn ang="0">
                    <a:pos x="20" y="5"/>
                  </a:cxn>
                </a:cxnLst>
                <a:rect l="0" t="0" r="r" b="b"/>
                <a:pathLst>
                  <a:path w="23" h="37">
                    <a:moveTo>
                      <a:pt x="20" y="5"/>
                    </a:moveTo>
                    <a:cubicBezTo>
                      <a:pt x="20" y="2"/>
                      <a:pt x="19" y="0"/>
                      <a:pt x="17" y="0"/>
                    </a:cubicBezTo>
                    <a:cubicBezTo>
                      <a:pt x="15" y="1"/>
                      <a:pt x="13" y="2"/>
                      <a:pt x="12" y="2"/>
                    </a:cubicBezTo>
                    <a:cubicBezTo>
                      <a:pt x="12" y="2"/>
                      <a:pt x="10" y="3"/>
                      <a:pt x="9" y="3"/>
                    </a:cubicBezTo>
                    <a:cubicBezTo>
                      <a:pt x="8" y="3"/>
                      <a:pt x="6" y="5"/>
                      <a:pt x="5" y="8"/>
                    </a:cubicBezTo>
                    <a:cubicBezTo>
                      <a:pt x="3" y="10"/>
                      <a:pt x="2" y="15"/>
                      <a:pt x="3" y="17"/>
                    </a:cubicBezTo>
                    <a:cubicBezTo>
                      <a:pt x="3" y="20"/>
                      <a:pt x="2" y="23"/>
                      <a:pt x="1" y="24"/>
                    </a:cubicBezTo>
                    <a:cubicBezTo>
                      <a:pt x="0" y="25"/>
                      <a:pt x="0" y="27"/>
                      <a:pt x="2" y="29"/>
                    </a:cubicBezTo>
                    <a:cubicBezTo>
                      <a:pt x="4" y="31"/>
                      <a:pt x="7" y="33"/>
                      <a:pt x="9" y="34"/>
                    </a:cubicBezTo>
                    <a:cubicBezTo>
                      <a:pt x="11" y="36"/>
                      <a:pt x="14" y="37"/>
                      <a:pt x="15" y="37"/>
                    </a:cubicBezTo>
                    <a:cubicBezTo>
                      <a:pt x="16" y="37"/>
                      <a:pt x="18" y="36"/>
                      <a:pt x="18" y="35"/>
                    </a:cubicBezTo>
                    <a:cubicBezTo>
                      <a:pt x="18" y="34"/>
                      <a:pt x="19" y="32"/>
                      <a:pt x="19" y="31"/>
                    </a:cubicBezTo>
                    <a:cubicBezTo>
                      <a:pt x="20" y="30"/>
                      <a:pt x="21" y="28"/>
                      <a:pt x="22" y="26"/>
                    </a:cubicBezTo>
                    <a:cubicBezTo>
                      <a:pt x="22" y="25"/>
                      <a:pt x="23" y="22"/>
                      <a:pt x="23" y="20"/>
                    </a:cubicBezTo>
                    <a:cubicBezTo>
                      <a:pt x="23" y="18"/>
                      <a:pt x="22" y="15"/>
                      <a:pt x="22" y="13"/>
                    </a:cubicBezTo>
                    <a:cubicBezTo>
                      <a:pt x="21" y="11"/>
                      <a:pt x="20" y="8"/>
                      <a:pt x="20" y="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grpSp>
          <p:nvGrpSpPr>
            <p:cNvPr id="36" name="Group 251">
              <a:extLst>
                <a:ext uri="{FF2B5EF4-FFF2-40B4-BE49-F238E27FC236}">
                  <a16:creationId xmlns:a16="http://schemas.microsoft.com/office/drawing/2014/main" id="{D114BFA8-EB40-D6B9-E62C-D03DCEC890FD}"/>
                </a:ext>
              </a:extLst>
            </p:cNvPr>
            <p:cNvGrpSpPr/>
            <p:nvPr/>
          </p:nvGrpSpPr>
          <p:grpSpPr>
            <a:xfrm>
              <a:off x="6943697" y="4452920"/>
              <a:ext cx="882650" cy="901700"/>
              <a:chOff x="6943697" y="4452920"/>
              <a:chExt cx="882650" cy="901700"/>
            </a:xfrm>
            <a:grpFill/>
          </p:grpSpPr>
          <p:sp>
            <p:nvSpPr>
              <p:cNvPr id="39" name="Freeform 48">
                <a:extLst>
                  <a:ext uri="{FF2B5EF4-FFF2-40B4-BE49-F238E27FC236}">
                    <a16:creationId xmlns:a16="http://schemas.microsoft.com/office/drawing/2014/main" id="{4398AB53-520C-DA4D-736C-6F09D66D8030}"/>
                  </a:ext>
                </a:extLst>
              </p:cNvPr>
              <p:cNvSpPr>
                <a:spLocks/>
              </p:cNvSpPr>
              <p:nvPr/>
            </p:nvSpPr>
            <p:spPr bwMode="auto">
              <a:xfrm>
                <a:off x="6943697" y="4452920"/>
                <a:ext cx="882650" cy="901700"/>
              </a:xfrm>
              <a:custGeom>
                <a:avLst/>
                <a:gdLst/>
                <a:ahLst/>
                <a:cxnLst>
                  <a:cxn ang="0">
                    <a:pos x="167" y="28"/>
                  </a:cxn>
                  <a:cxn ang="0">
                    <a:pos x="154" y="23"/>
                  </a:cxn>
                  <a:cxn ang="0">
                    <a:pos x="145" y="0"/>
                  </a:cxn>
                  <a:cxn ang="0">
                    <a:pos x="139" y="13"/>
                  </a:cxn>
                  <a:cxn ang="0">
                    <a:pos x="138" y="27"/>
                  </a:cxn>
                  <a:cxn ang="0">
                    <a:pos x="139" y="40"/>
                  </a:cxn>
                  <a:cxn ang="0">
                    <a:pos x="139" y="50"/>
                  </a:cxn>
                  <a:cxn ang="0">
                    <a:pos x="140" y="58"/>
                  </a:cxn>
                  <a:cxn ang="0">
                    <a:pos x="142" y="67"/>
                  </a:cxn>
                  <a:cxn ang="0">
                    <a:pos x="136" y="79"/>
                  </a:cxn>
                  <a:cxn ang="0">
                    <a:pos x="128" y="88"/>
                  </a:cxn>
                  <a:cxn ang="0">
                    <a:pos x="127" y="111"/>
                  </a:cxn>
                  <a:cxn ang="0">
                    <a:pos x="122" y="123"/>
                  </a:cxn>
                  <a:cxn ang="0">
                    <a:pos x="111" y="134"/>
                  </a:cxn>
                  <a:cxn ang="0">
                    <a:pos x="94" y="147"/>
                  </a:cxn>
                  <a:cxn ang="0">
                    <a:pos x="76" y="159"/>
                  </a:cxn>
                  <a:cxn ang="0">
                    <a:pos x="80" y="161"/>
                  </a:cxn>
                  <a:cxn ang="0">
                    <a:pos x="89" y="156"/>
                  </a:cxn>
                  <a:cxn ang="0">
                    <a:pos x="82" y="162"/>
                  </a:cxn>
                  <a:cxn ang="0">
                    <a:pos x="85" y="166"/>
                  </a:cxn>
                  <a:cxn ang="0">
                    <a:pos x="90" y="168"/>
                  </a:cxn>
                  <a:cxn ang="0">
                    <a:pos x="92" y="174"/>
                  </a:cxn>
                  <a:cxn ang="0">
                    <a:pos x="91" y="178"/>
                  </a:cxn>
                  <a:cxn ang="0">
                    <a:pos x="85" y="183"/>
                  </a:cxn>
                  <a:cxn ang="0">
                    <a:pos x="75" y="191"/>
                  </a:cxn>
                  <a:cxn ang="0">
                    <a:pos x="62" y="193"/>
                  </a:cxn>
                  <a:cxn ang="0">
                    <a:pos x="54" y="196"/>
                  </a:cxn>
                  <a:cxn ang="0">
                    <a:pos x="50" y="193"/>
                  </a:cxn>
                  <a:cxn ang="0">
                    <a:pos x="46" y="188"/>
                  </a:cxn>
                  <a:cxn ang="0">
                    <a:pos x="42" y="186"/>
                  </a:cxn>
                  <a:cxn ang="0">
                    <a:pos x="36" y="186"/>
                  </a:cxn>
                  <a:cxn ang="0">
                    <a:pos x="39" y="181"/>
                  </a:cxn>
                  <a:cxn ang="0">
                    <a:pos x="46" y="182"/>
                  </a:cxn>
                  <a:cxn ang="0">
                    <a:pos x="45" y="179"/>
                  </a:cxn>
                  <a:cxn ang="0">
                    <a:pos x="33" y="174"/>
                  </a:cxn>
                  <a:cxn ang="0">
                    <a:pos x="13" y="179"/>
                  </a:cxn>
                  <a:cxn ang="0">
                    <a:pos x="0" y="180"/>
                  </a:cxn>
                  <a:cxn ang="0">
                    <a:pos x="6" y="189"/>
                  </a:cxn>
                  <a:cxn ang="0">
                    <a:pos x="15" y="197"/>
                  </a:cxn>
                  <a:cxn ang="0">
                    <a:pos x="23" y="197"/>
                  </a:cxn>
                  <a:cxn ang="0">
                    <a:pos x="30" y="214"/>
                  </a:cxn>
                  <a:cxn ang="0">
                    <a:pos x="44" y="230"/>
                  </a:cxn>
                  <a:cxn ang="0">
                    <a:pos x="65" y="232"/>
                  </a:cxn>
                  <a:cxn ang="0">
                    <a:pos x="73" y="232"/>
                  </a:cxn>
                  <a:cxn ang="0">
                    <a:pos x="82" y="222"/>
                  </a:cxn>
                  <a:cxn ang="0">
                    <a:pos x="94" y="226"/>
                  </a:cxn>
                  <a:cxn ang="0">
                    <a:pos x="111" y="229"/>
                  </a:cxn>
                  <a:cxn ang="0">
                    <a:pos x="120" y="240"/>
                  </a:cxn>
                  <a:cxn ang="0">
                    <a:pos x="225" y="88"/>
                  </a:cxn>
                </a:cxnLst>
                <a:rect l="0" t="0" r="r" b="b"/>
                <a:pathLst>
                  <a:path w="235" h="240">
                    <a:moveTo>
                      <a:pt x="175" y="27"/>
                    </a:moveTo>
                    <a:cubicBezTo>
                      <a:pt x="175" y="27"/>
                      <a:pt x="171" y="28"/>
                      <a:pt x="167" y="28"/>
                    </a:cubicBezTo>
                    <a:cubicBezTo>
                      <a:pt x="162" y="29"/>
                      <a:pt x="159" y="28"/>
                      <a:pt x="159" y="27"/>
                    </a:cubicBezTo>
                    <a:cubicBezTo>
                      <a:pt x="159" y="25"/>
                      <a:pt x="157" y="24"/>
                      <a:pt x="154" y="23"/>
                    </a:cubicBezTo>
                    <a:cubicBezTo>
                      <a:pt x="151" y="23"/>
                      <a:pt x="148" y="23"/>
                      <a:pt x="148" y="23"/>
                    </a:cubicBezTo>
                    <a:cubicBezTo>
                      <a:pt x="145" y="0"/>
                      <a:pt x="145" y="0"/>
                      <a:pt x="145" y="0"/>
                    </a:cubicBezTo>
                    <a:cubicBezTo>
                      <a:pt x="145" y="0"/>
                      <a:pt x="144" y="2"/>
                      <a:pt x="142" y="4"/>
                    </a:cubicBezTo>
                    <a:cubicBezTo>
                      <a:pt x="141" y="7"/>
                      <a:pt x="139" y="10"/>
                      <a:pt x="139" y="13"/>
                    </a:cubicBezTo>
                    <a:cubicBezTo>
                      <a:pt x="139" y="15"/>
                      <a:pt x="139" y="18"/>
                      <a:pt x="138" y="20"/>
                    </a:cubicBezTo>
                    <a:cubicBezTo>
                      <a:pt x="137" y="22"/>
                      <a:pt x="137" y="25"/>
                      <a:pt x="138" y="27"/>
                    </a:cubicBezTo>
                    <a:cubicBezTo>
                      <a:pt x="139" y="30"/>
                      <a:pt x="140" y="33"/>
                      <a:pt x="140" y="35"/>
                    </a:cubicBezTo>
                    <a:cubicBezTo>
                      <a:pt x="140" y="36"/>
                      <a:pt x="140" y="39"/>
                      <a:pt x="139" y="40"/>
                    </a:cubicBezTo>
                    <a:cubicBezTo>
                      <a:pt x="139" y="42"/>
                      <a:pt x="139" y="44"/>
                      <a:pt x="139" y="46"/>
                    </a:cubicBezTo>
                    <a:cubicBezTo>
                      <a:pt x="139" y="47"/>
                      <a:pt x="139" y="49"/>
                      <a:pt x="139" y="50"/>
                    </a:cubicBezTo>
                    <a:cubicBezTo>
                      <a:pt x="139" y="50"/>
                      <a:pt x="140" y="52"/>
                      <a:pt x="140" y="53"/>
                    </a:cubicBezTo>
                    <a:cubicBezTo>
                      <a:pt x="140" y="55"/>
                      <a:pt x="140" y="57"/>
                      <a:pt x="140" y="58"/>
                    </a:cubicBezTo>
                    <a:cubicBezTo>
                      <a:pt x="140" y="59"/>
                      <a:pt x="140" y="61"/>
                      <a:pt x="141" y="63"/>
                    </a:cubicBezTo>
                    <a:cubicBezTo>
                      <a:pt x="141" y="64"/>
                      <a:pt x="142" y="66"/>
                      <a:pt x="142" y="67"/>
                    </a:cubicBezTo>
                    <a:cubicBezTo>
                      <a:pt x="143" y="69"/>
                      <a:pt x="142" y="71"/>
                      <a:pt x="141" y="73"/>
                    </a:cubicBezTo>
                    <a:cubicBezTo>
                      <a:pt x="140" y="75"/>
                      <a:pt x="137" y="78"/>
                      <a:pt x="136" y="79"/>
                    </a:cubicBezTo>
                    <a:cubicBezTo>
                      <a:pt x="135" y="81"/>
                      <a:pt x="132" y="82"/>
                      <a:pt x="131" y="83"/>
                    </a:cubicBezTo>
                    <a:cubicBezTo>
                      <a:pt x="130" y="84"/>
                      <a:pt x="129" y="86"/>
                      <a:pt x="128" y="88"/>
                    </a:cubicBezTo>
                    <a:cubicBezTo>
                      <a:pt x="128" y="89"/>
                      <a:pt x="127" y="93"/>
                      <a:pt x="127" y="97"/>
                    </a:cubicBezTo>
                    <a:cubicBezTo>
                      <a:pt x="127" y="101"/>
                      <a:pt x="127" y="107"/>
                      <a:pt x="127" y="111"/>
                    </a:cubicBezTo>
                    <a:cubicBezTo>
                      <a:pt x="127" y="115"/>
                      <a:pt x="127" y="119"/>
                      <a:pt x="126" y="120"/>
                    </a:cubicBezTo>
                    <a:cubicBezTo>
                      <a:pt x="125" y="120"/>
                      <a:pt x="123" y="122"/>
                      <a:pt x="122" y="123"/>
                    </a:cubicBezTo>
                    <a:cubicBezTo>
                      <a:pt x="121" y="125"/>
                      <a:pt x="118" y="127"/>
                      <a:pt x="117" y="129"/>
                    </a:cubicBezTo>
                    <a:cubicBezTo>
                      <a:pt x="115" y="130"/>
                      <a:pt x="113" y="133"/>
                      <a:pt x="111" y="134"/>
                    </a:cubicBezTo>
                    <a:cubicBezTo>
                      <a:pt x="109" y="135"/>
                      <a:pt x="106" y="138"/>
                      <a:pt x="103" y="141"/>
                    </a:cubicBezTo>
                    <a:cubicBezTo>
                      <a:pt x="100" y="143"/>
                      <a:pt x="96" y="146"/>
                      <a:pt x="94" y="147"/>
                    </a:cubicBezTo>
                    <a:cubicBezTo>
                      <a:pt x="91" y="149"/>
                      <a:pt x="87" y="151"/>
                      <a:pt x="84" y="153"/>
                    </a:cubicBezTo>
                    <a:cubicBezTo>
                      <a:pt x="81" y="154"/>
                      <a:pt x="77" y="157"/>
                      <a:pt x="76" y="159"/>
                    </a:cubicBezTo>
                    <a:cubicBezTo>
                      <a:pt x="75" y="160"/>
                      <a:pt x="75" y="162"/>
                      <a:pt x="76" y="163"/>
                    </a:cubicBezTo>
                    <a:cubicBezTo>
                      <a:pt x="77" y="163"/>
                      <a:pt x="79" y="162"/>
                      <a:pt x="80" y="161"/>
                    </a:cubicBezTo>
                    <a:cubicBezTo>
                      <a:pt x="81" y="159"/>
                      <a:pt x="84" y="157"/>
                      <a:pt x="87" y="155"/>
                    </a:cubicBezTo>
                    <a:cubicBezTo>
                      <a:pt x="89" y="154"/>
                      <a:pt x="90" y="154"/>
                      <a:pt x="89" y="156"/>
                    </a:cubicBezTo>
                    <a:cubicBezTo>
                      <a:pt x="88" y="157"/>
                      <a:pt x="85" y="159"/>
                      <a:pt x="84" y="160"/>
                    </a:cubicBezTo>
                    <a:cubicBezTo>
                      <a:pt x="83" y="160"/>
                      <a:pt x="81" y="161"/>
                      <a:pt x="82" y="162"/>
                    </a:cubicBezTo>
                    <a:cubicBezTo>
                      <a:pt x="82" y="163"/>
                      <a:pt x="82" y="164"/>
                      <a:pt x="83" y="164"/>
                    </a:cubicBezTo>
                    <a:cubicBezTo>
                      <a:pt x="84" y="165"/>
                      <a:pt x="85" y="166"/>
                      <a:pt x="85" y="166"/>
                    </a:cubicBezTo>
                    <a:cubicBezTo>
                      <a:pt x="86" y="166"/>
                      <a:pt x="87" y="166"/>
                      <a:pt x="88" y="166"/>
                    </a:cubicBezTo>
                    <a:cubicBezTo>
                      <a:pt x="88" y="166"/>
                      <a:pt x="89" y="167"/>
                      <a:pt x="90" y="168"/>
                    </a:cubicBezTo>
                    <a:cubicBezTo>
                      <a:pt x="91" y="168"/>
                      <a:pt x="92" y="170"/>
                      <a:pt x="92" y="171"/>
                    </a:cubicBezTo>
                    <a:cubicBezTo>
                      <a:pt x="92" y="172"/>
                      <a:pt x="92" y="174"/>
                      <a:pt x="92" y="174"/>
                    </a:cubicBezTo>
                    <a:cubicBezTo>
                      <a:pt x="92" y="175"/>
                      <a:pt x="93" y="176"/>
                      <a:pt x="93" y="176"/>
                    </a:cubicBezTo>
                    <a:cubicBezTo>
                      <a:pt x="94" y="177"/>
                      <a:pt x="93" y="177"/>
                      <a:pt x="91" y="178"/>
                    </a:cubicBezTo>
                    <a:cubicBezTo>
                      <a:pt x="90" y="179"/>
                      <a:pt x="88" y="180"/>
                      <a:pt x="87" y="181"/>
                    </a:cubicBezTo>
                    <a:cubicBezTo>
                      <a:pt x="87" y="182"/>
                      <a:pt x="86" y="183"/>
                      <a:pt x="85" y="183"/>
                    </a:cubicBezTo>
                    <a:cubicBezTo>
                      <a:pt x="84" y="184"/>
                      <a:pt x="81" y="185"/>
                      <a:pt x="79" y="187"/>
                    </a:cubicBezTo>
                    <a:cubicBezTo>
                      <a:pt x="78" y="188"/>
                      <a:pt x="76" y="190"/>
                      <a:pt x="75" y="191"/>
                    </a:cubicBezTo>
                    <a:cubicBezTo>
                      <a:pt x="75" y="192"/>
                      <a:pt x="73" y="193"/>
                      <a:pt x="70" y="193"/>
                    </a:cubicBezTo>
                    <a:cubicBezTo>
                      <a:pt x="68" y="193"/>
                      <a:pt x="64" y="193"/>
                      <a:pt x="62" y="193"/>
                    </a:cubicBezTo>
                    <a:cubicBezTo>
                      <a:pt x="60" y="192"/>
                      <a:pt x="58" y="192"/>
                      <a:pt x="57" y="193"/>
                    </a:cubicBezTo>
                    <a:cubicBezTo>
                      <a:pt x="56" y="193"/>
                      <a:pt x="55" y="194"/>
                      <a:pt x="54" y="196"/>
                    </a:cubicBezTo>
                    <a:cubicBezTo>
                      <a:pt x="53" y="198"/>
                      <a:pt x="52" y="198"/>
                      <a:pt x="51" y="197"/>
                    </a:cubicBezTo>
                    <a:cubicBezTo>
                      <a:pt x="51" y="196"/>
                      <a:pt x="50" y="195"/>
                      <a:pt x="50" y="193"/>
                    </a:cubicBezTo>
                    <a:cubicBezTo>
                      <a:pt x="50" y="192"/>
                      <a:pt x="49" y="191"/>
                      <a:pt x="48" y="190"/>
                    </a:cubicBezTo>
                    <a:cubicBezTo>
                      <a:pt x="47" y="189"/>
                      <a:pt x="46" y="188"/>
                      <a:pt x="46" y="188"/>
                    </a:cubicBezTo>
                    <a:cubicBezTo>
                      <a:pt x="46" y="187"/>
                      <a:pt x="45" y="186"/>
                      <a:pt x="44" y="185"/>
                    </a:cubicBezTo>
                    <a:cubicBezTo>
                      <a:pt x="43" y="185"/>
                      <a:pt x="42" y="185"/>
                      <a:pt x="42" y="186"/>
                    </a:cubicBezTo>
                    <a:cubicBezTo>
                      <a:pt x="41" y="186"/>
                      <a:pt x="40" y="187"/>
                      <a:pt x="39" y="187"/>
                    </a:cubicBezTo>
                    <a:cubicBezTo>
                      <a:pt x="38" y="187"/>
                      <a:pt x="37" y="187"/>
                      <a:pt x="36" y="186"/>
                    </a:cubicBezTo>
                    <a:cubicBezTo>
                      <a:pt x="36" y="186"/>
                      <a:pt x="36" y="185"/>
                      <a:pt x="36" y="184"/>
                    </a:cubicBezTo>
                    <a:cubicBezTo>
                      <a:pt x="37" y="183"/>
                      <a:pt x="38" y="181"/>
                      <a:pt x="39" y="181"/>
                    </a:cubicBezTo>
                    <a:cubicBezTo>
                      <a:pt x="40" y="180"/>
                      <a:pt x="41" y="180"/>
                      <a:pt x="42" y="181"/>
                    </a:cubicBezTo>
                    <a:cubicBezTo>
                      <a:pt x="43" y="182"/>
                      <a:pt x="45" y="182"/>
                      <a:pt x="46" y="182"/>
                    </a:cubicBezTo>
                    <a:cubicBezTo>
                      <a:pt x="47" y="182"/>
                      <a:pt x="48" y="182"/>
                      <a:pt x="48" y="181"/>
                    </a:cubicBezTo>
                    <a:cubicBezTo>
                      <a:pt x="48" y="180"/>
                      <a:pt x="47" y="179"/>
                      <a:pt x="45" y="179"/>
                    </a:cubicBezTo>
                    <a:cubicBezTo>
                      <a:pt x="44" y="178"/>
                      <a:pt x="41" y="177"/>
                      <a:pt x="40" y="175"/>
                    </a:cubicBezTo>
                    <a:cubicBezTo>
                      <a:pt x="39" y="174"/>
                      <a:pt x="35" y="173"/>
                      <a:pt x="33" y="174"/>
                    </a:cubicBezTo>
                    <a:cubicBezTo>
                      <a:pt x="30" y="175"/>
                      <a:pt x="26" y="176"/>
                      <a:pt x="23" y="177"/>
                    </a:cubicBezTo>
                    <a:cubicBezTo>
                      <a:pt x="20" y="178"/>
                      <a:pt x="15" y="178"/>
                      <a:pt x="13" y="179"/>
                    </a:cubicBezTo>
                    <a:cubicBezTo>
                      <a:pt x="10" y="179"/>
                      <a:pt x="6" y="179"/>
                      <a:pt x="4" y="180"/>
                    </a:cubicBezTo>
                    <a:cubicBezTo>
                      <a:pt x="2" y="180"/>
                      <a:pt x="0" y="180"/>
                      <a:pt x="0" y="180"/>
                    </a:cubicBezTo>
                    <a:cubicBezTo>
                      <a:pt x="0" y="180"/>
                      <a:pt x="1" y="182"/>
                      <a:pt x="2" y="183"/>
                    </a:cubicBezTo>
                    <a:cubicBezTo>
                      <a:pt x="3" y="184"/>
                      <a:pt x="5" y="187"/>
                      <a:pt x="6" y="189"/>
                    </a:cubicBezTo>
                    <a:cubicBezTo>
                      <a:pt x="8" y="191"/>
                      <a:pt x="9" y="193"/>
                      <a:pt x="10" y="195"/>
                    </a:cubicBezTo>
                    <a:cubicBezTo>
                      <a:pt x="11" y="196"/>
                      <a:pt x="13" y="197"/>
                      <a:pt x="15" y="197"/>
                    </a:cubicBezTo>
                    <a:cubicBezTo>
                      <a:pt x="17" y="197"/>
                      <a:pt x="18" y="197"/>
                      <a:pt x="18" y="197"/>
                    </a:cubicBezTo>
                    <a:cubicBezTo>
                      <a:pt x="18" y="197"/>
                      <a:pt x="20" y="197"/>
                      <a:pt x="23" y="197"/>
                    </a:cubicBezTo>
                    <a:cubicBezTo>
                      <a:pt x="26" y="197"/>
                      <a:pt x="28" y="200"/>
                      <a:pt x="28" y="203"/>
                    </a:cubicBezTo>
                    <a:cubicBezTo>
                      <a:pt x="28" y="206"/>
                      <a:pt x="29" y="211"/>
                      <a:pt x="30" y="214"/>
                    </a:cubicBezTo>
                    <a:cubicBezTo>
                      <a:pt x="31" y="218"/>
                      <a:pt x="34" y="222"/>
                      <a:pt x="37" y="224"/>
                    </a:cubicBezTo>
                    <a:cubicBezTo>
                      <a:pt x="40" y="227"/>
                      <a:pt x="43" y="229"/>
                      <a:pt x="44" y="230"/>
                    </a:cubicBezTo>
                    <a:cubicBezTo>
                      <a:pt x="46" y="230"/>
                      <a:pt x="49" y="232"/>
                      <a:pt x="52" y="233"/>
                    </a:cubicBezTo>
                    <a:cubicBezTo>
                      <a:pt x="55" y="234"/>
                      <a:pt x="61" y="234"/>
                      <a:pt x="65" y="232"/>
                    </a:cubicBezTo>
                    <a:cubicBezTo>
                      <a:pt x="65" y="232"/>
                      <a:pt x="65" y="232"/>
                      <a:pt x="69" y="232"/>
                    </a:cubicBezTo>
                    <a:cubicBezTo>
                      <a:pt x="73" y="232"/>
                      <a:pt x="73" y="232"/>
                      <a:pt x="73" y="232"/>
                    </a:cubicBezTo>
                    <a:cubicBezTo>
                      <a:pt x="73" y="228"/>
                      <a:pt x="74" y="223"/>
                      <a:pt x="75" y="222"/>
                    </a:cubicBezTo>
                    <a:cubicBezTo>
                      <a:pt x="77" y="221"/>
                      <a:pt x="80" y="221"/>
                      <a:pt x="82" y="222"/>
                    </a:cubicBezTo>
                    <a:cubicBezTo>
                      <a:pt x="84" y="223"/>
                      <a:pt x="87" y="224"/>
                      <a:pt x="89" y="224"/>
                    </a:cubicBezTo>
                    <a:cubicBezTo>
                      <a:pt x="91" y="224"/>
                      <a:pt x="93" y="225"/>
                      <a:pt x="94" y="226"/>
                    </a:cubicBezTo>
                    <a:cubicBezTo>
                      <a:pt x="95" y="227"/>
                      <a:pt x="97" y="228"/>
                      <a:pt x="100" y="228"/>
                    </a:cubicBezTo>
                    <a:cubicBezTo>
                      <a:pt x="102" y="229"/>
                      <a:pt x="107" y="229"/>
                      <a:pt x="111" y="229"/>
                    </a:cubicBezTo>
                    <a:cubicBezTo>
                      <a:pt x="115" y="230"/>
                      <a:pt x="119" y="232"/>
                      <a:pt x="119" y="235"/>
                    </a:cubicBezTo>
                    <a:cubicBezTo>
                      <a:pt x="120" y="237"/>
                      <a:pt x="120" y="240"/>
                      <a:pt x="120" y="240"/>
                    </a:cubicBezTo>
                    <a:cubicBezTo>
                      <a:pt x="235" y="230"/>
                      <a:pt x="235" y="230"/>
                      <a:pt x="235" y="230"/>
                    </a:cubicBezTo>
                    <a:cubicBezTo>
                      <a:pt x="225" y="88"/>
                      <a:pt x="225" y="88"/>
                      <a:pt x="225" y="88"/>
                    </a:cubicBezTo>
                    <a:lnTo>
                      <a:pt x="175" y="27"/>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40" name="Freeform 66">
                <a:extLst>
                  <a:ext uri="{FF2B5EF4-FFF2-40B4-BE49-F238E27FC236}">
                    <a16:creationId xmlns:a16="http://schemas.microsoft.com/office/drawing/2014/main" id="{843A0FF1-4C17-2DF9-8AEF-044E99A1692C}"/>
                  </a:ext>
                </a:extLst>
              </p:cNvPr>
              <p:cNvSpPr>
                <a:spLocks/>
              </p:cNvSpPr>
              <p:nvPr/>
            </p:nvSpPr>
            <p:spPr bwMode="auto">
              <a:xfrm>
                <a:off x="7135784" y="5072045"/>
                <a:ext cx="77788" cy="57150"/>
              </a:xfrm>
              <a:custGeom>
                <a:avLst/>
                <a:gdLst/>
                <a:ahLst/>
                <a:cxnLst>
                  <a:cxn ang="0">
                    <a:pos x="2" y="14"/>
                  </a:cxn>
                  <a:cxn ang="0">
                    <a:pos x="6" y="13"/>
                  </a:cxn>
                  <a:cxn ang="0">
                    <a:pos x="9" y="10"/>
                  </a:cxn>
                  <a:cxn ang="0">
                    <a:pos x="13" y="7"/>
                  </a:cxn>
                  <a:cxn ang="0">
                    <a:pos x="16" y="5"/>
                  </a:cxn>
                  <a:cxn ang="0">
                    <a:pos x="20" y="3"/>
                  </a:cxn>
                  <a:cxn ang="0">
                    <a:pos x="20" y="0"/>
                  </a:cxn>
                  <a:cxn ang="0">
                    <a:pos x="15" y="1"/>
                  </a:cxn>
                  <a:cxn ang="0">
                    <a:pos x="9" y="4"/>
                  </a:cxn>
                  <a:cxn ang="0">
                    <a:pos x="4" y="8"/>
                  </a:cxn>
                  <a:cxn ang="0">
                    <a:pos x="0" y="12"/>
                  </a:cxn>
                  <a:cxn ang="0">
                    <a:pos x="2" y="14"/>
                  </a:cxn>
                </a:cxnLst>
                <a:rect l="0" t="0" r="r" b="b"/>
                <a:pathLst>
                  <a:path w="21" h="15">
                    <a:moveTo>
                      <a:pt x="2" y="14"/>
                    </a:moveTo>
                    <a:cubicBezTo>
                      <a:pt x="4" y="15"/>
                      <a:pt x="6" y="14"/>
                      <a:pt x="6" y="13"/>
                    </a:cubicBezTo>
                    <a:cubicBezTo>
                      <a:pt x="7" y="12"/>
                      <a:pt x="8" y="11"/>
                      <a:pt x="9" y="10"/>
                    </a:cubicBezTo>
                    <a:cubicBezTo>
                      <a:pt x="10" y="10"/>
                      <a:pt x="12" y="9"/>
                      <a:pt x="13" y="7"/>
                    </a:cubicBezTo>
                    <a:cubicBezTo>
                      <a:pt x="14" y="6"/>
                      <a:pt x="16" y="5"/>
                      <a:pt x="16" y="5"/>
                    </a:cubicBezTo>
                    <a:cubicBezTo>
                      <a:pt x="17" y="5"/>
                      <a:pt x="19" y="4"/>
                      <a:pt x="20" y="3"/>
                    </a:cubicBezTo>
                    <a:cubicBezTo>
                      <a:pt x="21" y="2"/>
                      <a:pt x="21" y="1"/>
                      <a:pt x="20" y="0"/>
                    </a:cubicBezTo>
                    <a:cubicBezTo>
                      <a:pt x="19" y="0"/>
                      <a:pt x="16" y="0"/>
                      <a:pt x="15" y="1"/>
                    </a:cubicBezTo>
                    <a:cubicBezTo>
                      <a:pt x="13" y="2"/>
                      <a:pt x="10" y="3"/>
                      <a:pt x="9" y="4"/>
                    </a:cubicBezTo>
                    <a:cubicBezTo>
                      <a:pt x="8" y="5"/>
                      <a:pt x="5" y="7"/>
                      <a:pt x="4" y="8"/>
                    </a:cubicBezTo>
                    <a:cubicBezTo>
                      <a:pt x="2" y="9"/>
                      <a:pt x="1" y="11"/>
                      <a:pt x="0" y="12"/>
                    </a:cubicBezTo>
                    <a:cubicBezTo>
                      <a:pt x="0" y="13"/>
                      <a:pt x="1" y="14"/>
                      <a:pt x="2" y="14"/>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37" name="Freeform 68">
              <a:extLst>
                <a:ext uri="{FF2B5EF4-FFF2-40B4-BE49-F238E27FC236}">
                  <a16:creationId xmlns:a16="http://schemas.microsoft.com/office/drawing/2014/main" id="{879CF02A-CEDA-2644-7E98-21E29D54E5D6}"/>
                </a:ext>
              </a:extLst>
            </p:cNvPr>
            <p:cNvSpPr>
              <a:spLocks/>
            </p:cNvSpPr>
            <p:nvPr/>
          </p:nvSpPr>
          <p:spPr bwMode="auto">
            <a:xfrm>
              <a:off x="4217959" y="5159358"/>
              <a:ext cx="1196975" cy="742950"/>
            </a:xfrm>
            <a:custGeom>
              <a:avLst/>
              <a:gdLst/>
              <a:ahLst/>
              <a:cxnLst>
                <a:cxn ang="0">
                  <a:pos x="295" y="189"/>
                </a:cxn>
                <a:cxn ang="0">
                  <a:pos x="296" y="178"/>
                </a:cxn>
                <a:cxn ang="0">
                  <a:pos x="301" y="174"/>
                </a:cxn>
                <a:cxn ang="0">
                  <a:pos x="312" y="164"/>
                </a:cxn>
                <a:cxn ang="0">
                  <a:pos x="317" y="147"/>
                </a:cxn>
                <a:cxn ang="0">
                  <a:pos x="312" y="131"/>
                </a:cxn>
                <a:cxn ang="0">
                  <a:pos x="295" y="116"/>
                </a:cxn>
                <a:cxn ang="0">
                  <a:pos x="291" y="103"/>
                </a:cxn>
                <a:cxn ang="0">
                  <a:pos x="289" y="92"/>
                </a:cxn>
                <a:cxn ang="0">
                  <a:pos x="297" y="76"/>
                </a:cxn>
                <a:cxn ang="0">
                  <a:pos x="292" y="70"/>
                </a:cxn>
                <a:cxn ang="0">
                  <a:pos x="262" y="65"/>
                </a:cxn>
                <a:cxn ang="0">
                  <a:pos x="245" y="51"/>
                </a:cxn>
                <a:cxn ang="0">
                  <a:pos x="239" y="39"/>
                </a:cxn>
                <a:cxn ang="0">
                  <a:pos x="236" y="33"/>
                </a:cxn>
                <a:cxn ang="0">
                  <a:pos x="229" y="22"/>
                </a:cxn>
                <a:cxn ang="0">
                  <a:pos x="219" y="31"/>
                </a:cxn>
                <a:cxn ang="0">
                  <a:pos x="206" y="21"/>
                </a:cxn>
                <a:cxn ang="0">
                  <a:pos x="199" y="13"/>
                </a:cxn>
                <a:cxn ang="0">
                  <a:pos x="186" y="15"/>
                </a:cxn>
                <a:cxn ang="0">
                  <a:pos x="172" y="18"/>
                </a:cxn>
                <a:cxn ang="0">
                  <a:pos x="159" y="26"/>
                </a:cxn>
                <a:cxn ang="0">
                  <a:pos x="144" y="33"/>
                </a:cxn>
                <a:cxn ang="0">
                  <a:pos x="138" y="20"/>
                </a:cxn>
                <a:cxn ang="0">
                  <a:pos x="135" y="7"/>
                </a:cxn>
                <a:cxn ang="0">
                  <a:pos x="125" y="0"/>
                </a:cxn>
                <a:cxn ang="0">
                  <a:pos x="119" y="2"/>
                </a:cxn>
                <a:cxn ang="0">
                  <a:pos x="111" y="3"/>
                </a:cxn>
                <a:cxn ang="0">
                  <a:pos x="111" y="13"/>
                </a:cxn>
                <a:cxn ang="0">
                  <a:pos x="117" y="32"/>
                </a:cxn>
                <a:cxn ang="0">
                  <a:pos x="116" y="36"/>
                </a:cxn>
                <a:cxn ang="0">
                  <a:pos x="98" y="31"/>
                </a:cxn>
                <a:cxn ang="0">
                  <a:pos x="83" y="26"/>
                </a:cxn>
                <a:cxn ang="0">
                  <a:pos x="67" y="29"/>
                </a:cxn>
                <a:cxn ang="0">
                  <a:pos x="51" y="29"/>
                </a:cxn>
                <a:cxn ang="0">
                  <a:pos x="37" y="19"/>
                </a:cxn>
                <a:cxn ang="0">
                  <a:pos x="25" y="29"/>
                </a:cxn>
                <a:cxn ang="0">
                  <a:pos x="26" y="47"/>
                </a:cxn>
                <a:cxn ang="0">
                  <a:pos x="10" y="54"/>
                </a:cxn>
                <a:cxn ang="0">
                  <a:pos x="2" y="65"/>
                </a:cxn>
                <a:cxn ang="0">
                  <a:pos x="3" y="71"/>
                </a:cxn>
                <a:cxn ang="0">
                  <a:pos x="10" y="68"/>
                </a:cxn>
                <a:cxn ang="0">
                  <a:pos x="19" y="68"/>
                </a:cxn>
                <a:cxn ang="0">
                  <a:pos x="36" y="80"/>
                </a:cxn>
                <a:cxn ang="0">
                  <a:pos x="46" y="92"/>
                </a:cxn>
                <a:cxn ang="0">
                  <a:pos x="57" y="98"/>
                </a:cxn>
                <a:cxn ang="0">
                  <a:pos x="72" y="109"/>
                </a:cxn>
                <a:cxn ang="0">
                  <a:pos x="86" y="119"/>
                </a:cxn>
                <a:cxn ang="0">
                  <a:pos x="114" y="131"/>
                </a:cxn>
                <a:cxn ang="0">
                  <a:pos x="148" y="143"/>
                </a:cxn>
                <a:cxn ang="0">
                  <a:pos x="164" y="150"/>
                </a:cxn>
                <a:cxn ang="0">
                  <a:pos x="179" y="157"/>
                </a:cxn>
                <a:cxn ang="0">
                  <a:pos x="202" y="168"/>
                </a:cxn>
                <a:cxn ang="0">
                  <a:pos x="220" y="170"/>
                </a:cxn>
                <a:cxn ang="0">
                  <a:pos x="233" y="173"/>
                </a:cxn>
                <a:cxn ang="0">
                  <a:pos x="246" y="176"/>
                </a:cxn>
                <a:cxn ang="0">
                  <a:pos x="257" y="179"/>
                </a:cxn>
                <a:cxn ang="0">
                  <a:pos x="265" y="181"/>
                </a:cxn>
                <a:cxn ang="0">
                  <a:pos x="273" y="190"/>
                </a:cxn>
                <a:cxn ang="0">
                  <a:pos x="280" y="198"/>
                </a:cxn>
                <a:cxn ang="0">
                  <a:pos x="288" y="193"/>
                </a:cxn>
              </a:cxnLst>
              <a:rect l="0" t="0" r="r" b="b"/>
              <a:pathLst>
                <a:path w="319" h="198">
                  <a:moveTo>
                    <a:pt x="288" y="193"/>
                  </a:moveTo>
                  <a:cubicBezTo>
                    <a:pt x="291" y="192"/>
                    <a:pt x="294" y="191"/>
                    <a:pt x="295" y="189"/>
                  </a:cubicBezTo>
                  <a:cubicBezTo>
                    <a:pt x="297" y="188"/>
                    <a:pt x="298" y="185"/>
                    <a:pt x="297" y="183"/>
                  </a:cubicBezTo>
                  <a:cubicBezTo>
                    <a:pt x="296" y="181"/>
                    <a:pt x="296" y="179"/>
                    <a:pt x="296" y="178"/>
                  </a:cubicBezTo>
                  <a:cubicBezTo>
                    <a:pt x="296" y="177"/>
                    <a:pt x="297" y="176"/>
                    <a:pt x="299" y="176"/>
                  </a:cubicBezTo>
                  <a:cubicBezTo>
                    <a:pt x="300" y="176"/>
                    <a:pt x="301" y="175"/>
                    <a:pt x="301" y="174"/>
                  </a:cubicBezTo>
                  <a:cubicBezTo>
                    <a:pt x="301" y="172"/>
                    <a:pt x="303" y="170"/>
                    <a:pt x="305" y="169"/>
                  </a:cubicBezTo>
                  <a:cubicBezTo>
                    <a:pt x="307" y="168"/>
                    <a:pt x="310" y="166"/>
                    <a:pt x="312" y="164"/>
                  </a:cubicBezTo>
                  <a:cubicBezTo>
                    <a:pt x="313" y="163"/>
                    <a:pt x="315" y="160"/>
                    <a:pt x="315" y="157"/>
                  </a:cubicBezTo>
                  <a:cubicBezTo>
                    <a:pt x="315" y="154"/>
                    <a:pt x="316" y="150"/>
                    <a:pt x="317" y="147"/>
                  </a:cubicBezTo>
                  <a:cubicBezTo>
                    <a:pt x="318" y="145"/>
                    <a:pt x="319" y="141"/>
                    <a:pt x="318" y="139"/>
                  </a:cubicBezTo>
                  <a:cubicBezTo>
                    <a:pt x="318" y="137"/>
                    <a:pt x="315" y="133"/>
                    <a:pt x="312" y="131"/>
                  </a:cubicBezTo>
                  <a:cubicBezTo>
                    <a:pt x="309" y="128"/>
                    <a:pt x="304" y="124"/>
                    <a:pt x="301" y="121"/>
                  </a:cubicBezTo>
                  <a:cubicBezTo>
                    <a:pt x="298" y="118"/>
                    <a:pt x="295" y="116"/>
                    <a:pt x="295" y="116"/>
                  </a:cubicBezTo>
                  <a:cubicBezTo>
                    <a:pt x="296" y="109"/>
                    <a:pt x="296" y="109"/>
                    <a:pt x="296" y="109"/>
                  </a:cubicBezTo>
                  <a:cubicBezTo>
                    <a:pt x="291" y="103"/>
                    <a:pt x="291" y="103"/>
                    <a:pt x="291" y="103"/>
                  </a:cubicBezTo>
                  <a:cubicBezTo>
                    <a:pt x="292" y="98"/>
                    <a:pt x="292" y="98"/>
                    <a:pt x="292" y="98"/>
                  </a:cubicBezTo>
                  <a:cubicBezTo>
                    <a:pt x="289" y="92"/>
                    <a:pt x="289" y="92"/>
                    <a:pt x="289" y="92"/>
                  </a:cubicBezTo>
                  <a:cubicBezTo>
                    <a:pt x="289" y="92"/>
                    <a:pt x="290" y="90"/>
                    <a:pt x="290" y="87"/>
                  </a:cubicBezTo>
                  <a:cubicBezTo>
                    <a:pt x="291" y="84"/>
                    <a:pt x="294" y="79"/>
                    <a:pt x="297" y="76"/>
                  </a:cubicBezTo>
                  <a:cubicBezTo>
                    <a:pt x="300" y="72"/>
                    <a:pt x="302" y="69"/>
                    <a:pt x="302" y="69"/>
                  </a:cubicBezTo>
                  <a:cubicBezTo>
                    <a:pt x="302" y="69"/>
                    <a:pt x="298" y="69"/>
                    <a:pt x="292" y="70"/>
                  </a:cubicBezTo>
                  <a:cubicBezTo>
                    <a:pt x="287" y="71"/>
                    <a:pt x="280" y="71"/>
                    <a:pt x="276" y="70"/>
                  </a:cubicBezTo>
                  <a:cubicBezTo>
                    <a:pt x="272" y="69"/>
                    <a:pt x="266" y="67"/>
                    <a:pt x="262" y="65"/>
                  </a:cubicBezTo>
                  <a:cubicBezTo>
                    <a:pt x="258" y="63"/>
                    <a:pt x="254" y="59"/>
                    <a:pt x="252" y="57"/>
                  </a:cubicBezTo>
                  <a:cubicBezTo>
                    <a:pt x="250" y="54"/>
                    <a:pt x="247" y="52"/>
                    <a:pt x="245" y="51"/>
                  </a:cubicBezTo>
                  <a:cubicBezTo>
                    <a:pt x="244" y="51"/>
                    <a:pt x="242" y="49"/>
                    <a:pt x="241" y="47"/>
                  </a:cubicBezTo>
                  <a:cubicBezTo>
                    <a:pt x="240" y="46"/>
                    <a:pt x="239" y="42"/>
                    <a:pt x="239" y="39"/>
                  </a:cubicBezTo>
                  <a:cubicBezTo>
                    <a:pt x="239" y="37"/>
                    <a:pt x="239" y="34"/>
                    <a:pt x="239" y="34"/>
                  </a:cubicBezTo>
                  <a:cubicBezTo>
                    <a:pt x="239" y="34"/>
                    <a:pt x="238" y="34"/>
                    <a:pt x="236" y="33"/>
                  </a:cubicBezTo>
                  <a:cubicBezTo>
                    <a:pt x="235" y="32"/>
                    <a:pt x="233" y="29"/>
                    <a:pt x="232" y="27"/>
                  </a:cubicBezTo>
                  <a:cubicBezTo>
                    <a:pt x="232" y="25"/>
                    <a:pt x="230" y="23"/>
                    <a:pt x="229" y="22"/>
                  </a:cubicBezTo>
                  <a:cubicBezTo>
                    <a:pt x="228" y="22"/>
                    <a:pt x="226" y="24"/>
                    <a:pt x="224" y="27"/>
                  </a:cubicBezTo>
                  <a:cubicBezTo>
                    <a:pt x="223" y="29"/>
                    <a:pt x="221" y="31"/>
                    <a:pt x="219" y="31"/>
                  </a:cubicBezTo>
                  <a:cubicBezTo>
                    <a:pt x="218" y="31"/>
                    <a:pt x="215" y="29"/>
                    <a:pt x="213" y="27"/>
                  </a:cubicBezTo>
                  <a:cubicBezTo>
                    <a:pt x="211" y="25"/>
                    <a:pt x="208" y="22"/>
                    <a:pt x="206" y="21"/>
                  </a:cubicBezTo>
                  <a:cubicBezTo>
                    <a:pt x="205" y="19"/>
                    <a:pt x="203" y="18"/>
                    <a:pt x="203" y="18"/>
                  </a:cubicBezTo>
                  <a:cubicBezTo>
                    <a:pt x="203" y="18"/>
                    <a:pt x="202" y="15"/>
                    <a:pt x="199" y="13"/>
                  </a:cubicBezTo>
                  <a:cubicBezTo>
                    <a:pt x="197" y="10"/>
                    <a:pt x="194" y="9"/>
                    <a:pt x="192" y="10"/>
                  </a:cubicBezTo>
                  <a:cubicBezTo>
                    <a:pt x="190" y="11"/>
                    <a:pt x="187" y="13"/>
                    <a:pt x="186" y="15"/>
                  </a:cubicBezTo>
                  <a:cubicBezTo>
                    <a:pt x="185" y="17"/>
                    <a:pt x="183" y="18"/>
                    <a:pt x="181" y="17"/>
                  </a:cubicBezTo>
                  <a:cubicBezTo>
                    <a:pt x="179" y="16"/>
                    <a:pt x="175" y="17"/>
                    <a:pt x="172" y="18"/>
                  </a:cubicBezTo>
                  <a:cubicBezTo>
                    <a:pt x="169" y="19"/>
                    <a:pt x="165" y="21"/>
                    <a:pt x="164" y="21"/>
                  </a:cubicBezTo>
                  <a:cubicBezTo>
                    <a:pt x="162" y="22"/>
                    <a:pt x="160" y="24"/>
                    <a:pt x="159" y="26"/>
                  </a:cubicBezTo>
                  <a:cubicBezTo>
                    <a:pt x="158" y="28"/>
                    <a:pt x="154" y="31"/>
                    <a:pt x="152" y="33"/>
                  </a:cubicBezTo>
                  <a:cubicBezTo>
                    <a:pt x="149" y="35"/>
                    <a:pt x="145" y="35"/>
                    <a:pt x="144" y="33"/>
                  </a:cubicBezTo>
                  <a:cubicBezTo>
                    <a:pt x="142" y="31"/>
                    <a:pt x="141" y="27"/>
                    <a:pt x="141" y="26"/>
                  </a:cubicBezTo>
                  <a:cubicBezTo>
                    <a:pt x="141" y="24"/>
                    <a:pt x="140" y="21"/>
                    <a:pt x="138" y="20"/>
                  </a:cubicBezTo>
                  <a:cubicBezTo>
                    <a:pt x="136" y="18"/>
                    <a:pt x="134" y="15"/>
                    <a:pt x="134" y="13"/>
                  </a:cubicBezTo>
                  <a:cubicBezTo>
                    <a:pt x="134" y="11"/>
                    <a:pt x="134" y="9"/>
                    <a:pt x="135" y="7"/>
                  </a:cubicBezTo>
                  <a:cubicBezTo>
                    <a:pt x="135" y="6"/>
                    <a:pt x="134" y="4"/>
                    <a:pt x="132" y="3"/>
                  </a:cubicBezTo>
                  <a:cubicBezTo>
                    <a:pt x="131" y="2"/>
                    <a:pt x="128" y="1"/>
                    <a:pt x="125" y="0"/>
                  </a:cubicBezTo>
                  <a:cubicBezTo>
                    <a:pt x="123" y="0"/>
                    <a:pt x="121" y="0"/>
                    <a:pt x="121" y="0"/>
                  </a:cubicBezTo>
                  <a:cubicBezTo>
                    <a:pt x="121" y="0"/>
                    <a:pt x="120" y="1"/>
                    <a:pt x="119" y="2"/>
                  </a:cubicBezTo>
                  <a:cubicBezTo>
                    <a:pt x="118" y="4"/>
                    <a:pt x="116" y="4"/>
                    <a:pt x="115" y="3"/>
                  </a:cubicBezTo>
                  <a:cubicBezTo>
                    <a:pt x="114" y="1"/>
                    <a:pt x="112" y="2"/>
                    <a:pt x="111" y="3"/>
                  </a:cubicBezTo>
                  <a:cubicBezTo>
                    <a:pt x="111" y="4"/>
                    <a:pt x="110" y="7"/>
                    <a:pt x="111" y="8"/>
                  </a:cubicBezTo>
                  <a:cubicBezTo>
                    <a:pt x="111" y="10"/>
                    <a:pt x="111" y="12"/>
                    <a:pt x="111" y="13"/>
                  </a:cubicBezTo>
                  <a:cubicBezTo>
                    <a:pt x="110" y="15"/>
                    <a:pt x="111" y="18"/>
                    <a:pt x="112" y="20"/>
                  </a:cubicBezTo>
                  <a:cubicBezTo>
                    <a:pt x="113" y="23"/>
                    <a:pt x="116" y="28"/>
                    <a:pt x="117" y="32"/>
                  </a:cubicBezTo>
                  <a:cubicBezTo>
                    <a:pt x="119" y="36"/>
                    <a:pt x="121" y="39"/>
                    <a:pt x="121" y="39"/>
                  </a:cubicBezTo>
                  <a:cubicBezTo>
                    <a:pt x="121" y="39"/>
                    <a:pt x="118" y="38"/>
                    <a:pt x="116" y="36"/>
                  </a:cubicBezTo>
                  <a:cubicBezTo>
                    <a:pt x="113" y="35"/>
                    <a:pt x="108" y="33"/>
                    <a:pt x="106" y="31"/>
                  </a:cubicBezTo>
                  <a:cubicBezTo>
                    <a:pt x="103" y="30"/>
                    <a:pt x="99" y="30"/>
                    <a:pt x="98" y="31"/>
                  </a:cubicBezTo>
                  <a:cubicBezTo>
                    <a:pt x="97" y="33"/>
                    <a:pt x="94" y="32"/>
                    <a:pt x="92" y="30"/>
                  </a:cubicBezTo>
                  <a:cubicBezTo>
                    <a:pt x="90" y="28"/>
                    <a:pt x="86" y="26"/>
                    <a:pt x="83" y="26"/>
                  </a:cubicBezTo>
                  <a:cubicBezTo>
                    <a:pt x="80" y="26"/>
                    <a:pt x="77" y="26"/>
                    <a:pt x="75" y="26"/>
                  </a:cubicBezTo>
                  <a:cubicBezTo>
                    <a:pt x="73" y="26"/>
                    <a:pt x="70" y="27"/>
                    <a:pt x="67" y="29"/>
                  </a:cubicBezTo>
                  <a:cubicBezTo>
                    <a:pt x="65" y="30"/>
                    <a:pt x="61" y="31"/>
                    <a:pt x="59" y="31"/>
                  </a:cubicBezTo>
                  <a:cubicBezTo>
                    <a:pt x="57" y="31"/>
                    <a:pt x="53" y="30"/>
                    <a:pt x="51" y="29"/>
                  </a:cubicBezTo>
                  <a:cubicBezTo>
                    <a:pt x="50" y="27"/>
                    <a:pt x="46" y="25"/>
                    <a:pt x="44" y="23"/>
                  </a:cubicBezTo>
                  <a:cubicBezTo>
                    <a:pt x="42" y="21"/>
                    <a:pt x="39" y="19"/>
                    <a:pt x="37" y="19"/>
                  </a:cubicBezTo>
                  <a:cubicBezTo>
                    <a:pt x="36" y="18"/>
                    <a:pt x="32" y="20"/>
                    <a:pt x="29" y="21"/>
                  </a:cubicBezTo>
                  <a:cubicBezTo>
                    <a:pt x="26" y="23"/>
                    <a:pt x="24" y="26"/>
                    <a:pt x="25" y="29"/>
                  </a:cubicBezTo>
                  <a:cubicBezTo>
                    <a:pt x="26" y="32"/>
                    <a:pt x="26" y="36"/>
                    <a:pt x="27" y="38"/>
                  </a:cubicBezTo>
                  <a:cubicBezTo>
                    <a:pt x="28" y="40"/>
                    <a:pt x="27" y="44"/>
                    <a:pt x="26" y="47"/>
                  </a:cubicBezTo>
                  <a:cubicBezTo>
                    <a:pt x="24" y="50"/>
                    <a:pt x="22" y="52"/>
                    <a:pt x="19" y="52"/>
                  </a:cubicBezTo>
                  <a:cubicBezTo>
                    <a:pt x="17" y="52"/>
                    <a:pt x="13" y="53"/>
                    <a:pt x="10" y="54"/>
                  </a:cubicBezTo>
                  <a:cubicBezTo>
                    <a:pt x="8" y="54"/>
                    <a:pt x="5" y="56"/>
                    <a:pt x="4" y="57"/>
                  </a:cubicBezTo>
                  <a:cubicBezTo>
                    <a:pt x="4" y="58"/>
                    <a:pt x="3" y="62"/>
                    <a:pt x="2" y="65"/>
                  </a:cubicBezTo>
                  <a:cubicBezTo>
                    <a:pt x="1" y="68"/>
                    <a:pt x="0" y="70"/>
                    <a:pt x="0" y="70"/>
                  </a:cubicBezTo>
                  <a:cubicBezTo>
                    <a:pt x="0" y="70"/>
                    <a:pt x="1" y="71"/>
                    <a:pt x="3" y="71"/>
                  </a:cubicBezTo>
                  <a:cubicBezTo>
                    <a:pt x="5" y="71"/>
                    <a:pt x="7" y="71"/>
                    <a:pt x="7" y="71"/>
                  </a:cubicBezTo>
                  <a:cubicBezTo>
                    <a:pt x="8" y="70"/>
                    <a:pt x="9" y="69"/>
                    <a:pt x="10" y="68"/>
                  </a:cubicBezTo>
                  <a:cubicBezTo>
                    <a:pt x="11" y="68"/>
                    <a:pt x="13" y="67"/>
                    <a:pt x="14" y="67"/>
                  </a:cubicBezTo>
                  <a:cubicBezTo>
                    <a:pt x="15" y="67"/>
                    <a:pt x="17" y="67"/>
                    <a:pt x="19" y="68"/>
                  </a:cubicBezTo>
                  <a:cubicBezTo>
                    <a:pt x="20" y="68"/>
                    <a:pt x="24" y="70"/>
                    <a:pt x="27" y="71"/>
                  </a:cubicBezTo>
                  <a:cubicBezTo>
                    <a:pt x="31" y="73"/>
                    <a:pt x="35" y="77"/>
                    <a:pt x="36" y="80"/>
                  </a:cubicBezTo>
                  <a:cubicBezTo>
                    <a:pt x="38" y="83"/>
                    <a:pt x="40" y="86"/>
                    <a:pt x="41" y="87"/>
                  </a:cubicBezTo>
                  <a:cubicBezTo>
                    <a:pt x="41" y="89"/>
                    <a:pt x="44" y="91"/>
                    <a:pt x="46" y="92"/>
                  </a:cubicBezTo>
                  <a:cubicBezTo>
                    <a:pt x="48" y="94"/>
                    <a:pt x="51" y="95"/>
                    <a:pt x="53" y="95"/>
                  </a:cubicBezTo>
                  <a:cubicBezTo>
                    <a:pt x="55" y="96"/>
                    <a:pt x="56" y="97"/>
                    <a:pt x="57" y="98"/>
                  </a:cubicBezTo>
                  <a:cubicBezTo>
                    <a:pt x="58" y="100"/>
                    <a:pt x="60" y="102"/>
                    <a:pt x="62" y="103"/>
                  </a:cubicBezTo>
                  <a:cubicBezTo>
                    <a:pt x="64" y="105"/>
                    <a:pt x="69" y="107"/>
                    <a:pt x="72" y="109"/>
                  </a:cubicBezTo>
                  <a:cubicBezTo>
                    <a:pt x="75" y="110"/>
                    <a:pt x="79" y="113"/>
                    <a:pt x="81" y="114"/>
                  </a:cubicBezTo>
                  <a:cubicBezTo>
                    <a:pt x="83" y="115"/>
                    <a:pt x="85" y="117"/>
                    <a:pt x="86" y="119"/>
                  </a:cubicBezTo>
                  <a:cubicBezTo>
                    <a:pt x="87" y="120"/>
                    <a:pt x="91" y="123"/>
                    <a:pt x="95" y="124"/>
                  </a:cubicBezTo>
                  <a:cubicBezTo>
                    <a:pt x="99" y="126"/>
                    <a:pt x="108" y="129"/>
                    <a:pt x="114" y="131"/>
                  </a:cubicBezTo>
                  <a:cubicBezTo>
                    <a:pt x="120" y="134"/>
                    <a:pt x="128" y="137"/>
                    <a:pt x="133" y="138"/>
                  </a:cubicBezTo>
                  <a:cubicBezTo>
                    <a:pt x="137" y="139"/>
                    <a:pt x="144" y="142"/>
                    <a:pt x="148" y="143"/>
                  </a:cubicBezTo>
                  <a:cubicBezTo>
                    <a:pt x="153" y="145"/>
                    <a:pt x="157" y="147"/>
                    <a:pt x="158" y="147"/>
                  </a:cubicBezTo>
                  <a:cubicBezTo>
                    <a:pt x="160" y="147"/>
                    <a:pt x="162" y="149"/>
                    <a:pt x="164" y="150"/>
                  </a:cubicBezTo>
                  <a:cubicBezTo>
                    <a:pt x="165" y="151"/>
                    <a:pt x="169" y="152"/>
                    <a:pt x="171" y="152"/>
                  </a:cubicBezTo>
                  <a:cubicBezTo>
                    <a:pt x="173" y="152"/>
                    <a:pt x="177" y="154"/>
                    <a:pt x="179" y="157"/>
                  </a:cubicBezTo>
                  <a:cubicBezTo>
                    <a:pt x="181" y="160"/>
                    <a:pt x="185" y="163"/>
                    <a:pt x="189" y="164"/>
                  </a:cubicBezTo>
                  <a:cubicBezTo>
                    <a:pt x="193" y="166"/>
                    <a:pt x="199" y="167"/>
                    <a:pt x="202" y="168"/>
                  </a:cubicBezTo>
                  <a:cubicBezTo>
                    <a:pt x="205" y="168"/>
                    <a:pt x="209" y="168"/>
                    <a:pt x="211" y="168"/>
                  </a:cubicBezTo>
                  <a:cubicBezTo>
                    <a:pt x="213" y="168"/>
                    <a:pt x="217" y="169"/>
                    <a:pt x="220" y="170"/>
                  </a:cubicBezTo>
                  <a:cubicBezTo>
                    <a:pt x="222" y="171"/>
                    <a:pt x="226" y="172"/>
                    <a:pt x="227" y="172"/>
                  </a:cubicBezTo>
                  <a:cubicBezTo>
                    <a:pt x="229" y="172"/>
                    <a:pt x="231" y="172"/>
                    <a:pt x="233" y="173"/>
                  </a:cubicBezTo>
                  <a:cubicBezTo>
                    <a:pt x="235" y="173"/>
                    <a:pt x="237" y="173"/>
                    <a:pt x="239" y="174"/>
                  </a:cubicBezTo>
                  <a:cubicBezTo>
                    <a:pt x="241" y="174"/>
                    <a:pt x="244" y="175"/>
                    <a:pt x="246" y="176"/>
                  </a:cubicBezTo>
                  <a:cubicBezTo>
                    <a:pt x="248" y="177"/>
                    <a:pt x="251" y="178"/>
                    <a:pt x="253" y="179"/>
                  </a:cubicBezTo>
                  <a:cubicBezTo>
                    <a:pt x="255" y="179"/>
                    <a:pt x="256" y="179"/>
                    <a:pt x="257" y="179"/>
                  </a:cubicBezTo>
                  <a:cubicBezTo>
                    <a:pt x="258" y="178"/>
                    <a:pt x="259" y="178"/>
                    <a:pt x="260" y="178"/>
                  </a:cubicBezTo>
                  <a:cubicBezTo>
                    <a:pt x="262" y="178"/>
                    <a:pt x="264" y="179"/>
                    <a:pt x="265" y="181"/>
                  </a:cubicBezTo>
                  <a:cubicBezTo>
                    <a:pt x="267" y="183"/>
                    <a:pt x="269" y="186"/>
                    <a:pt x="270" y="187"/>
                  </a:cubicBezTo>
                  <a:cubicBezTo>
                    <a:pt x="271" y="189"/>
                    <a:pt x="272" y="190"/>
                    <a:pt x="273" y="190"/>
                  </a:cubicBezTo>
                  <a:cubicBezTo>
                    <a:pt x="274" y="191"/>
                    <a:pt x="276" y="192"/>
                    <a:pt x="278" y="194"/>
                  </a:cubicBezTo>
                  <a:cubicBezTo>
                    <a:pt x="279" y="196"/>
                    <a:pt x="280" y="198"/>
                    <a:pt x="280" y="198"/>
                  </a:cubicBezTo>
                  <a:cubicBezTo>
                    <a:pt x="280" y="198"/>
                    <a:pt x="281" y="197"/>
                    <a:pt x="282" y="195"/>
                  </a:cubicBezTo>
                  <a:cubicBezTo>
                    <a:pt x="283" y="194"/>
                    <a:pt x="286" y="193"/>
                    <a:pt x="288" y="193"/>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8" name="Freeform 69">
              <a:extLst>
                <a:ext uri="{FF2B5EF4-FFF2-40B4-BE49-F238E27FC236}">
                  <a16:creationId xmlns:a16="http://schemas.microsoft.com/office/drawing/2014/main" id="{84716B38-DE91-411E-0AF1-7716FF4546CE}"/>
                </a:ext>
              </a:extLst>
            </p:cNvPr>
            <p:cNvSpPr>
              <a:spLocks/>
            </p:cNvSpPr>
            <p:nvPr/>
          </p:nvSpPr>
          <p:spPr bwMode="auto">
            <a:xfrm>
              <a:off x="5268884" y="5222858"/>
              <a:ext cx="1325563" cy="849313"/>
            </a:xfrm>
            <a:custGeom>
              <a:avLst/>
              <a:gdLst/>
              <a:ahLst/>
              <a:cxnLst>
                <a:cxn ang="0">
                  <a:pos x="289" y="102"/>
                </a:cxn>
                <a:cxn ang="0">
                  <a:pos x="264" y="89"/>
                </a:cxn>
                <a:cxn ang="0">
                  <a:pos x="237" y="69"/>
                </a:cxn>
                <a:cxn ang="0">
                  <a:pos x="215" y="80"/>
                </a:cxn>
                <a:cxn ang="0">
                  <a:pos x="198" y="60"/>
                </a:cxn>
                <a:cxn ang="0">
                  <a:pos x="198" y="31"/>
                </a:cxn>
                <a:cxn ang="0">
                  <a:pos x="177" y="29"/>
                </a:cxn>
                <a:cxn ang="0">
                  <a:pos x="162" y="14"/>
                </a:cxn>
                <a:cxn ang="0">
                  <a:pos x="142" y="2"/>
                </a:cxn>
                <a:cxn ang="0">
                  <a:pos x="126" y="25"/>
                </a:cxn>
                <a:cxn ang="0">
                  <a:pos x="103" y="34"/>
                </a:cxn>
                <a:cxn ang="0">
                  <a:pos x="82" y="46"/>
                </a:cxn>
                <a:cxn ang="0">
                  <a:pos x="68" y="36"/>
                </a:cxn>
                <a:cxn ang="0">
                  <a:pos x="65" y="20"/>
                </a:cxn>
                <a:cxn ang="0">
                  <a:pos x="56" y="41"/>
                </a:cxn>
                <a:cxn ang="0">
                  <a:pos x="46" y="50"/>
                </a:cxn>
                <a:cxn ang="0">
                  <a:pos x="26" y="49"/>
                </a:cxn>
                <a:cxn ang="0">
                  <a:pos x="10" y="70"/>
                </a:cxn>
                <a:cxn ang="0">
                  <a:pos x="11" y="86"/>
                </a:cxn>
                <a:cxn ang="0">
                  <a:pos x="21" y="104"/>
                </a:cxn>
                <a:cxn ang="0">
                  <a:pos x="37" y="130"/>
                </a:cxn>
                <a:cxn ang="0">
                  <a:pos x="25" y="152"/>
                </a:cxn>
                <a:cxn ang="0">
                  <a:pos x="16" y="161"/>
                </a:cxn>
                <a:cxn ang="0">
                  <a:pos x="8" y="176"/>
                </a:cxn>
                <a:cxn ang="0">
                  <a:pos x="5" y="181"/>
                </a:cxn>
                <a:cxn ang="0">
                  <a:pos x="32" y="187"/>
                </a:cxn>
                <a:cxn ang="0">
                  <a:pos x="51" y="200"/>
                </a:cxn>
                <a:cxn ang="0">
                  <a:pos x="91" y="207"/>
                </a:cxn>
                <a:cxn ang="0">
                  <a:pos x="112" y="211"/>
                </a:cxn>
                <a:cxn ang="0">
                  <a:pos x="144" y="223"/>
                </a:cxn>
                <a:cxn ang="0">
                  <a:pos x="170" y="223"/>
                </a:cxn>
                <a:cxn ang="0">
                  <a:pos x="219" y="204"/>
                </a:cxn>
                <a:cxn ang="0">
                  <a:pos x="246" y="189"/>
                </a:cxn>
                <a:cxn ang="0">
                  <a:pos x="270" y="178"/>
                </a:cxn>
                <a:cxn ang="0">
                  <a:pos x="271" y="173"/>
                </a:cxn>
                <a:cxn ang="0">
                  <a:pos x="274" y="163"/>
                </a:cxn>
                <a:cxn ang="0">
                  <a:pos x="285" y="167"/>
                </a:cxn>
                <a:cxn ang="0">
                  <a:pos x="297" y="166"/>
                </a:cxn>
                <a:cxn ang="0">
                  <a:pos x="296" y="174"/>
                </a:cxn>
                <a:cxn ang="0">
                  <a:pos x="311" y="178"/>
                </a:cxn>
                <a:cxn ang="0">
                  <a:pos x="315" y="169"/>
                </a:cxn>
                <a:cxn ang="0">
                  <a:pos x="333" y="174"/>
                </a:cxn>
                <a:cxn ang="0">
                  <a:pos x="342" y="181"/>
                </a:cxn>
                <a:cxn ang="0">
                  <a:pos x="339" y="159"/>
                </a:cxn>
                <a:cxn ang="0">
                  <a:pos x="342" y="133"/>
                </a:cxn>
                <a:cxn ang="0">
                  <a:pos x="351" y="113"/>
                </a:cxn>
                <a:cxn ang="0">
                  <a:pos x="349" y="102"/>
                </a:cxn>
              </a:cxnLst>
              <a:rect l="0" t="0" r="r" b="b"/>
              <a:pathLst>
                <a:path w="353" h="226">
                  <a:moveTo>
                    <a:pt x="349" y="102"/>
                  </a:moveTo>
                  <a:cubicBezTo>
                    <a:pt x="346" y="101"/>
                    <a:pt x="335" y="101"/>
                    <a:pt x="325" y="102"/>
                  </a:cubicBezTo>
                  <a:cubicBezTo>
                    <a:pt x="315" y="102"/>
                    <a:pt x="298" y="102"/>
                    <a:pt x="289" y="102"/>
                  </a:cubicBezTo>
                  <a:cubicBezTo>
                    <a:pt x="279" y="101"/>
                    <a:pt x="271" y="100"/>
                    <a:pt x="270" y="99"/>
                  </a:cubicBezTo>
                  <a:cubicBezTo>
                    <a:pt x="269" y="98"/>
                    <a:pt x="268" y="95"/>
                    <a:pt x="267" y="94"/>
                  </a:cubicBezTo>
                  <a:cubicBezTo>
                    <a:pt x="267" y="92"/>
                    <a:pt x="265" y="90"/>
                    <a:pt x="264" y="89"/>
                  </a:cubicBezTo>
                  <a:cubicBezTo>
                    <a:pt x="263" y="88"/>
                    <a:pt x="258" y="84"/>
                    <a:pt x="254" y="81"/>
                  </a:cubicBezTo>
                  <a:cubicBezTo>
                    <a:pt x="250" y="77"/>
                    <a:pt x="246" y="73"/>
                    <a:pt x="245" y="70"/>
                  </a:cubicBezTo>
                  <a:cubicBezTo>
                    <a:pt x="243" y="68"/>
                    <a:pt x="240" y="67"/>
                    <a:pt x="237" y="69"/>
                  </a:cubicBezTo>
                  <a:cubicBezTo>
                    <a:pt x="234" y="70"/>
                    <a:pt x="231" y="72"/>
                    <a:pt x="230" y="72"/>
                  </a:cubicBezTo>
                  <a:cubicBezTo>
                    <a:pt x="229" y="73"/>
                    <a:pt x="226" y="75"/>
                    <a:pt x="224" y="76"/>
                  </a:cubicBezTo>
                  <a:cubicBezTo>
                    <a:pt x="222" y="78"/>
                    <a:pt x="218" y="80"/>
                    <a:pt x="215" y="80"/>
                  </a:cubicBezTo>
                  <a:cubicBezTo>
                    <a:pt x="212" y="81"/>
                    <a:pt x="207" y="79"/>
                    <a:pt x="205" y="77"/>
                  </a:cubicBezTo>
                  <a:cubicBezTo>
                    <a:pt x="202" y="74"/>
                    <a:pt x="199" y="70"/>
                    <a:pt x="199" y="68"/>
                  </a:cubicBezTo>
                  <a:cubicBezTo>
                    <a:pt x="198" y="66"/>
                    <a:pt x="198" y="62"/>
                    <a:pt x="198" y="60"/>
                  </a:cubicBezTo>
                  <a:cubicBezTo>
                    <a:pt x="198" y="57"/>
                    <a:pt x="200" y="53"/>
                    <a:pt x="202" y="50"/>
                  </a:cubicBezTo>
                  <a:cubicBezTo>
                    <a:pt x="203" y="48"/>
                    <a:pt x="204" y="43"/>
                    <a:pt x="203" y="39"/>
                  </a:cubicBezTo>
                  <a:cubicBezTo>
                    <a:pt x="202" y="35"/>
                    <a:pt x="200" y="32"/>
                    <a:pt x="198" y="31"/>
                  </a:cubicBezTo>
                  <a:cubicBezTo>
                    <a:pt x="197" y="31"/>
                    <a:pt x="194" y="31"/>
                    <a:pt x="193" y="32"/>
                  </a:cubicBezTo>
                  <a:cubicBezTo>
                    <a:pt x="192" y="33"/>
                    <a:pt x="188" y="32"/>
                    <a:pt x="186" y="31"/>
                  </a:cubicBezTo>
                  <a:cubicBezTo>
                    <a:pt x="183" y="30"/>
                    <a:pt x="179" y="29"/>
                    <a:pt x="177" y="29"/>
                  </a:cubicBezTo>
                  <a:cubicBezTo>
                    <a:pt x="175" y="29"/>
                    <a:pt x="173" y="28"/>
                    <a:pt x="172" y="26"/>
                  </a:cubicBezTo>
                  <a:cubicBezTo>
                    <a:pt x="171" y="25"/>
                    <a:pt x="169" y="22"/>
                    <a:pt x="167" y="21"/>
                  </a:cubicBezTo>
                  <a:cubicBezTo>
                    <a:pt x="166" y="19"/>
                    <a:pt x="163" y="16"/>
                    <a:pt x="162" y="14"/>
                  </a:cubicBezTo>
                  <a:cubicBezTo>
                    <a:pt x="160" y="11"/>
                    <a:pt x="158" y="7"/>
                    <a:pt x="156" y="5"/>
                  </a:cubicBezTo>
                  <a:cubicBezTo>
                    <a:pt x="155" y="2"/>
                    <a:pt x="151" y="0"/>
                    <a:pt x="148" y="1"/>
                  </a:cubicBezTo>
                  <a:cubicBezTo>
                    <a:pt x="145" y="2"/>
                    <a:pt x="142" y="2"/>
                    <a:pt x="142" y="2"/>
                  </a:cubicBezTo>
                  <a:cubicBezTo>
                    <a:pt x="142" y="2"/>
                    <a:pt x="141" y="4"/>
                    <a:pt x="139" y="7"/>
                  </a:cubicBezTo>
                  <a:cubicBezTo>
                    <a:pt x="137" y="9"/>
                    <a:pt x="134" y="14"/>
                    <a:pt x="133" y="17"/>
                  </a:cubicBezTo>
                  <a:cubicBezTo>
                    <a:pt x="131" y="20"/>
                    <a:pt x="128" y="24"/>
                    <a:pt x="126" y="25"/>
                  </a:cubicBezTo>
                  <a:cubicBezTo>
                    <a:pt x="123" y="26"/>
                    <a:pt x="120" y="29"/>
                    <a:pt x="118" y="32"/>
                  </a:cubicBezTo>
                  <a:cubicBezTo>
                    <a:pt x="116" y="35"/>
                    <a:pt x="113" y="36"/>
                    <a:pt x="112" y="36"/>
                  </a:cubicBezTo>
                  <a:cubicBezTo>
                    <a:pt x="110" y="36"/>
                    <a:pt x="106" y="35"/>
                    <a:pt x="103" y="34"/>
                  </a:cubicBezTo>
                  <a:cubicBezTo>
                    <a:pt x="100" y="34"/>
                    <a:pt x="96" y="34"/>
                    <a:pt x="94" y="34"/>
                  </a:cubicBezTo>
                  <a:cubicBezTo>
                    <a:pt x="91" y="35"/>
                    <a:pt x="88" y="37"/>
                    <a:pt x="87" y="40"/>
                  </a:cubicBezTo>
                  <a:cubicBezTo>
                    <a:pt x="86" y="42"/>
                    <a:pt x="83" y="45"/>
                    <a:pt x="82" y="46"/>
                  </a:cubicBezTo>
                  <a:cubicBezTo>
                    <a:pt x="81" y="47"/>
                    <a:pt x="78" y="47"/>
                    <a:pt x="77" y="45"/>
                  </a:cubicBezTo>
                  <a:cubicBezTo>
                    <a:pt x="75" y="44"/>
                    <a:pt x="74" y="42"/>
                    <a:pt x="73" y="41"/>
                  </a:cubicBezTo>
                  <a:cubicBezTo>
                    <a:pt x="72" y="40"/>
                    <a:pt x="70" y="38"/>
                    <a:pt x="68" y="36"/>
                  </a:cubicBezTo>
                  <a:cubicBezTo>
                    <a:pt x="66" y="35"/>
                    <a:pt x="64" y="33"/>
                    <a:pt x="65" y="32"/>
                  </a:cubicBezTo>
                  <a:cubicBezTo>
                    <a:pt x="65" y="30"/>
                    <a:pt x="66" y="27"/>
                    <a:pt x="66" y="24"/>
                  </a:cubicBezTo>
                  <a:cubicBezTo>
                    <a:pt x="66" y="22"/>
                    <a:pt x="66" y="19"/>
                    <a:pt x="65" y="20"/>
                  </a:cubicBezTo>
                  <a:cubicBezTo>
                    <a:pt x="64" y="20"/>
                    <a:pt x="62" y="22"/>
                    <a:pt x="60" y="24"/>
                  </a:cubicBezTo>
                  <a:cubicBezTo>
                    <a:pt x="58" y="26"/>
                    <a:pt x="55" y="30"/>
                    <a:pt x="55" y="32"/>
                  </a:cubicBezTo>
                  <a:cubicBezTo>
                    <a:pt x="54" y="35"/>
                    <a:pt x="55" y="38"/>
                    <a:pt x="56" y="41"/>
                  </a:cubicBezTo>
                  <a:cubicBezTo>
                    <a:pt x="58" y="43"/>
                    <a:pt x="58" y="46"/>
                    <a:pt x="56" y="47"/>
                  </a:cubicBezTo>
                  <a:cubicBezTo>
                    <a:pt x="55" y="49"/>
                    <a:pt x="52" y="51"/>
                    <a:pt x="50" y="52"/>
                  </a:cubicBezTo>
                  <a:cubicBezTo>
                    <a:pt x="49" y="54"/>
                    <a:pt x="47" y="53"/>
                    <a:pt x="46" y="50"/>
                  </a:cubicBezTo>
                  <a:cubicBezTo>
                    <a:pt x="45" y="48"/>
                    <a:pt x="42" y="46"/>
                    <a:pt x="39" y="46"/>
                  </a:cubicBezTo>
                  <a:cubicBezTo>
                    <a:pt x="37" y="46"/>
                    <a:pt x="33" y="46"/>
                    <a:pt x="32" y="46"/>
                  </a:cubicBezTo>
                  <a:cubicBezTo>
                    <a:pt x="31" y="46"/>
                    <a:pt x="28" y="47"/>
                    <a:pt x="26" y="49"/>
                  </a:cubicBezTo>
                  <a:cubicBezTo>
                    <a:pt x="24" y="51"/>
                    <a:pt x="22" y="52"/>
                    <a:pt x="22" y="52"/>
                  </a:cubicBezTo>
                  <a:cubicBezTo>
                    <a:pt x="22" y="52"/>
                    <a:pt x="20" y="55"/>
                    <a:pt x="17" y="59"/>
                  </a:cubicBezTo>
                  <a:cubicBezTo>
                    <a:pt x="14" y="62"/>
                    <a:pt x="11" y="67"/>
                    <a:pt x="10" y="70"/>
                  </a:cubicBezTo>
                  <a:cubicBezTo>
                    <a:pt x="10" y="73"/>
                    <a:pt x="9" y="75"/>
                    <a:pt x="9" y="75"/>
                  </a:cubicBezTo>
                  <a:cubicBezTo>
                    <a:pt x="12" y="81"/>
                    <a:pt x="12" y="81"/>
                    <a:pt x="12" y="81"/>
                  </a:cubicBezTo>
                  <a:cubicBezTo>
                    <a:pt x="11" y="86"/>
                    <a:pt x="11" y="86"/>
                    <a:pt x="11" y="86"/>
                  </a:cubicBezTo>
                  <a:cubicBezTo>
                    <a:pt x="16" y="92"/>
                    <a:pt x="16" y="92"/>
                    <a:pt x="16" y="92"/>
                  </a:cubicBezTo>
                  <a:cubicBezTo>
                    <a:pt x="15" y="99"/>
                    <a:pt x="15" y="99"/>
                    <a:pt x="15" y="99"/>
                  </a:cubicBezTo>
                  <a:cubicBezTo>
                    <a:pt x="15" y="99"/>
                    <a:pt x="18" y="101"/>
                    <a:pt x="21" y="104"/>
                  </a:cubicBezTo>
                  <a:cubicBezTo>
                    <a:pt x="24" y="107"/>
                    <a:pt x="29" y="111"/>
                    <a:pt x="32" y="114"/>
                  </a:cubicBezTo>
                  <a:cubicBezTo>
                    <a:pt x="35" y="116"/>
                    <a:pt x="38" y="120"/>
                    <a:pt x="38" y="122"/>
                  </a:cubicBezTo>
                  <a:cubicBezTo>
                    <a:pt x="39" y="124"/>
                    <a:pt x="38" y="128"/>
                    <a:pt x="37" y="130"/>
                  </a:cubicBezTo>
                  <a:cubicBezTo>
                    <a:pt x="36" y="133"/>
                    <a:pt x="35" y="137"/>
                    <a:pt x="35" y="140"/>
                  </a:cubicBezTo>
                  <a:cubicBezTo>
                    <a:pt x="35" y="143"/>
                    <a:pt x="33" y="146"/>
                    <a:pt x="32" y="147"/>
                  </a:cubicBezTo>
                  <a:cubicBezTo>
                    <a:pt x="30" y="149"/>
                    <a:pt x="27" y="151"/>
                    <a:pt x="25" y="152"/>
                  </a:cubicBezTo>
                  <a:cubicBezTo>
                    <a:pt x="23" y="153"/>
                    <a:pt x="21" y="155"/>
                    <a:pt x="21" y="157"/>
                  </a:cubicBezTo>
                  <a:cubicBezTo>
                    <a:pt x="21" y="158"/>
                    <a:pt x="20" y="159"/>
                    <a:pt x="19" y="159"/>
                  </a:cubicBezTo>
                  <a:cubicBezTo>
                    <a:pt x="17" y="159"/>
                    <a:pt x="16" y="160"/>
                    <a:pt x="16" y="161"/>
                  </a:cubicBezTo>
                  <a:cubicBezTo>
                    <a:pt x="16" y="162"/>
                    <a:pt x="16" y="164"/>
                    <a:pt x="17" y="166"/>
                  </a:cubicBezTo>
                  <a:cubicBezTo>
                    <a:pt x="18" y="168"/>
                    <a:pt x="17" y="171"/>
                    <a:pt x="15" y="172"/>
                  </a:cubicBezTo>
                  <a:cubicBezTo>
                    <a:pt x="14" y="174"/>
                    <a:pt x="11" y="175"/>
                    <a:pt x="8" y="176"/>
                  </a:cubicBezTo>
                  <a:cubicBezTo>
                    <a:pt x="6" y="176"/>
                    <a:pt x="3" y="177"/>
                    <a:pt x="2" y="178"/>
                  </a:cubicBezTo>
                  <a:cubicBezTo>
                    <a:pt x="1" y="180"/>
                    <a:pt x="0" y="181"/>
                    <a:pt x="0" y="181"/>
                  </a:cubicBezTo>
                  <a:cubicBezTo>
                    <a:pt x="0" y="181"/>
                    <a:pt x="2" y="181"/>
                    <a:pt x="5" y="181"/>
                  </a:cubicBezTo>
                  <a:cubicBezTo>
                    <a:pt x="7" y="182"/>
                    <a:pt x="11" y="182"/>
                    <a:pt x="14" y="183"/>
                  </a:cubicBezTo>
                  <a:cubicBezTo>
                    <a:pt x="17" y="183"/>
                    <a:pt x="21" y="184"/>
                    <a:pt x="24" y="184"/>
                  </a:cubicBezTo>
                  <a:cubicBezTo>
                    <a:pt x="26" y="185"/>
                    <a:pt x="30" y="186"/>
                    <a:pt x="32" y="187"/>
                  </a:cubicBezTo>
                  <a:cubicBezTo>
                    <a:pt x="34" y="188"/>
                    <a:pt x="38" y="191"/>
                    <a:pt x="41" y="192"/>
                  </a:cubicBezTo>
                  <a:cubicBezTo>
                    <a:pt x="43" y="193"/>
                    <a:pt x="46" y="195"/>
                    <a:pt x="48" y="196"/>
                  </a:cubicBezTo>
                  <a:cubicBezTo>
                    <a:pt x="49" y="197"/>
                    <a:pt x="50" y="199"/>
                    <a:pt x="51" y="200"/>
                  </a:cubicBezTo>
                  <a:cubicBezTo>
                    <a:pt x="52" y="201"/>
                    <a:pt x="54" y="203"/>
                    <a:pt x="56" y="203"/>
                  </a:cubicBezTo>
                  <a:cubicBezTo>
                    <a:pt x="58" y="204"/>
                    <a:pt x="64" y="205"/>
                    <a:pt x="70" y="204"/>
                  </a:cubicBezTo>
                  <a:cubicBezTo>
                    <a:pt x="76" y="204"/>
                    <a:pt x="86" y="205"/>
                    <a:pt x="91" y="207"/>
                  </a:cubicBezTo>
                  <a:cubicBezTo>
                    <a:pt x="91" y="207"/>
                    <a:pt x="91" y="207"/>
                    <a:pt x="93" y="207"/>
                  </a:cubicBezTo>
                  <a:cubicBezTo>
                    <a:pt x="95" y="207"/>
                    <a:pt x="95" y="207"/>
                    <a:pt x="95" y="207"/>
                  </a:cubicBezTo>
                  <a:cubicBezTo>
                    <a:pt x="101" y="207"/>
                    <a:pt x="108" y="209"/>
                    <a:pt x="112" y="211"/>
                  </a:cubicBezTo>
                  <a:cubicBezTo>
                    <a:pt x="115" y="214"/>
                    <a:pt x="121" y="217"/>
                    <a:pt x="125" y="218"/>
                  </a:cubicBezTo>
                  <a:cubicBezTo>
                    <a:pt x="128" y="219"/>
                    <a:pt x="133" y="221"/>
                    <a:pt x="136" y="221"/>
                  </a:cubicBezTo>
                  <a:cubicBezTo>
                    <a:pt x="138" y="222"/>
                    <a:pt x="142" y="223"/>
                    <a:pt x="144" y="223"/>
                  </a:cubicBezTo>
                  <a:cubicBezTo>
                    <a:pt x="146" y="224"/>
                    <a:pt x="150" y="225"/>
                    <a:pt x="153" y="225"/>
                  </a:cubicBezTo>
                  <a:cubicBezTo>
                    <a:pt x="156" y="226"/>
                    <a:pt x="159" y="225"/>
                    <a:pt x="160" y="225"/>
                  </a:cubicBezTo>
                  <a:cubicBezTo>
                    <a:pt x="161" y="224"/>
                    <a:pt x="166" y="223"/>
                    <a:pt x="170" y="223"/>
                  </a:cubicBezTo>
                  <a:cubicBezTo>
                    <a:pt x="175" y="223"/>
                    <a:pt x="181" y="221"/>
                    <a:pt x="184" y="219"/>
                  </a:cubicBezTo>
                  <a:cubicBezTo>
                    <a:pt x="186" y="217"/>
                    <a:pt x="193" y="214"/>
                    <a:pt x="199" y="212"/>
                  </a:cubicBezTo>
                  <a:cubicBezTo>
                    <a:pt x="205" y="209"/>
                    <a:pt x="214" y="206"/>
                    <a:pt x="219" y="204"/>
                  </a:cubicBezTo>
                  <a:cubicBezTo>
                    <a:pt x="225" y="202"/>
                    <a:pt x="232" y="199"/>
                    <a:pt x="235" y="198"/>
                  </a:cubicBezTo>
                  <a:cubicBezTo>
                    <a:pt x="238" y="197"/>
                    <a:pt x="241" y="195"/>
                    <a:pt x="242" y="194"/>
                  </a:cubicBezTo>
                  <a:cubicBezTo>
                    <a:pt x="242" y="193"/>
                    <a:pt x="244" y="191"/>
                    <a:pt x="246" y="189"/>
                  </a:cubicBezTo>
                  <a:cubicBezTo>
                    <a:pt x="248" y="188"/>
                    <a:pt x="251" y="185"/>
                    <a:pt x="252" y="183"/>
                  </a:cubicBezTo>
                  <a:cubicBezTo>
                    <a:pt x="254" y="181"/>
                    <a:pt x="257" y="180"/>
                    <a:pt x="259" y="180"/>
                  </a:cubicBezTo>
                  <a:cubicBezTo>
                    <a:pt x="262" y="179"/>
                    <a:pt x="267" y="179"/>
                    <a:pt x="270" y="178"/>
                  </a:cubicBezTo>
                  <a:cubicBezTo>
                    <a:pt x="274" y="177"/>
                    <a:pt x="278" y="176"/>
                    <a:pt x="281" y="176"/>
                  </a:cubicBezTo>
                  <a:cubicBezTo>
                    <a:pt x="283" y="175"/>
                    <a:pt x="283" y="175"/>
                    <a:pt x="281" y="174"/>
                  </a:cubicBezTo>
                  <a:cubicBezTo>
                    <a:pt x="279" y="174"/>
                    <a:pt x="275" y="173"/>
                    <a:pt x="271" y="173"/>
                  </a:cubicBezTo>
                  <a:cubicBezTo>
                    <a:pt x="268" y="173"/>
                    <a:pt x="267" y="172"/>
                    <a:pt x="268" y="171"/>
                  </a:cubicBezTo>
                  <a:cubicBezTo>
                    <a:pt x="269" y="170"/>
                    <a:pt x="271" y="168"/>
                    <a:pt x="272" y="167"/>
                  </a:cubicBezTo>
                  <a:cubicBezTo>
                    <a:pt x="272" y="166"/>
                    <a:pt x="273" y="164"/>
                    <a:pt x="274" y="163"/>
                  </a:cubicBezTo>
                  <a:cubicBezTo>
                    <a:pt x="275" y="162"/>
                    <a:pt x="277" y="161"/>
                    <a:pt x="279" y="161"/>
                  </a:cubicBezTo>
                  <a:cubicBezTo>
                    <a:pt x="280" y="160"/>
                    <a:pt x="282" y="161"/>
                    <a:pt x="283" y="162"/>
                  </a:cubicBezTo>
                  <a:cubicBezTo>
                    <a:pt x="284" y="164"/>
                    <a:pt x="285" y="166"/>
                    <a:pt x="285" y="167"/>
                  </a:cubicBezTo>
                  <a:cubicBezTo>
                    <a:pt x="285" y="169"/>
                    <a:pt x="286" y="170"/>
                    <a:pt x="287" y="170"/>
                  </a:cubicBezTo>
                  <a:cubicBezTo>
                    <a:pt x="288" y="169"/>
                    <a:pt x="291" y="169"/>
                    <a:pt x="292" y="168"/>
                  </a:cubicBezTo>
                  <a:cubicBezTo>
                    <a:pt x="294" y="167"/>
                    <a:pt x="296" y="166"/>
                    <a:pt x="297" y="166"/>
                  </a:cubicBezTo>
                  <a:cubicBezTo>
                    <a:pt x="297" y="166"/>
                    <a:pt x="298" y="167"/>
                    <a:pt x="299" y="168"/>
                  </a:cubicBezTo>
                  <a:cubicBezTo>
                    <a:pt x="300" y="169"/>
                    <a:pt x="300" y="171"/>
                    <a:pt x="299" y="171"/>
                  </a:cubicBezTo>
                  <a:cubicBezTo>
                    <a:pt x="298" y="172"/>
                    <a:pt x="297" y="173"/>
                    <a:pt x="296" y="174"/>
                  </a:cubicBezTo>
                  <a:cubicBezTo>
                    <a:pt x="294" y="175"/>
                    <a:pt x="293" y="176"/>
                    <a:pt x="293" y="176"/>
                  </a:cubicBezTo>
                  <a:cubicBezTo>
                    <a:pt x="293" y="176"/>
                    <a:pt x="296" y="177"/>
                    <a:pt x="300" y="177"/>
                  </a:cubicBezTo>
                  <a:cubicBezTo>
                    <a:pt x="303" y="178"/>
                    <a:pt x="308" y="178"/>
                    <a:pt x="311" y="178"/>
                  </a:cubicBezTo>
                  <a:cubicBezTo>
                    <a:pt x="314" y="177"/>
                    <a:pt x="316" y="176"/>
                    <a:pt x="315" y="175"/>
                  </a:cubicBezTo>
                  <a:cubicBezTo>
                    <a:pt x="314" y="173"/>
                    <a:pt x="314" y="171"/>
                    <a:pt x="314" y="171"/>
                  </a:cubicBezTo>
                  <a:cubicBezTo>
                    <a:pt x="314" y="170"/>
                    <a:pt x="315" y="169"/>
                    <a:pt x="315" y="169"/>
                  </a:cubicBezTo>
                  <a:cubicBezTo>
                    <a:pt x="316" y="169"/>
                    <a:pt x="318" y="170"/>
                    <a:pt x="319" y="171"/>
                  </a:cubicBezTo>
                  <a:cubicBezTo>
                    <a:pt x="320" y="172"/>
                    <a:pt x="324" y="174"/>
                    <a:pt x="326" y="174"/>
                  </a:cubicBezTo>
                  <a:cubicBezTo>
                    <a:pt x="329" y="175"/>
                    <a:pt x="332" y="175"/>
                    <a:pt x="333" y="174"/>
                  </a:cubicBezTo>
                  <a:cubicBezTo>
                    <a:pt x="333" y="174"/>
                    <a:pt x="335" y="174"/>
                    <a:pt x="336" y="176"/>
                  </a:cubicBezTo>
                  <a:cubicBezTo>
                    <a:pt x="337" y="177"/>
                    <a:pt x="339" y="179"/>
                    <a:pt x="340" y="180"/>
                  </a:cubicBezTo>
                  <a:cubicBezTo>
                    <a:pt x="341" y="181"/>
                    <a:pt x="342" y="181"/>
                    <a:pt x="342" y="181"/>
                  </a:cubicBezTo>
                  <a:cubicBezTo>
                    <a:pt x="342" y="181"/>
                    <a:pt x="342" y="179"/>
                    <a:pt x="343" y="177"/>
                  </a:cubicBezTo>
                  <a:cubicBezTo>
                    <a:pt x="344" y="174"/>
                    <a:pt x="343" y="170"/>
                    <a:pt x="343" y="169"/>
                  </a:cubicBezTo>
                  <a:cubicBezTo>
                    <a:pt x="342" y="167"/>
                    <a:pt x="340" y="163"/>
                    <a:pt x="339" y="159"/>
                  </a:cubicBezTo>
                  <a:cubicBezTo>
                    <a:pt x="338" y="156"/>
                    <a:pt x="338" y="151"/>
                    <a:pt x="339" y="147"/>
                  </a:cubicBezTo>
                  <a:cubicBezTo>
                    <a:pt x="340" y="144"/>
                    <a:pt x="341" y="140"/>
                    <a:pt x="342" y="139"/>
                  </a:cubicBezTo>
                  <a:cubicBezTo>
                    <a:pt x="342" y="138"/>
                    <a:pt x="343" y="135"/>
                    <a:pt x="342" y="133"/>
                  </a:cubicBezTo>
                  <a:cubicBezTo>
                    <a:pt x="342" y="130"/>
                    <a:pt x="344" y="127"/>
                    <a:pt x="347" y="126"/>
                  </a:cubicBezTo>
                  <a:cubicBezTo>
                    <a:pt x="349" y="125"/>
                    <a:pt x="351" y="122"/>
                    <a:pt x="351" y="119"/>
                  </a:cubicBezTo>
                  <a:cubicBezTo>
                    <a:pt x="350" y="117"/>
                    <a:pt x="351" y="114"/>
                    <a:pt x="351" y="113"/>
                  </a:cubicBezTo>
                  <a:cubicBezTo>
                    <a:pt x="352" y="111"/>
                    <a:pt x="353" y="108"/>
                    <a:pt x="353" y="106"/>
                  </a:cubicBezTo>
                  <a:cubicBezTo>
                    <a:pt x="353" y="104"/>
                    <a:pt x="353" y="102"/>
                    <a:pt x="353" y="102"/>
                  </a:cubicBezTo>
                  <a:cubicBezTo>
                    <a:pt x="353" y="102"/>
                    <a:pt x="351" y="102"/>
                    <a:pt x="349" y="102"/>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31" name="Freeform 49">
              <a:extLst>
                <a:ext uri="{FF2B5EF4-FFF2-40B4-BE49-F238E27FC236}">
                  <a16:creationId xmlns:a16="http://schemas.microsoft.com/office/drawing/2014/main" id="{DF4CCF05-53C6-8B52-5D34-F28B92D26237}"/>
                </a:ext>
              </a:extLst>
            </p:cNvPr>
            <p:cNvSpPr>
              <a:spLocks/>
            </p:cNvSpPr>
            <p:nvPr/>
          </p:nvSpPr>
          <p:spPr bwMode="auto">
            <a:xfrm>
              <a:off x="3800447" y="4714858"/>
              <a:ext cx="1006475" cy="706438"/>
            </a:xfrm>
            <a:custGeom>
              <a:avLst/>
              <a:gdLst/>
              <a:ahLst/>
              <a:cxnLst>
                <a:cxn ang="0">
                  <a:pos x="121" y="172"/>
                </a:cxn>
                <a:cxn ang="0">
                  <a:pos x="137" y="165"/>
                </a:cxn>
                <a:cxn ang="0">
                  <a:pos x="136" y="147"/>
                </a:cxn>
                <a:cxn ang="0">
                  <a:pos x="148" y="137"/>
                </a:cxn>
                <a:cxn ang="0">
                  <a:pos x="162" y="147"/>
                </a:cxn>
                <a:cxn ang="0">
                  <a:pos x="178" y="147"/>
                </a:cxn>
                <a:cxn ang="0">
                  <a:pos x="194" y="144"/>
                </a:cxn>
                <a:cxn ang="0">
                  <a:pos x="209" y="149"/>
                </a:cxn>
                <a:cxn ang="0">
                  <a:pos x="227" y="154"/>
                </a:cxn>
                <a:cxn ang="0">
                  <a:pos x="228" y="150"/>
                </a:cxn>
                <a:cxn ang="0">
                  <a:pos x="222" y="131"/>
                </a:cxn>
                <a:cxn ang="0">
                  <a:pos x="222" y="121"/>
                </a:cxn>
                <a:cxn ang="0">
                  <a:pos x="230" y="120"/>
                </a:cxn>
                <a:cxn ang="0">
                  <a:pos x="238" y="111"/>
                </a:cxn>
                <a:cxn ang="0">
                  <a:pos x="252" y="92"/>
                </a:cxn>
                <a:cxn ang="0">
                  <a:pos x="260" y="77"/>
                </a:cxn>
                <a:cxn ang="0">
                  <a:pos x="264" y="55"/>
                </a:cxn>
                <a:cxn ang="0">
                  <a:pos x="268" y="36"/>
                </a:cxn>
                <a:cxn ang="0">
                  <a:pos x="263" y="24"/>
                </a:cxn>
                <a:cxn ang="0">
                  <a:pos x="256" y="12"/>
                </a:cxn>
                <a:cxn ang="0">
                  <a:pos x="253" y="16"/>
                </a:cxn>
                <a:cxn ang="0">
                  <a:pos x="247" y="32"/>
                </a:cxn>
                <a:cxn ang="0">
                  <a:pos x="231" y="36"/>
                </a:cxn>
                <a:cxn ang="0">
                  <a:pos x="218" y="36"/>
                </a:cxn>
                <a:cxn ang="0">
                  <a:pos x="202" y="33"/>
                </a:cxn>
                <a:cxn ang="0">
                  <a:pos x="203" y="25"/>
                </a:cxn>
                <a:cxn ang="0">
                  <a:pos x="191" y="24"/>
                </a:cxn>
                <a:cxn ang="0">
                  <a:pos x="177" y="25"/>
                </a:cxn>
                <a:cxn ang="0">
                  <a:pos x="174" y="10"/>
                </a:cxn>
                <a:cxn ang="0">
                  <a:pos x="168" y="4"/>
                </a:cxn>
                <a:cxn ang="0">
                  <a:pos x="157" y="9"/>
                </a:cxn>
                <a:cxn ang="0">
                  <a:pos x="140" y="14"/>
                </a:cxn>
                <a:cxn ang="0">
                  <a:pos x="132" y="5"/>
                </a:cxn>
                <a:cxn ang="0">
                  <a:pos x="126" y="0"/>
                </a:cxn>
                <a:cxn ang="0">
                  <a:pos x="118" y="0"/>
                </a:cxn>
                <a:cxn ang="0">
                  <a:pos x="102" y="2"/>
                </a:cxn>
                <a:cxn ang="0">
                  <a:pos x="87" y="9"/>
                </a:cxn>
                <a:cxn ang="0">
                  <a:pos x="76" y="14"/>
                </a:cxn>
                <a:cxn ang="0">
                  <a:pos x="56" y="19"/>
                </a:cxn>
                <a:cxn ang="0">
                  <a:pos x="57" y="31"/>
                </a:cxn>
                <a:cxn ang="0">
                  <a:pos x="69" y="33"/>
                </a:cxn>
                <a:cxn ang="0">
                  <a:pos x="74" y="43"/>
                </a:cxn>
                <a:cxn ang="0">
                  <a:pos x="73" y="56"/>
                </a:cxn>
                <a:cxn ang="0">
                  <a:pos x="81" y="70"/>
                </a:cxn>
                <a:cxn ang="0">
                  <a:pos x="88" y="77"/>
                </a:cxn>
                <a:cxn ang="0">
                  <a:pos x="76" y="89"/>
                </a:cxn>
                <a:cxn ang="0">
                  <a:pos x="59" y="98"/>
                </a:cxn>
                <a:cxn ang="0">
                  <a:pos x="39" y="106"/>
                </a:cxn>
                <a:cxn ang="0">
                  <a:pos x="24" y="110"/>
                </a:cxn>
                <a:cxn ang="0">
                  <a:pos x="15" y="113"/>
                </a:cxn>
                <a:cxn ang="0">
                  <a:pos x="6" y="122"/>
                </a:cxn>
                <a:cxn ang="0">
                  <a:pos x="0" y="130"/>
                </a:cxn>
                <a:cxn ang="0">
                  <a:pos x="2" y="136"/>
                </a:cxn>
                <a:cxn ang="0">
                  <a:pos x="9" y="143"/>
                </a:cxn>
                <a:cxn ang="0">
                  <a:pos x="14" y="152"/>
                </a:cxn>
                <a:cxn ang="0">
                  <a:pos x="27" y="162"/>
                </a:cxn>
                <a:cxn ang="0">
                  <a:pos x="46" y="167"/>
                </a:cxn>
                <a:cxn ang="0">
                  <a:pos x="66" y="175"/>
                </a:cxn>
                <a:cxn ang="0">
                  <a:pos x="93" y="183"/>
                </a:cxn>
                <a:cxn ang="0">
                  <a:pos x="111" y="188"/>
                </a:cxn>
                <a:cxn ang="0">
                  <a:pos x="115" y="175"/>
                </a:cxn>
              </a:cxnLst>
              <a:rect l="0" t="0" r="r" b="b"/>
              <a:pathLst>
                <a:path w="268" h="188">
                  <a:moveTo>
                    <a:pt x="115" y="175"/>
                  </a:moveTo>
                  <a:cubicBezTo>
                    <a:pt x="116" y="174"/>
                    <a:pt x="119" y="172"/>
                    <a:pt x="121" y="172"/>
                  </a:cubicBezTo>
                  <a:cubicBezTo>
                    <a:pt x="124" y="171"/>
                    <a:pt x="128" y="170"/>
                    <a:pt x="130" y="170"/>
                  </a:cubicBezTo>
                  <a:cubicBezTo>
                    <a:pt x="133" y="170"/>
                    <a:pt x="135" y="168"/>
                    <a:pt x="137" y="165"/>
                  </a:cubicBezTo>
                  <a:cubicBezTo>
                    <a:pt x="138" y="162"/>
                    <a:pt x="139" y="158"/>
                    <a:pt x="138" y="156"/>
                  </a:cubicBezTo>
                  <a:cubicBezTo>
                    <a:pt x="137" y="154"/>
                    <a:pt x="137" y="150"/>
                    <a:pt x="136" y="147"/>
                  </a:cubicBezTo>
                  <a:cubicBezTo>
                    <a:pt x="135" y="144"/>
                    <a:pt x="137" y="141"/>
                    <a:pt x="140" y="139"/>
                  </a:cubicBezTo>
                  <a:cubicBezTo>
                    <a:pt x="143" y="138"/>
                    <a:pt x="147" y="136"/>
                    <a:pt x="148" y="137"/>
                  </a:cubicBezTo>
                  <a:cubicBezTo>
                    <a:pt x="150" y="137"/>
                    <a:pt x="153" y="139"/>
                    <a:pt x="155" y="141"/>
                  </a:cubicBezTo>
                  <a:cubicBezTo>
                    <a:pt x="157" y="143"/>
                    <a:pt x="161" y="145"/>
                    <a:pt x="162" y="147"/>
                  </a:cubicBezTo>
                  <a:cubicBezTo>
                    <a:pt x="164" y="148"/>
                    <a:pt x="168" y="149"/>
                    <a:pt x="170" y="149"/>
                  </a:cubicBezTo>
                  <a:cubicBezTo>
                    <a:pt x="172" y="149"/>
                    <a:pt x="176" y="148"/>
                    <a:pt x="178" y="147"/>
                  </a:cubicBezTo>
                  <a:cubicBezTo>
                    <a:pt x="181" y="145"/>
                    <a:pt x="184" y="144"/>
                    <a:pt x="186" y="144"/>
                  </a:cubicBezTo>
                  <a:cubicBezTo>
                    <a:pt x="188" y="144"/>
                    <a:pt x="191" y="144"/>
                    <a:pt x="194" y="144"/>
                  </a:cubicBezTo>
                  <a:cubicBezTo>
                    <a:pt x="197" y="144"/>
                    <a:pt x="201" y="146"/>
                    <a:pt x="203" y="148"/>
                  </a:cubicBezTo>
                  <a:cubicBezTo>
                    <a:pt x="205" y="150"/>
                    <a:pt x="208" y="151"/>
                    <a:pt x="209" y="149"/>
                  </a:cubicBezTo>
                  <a:cubicBezTo>
                    <a:pt x="210" y="148"/>
                    <a:pt x="214" y="148"/>
                    <a:pt x="217" y="149"/>
                  </a:cubicBezTo>
                  <a:cubicBezTo>
                    <a:pt x="219" y="151"/>
                    <a:pt x="224" y="153"/>
                    <a:pt x="227" y="154"/>
                  </a:cubicBezTo>
                  <a:cubicBezTo>
                    <a:pt x="229" y="156"/>
                    <a:pt x="232" y="157"/>
                    <a:pt x="232" y="157"/>
                  </a:cubicBezTo>
                  <a:cubicBezTo>
                    <a:pt x="232" y="157"/>
                    <a:pt x="230" y="154"/>
                    <a:pt x="228" y="150"/>
                  </a:cubicBezTo>
                  <a:cubicBezTo>
                    <a:pt x="227" y="146"/>
                    <a:pt x="224" y="141"/>
                    <a:pt x="223" y="138"/>
                  </a:cubicBezTo>
                  <a:cubicBezTo>
                    <a:pt x="222" y="136"/>
                    <a:pt x="221" y="133"/>
                    <a:pt x="222" y="131"/>
                  </a:cubicBezTo>
                  <a:cubicBezTo>
                    <a:pt x="222" y="130"/>
                    <a:pt x="222" y="128"/>
                    <a:pt x="222" y="126"/>
                  </a:cubicBezTo>
                  <a:cubicBezTo>
                    <a:pt x="221" y="125"/>
                    <a:pt x="222" y="122"/>
                    <a:pt x="222" y="121"/>
                  </a:cubicBezTo>
                  <a:cubicBezTo>
                    <a:pt x="223" y="120"/>
                    <a:pt x="225" y="119"/>
                    <a:pt x="226" y="121"/>
                  </a:cubicBezTo>
                  <a:cubicBezTo>
                    <a:pt x="227" y="122"/>
                    <a:pt x="229" y="122"/>
                    <a:pt x="230" y="120"/>
                  </a:cubicBezTo>
                  <a:cubicBezTo>
                    <a:pt x="231" y="119"/>
                    <a:pt x="232" y="118"/>
                    <a:pt x="232" y="118"/>
                  </a:cubicBezTo>
                  <a:cubicBezTo>
                    <a:pt x="232" y="118"/>
                    <a:pt x="235" y="115"/>
                    <a:pt x="238" y="111"/>
                  </a:cubicBezTo>
                  <a:cubicBezTo>
                    <a:pt x="241" y="107"/>
                    <a:pt x="245" y="102"/>
                    <a:pt x="247" y="100"/>
                  </a:cubicBezTo>
                  <a:cubicBezTo>
                    <a:pt x="249" y="97"/>
                    <a:pt x="251" y="93"/>
                    <a:pt x="252" y="92"/>
                  </a:cubicBezTo>
                  <a:cubicBezTo>
                    <a:pt x="253" y="90"/>
                    <a:pt x="254" y="87"/>
                    <a:pt x="254" y="84"/>
                  </a:cubicBezTo>
                  <a:cubicBezTo>
                    <a:pt x="254" y="82"/>
                    <a:pt x="257" y="79"/>
                    <a:pt x="260" y="77"/>
                  </a:cubicBezTo>
                  <a:cubicBezTo>
                    <a:pt x="264" y="75"/>
                    <a:pt x="266" y="71"/>
                    <a:pt x="265" y="68"/>
                  </a:cubicBezTo>
                  <a:cubicBezTo>
                    <a:pt x="263" y="65"/>
                    <a:pt x="263" y="59"/>
                    <a:pt x="264" y="55"/>
                  </a:cubicBezTo>
                  <a:cubicBezTo>
                    <a:pt x="265" y="50"/>
                    <a:pt x="266" y="44"/>
                    <a:pt x="267" y="41"/>
                  </a:cubicBezTo>
                  <a:cubicBezTo>
                    <a:pt x="268" y="38"/>
                    <a:pt x="268" y="36"/>
                    <a:pt x="268" y="36"/>
                  </a:cubicBezTo>
                  <a:cubicBezTo>
                    <a:pt x="268" y="36"/>
                    <a:pt x="267" y="34"/>
                    <a:pt x="266" y="32"/>
                  </a:cubicBezTo>
                  <a:cubicBezTo>
                    <a:pt x="264" y="30"/>
                    <a:pt x="263" y="27"/>
                    <a:pt x="263" y="24"/>
                  </a:cubicBezTo>
                  <a:cubicBezTo>
                    <a:pt x="262" y="22"/>
                    <a:pt x="261" y="18"/>
                    <a:pt x="260" y="16"/>
                  </a:cubicBezTo>
                  <a:cubicBezTo>
                    <a:pt x="259" y="14"/>
                    <a:pt x="257" y="12"/>
                    <a:pt x="256" y="12"/>
                  </a:cubicBezTo>
                  <a:cubicBezTo>
                    <a:pt x="255" y="12"/>
                    <a:pt x="254" y="12"/>
                    <a:pt x="254" y="12"/>
                  </a:cubicBezTo>
                  <a:cubicBezTo>
                    <a:pt x="254" y="12"/>
                    <a:pt x="253" y="14"/>
                    <a:pt x="253" y="16"/>
                  </a:cubicBezTo>
                  <a:cubicBezTo>
                    <a:pt x="252" y="18"/>
                    <a:pt x="251" y="23"/>
                    <a:pt x="250" y="25"/>
                  </a:cubicBezTo>
                  <a:cubicBezTo>
                    <a:pt x="250" y="28"/>
                    <a:pt x="248" y="31"/>
                    <a:pt x="247" y="32"/>
                  </a:cubicBezTo>
                  <a:cubicBezTo>
                    <a:pt x="245" y="33"/>
                    <a:pt x="243" y="34"/>
                    <a:pt x="241" y="35"/>
                  </a:cubicBezTo>
                  <a:cubicBezTo>
                    <a:pt x="239" y="35"/>
                    <a:pt x="234" y="36"/>
                    <a:pt x="231" y="36"/>
                  </a:cubicBezTo>
                  <a:cubicBezTo>
                    <a:pt x="228" y="36"/>
                    <a:pt x="224" y="36"/>
                    <a:pt x="223" y="37"/>
                  </a:cubicBezTo>
                  <a:cubicBezTo>
                    <a:pt x="222" y="37"/>
                    <a:pt x="219" y="37"/>
                    <a:pt x="218" y="36"/>
                  </a:cubicBezTo>
                  <a:cubicBezTo>
                    <a:pt x="217" y="35"/>
                    <a:pt x="214" y="34"/>
                    <a:pt x="210" y="34"/>
                  </a:cubicBezTo>
                  <a:cubicBezTo>
                    <a:pt x="207" y="35"/>
                    <a:pt x="203" y="34"/>
                    <a:pt x="202" y="33"/>
                  </a:cubicBezTo>
                  <a:cubicBezTo>
                    <a:pt x="201" y="32"/>
                    <a:pt x="201" y="30"/>
                    <a:pt x="202" y="29"/>
                  </a:cubicBezTo>
                  <a:cubicBezTo>
                    <a:pt x="203" y="28"/>
                    <a:pt x="204" y="26"/>
                    <a:pt x="203" y="25"/>
                  </a:cubicBezTo>
                  <a:cubicBezTo>
                    <a:pt x="203" y="24"/>
                    <a:pt x="201" y="22"/>
                    <a:pt x="198" y="22"/>
                  </a:cubicBezTo>
                  <a:cubicBezTo>
                    <a:pt x="195" y="22"/>
                    <a:pt x="192" y="23"/>
                    <a:pt x="191" y="24"/>
                  </a:cubicBezTo>
                  <a:cubicBezTo>
                    <a:pt x="190" y="25"/>
                    <a:pt x="187" y="27"/>
                    <a:pt x="185" y="27"/>
                  </a:cubicBezTo>
                  <a:cubicBezTo>
                    <a:pt x="183" y="27"/>
                    <a:pt x="179" y="26"/>
                    <a:pt x="177" y="25"/>
                  </a:cubicBezTo>
                  <a:cubicBezTo>
                    <a:pt x="175" y="23"/>
                    <a:pt x="173" y="20"/>
                    <a:pt x="173" y="17"/>
                  </a:cubicBezTo>
                  <a:cubicBezTo>
                    <a:pt x="173" y="14"/>
                    <a:pt x="173" y="11"/>
                    <a:pt x="174" y="10"/>
                  </a:cubicBezTo>
                  <a:cubicBezTo>
                    <a:pt x="174" y="9"/>
                    <a:pt x="173" y="7"/>
                    <a:pt x="171" y="6"/>
                  </a:cubicBezTo>
                  <a:cubicBezTo>
                    <a:pt x="169" y="5"/>
                    <a:pt x="168" y="4"/>
                    <a:pt x="168" y="4"/>
                  </a:cubicBezTo>
                  <a:cubicBezTo>
                    <a:pt x="168" y="4"/>
                    <a:pt x="166" y="5"/>
                    <a:pt x="163" y="5"/>
                  </a:cubicBezTo>
                  <a:cubicBezTo>
                    <a:pt x="160" y="5"/>
                    <a:pt x="158" y="7"/>
                    <a:pt x="157" y="9"/>
                  </a:cubicBezTo>
                  <a:cubicBezTo>
                    <a:pt x="156" y="11"/>
                    <a:pt x="153" y="13"/>
                    <a:pt x="150" y="13"/>
                  </a:cubicBezTo>
                  <a:cubicBezTo>
                    <a:pt x="147" y="13"/>
                    <a:pt x="143" y="13"/>
                    <a:pt x="140" y="14"/>
                  </a:cubicBezTo>
                  <a:cubicBezTo>
                    <a:pt x="137" y="14"/>
                    <a:pt x="135" y="13"/>
                    <a:pt x="135" y="10"/>
                  </a:cubicBezTo>
                  <a:cubicBezTo>
                    <a:pt x="135" y="8"/>
                    <a:pt x="134" y="6"/>
                    <a:pt x="132" y="5"/>
                  </a:cubicBezTo>
                  <a:cubicBezTo>
                    <a:pt x="131" y="4"/>
                    <a:pt x="129" y="2"/>
                    <a:pt x="128" y="2"/>
                  </a:cubicBezTo>
                  <a:cubicBezTo>
                    <a:pt x="127" y="1"/>
                    <a:pt x="126" y="0"/>
                    <a:pt x="126" y="0"/>
                  </a:cubicBezTo>
                  <a:cubicBezTo>
                    <a:pt x="126" y="0"/>
                    <a:pt x="125" y="0"/>
                    <a:pt x="124" y="0"/>
                  </a:cubicBezTo>
                  <a:cubicBezTo>
                    <a:pt x="123" y="0"/>
                    <a:pt x="120" y="0"/>
                    <a:pt x="118" y="0"/>
                  </a:cubicBezTo>
                  <a:cubicBezTo>
                    <a:pt x="117" y="1"/>
                    <a:pt x="113" y="1"/>
                    <a:pt x="111" y="1"/>
                  </a:cubicBezTo>
                  <a:cubicBezTo>
                    <a:pt x="108" y="2"/>
                    <a:pt x="104" y="2"/>
                    <a:pt x="102" y="2"/>
                  </a:cubicBezTo>
                  <a:cubicBezTo>
                    <a:pt x="100" y="2"/>
                    <a:pt x="96" y="3"/>
                    <a:pt x="94" y="4"/>
                  </a:cubicBezTo>
                  <a:cubicBezTo>
                    <a:pt x="91" y="5"/>
                    <a:pt x="88" y="8"/>
                    <a:pt x="87" y="9"/>
                  </a:cubicBezTo>
                  <a:cubicBezTo>
                    <a:pt x="85" y="10"/>
                    <a:pt x="82" y="12"/>
                    <a:pt x="80" y="13"/>
                  </a:cubicBezTo>
                  <a:cubicBezTo>
                    <a:pt x="77" y="13"/>
                    <a:pt x="76" y="14"/>
                    <a:pt x="76" y="14"/>
                  </a:cubicBezTo>
                  <a:cubicBezTo>
                    <a:pt x="76" y="14"/>
                    <a:pt x="73" y="14"/>
                    <a:pt x="69" y="15"/>
                  </a:cubicBezTo>
                  <a:cubicBezTo>
                    <a:pt x="66" y="16"/>
                    <a:pt x="60" y="17"/>
                    <a:pt x="56" y="19"/>
                  </a:cubicBezTo>
                  <a:cubicBezTo>
                    <a:pt x="53" y="20"/>
                    <a:pt x="51" y="23"/>
                    <a:pt x="52" y="26"/>
                  </a:cubicBezTo>
                  <a:cubicBezTo>
                    <a:pt x="53" y="29"/>
                    <a:pt x="55" y="31"/>
                    <a:pt x="57" y="31"/>
                  </a:cubicBezTo>
                  <a:cubicBezTo>
                    <a:pt x="59" y="30"/>
                    <a:pt x="62" y="31"/>
                    <a:pt x="64" y="31"/>
                  </a:cubicBezTo>
                  <a:cubicBezTo>
                    <a:pt x="65" y="31"/>
                    <a:pt x="68" y="32"/>
                    <a:pt x="69" y="33"/>
                  </a:cubicBezTo>
                  <a:cubicBezTo>
                    <a:pt x="71" y="34"/>
                    <a:pt x="74" y="36"/>
                    <a:pt x="75" y="38"/>
                  </a:cubicBezTo>
                  <a:cubicBezTo>
                    <a:pt x="76" y="41"/>
                    <a:pt x="76" y="43"/>
                    <a:pt x="74" y="43"/>
                  </a:cubicBezTo>
                  <a:cubicBezTo>
                    <a:pt x="71" y="44"/>
                    <a:pt x="70" y="46"/>
                    <a:pt x="70" y="48"/>
                  </a:cubicBezTo>
                  <a:cubicBezTo>
                    <a:pt x="70" y="51"/>
                    <a:pt x="71" y="54"/>
                    <a:pt x="73" y="56"/>
                  </a:cubicBezTo>
                  <a:cubicBezTo>
                    <a:pt x="74" y="58"/>
                    <a:pt x="76" y="62"/>
                    <a:pt x="76" y="65"/>
                  </a:cubicBezTo>
                  <a:cubicBezTo>
                    <a:pt x="77" y="67"/>
                    <a:pt x="79" y="70"/>
                    <a:pt x="81" y="70"/>
                  </a:cubicBezTo>
                  <a:cubicBezTo>
                    <a:pt x="83" y="70"/>
                    <a:pt x="86" y="71"/>
                    <a:pt x="87" y="73"/>
                  </a:cubicBezTo>
                  <a:cubicBezTo>
                    <a:pt x="88" y="74"/>
                    <a:pt x="89" y="76"/>
                    <a:pt x="88" y="77"/>
                  </a:cubicBezTo>
                  <a:cubicBezTo>
                    <a:pt x="87" y="78"/>
                    <a:pt x="86" y="82"/>
                    <a:pt x="84" y="85"/>
                  </a:cubicBezTo>
                  <a:cubicBezTo>
                    <a:pt x="82" y="88"/>
                    <a:pt x="78" y="90"/>
                    <a:pt x="76" y="89"/>
                  </a:cubicBezTo>
                  <a:cubicBezTo>
                    <a:pt x="74" y="88"/>
                    <a:pt x="70" y="89"/>
                    <a:pt x="67" y="91"/>
                  </a:cubicBezTo>
                  <a:cubicBezTo>
                    <a:pt x="64" y="92"/>
                    <a:pt x="61" y="95"/>
                    <a:pt x="59" y="98"/>
                  </a:cubicBezTo>
                  <a:cubicBezTo>
                    <a:pt x="57" y="100"/>
                    <a:pt x="53" y="103"/>
                    <a:pt x="50" y="106"/>
                  </a:cubicBezTo>
                  <a:cubicBezTo>
                    <a:pt x="47" y="108"/>
                    <a:pt x="42" y="108"/>
                    <a:pt x="39" y="106"/>
                  </a:cubicBezTo>
                  <a:cubicBezTo>
                    <a:pt x="37" y="103"/>
                    <a:pt x="33" y="103"/>
                    <a:pt x="32" y="106"/>
                  </a:cubicBezTo>
                  <a:cubicBezTo>
                    <a:pt x="31" y="108"/>
                    <a:pt x="27" y="110"/>
                    <a:pt x="24" y="110"/>
                  </a:cubicBezTo>
                  <a:cubicBezTo>
                    <a:pt x="21" y="111"/>
                    <a:pt x="18" y="111"/>
                    <a:pt x="18" y="111"/>
                  </a:cubicBezTo>
                  <a:cubicBezTo>
                    <a:pt x="18" y="111"/>
                    <a:pt x="17" y="112"/>
                    <a:pt x="15" y="113"/>
                  </a:cubicBezTo>
                  <a:cubicBezTo>
                    <a:pt x="13" y="114"/>
                    <a:pt x="10" y="116"/>
                    <a:pt x="9" y="118"/>
                  </a:cubicBezTo>
                  <a:cubicBezTo>
                    <a:pt x="8" y="119"/>
                    <a:pt x="7" y="122"/>
                    <a:pt x="6" y="122"/>
                  </a:cubicBezTo>
                  <a:cubicBezTo>
                    <a:pt x="5" y="123"/>
                    <a:pt x="3" y="125"/>
                    <a:pt x="2" y="127"/>
                  </a:cubicBezTo>
                  <a:cubicBezTo>
                    <a:pt x="1" y="129"/>
                    <a:pt x="0" y="130"/>
                    <a:pt x="0" y="130"/>
                  </a:cubicBezTo>
                  <a:cubicBezTo>
                    <a:pt x="0" y="130"/>
                    <a:pt x="0" y="131"/>
                    <a:pt x="1" y="132"/>
                  </a:cubicBezTo>
                  <a:cubicBezTo>
                    <a:pt x="1" y="133"/>
                    <a:pt x="2" y="135"/>
                    <a:pt x="2" y="136"/>
                  </a:cubicBezTo>
                  <a:cubicBezTo>
                    <a:pt x="2" y="137"/>
                    <a:pt x="3" y="139"/>
                    <a:pt x="5" y="140"/>
                  </a:cubicBezTo>
                  <a:cubicBezTo>
                    <a:pt x="6" y="140"/>
                    <a:pt x="8" y="142"/>
                    <a:pt x="9" y="143"/>
                  </a:cubicBezTo>
                  <a:cubicBezTo>
                    <a:pt x="10" y="144"/>
                    <a:pt x="11" y="146"/>
                    <a:pt x="11" y="147"/>
                  </a:cubicBezTo>
                  <a:cubicBezTo>
                    <a:pt x="12" y="148"/>
                    <a:pt x="13" y="150"/>
                    <a:pt x="14" y="152"/>
                  </a:cubicBezTo>
                  <a:cubicBezTo>
                    <a:pt x="15" y="154"/>
                    <a:pt x="18" y="156"/>
                    <a:pt x="20" y="158"/>
                  </a:cubicBezTo>
                  <a:cubicBezTo>
                    <a:pt x="22" y="160"/>
                    <a:pt x="26" y="161"/>
                    <a:pt x="27" y="162"/>
                  </a:cubicBezTo>
                  <a:cubicBezTo>
                    <a:pt x="29" y="162"/>
                    <a:pt x="33" y="163"/>
                    <a:pt x="37" y="164"/>
                  </a:cubicBezTo>
                  <a:cubicBezTo>
                    <a:pt x="40" y="165"/>
                    <a:pt x="45" y="167"/>
                    <a:pt x="46" y="167"/>
                  </a:cubicBezTo>
                  <a:cubicBezTo>
                    <a:pt x="48" y="167"/>
                    <a:pt x="52" y="169"/>
                    <a:pt x="54" y="170"/>
                  </a:cubicBezTo>
                  <a:cubicBezTo>
                    <a:pt x="56" y="171"/>
                    <a:pt x="62" y="173"/>
                    <a:pt x="66" y="175"/>
                  </a:cubicBezTo>
                  <a:cubicBezTo>
                    <a:pt x="71" y="177"/>
                    <a:pt x="77" y="179"/>
                    <a:pt x="81" y="180"/>
                  </a:cubicBezTo>
                  <a:cubicBezTo>
                    <a:pt x="84" y="180"/>
                    <a:pt x="90" y="182"/>
                    <a:pt x="93" y="183"/>
                  </a:cubicBezTo>
                  <a:cubicBezTo>
                    <a:pt x="96" y="184"/>
                    <a:pt x="102" y="185"/>
                    <a:pt x="105" y="186"/>
                  </a:cubicBezTo>
                  <a:cubicBezTo>
                    <a:pt x="108" y="187"/>
                    <a:pt x="111" y="188"/>
                    <a:pt x="111" y="188"/>
                  </a:cubicBezTo>
                  <a:cubicBezTo>
                    <a:pt x="111" y="188"/>
                    <a:pt x="112" y="186"/>
                    <a:pt x="113" y="183"/>
                  </a:cubicBezTo>
                  <a:cubicBezTo>
                    <a:pt x="114" y="180"/>
                    <a:pt x="115" y="176"/>
                    <a:pt x="115" y="175"/>
                  </a:cubicBez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sp>
          <p:nvSpPr>
            <p:cNvPr id="14" name="Freeform 25">
              <a:extLst>
                <a:ext uri="{FF2B5EF4-FFF2-40B4-BE49-F238E27FC236}">
                  <a16:creationId xmlns:a16="http://schemas.microsoft.com/office/drawing/2014/main" id="{D9AA8447-9F8A-FD2C-B741-75668ABBC7C4}"/>
                </a:ext>
              </a:extLst>
            </p:cNvPr>
            <p:cNvSpPr>
              <a:spLocks/>
            </p:cNvSpPr>
            <p:nvPr/>
          </p:nvSpPr>
          <p:spPr bwMode="auto">
            <a:xfrm>
              <a:off x="3786159" y="1931970"/>
              <a:ext cx="1081088" cy="1565275"/>
            </a:xfrm>
            <a:custGeom>
              <a:avLst/>
              <a:gdLst/>
              <a:ahLst/>
              <a:cxnLst>
                <a:cxn ang="0">
                  <a:pos x="45" y="279"/>
                </a:cxn>
                <a:cxn ang="0">
                  <a:pos x="42" y="317"/>
                </a:cxn>
                <a:cxn ang="0">
                  <a:pos x="32" y="343"/>
                </a:cxn>
                <a:cxn ang="0">
                  <a:pos x="31" y="363"/>
                </a:cxn>
                <a:cxn ang="0">
                  <a:pos x="45" y="379"/>
                </a:cxn>
                <a:cxn ang="0">
                  <a:pos x="62" y="396"/>
                </a:cxn>
                <a:cxn ang="0">
                  <a:pos x="80" y="385"/>
                </a:cxn>
                <a:cxn ang="0">
                  <a:pos x="89" y="376"/>
                </a:cxn>
                <a:cxn ang="0">
                  <a:pos x="141" y="373"/>
                </a:cxn>
                <a:cxn ang="0">
                  <a:pos x="161" y="389"/>
                </a:cxn>
                <a:cxn ang="0">
                  <a:pos x="175" y="399"/>
                </a:cxn>
                <a:cxn ang="0">
                  <a:pos x="196" y="404"/>
                </a:cxn>
                <a:cxn ang="0">
                  <a:pos x="222" y="417"/>
                </a:cxn>
                <a:cxn ang="0">
                  <a:pos x="221" y="396"/>
                </a:cxn>
                <a:cxn ang="0">
                  <a:pos x="223" y="372"/>
                </a:cxn>
                <a:cxn ang="0">
                  <a:pos x="250" y="365"/>
                </a:cxn>
                <a:cxn ang="0">
                  <a:pos x="251" y="354"/>
                </a:cxn>
                <a:cxn ang="0">
                  <a:pos x="234" y="342"/>
                </a:cxn>
                <a:cxn ang="0">
                  <a:pos x="219" y="324"/>
                </a:cxn>
                <a:cxn ang="0">
                  <a:pos x="206" y="291"/>
                </a:cxn>
                <a:cxn ang="0">
                  <a:pos x="192" y="275"/>
                </a:cxn>
                <a:cxn ang="0">
                  <a:pos x="230" y="251"/>
                </a:cxn>
                <a:cxn ang="0">
                  <a:pos x="239" y="228"/>
                </a:cxn>
                <a:cxn ang="0">
                  <a:pos x="222" y="221"/>
                </a:cxn>
                <a:cxn ang="0">
                  <a:pos x="240" y="198"/>
                </a:cxn>
                <a:cxn ang="0">
                  <a:pos x="257" y="168"/>
                </a:cxn>
                <a:cxn ang="0">
                  <a:pos x="284" y="169"/>
                </a:cxn>
                <a:cxn ang="0">
                  <a:pos x="279" y="152"/>
                </a:cxn>
                <a:cxn ang="0">
                  <a:pos x="265" y="130"/>
                </a:cxn>
                <a:cxn ang="0">
                  <a:pos x="248" y="105"/>
                </a:cxn>
                <a:cxn ang="0">
                  <a:pos x="234" y="79"/>
                </a:cxn>
                <a:cxn ang="0">
                  <a:pos x="224" y="56"/>
                </a:cxn>
                <a:cxn ang="0">
                  <a:pos x="205" y="40"/>
                </a:cxn>
                <a:cxn ang="0">
                  <a:pos x="190" y="26"/>
                </a:cxn>
                <a:cxn ang="0">
                  <a:pos x="180" y="15"/>
                </a:cxn>
                <a:cxn ang="0">
                  <a:pos x="155" y="7"/>
                </a:cxn>
                <a:cxn ang="0">
                  <a:pos x="132" y="6"/>
                </a:cxn>
                <a:cxn ang="0">
                  <a:pos x="112" y="3"/>
                </a:cxn>
                <a:cxn ang="0">
                  <a:pos x="92" y="11"/>
                </a:cxn>
                <a:cxn ang="0">
                  <a:pos x="77" y="36"/>
                </a:cxn>
                <a:cxn ang="0">
                  <a:pos x="71" y="53"/>
                </a:cxn>
                <a:cxn ang="0">
                  <a:pos x="56" y="68"/>
                </a:cxn>
                <a:cxn ang="0">
                  <a:pos x="0" y="153"/>
                </a:cxn>
              </a:cxnLst>
              <a:rect l="0" t="0" r="r" b="b"/>
              <a:pathLst>
                <a:path w="288" h="417">
                  <a:moveTo>
                    <a:pt x="20" y="252"/>
                  </a:moveTo>
                  <a:cubicBezTo>
                    <a:pt x="20" y="252"/>
                    <a:pt x="26" y="257"/>
                    <a:pt x="33" y="263"/>
                  </a:cubicBezTo>
                  <a:cubicBezTo>
                    <a:pt x="40" y="270"/>
                    <a:pt x="45" y="277"/>
                    <a:pt x="45" y="279"/>
                  </a:cubicBezTo>
                  <a:cubicBezTo>
                    <a:pt x="44" y="282"/>
                    <a:pt x="43" y="286"/>
                    <a:pt x="42" y="289"/>
                  </a:cubicBezTo>
                  <a:cubicBezTo>
                    <a:pt x="42" y="291"/>
                    <a:pt x="41" y="296"/>
                    <a:pt x="42" y="300"/>
                  </a:cubicBezTo>
                  <a:cubicBezTo>
                    <a:pt x="42" y="304"/>
                    <a:pt x="42" y="312"/>
                    <a:pt x="42" y="317"/>
                  </a:cubicBezTo>
                  <a:cubicBezTo>
                    <a:pt x="42" y="323"/>
                    <a:pt x="41" y="329"/>
                    <a:pt x="39" y="330"/>
                  </a:cubicBezTo>
                  <a:cubicBezTo>
                    <a:pt x="37" y="331"/>
                    <a:pt x="34" y="334"/>
                    <a:pt x="32" y="336"/>
                  </a:cubicBezTo>
                  <a:cubicBezTo>
                    <a:pt x="30" y="338"/>
                    <a:pt x="30" y="341"/>
                    <a:pt x="32" y="343"/>
                  </a:cubicBezTo>
                  <a:cubicBezTo>
                    <a:pt x="35" y="345"/>
                    <a:pt x="35" y="348"/>
                    <a:pt x="33" y="349"/>
                  </a:cubicBezTo>
                  <a:cubicBezTo>
                    <a:pt x="32" y="350"/>
                    <a:pt x="30" y="353"/>
                    <a:pt x="29" y="355"/>
                  </a:cubicBezTo>
                  <a:cubicBezTo>
                    <a:pt x="28" y="358"/>
                    <a:pt x="29" y="361"/>
                    <a:pt x="31" y="363"/>
                  </a:cubicBezTo>
                  <a:cubicBezTo>
                    <a:pt x="33" y="364"/>
                    <a:pt x="36" y="367"/>
                    <a:pt x="38" y="369"/>
                  </a:cubicBezTo>
                  <a:cubicBezTo>
                    <a:pt x="39" y="370"/>
                    <a:pt x="41" y="372"/>
                    <a:pt x="42" y="373"/>
                  </a:cubicBezTo>
                  <a:cubicBezTo>
                    <a:pt x="43" y="374"/>
                    <a:pt x="44" y="377"/>
                    <a:pt x="45" y="379"/>
                  </a:cubicBezTo>
                  <a:cubicBezTo>
                    <a:pt x="46" y="381"/>
                    <a:pt x="47" y="385"/>
                    <a:pt x="48" y="387"/>
                  </a:cubicBezTo>
                  <a:cubicBezTo>
                    <a:pt x="49" y="388"/>
                    <a:pt x="52" y="391"/>
                    <a:pt x="53" y="392"/>
                  </a:cubicBezTo>
                  <a:cubicBezTo>
                    <a:pt x="55" y="393"/>
                    <a:pt x="59" y="395"/>
                    <a:pt x="62" y="396"/>
                  </a:cubicBezTo>
                  <a:cubicBezTo>
                    <a:pt x="65" y="397"/>
                    <a:pt x="69" y="399"/>
                    <a:pt x="72" y="400"/>
                  </a:cubicBezTo>
                  <a:cubicBezTo>
                    <a:pt x="74" y="402"/>
                    <a:pt x="76" y="400"/>
                    <a:pt x="77" y="396"/>
                  </a:cubicBezTo>
                  <a:cubicBezTo>
                    <a:pt x="77" y="391"/>
                    <a:pt x="79" y="387"/>
                    <a:pt x="80" y="385"/>
                  </a:cubicBezTo>
                  <a:cubicBezTo>
                    <a:pt x="81" y="384"/>
                    <a:pt x="84" y="382"/>
                    <a:pt x="86" y="381"/>
                  </a:cubicBezTo>
                  <a:cubicBezTo>
                    <a:pt x="88" y="380"/>
                    <a:pt x="90" y="379"/>
                    <a:pt x="90" y="379"/>
                  </a:cubicBezTo>
                  <a:cubicBezTo>
                    <a:pt x="90" y="379"/>
                    <a:pt x="89" y="378"/>
                    <a:pt x="89" y="376"/>
                  </a:cubicBezTo>
                  <a:cubicBezTo>
                    <a:pt x="89" y="374"/>
                    <a:pt x="96" y="371"/>
                    <a:pt x="105" y="370"/>
                  </a:cubicBezTo>
                  <a:cubicBezTo>
                    <a:pt x="114" y="369"/>
                    <a:pt x="125" y="369"/>
                    <a:pt x="129" y="371"/>
                  </a:cubicBezTo>
                  <a:cubicBezTo>
                    <a:pt x="133" y="372"/>
                    <a:pt x="138" y="373"/>
                    <a:pt x="141" y="373"/>
                  </a:cubicBezTo>
                  <a:cubicBezTo>
                    <a:pt x="143" y="373"/>
                    <a:pt x="146" y="375"/>
                    <a:pt x="147" y="378"/>
                  </a:cubicBezTo>
                  <a:cubicBezTo>
                    <a:pt x="148" y="381"/>
                    <a:pt x="151" y="384"/>
                    <a:pt x="153" y="385"/>
                  </a:cubicBezTo>
                  <a:cubicBezTo>
                    <a:pt x="155" y="386"/>
                    <a:pt x="158" y="388"/>
                    <a:pt x="161" y="389"/>
                  </a:cubicBezTo>
                  <a:cubicBezTo>
                    <a:pt x="164" y="390"/>
                    <a:pt x="165" y="393"/>
                    <a:pt x="165" y="395"/>
                  </a:cubicBezTo>
                  <a:cubicBezTo>
                    <a:pt x="165" y="398"/>
                    <a:pt x="166" y="400"/>
                    <a:pt x="167" y="401"/>
                  </a:cubicBezTo>
                  <a:cubicBezTo>
                    <a:pt x="169" y="401"/>
                    <a:pt x="172" y="400"/>
                    <a:pt x="175" y="399"/>
                  </a:cubicBezTo>
                  <a:cubicBezTo>
                    <a:pt x="178" y="398"/>
                    <a:pt x="181" y="397"/>
                    <a:pt x="184" y="396"/>
                  </a:cubicBezTo>
                  <a:cubicBezTo>
                    <a:pt x="186" y="395"/>
                    <a:pt x="189" y="395"/>
                    <a:pt x="191" y="396"/>
                  </a:cubicBezTo>
                  <a:cubicBezTo>
                    <a:pt x="193" y="398"/>
                    <a:pt x="196" y="401"/>
                    <a:pt x="196" y="404"/>
                  </a:cubicBezTo>
                  <a:cubicBezTo>
                    <a:pt x="197" y="407"/>
                    <a:pt x="200" y="410"/>
                    <a:pt x="203" y="411"/>
                  </a:cubicBezTo>
                  <a:cubicBezTo>
                    <a:pt x="206" y="411"/>
                    <a:pt x="212" y="413"/>
                    <a:pt x="215" y="415"/>
                  </a:cubicBezTo>
                  <a:cubicBezTo>
                    <a:pt x="219" y="416"/>
                    <a:pt x="222" y="417"/>
                    <a:pt x="222" y="417"/>
                  </a:cubicBezTo>
                  <a:cubicBezTo>
                    <a:pt x="222" y="417"/>
                    <a:pt x="221" y="416"/>
                    <a:pt x="221" y="414"/>
                  </a:cubicBezTo>
                  <a:cubicBezTo>
                    <a:pt x="221" y="413"/>
                    <a:pt x="221" y="409"/>
                    <a:pt x="221" y="406"/>
                  </a:cubicBezTo>
                  <a:cubicBezTo>
                    <a:pt x="221" y="403"/>
                    <a:pt x="222" y="399"/>
                    <a:pt x="221" y="396"/>
                  </a:cubicBezTo>
                  <a:cubicBezTo>
                    <a:pt x="221" y="393"/>
                    <a:pt x="222" y="390"/>
                    <a:pt x="223" y="388"/>
                  </a:cubicBezTo>
                  <a:cubicBezTo>
                    <a:pt x="224" y="386"/>
                    <a:pt x="223" y="383"/>
                    <a:pt x="222" y="381"/>
                  </a:cubicBezTo>
                  <a:cubicBezTo>
                    <a:pt x="220" y="378"/>
                    <a:pt x="221" y="375"/>
                    <a:pt x="223" y="372"/>
                  </a:cubicBezTo>
                  <a:cubicBezTo>
                    <a:pt x="226" y="369"/>
                    <a:pt x="229" y="366"/>
                    <a:pt x="231" y="365"/>
                  </a:cubicBezTo>
                  <a:cubicBezTo>
                    <a:pt x="233" y="364"/>
                    <a:pt x="238" y="363"/>
                    <a:pt x="241" y="364"/>
                  </a:cubicBezTo>
                  <a:cubicBezTo>
                    <a:pt x="244" y="365"/>
                    <a:pt x="249" y="366"/>
                    <a:pt x="250" y="365"/>
                  </a:cubicBezTo>
                  <a:cubicBezTo>
                    <a:pt x="252" y="365"/>
                    <a:pt x="256" y="363"/>
                    <a:pt x="258" y="362"/>
                  </a:cubicBezTo>
                  <a:cubicBezTo>
                    <a:pt x="260" y="360"/>
                    <a:pt x="261" y="358"/>
                    <a:pt x="260" y="357"/>
                  </a:cubicBezTo>
                  <a:cubicBezTo>
                    <a:pt x="258" y="356"/>
                    <a:pt x="254" y="355"/>
                    <a:pt x="251" y="354"/>
                  </a:cubicBezTo>
                  <a:cubicBezTo>
                    <a:pt x="248" y="354"/>
                    <a:pt x="243" y="353"/>
                    <a:pt x="241" y="352"/>
                  </a:cubicBezTo>
                  <a:cubicBezTo>
                    <a:pt x="238" y="351"/>
                    <a:pt x="235" y="350"/>
                    <a:pt x="234" y="349"/>
                  </a:cubicBezTo>
                  <a:cubicBezTo>
                    <a:pt x="234" y="348"/>
                    <a:pt x="233" y="345"/>
                    <a:pt x="234" y="342"/>
                  </a:cubicBezTo>
                  <a:cubicBezTo>
                    <a:pt x="234" y="339"/>
                    <a:pt x="233" y="336"/>
                    <a:pt x="232" y="335"/>
                  </a:cubicBezTo>
                  <a:cubicBezTo>
                    <a:pt x="230" y="334"/>
                    <a:pt x="227" y="332"/>
                    <a:pt x="225" y="330"/>
                  </a:cubicBezTo>
                  <a:cubicBezTo>
                    <a:pt x="223" y="329"/>
                    <a:pt x="220" y="326"/>
                    <a:pt x="219" y="324"/>
                  </a:cubicBezTo>
                  <a:cubicBezTo>
                    <a:pt x="218" y="321"/>
                    <a:pt x="217" y="317"/>
                    <a:pt x="216" y="313"/>
                  </a:cubicBezTo>
                  <a:cubicBezTo>
                    <a:pt x="215" y="310"/>
                    <a:pt x="214" y="304"/>
                    <a:pt x="212" y="300"/>
                  </a:cubicBezTo>
                  <a:cubicBezTo>
                    <a:pt x="211" y="296"/>
                    <a:pt x="208" y="292"/>
                    <a:pt x="206" y="291"/>
                  </a:cubicBezTo>
                  <a:cubicBezTo>
                    <a:pt x="204" y="290"/>
                    <a:pt x="202" y="288"/>
                    <a:pt x="201" y="287"/>
                  </a:cubicBezTo>
                  <a:cubicBezTo>
                    <a:pt x="201" y="285"/>
                    <a:pt x="199" y="282"/>
                    <a:pt x="196" y="280"/>
                  </a:cubicBezTo>
                  <a:cubicBezTo>
                    <a:pt x="194" y="278"/>
                    <a:pt x="192" y="276"/>
                    <a:pt x="192" y="275"/>
                  </a:cubicBezTo>
                  <a:cubicBezTo>
                    <a:pt x="192" y="274"/>
                    <a:pt x="199" y="267"/>
                    <a:pt x="208" y="260"/>
                  </a:cubicBezTo>
                  <a:cubicBezTo>
                    <a:pt x="216" y="253"/>
                    <a:pt x="224" y="248"/>
                    <a:pt x="225" y="251"/>
                  </a:cubicBezTo>
                  <a:cubicBezTo>
                    <a:pt x="226" y="253"/>
                    <a:pt x="228" y="253"/>
                    <a:pt x="230" y="251"/>
                  </a:cubicBezTo>
                  <a:cubicBezTo>
                    <a:pt x="232" y="249"/>
                    <a:pt x="234" y="246"/>
                    <a:pt x="235" y="243"/>
                  </a:cubicBezTo>
                  <a:cubicBezTo>
                    <a:pt x="236" y="240"/>
                    <a:pt x="238" y="237"/>
                    <a:pt x="238" y="236"/>
                  </a:cubicBezTo>
                  <a:cubicBezTo>
                    <a:pt x="239" y="235"/>
                    <a:pt x="239" y="231"/>
                    <a:pt x="239" y="228"/>
                  </a:cubicBezTo>
                  <a:cubicBezTo>
                    <a:pt x="238" y="225"/>
                    <a:pt x="235" y="221"/>
                    <a:pt x="232" y="220"/>
                  </a:cubicBezTo>
                  <a:cubicBezTo>
                    <a:pt x="229" y="219"/>
                    <a:pt x="226" y="219"/>
                    <a:pt x="226" y="220"/>
                  </a:cubicBezTo>
                  <a:cubicBezTo>
                    <a:pt x="225" y="222"/>
                    <a:pt x="223" y="222"/>
                    <a:pt x="222" y="221"/>
                  </a:cubicBezTo>
                  <a:cubicBezTo>
                    <a:pt x="221" y="221"/>
                    <a:pt x="220" y="218"/>
                    <a:pt x="219" y="215"/>
                  </a:cubicBezTo>
                  <a:cubicBezTo>
                    <a:pt x="219" y="212"/>
                    <a:pt x="222" y="207"/>
                    <a:pt x="226" y="204"/>
                  </a:cubicBezTo>
                  <a:cubicBezTo>
                    <a:pt x="230" y="201"/>
                    <a:pt x="236" y="198"/>
                    <a:pt x="240" y="198"/>
                  </a:cubicBezTo>
                  <a:cubicBezTo>
                    <a:pt x="243" y="197"/>
                    <a:pt x="246" y="194"/>
                    <a:pt x="247" y="190"/>
                  </a:cubicBezTo>
                  <a:cubicBezTo>
                    <a:pt x="247" y="186"/>
                    <a:pt x="249" y="180"/>
                    <a:pt x="250" y="177"/>
                  </a:cubicBezTo>
                  <a:cubicBezTo>
                    <a:pt x="252" y="174"/>
                    <a:pt x="255" y="169"/>
                    <a:pt x="257" y="168"/>
                  </a:cubicBezTo>
                  <a:cubicBezTo>
                    <a:pt x="260" y="166"/>
                    <a:pt x="264" y="166"/>
                    <a:pt x="267" y="168"/>
                  </a:cubicBezTo>
                  <a:cubicBezTo>
                    <a:pt x="270" y="170"/>
                    <a:pt x="274" y="172"/>
                    <a:pt x="277" y="172"/>
                  </a:cubicBezTo>
                  <a:cubicBezTo>
                    <a:pt x="279" y="172"/>
                    <a:pt x="282" y="170"/>
                    <a:pt x="284" y="169"/>
                  </a:cubicBezTo>
                  <a:cubicBezTo>
                    <a:pt x="286" y="167"/>
                    <a:pt x="288" y="165"/>
                    <a:pt x="288" y="165"/>
                  </a:cubicBezTo>
                  <a:cubicBezTo>
                    <a:pt x="285" y="163"/>
                    <a:pt x="283" y="160"/>
                    <a:pt x="282" y="158"/>
                  </a:cubicBezTo>
                  <a:cubicBezTo>
                    <a:pt x="282" y="156"/>
                    <a:pt x="280" y="153"/>
                    <a:pt x="279" y="152"/>
                  </a:cubicBezTo>
                  <a:cubicBezTo>
                    <a:pt x="277" y="150"/>
                    <a:pt x="275" y="147"/>
                    <a:pt x="274" y="146"/>
                  </a:cubicBezTo>
                  <a:cubicBezTo>
                    <a:pt x="273" y="145"/>
                    <a:pt x="272" y="141"/>
                    <a:pt x="271" y="138"/>
                  </a:cubicBezTo>
                  <a:cubicBezTo>
                    <a:pt x="270" y="135"/>
                    <a:pt x="267" y="132"/>
                    <a:pt x="265" y="130"/>
                  </a:cubicBezTo>
                  <a:cubicBezTo>
                    <a:pt x="262" y="129"/>
                    <a:pt x="259" y="127"/>
                    <a:pt x="257" y="127"/>
                  </a:cubicBezTo>
                  <a:cubicBezTo>
                    <a:pt x="256" y="126"/>
                    <a:pt x="254" y="122"/>
                    <a:pt x="253" y="119"/>
                  </a:cubicBezTo>
                  <a:cubicBezTo>
                    <a:pt x="252" y="115"/>
                    <a:pt x="250" y="109"/>
                    <a:pt x="248" y="105"/>
                  </a:cubicBezTo>
                  <a:cubicBezTo>
                    <a:pt x="247" y="102"/>
                    <a:pt x="244" y="97"/>
                    <a:pt x="243" y="95"/>
                  </a:cubicBezTo>
                  <a:cubicBezTo>
                    <a:pt x="241" y="93"/>
                    <a:pt x="240" y="90"/>
                    <a:pt x="239" y="88"/>
                  </a:cubicBezTo>
                  <a:cubicBezTo>
                    <a:pt x="239" y="86"/>
                    <a:pt x="237" y="82"/>
                    <a:pt x="234" y="79"/>
                  </a:cubicBezTo>
                  <a:cubicBezTo>
                    <a:pt x="232" y="77"/>
                    <a:pt x="230" y="73"/>
                    <a:pt x="230" y="70"/>
                  </a:cubicBezTo>
                  <a:cubicBezTo>
                    <a:pt x="230" y="68"/>
                    <a:pt x="230" y="64"/>
                    <a:pt x="229" y="62"/>
                  </a:cubicBezTo>
                  <a:cubicBezTo>
                    <a:pt x="228" y="59"/>
                    <a:pt x="226" y="57"/>
                    <a:pt x="224" y="56"/>
                  </a:cubicBezTo>
                  <a:cubicBezTo>
                    <a:pt x="222" y="55"/>
                    <a:pt x="221" y="54"/>
                    <a:pt x="221" y="53"/>
                  </a:cubicBezTo>
                  <a:cubicBezTo>
                    <a:pt x="220" y="53"/>
                    <a:pt x="217" y="50"/>
                    <a:pt x="214" y="47"/>
                  </a:cubicBezTo>
                  <a:cubicBezTo>
                    <a:pt x="211" y="45"/>
                    <a:pt x="206" y="42"/>
                    <a:pt x="205" y="40"/>
                  </a:cubicBezTo>
                  <a:cubicBezTo>
                    <a:pt x="203" y="39"/>
                    <a:pt x="202" y="36"/>
                    <a:pt x="201" y="35"/>
                  </a:cubicBezTo>
                  <a:cubicBezTo>
                    <a:pt x="201" y="33"/>
                    <a:pt x="199" y="30"/>
                    <a:pt x="196" y="29"/>
                  </a:cubicBezTo>
                  <a:cubicBezTo>
                    <a:pt x="194" y="28"/>
                    <a:pt x="191" y="27"/>
                    <a:pt x="190" y="26"/>
                  </a:cubicBezTo>
                  <a:cubicBezTo>
                    <a:pt x="190" y="25"/>
                    <a:pt x="189" y="24"/>
                    <a:pt x="188" y="23"/>
                  </a:cubicBezTo>
                  <a:cubicBezTo>
                    <a:pt x="188" y="22"/>
                    <a:pt x="187" y="20"/>
                    <a:pt x="185" y="19"/>
                  </a:cubicBezTo>
                  <a:cubicBezTo>
                    <a:pt x="184" y="19"/>
                    <a:pt x="182" y="16"/>
                    <a:pt x="180" y="15"/>
                  </a:cubicBezTo>
                  <a:cubicBezTo>
                    <a:pt x="179" y="13"/>
                    <a:pt x="176" y="10"/>
                    <a:pt x="174" y="9"/>
                  </a:cubicBezTo>
                  <a:cubicBezTo>
                    <a:pt x="172" y="8"/>
                    <a:pt x="168" y="7"/>
                    <a:pt x="165" y="7"/>
                  </a:cubicBezTo>
                  <a:cubicBezTo>
                    <a:pt x="163" y="7"/>
                    <a:pt x="158" y="7"/>
                    <a:pt x="155" y="7"/>
                  </a:cubicBezTo>
                  <a:cubicBezTo>
                    <a:pt x="152" y="6"/>
                    <a:pt x="148" y="6"/>
                    <a:pt x="146" y="6"/>
                  </a:cubicBezTo>
                  <a:cubicBezTo>
                    <a:pt x="144" y="6"/>
                    <a:pt x="141" y="6"/>
                    <a:pt x="139" y="6"/>
                  </a:cubicBezTo>
                  <a:cubicBezTo>
                    <a:pt x="136" y="6"/>
                    <a:pt x="133" y="6"/>
                    <a:pt x="132" y="6"/>
                  </a:cubicBezTo>
                  <a:cubicBezTo>
                    <a:pt x="131" y="6"/>
                    <a:pt x="128" y="5"/>
                    <a:pt x="126" y="4"/>
                  </a:cubicBezTo>
                  <a:cubicBezTo>
                    <a:pt x="124" y="3"/>
                    <a:pt x="120" y="2"/>
                    <a:pt x="118" y="1"/>
                  </a:cubicBezTo>
                  <a:cubicBezTo>
                    <a:pt x="117" y="0"/>
                    <a:pt x="114" y="1"/>
                    <a:pt x="112" y="3"/>
                  </a:cubicBezTo>
                  <a:cubicBezTo>
                    <a:pt x="110" y="5"/>
                    <a:pt x="107" y="7"/>
                    <a:pt x="105" y="6"/>
                  </a:cubicBezTo>
                  <a:cubicBezTo>
                    <a:pt x="104" y="6"/>
                    <a:pt x="101" y="7"/>
                    <a:pt x="99" y="7"/>
                  </a:cubicBezTo>
                  <a:cubicBezTo>
                    <a:pt x="97" y="8"/>
                    <a:pt x="94" y="10"/>
                    <a:pt x="92" y="11"/>
                  </a:cubicBezTo>
                  <a:cubicBezTo>
                    <a:pt x="90" y="12"/>
                    <a:pt x="88" y="15"/>
                    <a:pt x="87" y="17"/>
                  </a:cubicBezTo>
                  <a:cubicBezTo>
                    <a:pt x="86" y="20"/>
                    <a:pt x="84" y="24"/>
                    <a:pt x="82" y="27"/>
                  </a:cubicBezTo>
                  <a:cubicBezTo>
                    <a:pt x="80" y="30"/>
                    <a:pt x="78" y="34"/>
                    <a:pt x="77" y="36"/>
                  </a:cubicBezTo>
                  <a:cubicBezTo>
                    <a:pt x="76" y="38"/>
                    <a:pt x="75" y="41"/>
                    <a:pt x="75" y="42"/>
                  </a:cubicBezTo>
                  <a:cubicBezTo>
                    <a:pt x="74" y="43"/>
                    <a:pt x="74" y="46"/>
                    <a:pt x="74" y="47"/>
                  </a:cubicBezTo>
                  <a:cubicBezTo>
                    <a:pt x="74" y="49"/>
                    <a:pt x="73" y="51"/>
                    <a:pt x="71" y="53"/>
                  </a:cubicBezTo>
                  <a:cubicBezTo>
                    <a:pt x="69" y="54"/>
                    <a:pt x="66" y="57"/>
                    <a:pt x="65" y="59"/>
                  </a:cubicBezTo>
                  <a:cubicBezTo>
                    <a:pt x="64" y="60"/>
                    <a:pt x="61" y="63"/>
                    <a:pt x="60" y="65"/>
                  </a:cubicBezTo>
                  <a:cubicBezTo>
                    <a:pt x="59" y="67"/>
                    <a:pt x="57" y="68"/>
                    <a:pt x="56" y="68"/>
                  </a:cubicBezTo>
                  <a:cubicBezTo>
                    <a:pt x="54" y="68"/>
                    <a:pt x="52" y="68"/>
                    <a:pt x="50" y="67"/>
                  </a:cubicBezTo>
                  <a:cubicBezTo>
                    <a:pt x="48" y="67"/>
                    <a:pt x="47" y="67"/>
                    <a:pt x="47" y="67"/>
                  </a:cubicBezTo>
                  <a:cubicBezTo>
                    <a:pt x="0" y="153"/>
                    <a:pt x="0" y="153"/>
                    <a:pt x="0" y="153"/>
                  </a:cubicBezTo>
                  <a:lnTo>
                    <a:pt x="20" y="252"/>
                  </a:lnTo>
                  <a:close/>
                </a:path>
              </a:pathLst>
            </a:custGeom>
            <a:grpFill/>
            <a:ln w="6350">
              <a:solidFill>
                <a:schemeClr val="tx1"/>
              </a:solidFill>
              <a:headEnd/>
              <a:tailEnd/>
            </a:ln>
            <a:effectLst/>
          </p:spPr>
          <p:style>
            <a:lnRef idx="1">
              <a:schemeClr val="accent3"/>
            </a:lnRef>
            <a:fillRef idx="3">
              <a:schemeClr val="accent3"/>
            </a:fillRef>
            <a:effectRef idx="2">
              <a:schemeClr val="accent3"/>
            </a:effectRef>
            <a:fontRef idx="minor">
              <a:schemeClr val="lt1"/>
            </a:fontRef>
          </p:style>
          <p:txBody>
            <a:bodyPr/>
            <a:lstStyle/>
            <a:p>
              <a:pPr defTabSz="914217">
                <a:defRPr/>
              </a:pPr>
              <a:endParaRPr lang="ro-RO">
                <a:solidFill>
                  <a:prstClr val="white"/>
                </a:solidFill>
              </a:endParaRPr>
            </a:p>
          </p:txBody>
        </p:sp>
      </p:grpSp>
      <p:sp>
        <p:nvSpPr>
          <p:cNvPr id="83" name="object 3">
            <a:extLst>
              <a:ext uri="{FF2B5EF4-FFF2-40B4-BE49-F238E27FC236}">
                <a16:creationId xmlns:a16="http://schemas.microsoft.com/office/drawing/2014/main" id="{4BCA1906-40FE-391E-6230-722D95932AFD}"/>
              </a:ext>
            </a:extLst>
          </p:cNvPr>
          <p:cNvSpPr txBox="1"/>
          <p:nvPr/>
        </p:nvSpPr>
        <p:spPr>
          <a:xfrm>
            <a:off x="224882" y="336941"/>
            <a:ext cx="5725275" cy="575094"/>
          </a:xfrm>
          <a:prstGeom prst="rect">
            <a:avLst/>
          </a:prstGeom>
        </p:spPr>
        <p:txBody>
          <a:bodyPr vert="horz" wrap="square" lIns="0" tIns="12065" rIns="0" bIns="0" rtlCol="0">
            <a:spAutoFit/>
          </a:bodyPr>
          <a:lstStyle/>
          <a:p>
            <a:pPr algn="l">
              <a:lnSpc>
                <a:spcPct val="114000"/>
              </a:lnSpc>
              <a:spcBef>
                <a:spcPts val="1200"/>
              </a:spcBef>
              <a:spcAft>
                <a:spcPts val="1200"/>
              </a:spcAft>
            </a:pPr>
            <a:r>
              <a:rPr lang="en-US" sz="1100" b="1" dirty="0">
                <a:latin typeface="Arial" panose="020B0604020202020204" pitchFamily="34" charset="0"/>
                <a:cs typeface="Arial" panose="020B0604020202020204" pitchFamily="34" charset="0"/>
              </a:rPr>
              <a:t>Low fiscal flexibility: </a:t>
            </a:r>
            <a:r>
              <a:rPr lang="en-US" sz="1100" dirty="0" err="1">
                <a:latin typeface="Arial" panose="020B0604020202020204" pitchFamily="34" charset="0"/>
                <a:cs typeface="Arial" panose="020B0604020202020204" pitchFamily="34" charset="0"/>
              </a:rPr>
              <a:t>i</a:t>
            </a:r>
            <a:r>
              <a:rPr lang="en-US" sz="1100" dirty="0">
                <a:latin typeface="Arial" panose="020B0604020202020204" pitchFamily="34" charset="0"/>
                <a:cs typeface="Arial" panose="020B0604020202020204" pitchFamily="34" charset="0"/>
              </a:rPr>
              <a:t>) 90% of fiscal revenues come from federal grants, ii) 90% of state budgets cover current expenditures and transfers to local governments, iii) persistent fiscal deficits:</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-3.5% of total revenues (avg, 2000-2022). </a:t>
            </a:r>
            <a:endParaRPr lang="en-US" sz="1100" b="1" dirty="0">
              <a:latin typeface="Arial" panose="020B0604020202020204" pitchFamily="34" charset="0"/>
              <a:cs typeface="Arial" panose="020B0604020202020204" pitchFamily="34" charset="0"/>
              <a:sym typeface="Wingdings" pitchFamily="2" charset="2"/>
            </a:endParaRPr>
          </a:p>
        </p:txBody>
      </p:sp>
      <p:sp>
        <p:nvSpPr>
          <p:cNvPr id="3" name="TextBox 2">
            <a:extLst>
              <a:ext uri="{FF2B5EF4-FFF2-40B4-BE49-F238E27FC236}">
                <a16:creationId xmlns:a16="http://schemas.microsoft.com/office/drawing/2014/main" id="{33BC7338-BD15-27FD-868C-A152BA14C3E0}"/>
              </a:ext>
            </a:extLst>
          </p:cNvPr>
          <p:cNvSpPr txBox="1"/>
          <p:nvPr/>
        </p:nvSpPr>
        <p:spPr>
          <a:xfrm>
            <a:off x="1878481" y="1211129"/>
            <a:ext cx="3865941" cy="655244"/>
          </a:xfrm>
          <a:prstGeom prst="rect">
            <a:avLst/>
          </a:prstGeom>
          <a:noFill/>
        </p:spPr>
        <p:txBody>
          <a:bodyPr wrap="square">
            <a:spAutoFit/>
          </a:bodyPr>
          <a:lstStyle/>
          <a:p>
            <a:pPr>
              <a:lnSpc>
                <a:spcPct val="114000"/>
              </a:lnSpc>
              <a:spcBef>
                <a:spcPts val="600"/>
              </a:spcBef>
              <a:spcAft>
                <a:spcPts val="600"/>
              </a:spcAft>
            </a:pPr>
            <a:r>
              <a:rPr lang="en-US" sz="1100" b="1" dirty="0">
                <a:latin typeface="Arial" panose="020B0604020202020204" pitchFamily="34" charset="0"/>
                <a:cs typeface="Arial" panose="020B0604020202020204" pitchFamily="34" charset="0"/>
              </a:rPr>
              <a:t>Few liquidity management tools:</a:t>
            </a:r>
            <a:r>
              <a:rPr lang="en-US" sz="1100" dirty="0">
                <a:latin typeface="Arial" panose="020B0604020202020204" pitchFamily="34" charset="0"/>
                <a:cs typeface="Arial" panose="020B0604020202020204" pitchFamily="34" charset="0"/>
                <a:sym typeface="Wingdings" pitchFamily="2" charset="2"/>
              </a:rPr>
              <a:t> Only 5 states (and Mexico City) have state-level rainy day funds. Federal Funded Rainy-Day Fund depleted in 2019 and 2020. </a:t>
            </a:r>
          </a:p>
        </p:txBody>
      </p:sp>
      <p:sp>
        <p:nvSpPr>
          <p:cNvPr id="46" name="TextBox 45">
            <a:extLst>
              <a:ext uri="{FF2B5EF4-FFF2-40B4-BE49-F238E27FC236}">
                <a16:creationId xmlns:a16="http://schemas.microsoft.com/office/drawing/2014/main" id="{8330B065-13A0-109E-A17D-528211F8189B}"/>
              </a:ext>
            </a:extLst>
          </p:cNvPr>
          <p:cNvSpPr txBox="1"/>
          <p:nvPr/>
        </p:nvSpPr>
        <p:spPr>
          <a:xfrm>
            <a:off x="2938189" y="2305230"/>
            <a:ext cx="3139272" cy="848246"/>
          </a:xfrm>
          <a:prstGeom prst="rect">
            <a:avLst/>
          </a:prstGeom>
          <a:noFill/>
        </p:spPr>
        <p:txBody>
          <a:bodyPr wrap="square">
            <a:spAutoFit/>
          </a:bodyPr>
          <a:lstStyle/>
          <a:p>
            <a:pPr>
              <a:lnSpc>
                <a:spcPct val="114000"/>
              </a:lnSpc>
              <a:spcBef>
                <a:spcPts val="600"/>
              </a:spcBef>
              <a:spcAft>
                <a:spcPts val="600"/>
              </a:spcAft>
            </a:pPr>
            <a:r>
              <a:rPr lang="en-US" sz="1100" b="1" dirty="0">
                <a:latin typeface="Arial" panose="020B0604020202020204" pitchFamily="34" charset="0"/>
                <a:cs typeface="Arial" panose="020B0604020202020204" pitchFamily="34" charset="0"/>
                <a:sym typeface="Wingdings" pitchFamily="2" charset="2"/>
              </a:rPr>
              <a:t>Short-Term Debt Fiscal Rules: </a:t>
            </a:r>
            <a:r>
              <a:rPr lang="en-US" sz="1100" dirty="0">
                <a:latin typeface="Arial" panose="020B0604020202020204" pitchFamily="34" charset="0"/>
                <a:cs typeface="Arial" panose="020B0604020202020204" pitchFamily="34" charset="0"/>
                <a:sym typeface="Wingdings" pitchFamily="2" charset="2"/>
              </a:rPr>
              <a:t>bank loans </a:t>
            </a:r>
            <a:r>
              <a:rPr lang="en-US" sz="1100" dirty="0" err="1">
                <a:latin typeface="Arial" panose="020B0604020202020204" pitchFamily="34" charset="0"/>
                <a:cs typeface="Arial" panose="020B0604020202020204" pitchFamily="34" charset="0"/>
                <a:sym typeface="Wingdings" pitchFamily="2" charset="2"/>
              </a:rPr>
              <a:t>i</a:t>
            </a:r>
            <a:r>
              <a:rPr lang="en-US" sz="1100" dirty="0">
                <a:latin typeface="Arial" panose="020B0604020202020204" pitchFamily="34" charset="0"/>
                <a:cs typeface="Arial" panose="020B0604020202020204" pitchFamily="34" charset="0"/>
                <a:sym typeface="Wingdings" pitchFamily="2" charset="2"/>
              </a:rPr>
              <a:t>) only for cash-flow management, ii) must be unsecured, and iii) debt ceiling: 6% of total fiscal revenues. </a:t>
            </a:r>
            <a:endParaRPr lang="en-US" sz="1100" b="1" dirty="0">
              <a:latin typeface="Arial" panose="020B0604020202020204" pitchFamily="34" charset="0"/>
              <a:cs typeface="Arial" panose="020B0604020202020204" pitchFamily="34" charset="0"/>
              <a:sym typeface="Wingdings" pitchFamily="2" charset="2"/>
            </a:endParaRPr>
          </a:p>
        </p:txBody>
      </p:sp>
    </p:spTree>
    <p:extLst>
      <p:ext uri="{BB962C8B-B14F-4D97-AF65-F5344CB8AC3E}">
        <p14:creationId xmlns:p14="http://schemas.microsoft.com/office/powerpoint/2010/main" val="1707182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Description: General Participations Fund (FGP)</a:t>
            </a:r>
          </a:p>
        </p:txBody>
      </p:sp>
      <p:sp>
        <p:nvSpPr>
          <p:cNvPr id="2" name="object 3">
            <a:extLst>
              <a:ext uri="{FF2B5EF4-FFF2-40B4-BE49-F238E27FC236}">
                <a16:creationId xmlns:a16="http://schemas.microsoft.com/office/drawing/2014/main" id="{077DCD3A-DC27-0B44-B2A8-41D15F5E7978}"/>
              </a:ext>
            </a:extLst>
          </p:cNvPr>
          <p:cNvSpPr txBox="1"/>
          <p:nvPr/>
        </p:nvSpPr>
        <p:spPr>
          <a:xfrm>
            <a:off x="2619375" y="815975"/>
            <a:ext cx="3276600" cy="1654877"/>
          </a:xfrm>
          <a:prstGeom prst="rect">
            <a:avLst/>
          </a:prstGeom>
        </p:spPr>
        <p:txBody>
          <a:bodyPr vert="horz" wrap="square" lIns="0" tIns="12065" rIns="0" bIns="0" rtlCol="0">
            <a:spAutoFit/>
          </a:bodyPr>
          <a:lstStyle/>
          <a:p>
            <a:pPr marL="171450" indent="-171450">
              <a:lnSpc>
                <a:spcPct val="114000"/>
              </a:lnSpc>
              <a:spcBef>
                <a:spcPts val="600"/>
              </a:spcBef>
              <a:spcAft>
                <a:spcPts val="600"/>
              </a:spcAft>
              <a:buFont typeface="Arial" panose="020B0604020202020204" pitchFamily="34" charset="0"/>
              <a:buChar char="•"/>
            </a:pPr>
            <a:r>
              <a:rPr lang="en-US" sz="1100" b="1" dirty="0">
                <a:latin typeface="Arial" panose="020B0604020202020204" pitchFamily="34" charset="0"/>
                <a:cs typeface="Arial" panose="020B0604020202020204" pitchFamily="34" charset="0"/>
              </a:rPr>
              <a:t>Fiscal Federalism in Mexico: </a:t>
            </a:r>
            <a:r>
              <a:rPr lang="en-US" sz="1100" dirty="0">
                <a:latin typeface="Arial" panose="020B0604020202020204" pitchFamily="34" charset="0"/>
                <a:cs typeface="Arial" panose="020B0604020202020204" pitchFamily="34" charset="0"/>
              </a:rPr>
              <a:t>shared-revenue system with centralized tax collection.</a:t>
            </a:r>
            <a:endParaRPr lang="en-US" sz="1100" b="1" dirty="0">
              <a:latin typeface="Arial" panose="020B0604020202020204" pitchFamily="34" charset="0"/>
              <a:cs typeface="Arial" panose="020B0604020202020204" pitchFamily="34" charset="0"/>
            </a:endParaRPr>
          </a:p>
          <a:p>
            <a:pPr marL="171450" indent="-171450">
              <a:lnSpc>
                <a:spcPct val="114000"/>
              </a:lnSpc>
              <a:spcBef>
                <a:spcPts val="600"/>
              </a:spcBef>
              <a:spcAft>
                <a:spcPts val="600"/>
              </a:spcAft>
              <a:buFont typeface="Arial" panose="020B0604020202020204" pitchFamily="34" charset="0"/>
              <a:buChar char="•"/>
            </a:pPr>
            <a:r>
              <a:rPr lang="en-US" sz="1100" dirty="0">
                <a:latin typeface="Arial" panose="020B0604020202020204" pitchFamily="34" charset="0"/>
                <a:cs typeface="Arial" panose="020B0604020202020204" pitchFamily="34" charset="0"/>
              </a:rPr>
              <a:t>States have spending discretion (in average) on 50% of their revenues. </a:t>
            </a:r>
          </a:p>
          <a:p>
            <a:pPr marL="171450" indent="-171450">
              <a:lnSpc>
                <a:spcPct val="114000"/>
              </a:lnSpc>
              <a:spcBef>
                <a:spcPts val="600"/>
              </a:spcBef>
              <a:spcAft>
                <a:spcPts val="600"/>
              </a:spcAft>
              <a:buFont typeface="Arial" panose="020B0604020202020204" pitchFamily="34" charset="0"/>
              <a:buChar char="•"/>
            </a:pPr>
            <a:r>
              <a:rPr lang="en-US" sz="1100" b="1" dirty="0">
                <a:latin typeface="Arial" panose="020B0604020202020204" pitchFamily="34" charset="0"/>
                <a:cs typeface="Arial" panose="020B0604020202020204" pitchFamily="34" charset="0"/>
              </a:rPr>
              <a:t>General Participations Fund: </a:t>
            </a:r>
            <a:r>
              <a:rPr lang="en-US" sz="1100" dirty="0">
                <a:latin typeface="Arial" panose="020B0604020202020204" pitchFamily="34" charset="0"/>
                <a:cs typeface="Arial" panose="020B0604020202020204" pitchFamily="34" charset="0"/>
              </a:rPr>
              <a:t>main discretionary revenues (DR) grant/fund</a:t>
            </a:r>
            <a:r>
              <a:rPr lang="en-US" sz="1100" dirty="0">
                <a:latin typeface="Arial" panose="020B0604020202020204" pitchFamily="34" charset="0"/>
                <a:cs typeface="Arial" panose="020B0604020202020204" pitchFamily="34" charset="0"/>
                <a:sym typeface="Wingdings" pitchFamily="2" charset="2"/>
              </a:rPr>
              <a:t> </a:t>
            </a:r>
            <a:r>
              <a:rPr lang="en-US" sz="1100" dirty="0">
                <a:latin typeface="Arial" panose="020B0604020202020204" pitchFamily="34" charset="0"/>
                <a:cs typeface="Arial" panose="020B0604020202020204" pitchFamily="34" charset="0"/>
              </a:rPr>
              <a:t> 75% of total DR, 30% of total revenues. </a:t>
            </a:r>
          </a:p>
        </p:txBody>
      </p:sp>
      <p:sp>
        <p:nvSpPr>
          <p:cNvPr id="3" name="object 5">
            <a:extLst>
              <a:ext uri="{FF2B5EF4-FFF2-40B4-BE49-F238E27FC236}">
                <a16:creationId xmlns:a16="http://schemas.microsoft.com/office/drawing/2014/main" id="{4AED79A2-0345-AE8B-923A-CBDBDD0C6CEF}"/>
              </a:ext>
            </a:extLst>
          </p:cNvPr>
          <p:cNvSpPr txBox="1"/>
          <p:nvPr/>
        </p:nvSpPr>
        <p:spPr>
          <a:xfrm>
            <a:off x="65572" y="2785323"/>
            <a:ext cx="2706203"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revenues by source. Earmarked transfers (</a:t>
            </a:r>
            <a:r>
              <a:rPr lang="en-US" sz="500" spc="-10" dirty="0" err="1">
                <a:latin typeface="Arial"/>
                <a:cs typeface="Arial"/>
              </a:rPr>
              <a:t>Aportaciones</a:t>
            </a:r>
            <a:r>
              <a:rPr lang="en-US" sz="500" spc="-10" dirty="0">
                <a:latin typeface="Arial"/>
                <a:cs typeface="Arial"/>
              </a:rPr>
              <a:t>) include funds to finance education payroll (FONE) and infrastructure development (FAM, FAETA), health care (FASSA), social development and welfare programs (FAIS), security and policing (FASP). Discretionary transfers (</a:t>
            </a:r>
            <a:r>
              <a:rPr lang="en-US" sz="500" spc="-10" dirty="0" err="1">
                <a:latin typeface="Arial"/>
                <a:cs typeface="Arial"/>
              </a:rPr>
              <a:t>Participaciones</a:t>
            </a:r>
            <a:r>
              <a:rPr lang="en-US" sz="500" spc="-10" dirty="0">
                <a:latin typeface="Arial"/>
                <a:cs typeface="Arial"/>
              </a:rPr>
              <a:t>) include FGP transfers. </a:t>
            </a:r>
            <a:r>
              <a:rPr lang="en-US" sz="500" b="1" spc="-10" dirty="0">
                <a:latin typeface="Arial"/>
                <a:cs typeface="Arial"/>
              </a:rPr>
              <a:t>Source: INEGI.</a:t>
            </a:r>
            <a:r>
              <a:rPr lang="en-US" sz="500" spc="-10" dirty="0">
                <a:latin typeface="Arial"/>
                <a:cs typeface="Arial"/>
              </a:rPr>
              <a:t> </a:t>
            </a:r>
          </a:p>
        </p:txBody>
      </p:sp>
      <p:pic>
        <p:nvPicPr>
          <p:cNvPr id="4" name="Picture 3" descr="A close-up of a graph&#10;&#10;Description automatically generated">
            <a:extLst>
              <a:ext uri="{FF2B5EF4-FFF2-40B4-BE49-F238E27FC236}">
                <a16:creationId xmlns:a16="http://schemas.microsoft.com/office/drawing/2014/main" id="{6CC78720-9C34-6573-83BE-C05938DF9773}"/>
              </a:ext>
            </a:extLst>
          </p:cNvPr>
          <p:cNvPicPr>
            <a:picLocks noChangeAspect="1"/>
          </p:cNvPicPr>
          <p:nvPr/>
        </p:nvPicPr>
        <p:blipFill>
          <a:blip r:embed="rId3">
            <a:extLst>
              <a:ext uri="{28A0092B-C50C-407E-A947-70E740481C1C}">
                <a14:useLocalDpi xmlns:a14="http://schemas.microsoft.com/office/drawing/2010/main" val="0"/>
              </a:ext>
            </a:extLst>
          </a:blip>
          <a:srcRect r="50219"/>
          <a:stretch/>
        </p:blipFill>
        <p:spPr>
          <a:xfrm>
            <a:off x="59511" y="322927"/>
            <a:ext cx="2466975" cy="2477836"/>
          </a:xfrm>
          <a:prstGeom prst="rect">
            <a:avLst/>
          </a:prstGeom>
        </p:spPr>
      </p:pic>
    </p:spTree>
    <p:extLst>
      <p:ext uri="{BB962C8B-B14F-4D97-AF65-F5344CB8AC3E}">
        <p14:creationId xmlns:p14="http://schemas.microsoft.com/office/powerpoint/2010/main" val="1691012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133EFBAB-8518-A32B-54B9-C5B7175CDCDA}"/>
              </a:ext>
            </a:extLst>
          </p:cNvPr>
          <p:cNvSpPr txBox="1"/>
          <p:nvPr/>
        </p:nvSpPr>
        <p:spPr>
          <a:xfrm>
            <a:off x="104775" y="587375"/>
            <a:ext cx="5777953" cy="382092"/>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p:txBody>
      </p:sp>
    </p:spTree>
    <p:extLst>
      <p:ext uri="{BB962C8B-B14F-4D97-AF65-F5344CB8AC3E}">
        <p14:creationId xmlns:p14="http://schemas.microsoft.com/office/powerpoint/2010/main" val="2554532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685C-33A2-0A6F-0B89-FEB02AB3AD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F2A79525-429F-289F-32DC-D7903434B3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F451D8E0-F887-CD76-EF49-BF35B3C03855}"/>
              </a:ext>
            </a:extLst>
          </p:cNvPr>
          <p:cNvSpPr txBox="1"/>
          <p:nvPr/>
        </p:nvSpPr>
        <p:spPr>
          <a:xfrm>
            <a:off x="104775" y="587375"/>
            <a:ext cx="5777953" cy="780278"/>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p:txBody>
      </p:sp>
    </p:spTree>
    <p:extLst>
      <p:ext uri="{BB962C8B-B14F-4D97-AF65-F5344CB8AC3E}">
        <p14:creationId xmlns:p14="http://schemas.microsoft.com/office/powerpoint/2010/main" val="3259929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EAB-E50B-A103-8E4A-232E1BDE944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C917032C-E7EE-E44E-0C71-0E7FACFB066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00F40F90-A864-003D-81B2-A0B3A91E1BAA}"/>
              </a:ext>
            </a:extLst>
          </p:cNvPr>
          <p:cNvSpPr txBox="1"/>
          <p:nvPr/>
        </p:nvSpPr>
        <p:spPr>
          <a:xfrm>
            <a:off x="104775" y="587375"/>
            <a:ext cx="5777953" cy="1178464"/>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However,</a:t>
            </a:r>
            <a:r>
              <a:rPr lang="en-US" sz="1100" dirty="0">
                <a:latin typeface="Arial"/>
                <a:cs typeface="Arial"/>
              </a:rPr>
              <a:t> actual disbursements depend on the observed level of centralized tax collection. </a:t>
            </a:r>
          </a:p>
        </p:txBody>
      </p:sp>
    </p:spTree>
    <p:extLst>
      <p:ext uri="{BB962C8B-B14F-4D97-AF65-F5344CB8AC3E}">
        <p14:creationId xmlns:p14="http://schemas.microsoft.com/office/powerpoint/2010/main" val="1104965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834A-121E-959E-92AA-4CB57FE2D3CD}"/>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DCEA904E-B412-CA1A-3971-D5DDE9E27C6E}"/>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3B90667F-7085-B263-0862-33426369A448}"/>
              </a:ext>
            </a:extLst>
          </p:cNvPr>
          <p:cNvSpPr txBox="1"/>
          <p:nvPr/>
        </p:nvSpPr>
        <p:spPr>
          <a:xfrm>
            <a:off x="104775" y="587375"/>
            <a:ext cx="5777953" cy="1576650"/>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a:p>
            <a:pPr marL="161925" indent="-149225">
              <a:lnSpc>
                <a:spcPct val="114000"/>
              </a:lnSpc>
              <a:spcBef>
                <a:spcPts val="800"/>
              </a:spcBef>
              <a:spcAft>
                <a:spcPts val="800"/>
              </a:spcAft>
              <a:buAutoNum type="arabicPeriod"/>
              <a:tabLst>
                <a:tab pos="161925" algn="l"/>
              </a:tabLst>
            </a:pPr>
            <a:r>
              <a:rPr sz="1100" spc="-35" dirty="0">
                <a:latin typeface="Arial"/>
                <a:cs typeface="Arial"/>
              </a:rPr>
              <a:t>However,</a:t>
            </a:r>
            <a:r>
              <a:rPr sz="1100" dirty="0">
                <a:latin typeface="Arial"/>
                <a:cs typeface="Arial"/>
              </a:rPr>
              <a:t> </a:t>
            </a:r>
            <a:r>
              <a:rPr lang="en-US" sz="1100" dirty="0">
                <a:latin typeface="Arial"/>
                <a:cs typeface="Arial"/>
              </a:rPr>
              <a:t>actual disbursements depend on the observed level of centralized tax collection.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Each </a:t>
            </a:r>
            <a:r>
              <a:rPr sz="1100" dirty="0">
                <a:latin typeface="Arial"/>
                <a:cs typeface="Arial"/>
              </a:rPr>
              <a:t>month</a:t>
            </a:r>
            <a:r>
              <a:rPr sz="1100" spc="5" dirty="0">
                <a:latin typeface="Arial"/>
                <a:cs typeface="Arial"/>
              </a:rPr>
              <a:t> </a:t>
            </a:r>
            <a:r>
              <a:rPr lang="en-US" sz="1100" spc="-10" dirty="0">
                <a:latin typeface="Arial"/>
                <a:cs typeface="Arial"/>
              </a:rPr>
              <a:t>states could </a:t>
            </a:r>
            <a:r>
              <a:rPr sz="1100" spc="-45" dirty="0">
                <a:latin typeface="Arial"/>
                <a:cs typeface="Arial"/>
              </a:rPr>
              <a:t>observe</a:t>
            </a:r>
            <a:r>
              <a:rPr sz="1100" dirty="0">
                <a:latin typeface="Arial"/>
                <a:cs typeface="Arial"/>
              </a:rPr>
              <a:t> </a:t>
            </a:r>
            <a:r>
              <a:rPr sz="1100" spc="-20" dirty="0">
                <a:latin typeface="Arial"/>
                <a:cs typeface="Arial"/>
              </a:rPr>
              <a:t>deviations</a:t>
            </a:r>
            <a:r>
              <a:rPr sz="1100" spc="5" dirty="0">
                <a:latin typeface="Arial"/>
                <a:cs typeface="Arial"/>
              </a:rPr>
              <a:t> </a:t>
            </a:r>
            <a:r>
              <a:rPr sz="1100" dirty="0">
                <a:latin typeface="Arial"/>
                <a:cs typeface="Arial"/>
              </a:rPr>
              <a:t>from </a:t>
            </a:r>
            <a:r>
              <a:rPr lang="en-US" sz="1100" spc="-10" dirty="0">
                <a:latin typeface="Arial"/>
                <a:cs typeface="Arial"/>
              </a:rPr>
              <a:t>their</a:t>
            </a:r>
            <a:r>
              <a:rPr sz="1100" spc="5" dirty="0">
                <a:latin typeface="Arial"/>
                <a:cs typeface="Arial"/>
              </a:rPr>
              <a:t> </a:t>
            </a:r>
            <a:r>
              <a:rPr sz="1100" spc="-25" dirty="0">
                <a:latin typeface="Arial"/>
                <a:cs typeface="Arial"/>
              </a:rPr>
              <a:t>budgeted</a:t>
            </a:r>
            <a:r>
              <a:rPr sz="1100" dirty="0">
                <a:latin typeface="Arial"/>
                <a:cs typeface="Arial"/>
              </a:rPr>
              <a:t> </a:t>
            </a:r>
            <a:r>
              <a:rPr lang="en-US" sz="1100" spc="-10" dirty="0">
                <a:latin typeface="Arial"/>
                <a:cs typeface="Arial"/>
              </a:rPr>
              <a:t>transfers. </a:t>
            </a:r>
            <a:endParaRPr sz="1100" dirty="0">
              <a:latin typeface="Arial"/>
              <a:cs typeface="Arial"/>
            </a:endParaRPr>
          </a:p>
        </p:txBody>
      </p:sp>
    </p:spTree>
    <p:extLst>
      <p:ext uri="{BB962C8B-B14F-4D97-AF65-F5344CB8AC3E}">
        <p14:creationId xmlns:p14="http://schemas.microsoft.com/office/powerpoint/2010/main" val="10019437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FBD65-598B-D1E4-A24E-979B67946EF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BFA198DE-4028-8810-F5D8-D12B9396CB9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Institutional Setting</a:t>
            </a:r>
          </a:p>
        </p:txBody>
      </p:sp>
      <p:sp>
        <p:nvSpPr>
          <p:cNvPr id="4" name="object 3">
            <a:extLst>
              <a:ext uri="{FF2B5EF4-FFF2-40B4-BE49-F238E27FC236}">
                <a16:creationId xmlns:a16="http://schemas.microsoft.com/office/drawing/2014/main" id="{52E59C9C-1E43-4076-2D03-03B7A6D8399D}"/>
              </a:ext>
            </a:extLst>
          </p:cNvPr>
          <p:cNvSpPr txBox="1"/>
          <p:nvPr/>
        </p:nvSpPr>
        <p:spPr>
          <a:xfrm>
            <a:off x="104775" y="587375"/>
            <a:ext cx="5777953" cy="2167838"/>
          </a:xfrm>
          <a:prstGeom prst="rect">
            <a:avLst/>
          </a:prstGeom>
        </p:spPr>
        <p:txBody>
          <a:bodyPr vert="horz" wrap="square" lIns="0" tIns="12065" rIns="0" bIns="0" rtlCol="0">
            <a:spAutoFit/>
          </a:bodyPr>
          <a:lstStyle/>
          <a:p>
            <a:pPr marL="161925" indent="-149225">
              <a:lnSpc>
                <a:spcPct val="114000"/>
              </a:lnSpc>
              <a:spcBef>
                <a:spcPts val="800"/>
              </a:spcBef>
              <a:spcAft>
                <a:spcPts val="800"/>
              </a:spcAft>
              <a:buAutoNum type="arabicPeriod"/>
              <a:tabLst>
                <a:tab pos="161925" algn="l"/>
              </a:tabLst>
            </a:pPr>
            <a:r>
              <a:rPr lang="en-US" sz="1100" spc="-10" dirty="0">
                <a:latin typeface="Arial"/>
                <a:cs typeface="Arial"/>
              </a:rPr>
              <a:t>Before the FY begins, federal government estimates size of grants, along with a monthly disbursement calendar. </a:t>
            </a:r>
          </a:p>
          <a:p>
            <a:pPr marL="161925" indent="-149225">
              <a:lnSpc>
                <a:spcPct val="114000"/>
              </a:lnSpc>
              <a:spcBef>
                <a:spcPts val="800"/>
              </a:spcBef>
              <a:spcAft>
                <a:spcPts val="800"/>
              </a:spcAft>
              <a:buAutoNum type="arabicPeriod"/>
              <a:tabLst>
                <a:tab pos="161925" algn="l"/>
              </a:tabLst>
            </a:pPr>
            <a:r>
              <a:rPr lang="en-US" sz="1100" spc="-45" dirty="0">
                <a:latin typeface="Arial"/>
                <a:cs typeface="Arial"/>
              </a:rPr>
              <a:t>States have no say on the calendar nor participate on tax collection. </a:t>
            </a:r>
            <a:endParaRPr lang="en-US" sz="1100" dirty="0">
              <a:latin typeface="Arial"/>
              <a:cs typeface="Arial"/>
            </a:endParaRPr>
          </a:p>
          <a:p>
            <a:pPr marL="161925" indent="-149225">
              <a:lnSpc>
                <a:spcPct val="114000"/>
              </a:lnSpc>
              <a:spcBef>
                <a:spcPts val="800"/>
              </a:spcBef>
              <a:spcAft>
                <a:spcPts val="800"/>
              </a:spcAft>
              <a:buAutoNum type="arabicPeriod"/>
              <a:tabLst>
                <a:tab pos="161925" algn="l"/>
              </a:tabLst>
            </a:pPr>
            <a:r>
              <a:rPr sz="1100" spc="-35" dirty="0">
                <a:latin typeface="Arial"/>
                <a:cs typeface="Arial"/>
              </a:rPr>
              <a:t>However,</a:t>
            </a:r>
            <a:r>
              <a:rPr sz="1100" dirty="0">
                <a:latin typeface="Arial"/>
                <a:cs typeface="Arial"/>
              </a:rPr>
              <a:t> </a:t>
            </a:r>
            <a:r>
              <a:rPr lang="en-US" sz="1100" dirty="0">
                <a:latin typeface="Arial"/>
                <a:cs typeface="Arial"/>
              </a:rPr>
              <a:t>actual disbursements depend on the observed level of centralized tax collection.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spc="-35" dirty="0">
                <a:latin typeface="Arial"/>
                <a:cs typeface="Arial"/>
              </a:rPr>
              <a:t>Each </a:t>
            </a:r>
            <a:r>
              <a:rPr sz="1100" dirty="0">
                <a:latin typeface="Arial"/>
                <a:cs typeface="Arial"/>
              </a:rPr>
              <a:t>month</a:t>
            </a:r>
            <a:r>
              <a:rPr sz="1100" spc="5" dirty="0">
                <a:latin typeface="Arial"/>
                <a:cs typeface="Arial"/>
              </a:rPr>
              <a:t> </a:t>
            </a:r>
            <a:r>
              <a:rPr lang="en-US" sz="1100" spc="-10" dirty="0">
                <a:latin typeface="Arial"/>
                <a:cs typeface="Arial"/>
              </a:rPr>
              <a:t>states could </a:t>
            </a:r>
            <a:r>
              <a:rPr sz="1100" spc="-45" dirty="0">
                <a:latin typeface="Arial"/>
                <a:cs typeface="Arial"/>
              </a:rPr>
              <a:t>observe</a:t>
            </a:r>
            <a:r>
              <a:rPr sz="1100" dirty="0">
                <a:latin typeface="Arial"/>
                <a:cs typeface="Arial"/>
              </a:rPr>
              <a:t> </a:t>
            </a:r>
            <a:r>
              <a:rPr sz="1100" spc="-20" dirty="0">
                <a:latin typeface="Arial"/>
                <a:cs typeface="Arial"/>
              </a:rPr>
              <a:t>deviations</a:t>
            </a:r>
            <a:r>
              <a:rPr sz="1100" spc="5" dirty="0">
                <a:latin typeface="Arial"/>
                <a:cs typeface="Arial"/>
              </a:rPr>
              <a:t> </a:t>
            </a:r>
            <a:r>
              <a:rPr sz="1100" dirty="0">
                <a:latin typeface="Arial"/>
                <a:cs typeface="Arial"/>
              </a:rPr>
              <a:t>from </a:t>
            </a:r>
            <a:r>
              <a:rPr lang="en-US" sz="1100" spc="-10" dirty="0">
                <a:latin typeface="Arial"/>
                <a:cs typeface="Arial"/>
              </a:rPr>
              <a:t>their</a:t>
            </a:r>
            <a:r>
              <a:rPr sz="1100" spc="5" dirty="0">
                <a:latin typeface="Arial"/>
                <a:cs typeface="Arial"/>
              </a:rPr>
              <a:t> </a:t>
            </a:r>
            <a:r>
              <a:rPr sz="1100" spc="-25" dirty="0">
                <a:latin typeface="Arial"/>
                <a:cs typeface="Arial"/>
              </a:rPr>
              <a:t>budgeted</a:t>
            </a:r>
            <a:r>
              <a:rPr sz="1100" dirty="0">
                <a:latin typeface="Arial"/>
                <a:cs typeface="Arial"/>
              </a:rPr>
              <a:t> </a:t>
            </a:r>
            <a:r>
              <a:rPr lang="en-US" sz="1100" spc="-10" dirty="0">
                <a:latin typeface="Arial"/>
                <a:cs typeface="Arial"/>
              </a:rPr>
              <a:t>transfers. </a:t>
            </a:r>
            <a:endParaRPr sz="1100" dirty="0">
              <a:latin typeface="Arial"/>
              <a:cs typeface="Arial"/>
            </a:endParaRPr>
          </a:p>
          <a:p>
            <a:pPr marL="161925" indent="-149225">
              <a:lnSpc>
                <a:spcPct val="114000"/>
              </a:lnSpc>
              <a:spcBef>
                <a:spcPts val="800"/>
              </a:spcBef>
              <a:spcAft>
                <a:spcPts val="800"/>
              </a:spcAft>
              <a:buAutoNum type="arabicPeriod"/>
              <a:tabLst>
                <a:tab pos="161925" algn="l"/>
              </a:tabLst>
            </a:pPr>
            <a:r>
              <a:rPr lang="en-US" sz="1100" b="1" spc="-35" dirty="0">
                <a:latin typeface="Arial"/>
                <a:cs typeface="Arial"/>
              </a:rPr>
              <a:t>Key: </a:t>
            </a:r>
            <a:r>
              <a:rPr lang="en-US" sz="1100" spc="-35" dirty="0">
                <a:latin typeface="Arial"/>
                <a:cs typeface="Arial"/>
              </a:rPr>
              <a:t>direction and magnitude of these deviations mimics a lottery. For some states, deviations could be positive/negative, regardless of the difference observed at the national level. </a:t>
            </a:r>
          </a:p>
        </p:txBody>
      </p:sp>
    </p:spTree>
    <p:extLst>
      <p:ext uri="{BB962C8B-B14F-4D97-AF65-F5344CB8AC3E}">
        <p14:creationId xmlns:p14="http://schemas.microsoft.com/office/powerpoint/2010/main" val="2665628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077DCD3A-DC27-0B44-B2A8-41D15F5E7978}"/>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spTree>
    <p:extLst>
      <p:ext uri="{BB962C8B-B14F-4D97-AF65-F5344CB8AC3E}">
        <p14:creationId xmlns:p14="http://schemas.microsoft.com/office/powerpoint/2010/main" val="2831137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7B264-1D05-5ADD-D6BA-F21312627D6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3EF0CAB-A7AC-DAC7-7838-E548E88B938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C5210701-2FC7-A57F-F1A6-60AB7715EC05}"/>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pic>
        <p:nvPicPr>
          <p:cNvPr id="6" name="Picture 5" descr="A comparison of graphs showing the cost of a budget&#10;&#10;Description automatically generated with medium confidence">
            <a:extLst>
              <a:ext uri="{FF2B5EF4-FFF2-40B4-BE49-F238E27FC236}">
                <a16:creationId xmlns:a16="http://schemas.microsoft.com/office/drawing/2014/main" id="{0D148811-D86E-A190-E841-4A81D393C69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621" y="542263"/>
            <a:ext cx="5334000" cy="2667001"/>
          </a:xfrm>
          <a:prstGeom prst="rect">
            <a:avLst/>
          </a:prstGeom>
        </p:spPr>
      </p:pic>
      <p:sp>
        <p:nvSpPr>
          <p:cNvPr id="3" name="Rectangle 2">
            <a:extLst>
              <a:ext uri="{FF2B5EF4-FFF2-40B4-BE49-F238E27FC236}">
                <a16:creationId xmlns:a16="http://schemas.microsoft.com/office/drawing/2014/main" id="{A8D191CC-E9BC-57CE-6E46-0CCF4667378F}"/>
              </a:ext>
            </a:extLst>
          </p:cNvPr>
          <p:cNvSpPr/>
          <p:nvPr/>
        </p:nvSpPr>
        <p:spPr>
          <a:xfrm>
            <a:off x="2771621" y="542263"/>
            <a:ext cx="3276908" cy="2593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9390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4DE9-19B5-9AF0-94F5-3043E5BEDB2E}"/>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31F70BB-5908-6C83-FEA6-6A06D9968B4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Plausible Exogenous Variation: FGP error</a:t>
            </a:r>
          </a:p>
        </p:txBody>
      </p:sp>
      <p:sp>
        <p:nvSpPr>
          <p:cNvPr id="2" name="object 3">
            <a:extLst>
              <a:ext uri="{FF2B5EF4-FFF2-40B4-BE49-F238E27FC236}">
                <a16:creationId xmlns:a16="http://schemas.microsoft.com/office/drawing/2014/main" id="{D99D3E93-4DA8-16C8-FF2B-3FEAEF308C6D}"/>
              </a:ext>
            </a:extLst>
          </p:cNvPr>
          <p:cNvSpPr txBox="1"/>
          <p:nvPr/>
        </p:nvSpPr>
        <p:spPr>
          <a:xfrm>
            <a:off x="104621" y="324497"/>
            <a:ext cx="6083042" cy="189091"/>
          </a:xfrm>
          <a:prstGeom prst="rect">
            <a:avLst/>
          </a:prstGeom>
        </p:spPr>
        <p:txBody>
          <a:bodyPr vert="horz" wrap="square" lIns="0" tIns="12065" rIns="0" bIns="0" rtlCol="0">
            <a:spAutoFit/>
          </a:bodyPr>
          <a:lstStyle/>
          <a:p>
            <a:pPr>
              <a:lnSpc>
                <a:spcPct val="114000"/>
              </a:lnSpc>
              <a:spcBef>
                <a:spcPts val="600"/>
              </a:spcBef>
              <a:spcAft>
                <a:spcPts val="600"/>
              </a:spcAft>
            </a:pPr>
            <a:r>
              <a:rPr lang="en-US" sz="1100" b="1" spc="-25" dirty="0">
                <a:latin typeface="Arial"/>
                <a:cs typeface="Arial"/>
              </a:rPr>
              <a:t>FGP Error:</a:t>
            </a:r>
            <a:r>
              <a:rPr lang="en-US" sz="1100" spc="-25" dirty="0">
                <a:latin typeface="Arial"/>
                <a:cs typeface="Arial"/>
              </a:rPr>
              <a:t> Difference</a:t>
            </a:r>
            <a:r>
              <a:rPr lang="en-US" sz="1100" spc="10" dirty="0">
                <a:latin typeface="Arial"/>
                <a:cs typeface="Arial"/>
              </a:rPr>
              <a:t> </a:t>
            </a:r>
            <a:r>
              <a:rPr lang="en-US" sz="1100" spc="-35" dirty="0">
                <a:latin typeface="Arial"/>
                <a:cs typeface="Arial"/>
              </a:rPr>
              <a:t>between</a:t>
            </a:r>
            <a:r>
              <a:rPr lang="en-US" sz="1100" spc="15" dirty="0">
                <a:latin typeface="Arial"/>
                <a:cs typeface="Arial"/>
              </a:rPr>
              <a:t> </a:t>
            </a:r>
            <a:r>
              <a:rPr lang="en-US" sz="1100" dirty="0">
                <a:latin typeface="Arial"/>
                <a:cs typeface="Arial"/>
              </a:rPr>
              <a:t>the</a:t>
            </a:r>
            <a:r>
              <a:rPr lang="en-US" sz="1100" spc="10" dirty="0">
                <a:latin typeface="Arial"/>
                <a:cs typeface="Arial"/>
              </a:rPr>
              <a:t> </a:t>
            </a:r>
            <a:r>
              <a:rPr lang="en-US" sz="1100" spc="-25" dirty="0">
                <a:latin typeface="Arial"/>
                <a:cs typeface="Arial"/>
              </a:rPr>
              <a:t>budgeted</a:t>
            </a:r>
            <a:r>
              <a:rPr lang="en-US" sz="1100" spc="15" dirty="0">
                <a:latin typeface="Arial"/>
                <a:cs typeface="Arial"/>
              </a:rPr>
              <a:t> </a:t>
            </a:r>
            <a:r>
              <a:rPr lang="en-US" sz="1100" spc="-10" dirty="0">
                <a:latin typeface="Arial"/>
                <a:cs typeface="Arial"/>
              </a:rPr>
              <a:t>amount</a:t>
            </a:r>
            <a:r>
              <a:rPr lang="en-US" sz="1100" spc="15" dirty="0">
                <a:latin typeface="Arial"/>
                <a:cs typeface="Arial"/>
              </a:rPr>
              <a:t> </a:t>
            </a:r>
            <a:r>
              <a:rPr lang="en-US" sz="1100" spc="-10" dirty="0">
                <a:latin typeface="Arial"/>
                <a:cs typeface="Arial"/>
              </a:rPr>
              <a:t>and</a:t>
            </a:r>
            <a:r>
              <a:rPr lang="en-US" sz="1100" spc="10" dirty="0">
                <a:latin typeface="Arial"/>
                <a:cs typeface="Arial"/>
              </a:rPr>
              <a:t> </a:t>
            </a:r>
            <a:r>
              <a:rPr lang="en-US" sz="1100" spc="-45" dirty="0">
                <a:latin typeface="Arial"/>
                <a:cs typeface="Arial"/>
              </a:rPr>
              <a:t>observed</a:t>
            </a:r>
            <a:r>
              <a:rPr lang="en-US" sz="1100" spc="15" dirty="0">
                <a:latin typeface="Arial"/>
                <a:cs typeface="Arial"/>
              </a:rPr>
              <a:t> </a:t>
            </a:r>
            <a:r>
              <a:rPr lang="en-US" sz="1100" dirty="0">
                <a:latin typeface="Arial"/>
                <a:cs typeface="Arial"/>
              </a:rPr>
              <a:t>transfer within</a:t>
            </a:r>
            <a:r>
              <a:rPr lang="en-US" sz="1100" spc="20" dirty="0">
                <a:latin typeface="Arial"/>
                <a:cs typeface="Arial"/>
              </a:rPr>
              <a:t> </a:t>
            </a:r>
            <a:r>
              <a:rPr lang="en-US" sz="1100" dirty="0">
                <a:latin typeface="Arial"/>
                <a:cs typeface="Arial"/>
              </a:rPr>
              <a:t>the</a:t>
            </a:r>
            <a:r>
              <a:rPr lang="en-US" sz="1100" spc="25" dirty="0">
                <a:latin typeface="Arial"/>
                <a:cs typeface="Arial"/>
              </a:rPr>
              <a:t> </a:t>
            </a:r>
            <a:r>
              <a:rPr lang="en-US" sz="1100" spc="-60" dirty="0">
                <a:latin typeface="Arial"/>
                <a:cs typeface="Arial"/>
              </a:rPr>
              <a:t>same</a:t>
            </a:r>
            <a:r>
              <a:rPr lang="en-US" sz="1100" spc="25" dirty="0">
                <a:latin typeface="Arial"/>
                <a:cs typeface="Arial"/>
              </a:rPr>
              <a:t> </a:t>
            </a:r>
            <a:r>
              <a:rPr lang="en-US" sz="1100" spc="-10" dirty="0">
                <a:latin typeface="Arial"/>
                <a:cs typeface="Arial"/>
              </a:rPr>
              <a:t>FY</a:t>
            </a:r>
            <a:endParaRPr lang="en-US" sz="1100" dirty="0">
              <a:latin typeface="Arial"/>
              <a:cs typeface="Arial"/>
            </a:endParaRPr>
          </a:p>
        </p:txBody>
      </p:sp>
      <p:pic>
        <p:nvPicPr>
          <p:cNvPr id="6" name="Picture 5" descr="A comparison of graphs showing the cost of a budget&#10;&#10;Description automatically generated with medium confidence">
            <a:extLst>
              <a:ext uri="{FF2B5EF4-FFF2-40B4-BE49-F238E27FC236}">
                <a16:creationId xmlns:a16="http://schemas.microsoft.com/office/drawing/2014/main" id="{E5E7A10F-1273-D0D1-6739-D541DBC24A4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621" y="542263"/>
            <a:ext cx="5334000" cy="266700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678520-CF79-EF96-6944-BB79FA0F28B7}"/>
                  </a:ext>
                </a:extLst>
              </p:cNvPr>
              <p:cNvSpPr txBox="1"/>
              <p:nvPr/>
            </p:nvSpPr>
            <p:spPr>
              <a:xfrm>
                <a:off x="2847975" y="739775"/>
                <a:ext cx="2209800" cy="1231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𝐹𝐺𝑃𝐸𝑟𝑟𝑜</m:t>
                      </m:r>
                      <m:sSub>
                        <m:sSubPr>
                          <m:ctrlPr>
                            <a:rPr lang="en-US" sz="800" b="0" i="1" smtClean="0">
                              <a:latin typeface="Cambria Math" panose="02040503050406030204" pitchFamily="18" charset="0"/>
                            </a:rPr>
                          </m:ctrlPr>
                        </m:sSubPr>
                        <m:e>
                          <m:r>
                            <a:rPr lang="en-US" sz="800" b="0" i="1" smtClean="0">
                              <a:latin typeface="Cambria Math" panose="02040503050406030204" pitchFamily="18" charset="0"/>
                            </a:rPr>
                            <m:t>𝑟</m:t>
                          </m:r>
                        </m:e>
                        <m:sub>
                          <m:r>
                            <a:rPr lang="en-US" sz="800" b="0" i="1" smtClean="0">
                              <a:latin typeface="Cambria Math" panose="02040503050406030204" pitchFamily="18" charset="0"/>
                            </a:rPr>
                            <m:t>𝑖𝑡</m:t>
                          </m:r>
                        </m:sub>
                      </m:sSub>
                      <m:r>
                        <a:rPr lang="en-US" sz="800" b="0" i="1" smtClean="0">
                          <a:latin typeface="Cambria Math" panose="02040503050406030204" pitchFamily="18" charset="0"/>
                        </a:rPr>
                        <m:t>=</m:t>
                      </m:r>
                      <m:r>
                        <a:rPr lang="en-US" sz="800" b="0" i="1" smtClean="0">
                          <a:solidFill>
                            <a:srgbClr val="0070C0"/>
                          </a:solidFill>
                          <a:latin typeface="Cambria Math" panose="02040503050406030204" pitchFamily="18" charset="0"/>
                        </a:rPr>
                        <m:t>𝐹𝐺𝑃𝑃𝑎𝑖</m:t>
                      </m:r>
                      <m:sSub>
                        <m:sSubPr>
                          <m:ctrlPr>
                            <a:rPr lang="en-US" sz="800" b="0" i="1" smtClean="0">
                              <a:solidFill>
                                <a:srgbClr val="0070C0"/>
                              </a:solidFill>
                              <a:latin typeface="Cambria Math" panose="02040503050406030204" pitchFamily="18" charset="0"/>
                            </a:rPr>
                          </m:ctrlPr>
                        </m:sSubPr>
                        <m:e>
                          <m:r>
                            <a:rPr lang="en-US" sz="800" b="0" i="1" smtClean="0">
                              <a:solidFill>
                                <a:srgbClr val="0070C0"/>
                              </a:solidFill>
                              <a:latin typeface="Cambria Math" panose="02040503050406030204" pitchFamily="18" charset="0"/>
                            </a:rPr>
                            <m:t>𝑑</m:t>
                          </m:r>
                        </m:e>
                        <m:sub>
                          <m:r>
                            <a:rPr lang="en-US" sz="800" b="0" i="1" smtClean="0">
                              <a:solidFill>
                                <a:srgbClr val="0070C0"/>
                              </a:solidFill>
                              <a:latin typeface="Cambria Math" panose="02040503050406030204" pitchFamily="18" charset="0"/>
                            </a:rPr>
                            <m:t>𝑖𝑡</m:t>
                          </m:r>
                        </m:sub>
                      </m:sSub>
                      <m:r>
                        <a:rPr lang="en-US" sz="800" b="0" i="1" smtClean="0">
                          <a:latin typeface="Cambria Math" panose="02040503050406030204" pitchFamily="18" charset="0"/>
                        </a:rPr>
                        <m:t>−</m:t>
                      </m:r>
                      <m:r>
                        <a:rPr lang="en-US" sz="800" b="0" i="1" smtClean="0">
                          <a:solidFill>
                            <a:srgbClr val="690204"/>
                          </a:solidFill>
                          <a:latin typeface="Cambria Math" panose="02040503050406030204" pitchFamily="18" charset="0"/>
                        </a:rPr>
                        <m:t>𝐹𝐺𝑃𝐵𝑢𝑑𝑔𝑒</m:t>
                      </m:r>
                      <m:sSub>
                        <m:sSubPr>
                          <m:ctrlPr>
                            <a:rPr lang="en-US" sz="800" b="0" i="1" smtClean="0">
                              <a:solidFill>
                                <a:srgbClr val="690204"/>
                              </a:solidFill>
                              <a:latin typeface="Cambria Math" panose="02040503050406030204" pitchFamily="18" charset="0"/>
                            </a:rPr>
                          </m:ctrlPr>
                        </m:sSubPr>
                        <m:e>
                          <m:r>
                            <a:rPr lang="en-US" sz="800" b="0" i="1" smtClean="0">
                              <a:solidFill>
                                <a:srgbClr val="690204"/>
                              </a:solidFill>
                              <a:latin typeface="Cambria Math" panose="02040503050406030204" pitchFamily="18" charset="0"/>
                            </a:rPr>
                            <m:t>𝑡</m:t>
                          </m:r>
                        </m:e>
                        <m:sub>
                          <m:r>
                            <a:rPr lang="en-US" sz="800" b="0" i="1" smtClean="0">
                              <a:solidFill>
                                <a:srgbClr val="690204"/>
                              </a:solidFill>
                              <a:latin typeface="Cambria Math" panose="02040503050406030204" pitchFamily="18" charset="0"/>
                            </a:rPr>
                            <m:t>𝑖𝑡</m:t>
                          </m:r>
                        </m:sub>
                      </m:sSub>
                    </m:oMath>
                  </m:oMathPara>
                </a14:m>
                <a:endParaRPr lang="en-US" sz="800" dirty="0"/>
              </a:p>
            </p:txBody>
          </p:sp>
        </mc:Choice>
        <mc:Fallback xmlns="">
          <p:sp>
            <p:nvSpPr>
              <p:cNvPr id="8" name="TextBox 7">
                <a:extLst>
                  <a:ext uri="{FF2B5EF4-FFF2-40B4-BE49-F238E27FC236}">
                    <a16:creationId xmlns:a16="http://schemas.microsoft.com/office/drawing/2014/main" id="{0C7D9D5A-423A-5E44-0A66-C325DAACBEF7}"/>
                  </a:ext>
                </a:extLst>
              </p:cNvPr>
              <p:cNvSpPr txBox="1">
                <a:spLocks noRot="1" noChangeAspect="1" noMove="1" noResize="1" noEditPoints="1" noAdjustHandles="1" noChangeArrowheads="1" noChangeShapeType="1" noTextEdit="1"/>
              </p:cNvSpPr>
              <p:nvPr/>
            </p:nvSpPr>
            <p:spPr>
              <a:xfrm>
                <a:off x="2847975" y="739775"/>
                <a:ext cx="2209800" cy="123111"/>
              </a:xfrm>
              <a:prstGeom prst="rect">
                <a:avLst/>
              </a:prstGeom>
              <a:blipFill>
                <a:blip r:embed="rId4"/>
                <a:stretch>
                  <a:fillRect b="-36364"/>
                </a:stretch>
              </a:blipFill>
            </p:spPr>
            <p:txBody>
              <a:bodyPr/>
              <a:lstStyle/>
              <a:p>
                <a:r>
                  <a:rPr lang="en-US">
                    <a:noFill/>
                  </a:rPr>
                  <a:t> </a:t>
                </a:r>
              </a:p>
            </p:txBody>
          </p:sp>
        </mc:Fallback>
      </mc:AlternateContent>
    </p:spTree>
    <p:extLst>
      <p:ext uri="{BB962C8B-B14F-4D97-AF65-F5344CB8AC3E}">
        <p14:creationId xmlns:p14="http://schemas.microsoft.com/office/powerpoint/2010/main" val="2316606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5455C-83F1-3D70-C6A3-285DE818E1E2}"/>
            </a:ext>
          </a:extLst>
        </p:cNvPr>
        <p:cNvGrpSpPr/>
        <p:nvPr/>
      </p:nvGrpSpPr>
      <p:grpSpPr>
        <a:xfrm>
          <a:off x="0" y="0"/>
          <a:ext cx="0" cy="0"/>
          <a:chOff x="0" y="0"/>
          <a:chExt cx="0" cy="0"/>
        </a:xfrm>
      </p:grpSpPr>
      <p:pic>
        <p:nvPicPr>
          <p:cNvPr id="5" name="Picture 4" descr="A close-up of a graph&#10;&#10;Description automatically generated">
            <a:extLst>
              <a:ext uri="{FF2B5EF4-FFF2-40B4-BE49-F238E27FC236}">
                <a16:creationId xmlns:a16="http://schemas.microsoft.com/office/drawing/2014/main" id="{D3E00039-AC26-B0B0-4768-87D61D61D58E}"/>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7175" y="276207"/>
            <a:ext cx="5435432" cy="2717716"/>
          </a:xfrm>
          <a:prstGeom prst="rect">
            <a:avLst/>
          </a:prstGeom>
        </p:spPr>
      </p:pic>
      <p:sp>
        <p:nvSpPr>
          <p:cNvPr id="4" name="object 5">
            <a:extLst>
              <a:ext uri="{FF2B5EF4-FFF2-40B4-BE49-F238E27FC236}">
                <a16:creationId xmlns:a16="http://schemas.microsoft.com/office/drawing/2014/main" id="{53A52574-F7D1-AED2-CAEB-602823A1CDE9}"/>
              </a:ext>
            </a:extLst>
          </p:cNvPr>
          <p:cNvSpPr txBox="1"/>
          <p:nvPr/>
        </p:nvSpPr>
        <p:spPr>
          <a:xfrm>
            <a:off x="28343" y="2869571"/>
            <a:ext cx="6124807" cy="278731"/>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difference between aggregated (national) FGP error and the average state FGP error. The panel on the right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a:t>
            </a:r>
          </a:p>
        </p:txBody>
      </p:sp>
      <p:sp>
        <p:nvSpPr>
          <p:cNvPr id="6" name="object 3">
            <a:extLst>
              <a:ext uri="{FF2B5EF4-FFF2-40B4-BE49-F238E27FC236}">
                <a16:creationId xmlns:a16="http://schemas.microsoft.com/office/drawing/2014/main" id="{AD1A42A7-F1F0-AF87-042E-120AF970003F}"/>
              </a:ext>
            </a:extLst>
          </p:cNvPr>
          <p:cNvSpPr txBox="1"/>
          <p:nvPr/>
        </p:nvSpPr>
        <p:spPr>
          <a:xfrm>
            <a:off x="3228975" y="466827"/>
            <a:ext cx="2438400" cy="227626"/>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700" spc="-45" dirty="0">
                <a:solidFill>
                  <a:srgbClr val="990000"/>
                </a:solidFill>
                <a:latin typeface="Arial"/>
                <a:cs typeface="Arial"/>
              </a:rPr>
              <a:t>In any given month, some states FGP error could be positive or negative, regardless of the national error. </a:t>
            </a:r>
          </a:p>
        </p:txBody>
      </p:sp>
      <p:sp>
        <p:nvSpPr>
          <p:cNvPr id="8" name="object 2">
            <a:extLst>
              <a:ext uri="{FF2B5EF4-FFF2-40B4-BE49-F238E27FC236}">
                <a16:creationId xmlns:a16="http://schemas.microsoft.com/office/drawing/2014/main" id="{E273E412-3EC1-F596-69A5-CA215634A40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 2018-2022</a:t>
            </a:r>
          </a:p>
        </p:txBody>
      </p:sp>
      <p:sp>
        <p:nvSpPr>
          <p:cNvPr id="2" name="Rectangle 1">
            <a:extLst>
              <a:ext uri="{FF2B5EF4-FFF2-40B4-BE49-F238E27FC236}">
                <a16:creationId xmlns:a16="http://schemas.microsoft.com/office/drawing/2014/main" id="{7C1EFF6D-B4C3-200B-E53E-5AD794C0E681}"/>
              </a:ext>
            </a:extLst>
          </p:cNvPr>
          <p:cNvSpPr/>
          <p:nvPr/>
        </p:nvSpPr>
        <p:spPr>
          <a:xfrm>
            <a:off x="2998134" y="282575"/>
            <a:ext cx="3155016" cy="26028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090809C-DB51-50D3-4255-1F313D8935F1}"/>
              </a:ext>
            </a:extLst>
          </p:cNvPr>
          <p:cNvSpPr txBox="1"/>
          <p:nvPr/>
        </p:nvSpPr>
        <p:spPr>
          <a:xfrm>
            <a:off x="397342" y="433240"/>
            <a:ext cx="2460625" cy="369332"/>
          </a:xfrm>
          <a:prstGeom prst="rect">
            <a:avLst/>
          </a:prstGeom>
          <a:noFill/>
        </p:spPr>
        <p:txBody>
          <a:bodyPr wrap="square">
            <a:spAutoFit/>
          </a:bodyPr>
          <a:lstStyle/>
          <a:p>
            <a:pPr marL="50801" algn="l">
              <a:spcBef>
                <a:spcPts val="600"/>
              </a:spcBef>
              <a:spcAft>
                <a:spcPts val="600"/>
              </a:spcAft>
              <a:tabLst>
                <a:tab pos="167640" algn="l"/>
              </a:tabLst>
            </a:pPr>
            <a:r>
              <a:rPr lang="en-US" sz="900" spc="-45" dirty="0">
                <a:solidFill>
                  <a:srgbClr val="990000"/>
                </a:solidFill>
                <a:latin typeface="Arial"/>
                <a:cs typeface="Arial"/>
              </a:rPr>
              <a:t>Differences between national FGP error and the median FGP error for states are not systematic.</a:t>
            </a:r>
          </a:p>
        </p:txBody>
      </p:sp>
    </p:spTree>
    <p:extLst>
      <p:ext uri="{BB962C8B-B14F-4D97-AF65-F5344CB8AC3E}">
        <p14:creationId xmlns:p14="http://schemas.microsoft.com/office/powerpoint/2010/main" val="3559535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FD9CF-EA84-6DEE-F39D-F30C7C014759}"/>
            </a:ext>
          </a:extLst>
        </p:cNvPr>
        <p:cNvGrpSpPr/>
        <p:nvPr/>
      </p:nvGrpSpPr>
      <p:grpSpPr>
        <a:xfrm>
          <a:off x="0" y="0"/>
          <a:ext cx="0" cy="0"/>
          <a:chOff x="0" y="0"/>
          <a:chExt cx="0" cy="0"/>
        </a:xfrm>
      </p:grpSpPr>
      <p:pic>
        <p:nvPicPr>
          <p:cNvPr id="5" name="Picture 4" descr="A close-up of a graph&#10;&#10;Description automatically generated">
            <a:extLst>
              <a:ext uri="{FF2B5EF4-FFF2-40B4-BE49-F238E27FC236}">
                <a16:creationId xmlns:a16="http://schemas.microsoft.com/office/drawing/2014/main" id="{A7247FE6-A60F-C7E4-9203-C4507D27B42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7175" y="276207"/>
            <a:ext cx="5435432" cy="2717716"/>
          </a:xfrm>
          <a:prstGeom prst="rect">
            <a:avLst/>
          </a:prstGeom>
        </p:spPr>
      </p:pic>
      <p:sp>
        <p:nvSpPr>
          <p:cNvPr id="4" name="object 5">
            <a:extLst>
              <a:ext uri="{FF2B5EF4-FFF2-40B4-BE49-F238E27FC236}">
                <a16:creationId xmlns:a16="http://schemas.microsoft.com/office/drawing/2014/main" id="{3BC5675C-AF6E-02E3-628E-F4A1B2A2DC98}"/>
              </a:ext>
            </a:extLst>
          </p:cNvPr>
          <p:cNvSpPr txBox="1"/>
          <p:nvPr/>
        </p:nvSpPr>
        <p:spPr>
          <a:xfrm>
            <a:off x="28343" y="2869571"/>
            <a:ext cx="6124807" cy="278731"/>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difference between aggregated (national) FGP error and the average state FGP error. The panel on the right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a:t>
            </a:r>
          </a:p>
        </p:txBody>
      </p:sp>
      <p:sp>
        <p:nvSpPr>
          <p:cNvPr id="6" name="object 3">
            <a:extLst>
              <a:ext uri="{FF2B5EF4-FFF2-40B4-BE49-F238E27FC236}">
                <a16:creationId xmlns:a16="http://schemas.microsoft.com/office/drawing/2014/main" id="{C4159809-2374-A473-86E8-7EE7F6BA699A}"/>
              </a:ext>
            </a:extLst>
          </p:cNvPr>
          <p:cNvSpPr txBox="1"/>
          <p:nvPr/>
        </p:nvSpPr>
        <p:spPr>
          <a:xfrm>
            <a:off x="3228975" y="466827"/>
            <a:ext cx="2438400" cy="289182"/>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900" spc="-45" dirty="0">
                <a:solidFill>
                  <a:srgbClr val="990000"/>
                </a:solidFill>
                <a:latin typeface="Arial"/>
                <a:cs typeface="Arial"/>
              </a:rPr>
              <a:t>In any given month, some states FGP error could be positive or negative, regardless of the national error. </a:t>
            </a:r>
          </a:p>
        </p:txBody>
      </p:sp>
      <p:sp>
        <p:nvSpPr>
          <p:cNvPr id="8" name="object 2">
            <a:extLst>
              <a:ext uri="{FF2B5EF4-FFF2-40B4-BE49-F238E27FC236}">
                <a16:creationId xmlns:a16="http://schemas.microsoft.com/office/drawing/2014/main" id="{D35D1B70-50F3-EE6C-6A6C-3B071FDB426F}"/>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 2018-2022</a:t>
            </a:r>
          </a:p>
        </p:txBody>
      </p:sp>
      <p:sp>
        <p:nvSpPr>
          <p:cNvPr id="3" name="TextBox 2">
            <a:extLst>
              <a:ext uri="{FF2B5EF4-FFF2-40B4-BE49-F238E27FC236}">
                <a16:creationId xmlns:a16="http://schemas.microsoft.com/office/drawing/2014/main" id="{BCF3104D-CBBC-9E93-F000-F8BAFED238D7}"/>
              </a:ext>
            </a:extLst>
          </p:cNvPr>
          <p:cNvSpPr txBox="1"/>
          <p:nvPr/>
        </p:nvSpPr>
        <p:spPr>
          <a:xfrm>
            <a:off x="397342" y="433240"/>
            <a:ext cx="2460625" cy="369332"/>
          </a:xfrm>
          <a:prstGeom prst="rect">
            <a:avLst/>
          </a:prstGeom>
          <a:noFill/>
        </p:spPr>
        <p:txBody>
          <a:bodyPr wrap="square">
            <a:spAutoFit/>
          </a:bodyPr>
          <a:lstStyle/>
          <a:p>
            <a:pPr marL="50801" algn="l">
              <a:spcBef>
                <a:spcPts val="600"/>
              </a:spcBef>
              <a:spcAft>
                <a:spcPts val="600"/>
              </a:spcAft>
              <a:tabLst>
                <a:tab pos="167640" algn="l"/>
              </a:tabLst>
            </a:pPr>
            <a:r>
              <a:rPr lang="en-US" sz="900" spc="-45" dirty="0">
                <a:solidFill>
                  <a:srgbClr val="990000"/>
                </a:solidFill>
                <a:latin typeface="Arial"/>
                <a:cs typeface="Arial"/>
              </a:rPr>
              <a:t>Differences between national FGP error and the median FGP error for states are not systematic.</a:t>
            </a:r>
          </a:p>
        </p:txBody>
      </p:sp>
    </p:spTree>
    <p:extLst>
      <p:ext uri="{BB962C8B-B14F-4D97-AF65-F5344CB8AC3E}">
        <p14:creationId xmlns:p14="http://schemas.microsoft.com/office/powerpoint/2010/main" val="7145245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5885-4E8B-83BA-26FA-5CCBED63C317}"/>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3627FF89-D68F-4166-F363-B5E8179B710D}"/>
              </a:ext>
            </a:extLst>
          </p:cNvPr>
          <p:cNvSpPr txBox="1"/>
          <p:nvPr/>
        </p:nvSpPr>
        <p:spPr>
          <a:xfrm>
            <a:off x="33643" y="2769461"/>
            <a:ext cx="6060198"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end-of-year cumulative difference between the FGP paid and FGP budgeted across years, expressed as percentage of discretionary revenues. The solid vertical line shows the sample mean. For illustrative purposes, dashed blue lines show the interval between +/- 10% of discretionary revenues.</a:t>
            </a:r>
          </a:p>
        </p:txBody>
      </p:sp>
      <p:pic>
        <p:nvPicPr>
          <p:cNvPr id="5" name="Picture 4" descr="A graph and a chart&#10;&#10;Description automatically generated with medium confidence">
            <a:extLst>
              <a:ext uri="{FF2B5EF4-FFF2-40B4-BE49-F238E27FC236}">
                <a16:creationId xmlns:a16="http://schemas.microsoft.com/office/drawing/2014/main" id="{4D362A9E-A27D-5D5F-3351-25426089622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174"/>
          <a:stretch/>
        </p:blipFill>
        <p:spPr>
          <a:xfrm>
            <a:off x="-16032" y="322790"/>
            <a:ext cx="2467263" cy="2475906"/>
          </a:xfrm>
          <a:prstGeom prst="rect">
            <a:avLst/>
          </a:prstGeom>
        </p:spPr>
      </p:pic>
      <p:sp>
        <p:nvSpPr>
          <p:cNvPr id="8" name="object 2">
            <a:extLst>
              <a:ext uri="{FF2B5EF4-FFF2-40B4-BE49-F238E27FC236}">
                <a16:creationId xmlns:a16="http://schemas.microsoft.com/office/drawing/2014/main" id="{10CB3999-0DD3-C33B-3655-5FCE859318B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a:t>
            </a:r>
          </a:p>
        </p:txBody>
      </p:sp>
      <p:pic>
        <p:nvPicPr>
          <p:cNvPr id="3" name="Picture 2" descr="A close-up of a graph&#10;&#10;Description automatically generated">
            <a:extLst>
              <a:ext uri="{FF2B5EF4-FFF2-40B4-BE49-F238E27FC236}">
                <a16:creationId xmlns:a16="http://schemas.microsoft.com/office/drawing/2014/main" id="{484B7CB0-CD99-8831-BB89-8FDB129B7B41}"/>
              </a:ext>
            </a:extLst>
          </p:cNvPr>
          <p:cNvPicPr>
            <a:picLocks noChangeAspect="1"/>
          </p:cNvPicPr>
          <p:nvPr/>
        </p:nvPicPr>
        <p:blipFill>
          <a:blip r:embed="rId3">
            <a:extLst>
              <a:ext uri="{28A0092B-C50C-407E-A947-70E740481C1C}">
                <a14:useLocalDpi xmlns:a14="http://schemas.microsoft.com/office/drawing/2010/main" val="0"/>
              </a:ext>
            </a:extLst>
          </a:blip>
          <a:srcRect r="48168"/>
          <a:stretch/>
        </p:blipFill>
        <p:spPr>
          <a:xfrm>
            <a:off x="3228975" y="372956"/>
            <a:ext cx="2514600" cy="2425741"/>
          </a:xfrm>
          <a:prstGeom prst="rect">
            <a:avLst/>
          </a:prstGeom>
        </p:spPr>
      </p:pic>
      <p:sp>
        <p:nvSpPr>
          <p:cNvPr id="7" name="object 3">
            <a:extLst>
              <a:ext uri="{FF2B5EF4-FFF2-40B4-BE49-F238E27FC236}">
                <a16:creationId xmlns:a16="http://schemas.microsoft.com/office/drawing/2014/main" id="{BD5F2460-3F56-D1FD-AEBB-BB116D4C853B}"/>
              </a:ext>
            </a:extLst>
          </p:cNvPr>
          <p:cNvSpPr txBox="1"/>
          <p:nvPr/>
        </p:nvSpPr>
        <p:spPr>
          <a:xfrm>
            <a:off x="4417573" y="592859"/>
            <a:ext cx="1402202" cy="627736"/>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000" spc="-45" dirty="0">
                <a:solidFill>
                  <a:schemeClr val="tx1"/>
                </a:solidFill>
                <a:latin typeface="Arial"/>
                <a:cs typeface="Arial"/>
              </a:rPr>
              <a:t>Each month, states could experience a positive or negative shock. </a:t>
            </a:r>
          </a:p>
        </p:txBody>
      </p:sp>
      <p:sp>
        <p:nvSpPr>
          <p:cNvPr id="2" name="Rectangle 1">
            <a:extLst>
              <a:ext uri="{FF2B5EF4-FFF2-40B4-BE49-F238E27FC236}">
                <a16:creationId xmlns:a16="http://schemas.microsoft.com/office/drawing/2014/main" id="{6927FF6F-2D0D-D0E2-BB42-36E1935A4E46}"/>
              </a:ext>
            </a:extLst>
          </p:cNvPr>
          <p:cNvSpPr/>
          <p:nvPr/>
        </p:nvSpPr>
        <p:spPr>
          <a:xfrm>
            <a:off x="2998134" y="282576"/>
            <a:ext cx="3155016" cy="2475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bject 3">
            <a:extLst>
              <a:ext uri="{FF2B5EF4-FFF2-40B4-BE49-F238E27FC236}">
                <a16:creationId xmlns:a16="http://schemas.microsoft.com/office/drawing/2014/main" id="{90C4ADED-EAAB-CC10-60E4-32572D51CCF1}"/>
              </a:ext>
            </a:extLst>
          </p:cNvPr>
          <p:cNvSpPr txBox="1"/>
          <p:nvPr/>
        </p:nvSpPr>
        <p:spPr>
          <a:xfrm>
            <a:off x="1603633" y="511175"/>
            <a:ext cx="1513080" cy="781624"/>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spc="-45" dirty="0">
                <a:solidFill>
                  <a:schemeClr val="tx1"/>
                </a:solidFill>
                <a:latin typeface="Arial"/>
                <a:cs typeface="Arial"/>
              </a:rPr>
              <a:t>No apparent systematic variation by states. </a:t>
            </a:r>
          </a:p>
          <a:p>
            <a:pPr marL="50801">
              <a:spcBef>
                <a:spcPts val="600"/>
              </a:spcBef>
              <a:spcAft>
                <a:spcPts val="600"/>
              </a:spcAft>
              <a:tabLst>
                <a:tab pos="167640" algn="l"/>
              </a:tabLst>
            </a:pPr>
            <a:r>
              <a:rPr lang="en-US" sz="1000" spc="-45" dirty="0">
                <a:solidFill>
                  <a:schemeClr val="tx1"/>
                </a:solidFill>
                <a:latin typeface="Arial"/>
                <a:cs typeface="Arial"/>
              </a:rPr>
              <a:t>All states face similar shocks within the same fiscal year. </a:t>
            </a:r>
          </a:p>
        </p:txBody>
      </p:sp>
    </p:spTree>
    <p:extLst>
      <p:ext uri="{BB962C8B-B14F-4D97-AF65-F5344CB8AC3E}">
        <p14:creationId xmlns:p14="http://schemas.microsoft.com/office/powerpoint/2010/main" val="1038097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33643" y="2769461"/>
            <a:ext cx="6060198" cy="368499"/>
          </a:xfrm>
          <a:prstGeom prst="rect">
            <a:avLst/>
          </a:prstGeom>
        </p:spPr>
        <p:txBody>
          <a:bodyPr vert="horz" wrap="square" lIns="0" tIns="17145" rIns="0" bIns="0" rtlCol="0">
            <a:spAutoFit/>
          </a:bodyPr>
          <a:lstStyle/>
          <a:p>
            <a:pPr marL="12700" marR="5080">
              <a:lnSpc>
                <a:spcPts val="700"/>
              </a:lnSpc>
              <a:spcBef>
                <a:spcPts val="135"/>
              </a:spcBef>
            </a:pPr>
            <a:r>
              <a:rPr lang="en-US" sz="500" b="1" spc="-10" dirty="0">
                <a:latin typeface="Arial"/>
                <a:cs typeface="Arial"/>
              </a:rPr>
              <a:t>Notes: </a:t>
            </a:r>
            <a:r>
              <a:rPr lang="en-US" sz="500" spc="-10" dirty="0">
                <a:latin typeface="Arial"/>
                <a:cs typeface="Arial"/>
              </a:rPr>
              <a:t>The panel on the left shows the distribution of the FGP timing error across time.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end-of-year cumulative difference between the FGP paid and FGP budgeted across years, expressed as percentage of discretionary revenues. The solid vertical line shows the sample mean. For illustrative purposes, dashed blue lines show the interval between +/- 10% of discretionary revenues.</a:t>
            </a:r>
          </a:p>
        </p:txBody>
      </p:sp>
      <p:pic>
        <p:nvPicPr>
          <p:cNvPr id="5" name="Picture 4" descr="A graph and a chart&#10;&#10;Description automatically generated with medium confidence">
            <a:extLst>
              <a:ext uri="{FF2B5EF4-FFF2-40B4-BE49-F238E27FC236}">
                <a16:creationId xmlns:a16="http://schemas.microsoft.com/office/drawing/2014/main" id="{68E0BEC6-39B2-7CD8-6211-1F6FF05C8F9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0174"/>
          <a:stretch/>
        </p:blipFill>
        <p:spPr>
          <a:xfrm>
            <a:off x="-16032" y="322790"/>
            <a:ext cx="2467263" cy="2475906"/>
          </a:xfrm>
          <a:prstGeom prst="rect">
            <a:avLst/>
          </a:prstGeom>
        </p:spPr>
      </p:pic>
      <p:sp>
        <p:nvSpPr>
          <p:cNvPr id="8" name="object 2">
            <a:extLst>
              <a:ext uri="{FF2B5EF4-FFF2-40B4-BE49-F238E27FC236}">
                <a16:creationId xmlns:a16="http://schemas.microsoft.com/office/drawing/2014/main" id="{FE4BB7A2-D940-FF26-1E58-9BEA72F1046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FGP Error Distribution Over Time</a:t>
            </a:r>
          </a:p>
        </p:txBody>
      </p:sp>
      <p:pic>
        <p:nvPicPr>
          <p:cNvPr id="3" name="Picture 2" descr="A close-up of a graph&#10;&#10;Description automatically generated">
            <a:extLst>
              <a:ext uri="{FF2B5EF4-FFF2-40B4-BE49-F238E27FC236}">
                <a16:creationId xmlns:a16="http://schemas.microsoft.com/office/drawing/2014/main" id="{99DF40A3-D247-7E6A-06BD-DE4CA7B01787}"/>
              </a:ext>
            </a:extLst>
          </p:cNvPr>
          <p:cNvPicPr>
            <a:picLocks noChangeAspect="1"/>
          </p:cNvPicPr>
          <p:nvPr/>
        </p:nvPicPr>
        <p:blipFill>
          <a:blip r:embed="rId3">
            <a:extLst>
              <a:ext uri="{28A0092B-C50C-407E-A947-70E740481C1C}">
                <a14:useLocalDpi xmlns:a14="http://schemas.microsoft.com/office/drawing/2010/main" val="0"/>
              </a:ext>
            </a:extLst>
          </a:blip>
          <a:srcRect r="48168"/>
          <a:stretch/>
        </p:blipFill>
        <p:spPr>
          <a:xfrm>
            <a:off x="3228975" y="372956"/>
            <a:ext cx="2514600" cy="2425741"/>
          </a:xfrm>
          <a:prstGeom prst="rect">
            <a:avLst/>
          </a:prstGeom>
        </p:spPr>
      </p:pic>
      <p:sp>
        <p:nvSpPr>
          <p:cNvPr id="7" name="object 3">
            <a:extLst>
              <a:ext uri="{FF2B5EF4-FFF2-40B4-BE49-F238E27FC236}">
                <a16:creationId xmlns:a16="http://schemas.microsoft.com/office/drawing/2014/main" id="{44A9EA44-6A20-F6F8-CC48-A2C5DE6AF77D}"/>
              </a:ext>
            </a:extLst>
          </p:cNvPr>
          <p:cNvSpPr txBox="1"/>
          <p:nvPr/>
        </p:nvSpPr>
        <p:spPr>
          <a:xfrm>
            <a:off x="4219575" y="587375"/>
            <a:ext cx="1381390" cy="473848"/>
          </a:xfrm>
          <a:prstGeom prst="rect">
            <a:avLst/>
          </a:prstGeom>
        </p:spPr>
        <p:txBody>
          <a:bodyPr vert="horz" wrap="square" lIns="0" tIns="12065" rIns="0" bIns="0" rtlCol="0">
            <a:spAutoFit/>
          </a:bodyPr>
          <a:lstStyle/>
          <a:p>
            <a:pPr marL="50801" algn="r">
              <a:spcBef>
                <a:spcPts val="600"/>
              </a:spcBef>
              <a:spcAft>
                <a:spcPts val="600"/>
              </a:spcAft>
              <a:tabLst>
                <a:tab pos="167640" algn="l"/>
              </a:tabLst>
            </a:pPr>
            <a:r>
              <a:rPr lang="en-US" sz="1000" spc="-45" dirty="0">
                <a:solidFill>
                  <a:schemeClr val="tx1"/>
                </a:solidFill>
                <a:latin typeface="Arial"/>
                <a:cs typeface="Arial"/>
              </a:rPr>
              <a:t>Each month, states could experience a positive or negative shock. </a:t>
            </a:r>
          </a:p>
        </p:txBody>
      </p:sp>
      <p:sp>
        <p:nvSpPr>
          <p:cNvPr id="2" name="object 3">
            <a:extLst>
              <a:ext uri="{FF2B5EF4-FFF2-40B4-BE49-F238E27FC236}">
                <a16:creationId xmlns:a16="http://schemas.microsoft.com/office/drawing/2014/main" id="{40108BDF-12C1-0249-DF50-4F3F6126CB2D}"/>
              </a:ext>
            </a:extLst>
          </p:cNvPr>
          <p:cNvSpPr txBox="1"/>
          <p:nvPr/>
        </p:nvSpPr>
        <p:spPr>
          <a:xfrm>
            <a:off x="1603633" y="511175"/>
            <a:ext cx="1513080" cy="781624"/>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spc="-45" dirty="0">
                <a:solidFill>
                  <a:schemeClr val="tx1"/>
                </a:solidFill>
                <a:latin typeface="Arial"/>
                <a:cs typeface="Arial"/>
              </a:rPr>
              <a:t>No apparent systematic variation by states. </a:t>
            </a:r>
          </a:p>
          <a:p>
            <a:pPr marL="50801">
              <a:spcBef>
                <a:spcPts val="600"/>
              </a:spcBef>
              <a:spcAft>
                <a:spcPts val="600"/>
              </a:spcAft>
              <a:tabLst>
                <a:tab pos="167640" algn="l"/>
              </a:tabLst>
            </a:pPr>
            <a:r>
              <a:rPr lang="en-US" sz="1000" spc="-45" dirty="0">
                <a:solidFill>
                  <a:schemeClr val="tx1"/>
                </a:solidFill>
                <a:latin typeface="Arial"/>
                <a:cs typeface="Arial"/>
              </a:rPr>
              <a:t>All states face similar shocks within the same fiscal year. </a:t>
            </a:r>
          </a:p>
        </p:txBody>
      </p:sp>
    </p:spTree>
    <p:extLst>
      <p:ext uri="{BB962C8B-B14F-4D97-AF65-F5344CB8AC3E}">
        <p14:creationId xmlns:p14="http://schemas.microsoft.com/office/powerpoint/2010/main" val="19161248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Design</a:t>
            </a:r>
          </a:p>
        </p:txBody>
      </p:sp>
      <p:grpSp>
        <p:nvGrpSpPr>
          <p:cNvPr id="13" name="Group 12">
            <a:extLst>
              <a:ext uri="{FF2B5EF4-FFF2-40B4-BE49-F238E27FC236}">
                <a16:creationId xmlns:a16="http://schemas.microsoft.com/office/drawing/2014/main" id="{EE528FE6-EB51-A00B-E398-A2DE9E505DE8}"/>
              </a:ext>
            </a:extLst>
          </p:cNvPr>
          <p:cNvGrpSpPr/>
          <p:nvPr/>
        </p:nvGrpSpPr>
        <p:grpSpPr>
          <a:xfrm>
            <a:off x="171378" y="358775"/>
            <a:ext cx="5810394" cy="1296028"/>
            <a:chOff x="714375" y="1120775"/>
            <a:chExt cx="4476115" cy="763122"/>
          </a:xfrm>
        </p:grpSpPr>
        <p:sp>
          <p:nvSpPr>
            <p:cNvPr id="14" name="object 3">
              <a:extLst>
                <a:ext uri="{FF2B5EF4-FFF2-40B4-BE49-F238E27FC236}">
                  <a16:creationId xmlns:a16="http://schemas.microsoft.com/office/drawing/2014/main" id="{63DF4884-CEA9-3457-A2C3-F34F8A018BC1}"/>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12F8FAAE-AAC7-7723-4820-22651DD9BE93}"/>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IV Design: Fixed-Effects 2SLS Estimator + Robust-Clustered Standard Errors (State Level)  </a:t>
              </a:r>
              <a:endParaRPr sz="1000" dirty="0">
                <a:latin typeface="Tahoma"/>
                <a:cs typeface="Tahoma"/>
              </a:endParaRPr>
            </a:p>
          </p:txBody>
        </p:sp>
        <p:grpSp>
          <p:nvGrpSpPr>
            <p:cNvPr id="16" name="object 5">
              <a:extLst>
                <a:ext uri="{FF2B5EF4-FFF2-40B4-BE49-F238E27FC236}">
                  <a16:creationId xmlns:a16="http://schemas.microsoft.com/office/drawing/2014/main" id="{BDD99EA0-CE1C-DF67-3DB8-772AA3235A2E}"/>
                </a:ext>
              </a:extLst>
            </p:cNvPr>
            <p:cNvGrpSpPr/>
            <p:nvPr/>
          </p:nvGrpSpPr>
          <p:grpSpPr>
            <a:xfrm>
              <a:off x="714375" y="1283996"/>
              <a:ext cx="4476115" cy="599901"/>
              <a:chOff x="66229" y="1425651"/>
              <a:chExt cx="4476115" cy="599901"/>
            </a:xfrm>
          </p:grpSpPr>
          <p:pic>
            <p:nvPicPr>
              <p:cNvPr id="18" name="object 6">
                <a:extLst>
                  <a:ext uri="{FF2B5EF4-FFF2-40B4-BE49-F238E27FC236}">
                    <a16:creationId xmlns:a16="http://schemas.microsoft.com/office/drawing/2014/main" id="{4795C6E8-C2E0-86B6-5637-F793B56779A7}"/>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10DF1E40-95A1-59EB-783F-E52971C767BC}"/>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241CA1A-914E-D318-17A4-6B09FAD344BA}"/>
                  </a:ext>
                </a:extLst>
              </p:cNvPr>
              <p:cNvSpPr txBox="1"/>
              <p:nvPr/>
            </p:nvSpPr>
            <p:spPr>
              <a:xfrm>
                <a:off x="963930" y="855272"/>
                <a:ext cx="363516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𝛽</m:t>
                      </m:r>
                      <m:r>
                        <a:rPr lang="en-US" sz="1200" b="0" i="1" smtClean="0">
                          <a:latin typeface="Cambria Math" panose="02040503050406030204" pitchFamily="18" charset="0"/>
                        </a:rPr>
                        <m:t>𝐹𝐺𝑃𝐸𝑟𝑟𝑜</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𝜖</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0" name="TextBox 19">
                <a:extLst>
                  <a:ext uri="{FF2B5EF4-FFF2-40B4-BE49-F238E27FC236}">
                    <a16:creationId xmlns:a16="http://schemas.microsoft.com/office/drawing/2014/main" id="{F241CA1A-914E-D318-17A4-6B09FAD344BA}"/>
                  </a:ext>
                </a:extLst>
              </p:cNvPr>
              <p:cNvSpPr txBox="1">
                <a:spLocks noRot="1" noChangeAspect="1" noMove="1" noResize="1" noEditPoints="1" noAdjustHandles="1" noChangeArrowheads="1" noChangeShapeType="1" noTextEdit="1"/>
              </p:cNvSpPr>
              <p:nvPr/>
            </p:nvSpPr>
            <p:spPr>
              <a:xfrm>
                <a:off x="963930" y="855272"/>
                <a:ext cx="3635162" cy="184666"/>
              </a:xfrm>
              <a:prstGeom prst="rect">
                <a:avLst/>
              </a:prstGeom>
              <a:blipFill>
                <a:blip r:embed="rId4"/>
                <a:stretch>
                  <a:fillRect l="-34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FD9233D-1D9A-46FB-FE8A-D00D167B3A35}"/>
                  </a:ext>
                </a:extLst>
              </p:cNvPr>
              <p:cNvSpPr txBox="1"/>
              <p:nvPr/>
            </p:nvSpPr>
            <p:spPr>
              <a:xfrm>
                <a:off x="896950" y="1370739"/>
                <a:ext cx="4358564" cy="2072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𝑂𝑢𝑡𝑆h𝑜𝑟𝑡𝑇𝑒𝑟𝑚𝐷𝑒𝑏</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𝛿</m:t>
                      </m:r>
                      <m:r>
                        <a:rPr lang="en-US" sz="1200" b="0" i="1" smtClean="0">
                          <a:latin typeface="Cambria Math" panose="02040503050406030204" pitchFamily="18" charset="0"/>
                        </a:rPr>
                        <m:t> </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e>
                      </m:acc>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𝜐</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3" name="TextBox 22">
                <a:extLst>
                  <a:ext uri="{FF2B5EF4-FFF2-40B4-BE49-F238E27FC236}">
                    <a16:creationId xmlns:a16="http://schemas.microsoft.com/office/drawing/2014/main" id="{EFD9233D-1D9A-46FB-FE8A-D00D167B3A35}"/>
                  </a:ext>
                </a:extLst>
              </p:cNvPr>
              <p:cNvSpPr txBox="1">
                <a:spLocks noRot="1" noChangeAspect="1" noMove="1" noResize="1" noEditPoints="1" noAdjustHandles="1" noChangeArrowheads="1" noChangeShapeType="1" noTextEdit="1"/>
              </p:cNvSpPr>
              <p:nvPr/>
            </p:nvSpPr>
            <p:spPr>
              <a:xfrm>
                <a:off x="896950" y="1370739"/>
                <a:ext cx="4358564" cy="207236"/>
              </a:xfrm>
              <a:prstGeom prst="rect">
                <a:avLst/>
              </a:prstGeom>
              <a:blipFill>
                <a:blip r:embed="rId5"/>
                <a:stretch>
                  <a:fillRect l="-291" t="-17647" b="-41176"/>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4F38E2B2-E8A5-9A9E-4638-59575A6D9AC6}"/>
              </a:ext>
            </a:extLst>
          </p:cNvPr>
          <p:cNvSpPr txBox="1"/>
          <p:nvPr/>
        </p:nvSpPr>
        <p:spPr>
          <a:xfrm>
            <a:off x="158465" y="609346"/>
            <a:ext cx="3138054" cy="276999"/>
          </a:xfrm>
          <a:prstGeom prst="rect">
            <a:avLst/>
          </a:prstGeom>
          <a:noFill/>
        </p:spPr>
        <p:txBody>
          <a:bodyPr wrap="square">
            <a:spAutoFit/>
          </a:bodyPr>
          <a:lstStyle/>
          <a:p>
            <a:r>
              <a:rPr lang="en-US" sz="1200" b="1" spc="-25" dirty="0">
                <a:latin typeface="Arial"/>
                <a:cs typeface="Arial"/>
              </a:rPr>
              <a:t>First Stage:</a:t>
            </a:r>
            <a:endParaRPr lang="en-US" sz="1200" b="1" dirty="0"/>
          </a:p>
        </p:txBody>
      </p:sp>
      <p:sp>
        <p:nvSpPr>
          <p:cNvPr id="26" name="TextBox 25">
            <a:extLst>
              <a:ext uri="{FF2B5EF4-FFF2-40B4-BE49-F238E27FC236}">
                <a16:creationId xmlns:a16="http://schemas.microsoft.com/office/drawing/2014/main" id="{EDA19170-749D-FBBF-1F43-F04CECDA7346}"/>
              </a:ext>
            </a:extLst>
          </p:cNvPr>
          <p:cNvSpPr txBox="1"/>
          <p:nvPr/>
        </p:nvSpPr>
        <p:spPr>
          <a:xfrm>
            <a:off x="136618" y="1149204"/>
            <a:ext cx="3138054" cy="276999"/>
          </a:xfrm>
          <a:prstGeom prst="rect">
            <a:avLst/>
          </a:prstGeom>
          <a:noFill/>
        </p:spPr>
        <p:txBody>
          <a:bodyPr wrap="square">
            <a:spAutoFit/>
          </a:bodyPr>
          <a:lstStyle/>
          <a:p>
            <a:r>
              <a:rPr lang="en-US" sz="1200" b="1" spc="-25" dirty="0">
                <a:latin typeface="Arial"/>
                <a:cs typeface="Arial"/>
              </a:rPr>
              <a:t>Second Stage:</a:t>
            </a:r>
            <a:endParaRPr lang="en-US" sz="1200" b="1" dirty="0"/>
          </a:p>
        </p:txBody>
      </p:sp>
      <p:grpSp>
        <p:nvGrpSpPr>
          <p:cNvPr id="4" name="Group 3">
            <a:extLst>
              <a:ext uri="{FF2B5EF4-FFF2-40B4-BE49-F238E27FC236}">
                <a16:creationId xmlns:a16="http://schemas.microsoft.com/office/drawing/2014/main" id="{0559B3FF-D422-620F-827A-C422357FDB0F}"/>
              </a:ext>
            </a:extLst>
          </p:cNvPr>
          <p:cNvGrpSpPr/>
          <p:nvPr/>
        </p:nvGrpSpPr>
        <p:grpSpPr>
          <a:xfrm>
            <a:off x="194091" y="1777786"/>
            <a:ext cx="5810394" cy="1296028"/>
            <a:chOff x="714375" y="1120775"/>
            <a:chExt cx="4476115" cy="763122"/>
          </a:xfrm>
        </p:grpSpPr>
        <p:sp>
          <p:nvSpPr>
            <p:cNvPr id="8" name="object 3">
              <a:extLst>
                <a:ext uri="{FF2B5EF4-FFF2-40B4-BE49-F238E27FC236}">
                  <a16:creationId xmlns:a16="http://schemas.microsoft.com/office/drawing/2014/main" id="{C1D176EE-8162-29AE-EC1F-2A39DFBCBB76}"/>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8FE01CA4-A096-5D50-F690-C2954002EDC1}"/>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Variable Scaling and Coefficient Interpretation</a:t>
              </a:r>
              <a:endParaRPr sz="1000" dirty="0">
                <a:latin typeface="Tahoma"/>
                <a:cs typeface="Tahoma"/>
              </a:endParaRPr>
            </a:p>
          </p:txBody>
        </p:sp>
        <p:grpSp>
          <p:nvGrpSpPr>
            <p:cNvPr id="21" name="object 5">
              <a:extLst>
                <a:ext uri="{FF2B5EF4-FFF2-40B4-BE49-F238E27FC236}">
                  <a16:creationId xmlns:a16="http://schemas.microsoft.com/office/drawing/2014/main" id="{0B54C947-21E8-95DB-3269-6AEC5CAEA43B}"/>
                </a:ext>
              </a:extLst>
            </p:cNvPr>
            <p:cNvGrpSpPr/>
            <p:nvPr/>
          </p:nvGrpSpPr>
          <p:grpSpPr>
            <a:xfrm>
              <a:off x="714375" y="1283996"/>
              <a:ext cx="4476115" cy="599901"/>
              <a:chOff x="66229" y="1425651"/>
              <a:chExt cx="4476115" cy="599901"/>
            </a:xfrm>
          </p:grpSpPr>
          <p:pic>
            <p:nvPicPr>
              <p:cNvPr id="22" name="object 6">
                <a:extLst>
                  <a:ext uri="{FF2B5EF4-FFF2-40B4-BE49-F238E27FC236}">
                    <a16:creationId xmlns:a16="http://schemas.microsoft.com/office/drawing/2014/main" id="{C4ED2C4B-D40C-4A4E-712F-273EE7958716}"/>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F480D2B1-D996-4549-8CC3-8D6A24E08294}"/>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C0B58A95-DE94-B02C-DEC1-FFD7E1071179}"/>
              </a:ext>
            </a:extLst>
          </p:cNvPr>
          <p:cNvSpPr txBox="1"/>
          <p:nvPr/>
        </p:nvSpPr>
        <p:spPr>
          <a:xfrm>
            <a:off x="245067" y="2246368"/>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spc="-25" dirty="0">
                <a:latin typeface="Arial"/>
                <a:cs typeface="Arial"/>
              </a:rPr>
              <a:t>Variables measured as stocks. Outstanding short-term debt and cash-holdings at end-of-Q. </a:t>
            </a:r>
          </a:p>
          <a:p>
            <a:pPr marL="171450" indent="-171450">
              <a:spcBef>
                <a:spcPts val="300"/>
              </a:spcBef>
              <a:spcAft>
                <a:spcPts val="300"/>
              </a:spcAft>
              <a:buFont typeface="Arial" panose="020B0604020202020204" pitchFamily="34" charset="0"/>
              <a:buChar char="•"/>
            </a:pPr>
            <a:r>
              <a:rPr lang="en-US" sz="1100" spc="-25" dirty="0">
                <a:latin typeface="Arial"/>
                <a:cs typeface="Arial"/>
              </a:rPr>
              <a:t>Dependent, endogenous, and instrumental variables expressed as % of average level of DR (2009-2016). </a:t>
            </a:r>
          </a:p>
        </p:txBody>
      </p:sp>
      <p:sp>
        <p:nvSpPr>
          <p:cNvPr id="2" name="Rectangle 1">
            <a:extLst>
              <a:ext uri="{FF2B5EF4-FFF2-40B4-BE49-F238E27FC236}">
                <a16:creationId xmlns:a16="http://schemas.microsoft.com/office/drawing/2014/main" id="{27901380-CE60-8921-48C6-C188CDA64BFE}"/>
              </a:ext>
            </a:extLst>
          </p:cNvPr>
          <p:cNvSpPr/>
          <p:nvPr/>
        </p:nvSpPr>
        <p:spPr>
          <a:xfrm>
            <a:off x="21891" y="1704589"/>
            <a:ext cx="6131259" cy="1407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068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2377-1FAB-73BF-9446-36ED561C0752}"/>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6B24DB06-E8AD-405D-6DE1-7D6E1F27BC32}"/>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Research Design</a:t>
            </a:r>
          </a:p>
        </p:txBody>
      </p:sp>
      <p:grpSp>
        <p:nvGrpSpPr>
          <p:cNvPr id="13" name="Group 12">
            <a:extLst>
              <a:ext uri="{FF2B5EF4-FFF2-40B4-BE49-F238E27FC236}">
                <a16:creationId xmlns:a16="http://schemas.microsoft.com/office/drawing/2014/main" id="{5A1D573F-8C8C-B110-4F08-BC7ADF655A4C}"/>
              </a:ext>
            </a:extLst>
          </p:cNvPr>
          <p:cNvGrpSpPr/>
          <p:nvPr/>
        </p:nvGrpSpPr>
        <p:grpSpPr>
          <a:xfrm>
            <a:off x="171378" y="358775"/>
            <a:ext cx="5810394" cy="1296028"/>
            <a:chOff x="714375" y="1120775"/>
            <a:chExt cx="4476115" cy="763122"/>
          </a:xfrm>
        </p:grpSpPr>
        <p:sp>
          <p:nvSpPr>
            <p:cNvPr id="14" name="object 3">
              <a:extLst>
                <a:ext uri="{FF2B5EF4-FFF2-40B4-BE49-F238E27FC236}">
                  <a16:creationId xmlns:a16="http://schemas.microsoft.com/office/drawing/2014/main" id="{E3AFC937-5084-3120-BF7B-088069FAF6F2}"/>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88C36601-1783-0219-184B-99F1B6E85477}"/>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IV Design: Fixed-Effects 2SLS Estimator + Robust-Clustered Standard Errors (State Level)  </a:t>
              </a:r>
              <a:endParaRPr sz="1000" dirty="0">
                <a:latin typeface="Tahoma"/>
                <a:cs typeface="Tahoma"/>
              </a:endParaRPr>
            </a:p>
          </p:txBody>
        </p:sp>
        <p:grpSp>
          <p:nvGrpSpPr>
            <p:cNvPr id="16" name="object 5">
              <a:extLst>
                <a:ext uri="{FF2B5EF4-FFF2-40B4-BE49-F238E27FC236}">
                  <a16:creationId xmlns:a16="http://schemas.microsoft.com/office/drawing/2014/main" id="{A780E948-1E09-17A5-33F2-533D2BE14502}"/>
                </a:ext>
              </a:extLst>
            </p:cNvPr>
            <p:cNvGrpSpPr/>
            <p:nvPr/>
          </p:nvGrpSpPr>
          <p:grpSpPr>
            <a:xfrm>
              <a:off x="714375" y="1283996"/>
              <a:ext cx="4476115" cy="599901"/>
              <a:chOff x="66229" y="1425651"/>
              <a:chExt cx="4476115" cy="599901"/>
            </a:xfrm>
          </p:grpSpPr>
          <p:pic>
            <p:nvPicPr>
              <p:cNvPr id="18" name="object 6">
                <a:extLst>
                  <a:ext uri="{FF2B5EF4-FFF2-40B4-BE49-F238E27FC236}">
                    <a16:creationId xmlns:a16="http://schemas.microsoft.com/office/drawing/2014/main" id="{279E6441-BD50-C536-5E99-91211DAC3E99}"/>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6A5871F7-70A5-C889-65F8-CFDF2AB7BC57}"/>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703B823-602E-6A51-C69E-1911040781D4}"/>
                  </a:ext>
                </a:extLst>
              </p:cNvPr>
              <p:cNvSpPr txBox="1"/>
              <p:nvPr/>
            </p:nvSpPr>
            <p:spPr>
              <a:xfrm>
                <a:off x="963930" y="855272"/>
                <a:ext cx="363516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𝛽</m:t>
                      </m:r>
                      <m:r>
                        <a:rPr lang="en-US" sz="1200" b="0" i="1" smtClean="0">
                          <a:latin typeface="Cambria Math" panose="02040503050406030204" pitchFamily="18" charset="0"/>
                        </a:rPr>
                        <m:t>𝐹𝐺𝑃𝐸𝑟𝑟𝑜</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𝜖</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0" name="TextBox 19">
                <a:extLst>
                  <a:ext uri="{FF2B5EF4-FFF2-40B4-BE49-F238E27FC236}">
                    <a16:creationId xmlns:a16="http://schemas.microsoft.com/office/drawing/2014/main" id="{F241CA1A-914E-D318-17A4-6B09FAD344BA}"/>
                  </a:ext>
                </a:extLst>
              </p:cNvPr>
              <p:cNvSpPr txBox="1">
                <a:spLocks noRot="1" noChangeAspect="1" noMove="1" noResize="1" noEditPoints="1" noAdjustHandles="1" noChangeArrowheads="1" noChangeShapeType="1" noTextEdit="1"/>
              </p:cNvSpPr>
              <p:nvPr/>
            </p:nvSpPr>
            <p:spPr>
              <a:xfrm>
                <a:off x="963930" y="855272"/>
                <a:ext cx="3635162" cy="184666"/>
              </a:xfrm>
              <a:prstGeom prst="rect">
                <a:avLst/>
              </a:prstGeom>
              <a:blipFill>
                <a:blip r:embed="rId4"/>
                <a:stretch>
                  <a:fillRect l="-348"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8FB55F2-B020-E763-E22E-43C3BC375F3E}"/>
                  </a:ext>
                </a:extLst>
              </p:cNvPr>
              <p:cNvSpPr txBox="1"/>
              <p:nvPr/>
            </p:nvSpPr>
            <p:spPr>
              <a:xfrm>
                <a:off x="896950" y="1370739"/>
                <a:ext cx="4358564" cy="2072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𝑂𝑢𝑡𝑆h𝑜𝑟𝑡𝑇𝑒𝑟𝑚𝐷𝑒𝑏</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m:t>
                      </m:r>
                      <m:r>
                        <a:rPr lang="en-US" sz="1200" b="0" i="1" smtClean="0">
                          <a:latin typeface="Cambria Math" panose="02040503050406030204" pitchFamily="18" charset="0"/>
                        </a:rPr>
                        <m:t>𝛿</m:t>
                      </m:r>
                      <m:r>
                        <a:rPr lang="en-US" sz="1200" b="0" i="1" smtClean="0">
                          <a:latin typeface="Cambria Math" panose="02040503050406030204" pitchFamily="18" charset="0"/>
                        </a:rPr>
                        <m:t> </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𝐶𝑎𝑠h𝑅𝑒𝑠𝑒𝑟𝑣𝑒</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𝑖𝑡</m:t>
                              </m:r>
                            </m:sub>
                          </m:sSub>
                        </m:e>
                      </m:acc>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𝑋</m:t>
                          </m:r>
                        </m:e>
                        <m:sub>
                          <m:r>
                            <a:rPr lang="en-US" sz="1200" b="0" i="1" smtClean="0">
                              <a:latin typeface="Cambria Math" panose="02040503050406030204" pitchFamily="18" charset="0"/>
                            </a:rPr>
                            <m:t>𝑖𝑡</m:t>
                          </m:r>
                        </m:sub>
                      </m:sSub>
                      <m:r>
                        <a:rPr lang="en-US" sz="1200" b="0" i="1" smtClean="0">
                          <a:latin typeface="Cambria Math" panose="02040503050406030204" pitchFamily="18" charset="0"/>
                        </a:rPr>
                        <m:t>𝛼</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𝜐</m:t>
                          </m:r>
                        </m:e>
                        <m:sub>
                          <m:r>
                            <a:rPr lang="en-US" sz="1200" b="0" i="1" smtClean="0">
                              <a:latin typeface="Cambria Math" panose="02040503050406030204" pitchFamily="18" charset="0"/>
                            </a:rPr>
                            <m:t>𝑖𝑡</m:t>
                          </m:r>
                        </m:sub>
                      </m:sSub>
                    </m:oMath>
                  </m:oMathPara>
                </a14:m>
                <a:endParaRPr lang="en-US" sz="1200" dirty="0"/>
              </a:p>
            </p:txBody>
          </p:sp>
        </mc:Choice>
        <mc:Fallback xmlns="">
          <p:sp>
            <p:nvSpPr>
              <p:cNvPr id="23" name="TextBox 22">
                <a:extLst>
                  <a:ext uri="{FF2B5EF4-FFF2-40B4-BE49-F238E27FC236}">
                    <a16:creationId xmlns:a16="http://schemas.microsoft.com/office/drawing/2014/main" id="{EFD9233D-1D9A-46FB-FE8A-D00D167B3A35}"/>
                  </a:ext>
                </a:extLst>
              </p:cNvPr>
              <p:cNvSpPr txBox="1">
                <a:spLocks noRot="1" noChangeAspect="1" noMove="1" noResize="1" noEditPoints="1" noAdjustHandles="1" noChangeArrowheads="1" noChangeShapeType="1" noTextEdit="1"/>
              </p:cNvSpPr>
              <p:nvPr/>
            </p:nvSpPr>
            <p:spPr>
              <a:xfrm>
                <a:off x="896950" y="1370739"/>
                <a:ext cx="4358564" cy="207236"/>
              </a:xfrm>
              <a:prstGeom prst="rect">
                <a:avLst/>
              </a:prstGeom>
              <a:blipFill>
                <a:blip r:embed="rId5"/>
                <a:stretch>
                  <a:fillRect l="-291" t="-17647" b="-41176"/>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21FF7B72-7A16-FDB6-3322-BB666402AB97}"/>
              </a:ext>
            </a:extLst>
          </p:cNvPr>
          <p:cNvSpPr txBox="1"/>
          <p:nvPr/>
        </p:nvSpPr>
        <p:spPr>
          <a:xfrm>
            <a:off x="158465" y="609346"/>
            <a:ext cx="3138054" cy="276999"/>
          </a:xfrm>
          <a:prstGeom prst="rect">
            <a:avLst/>
          </a:prstGeom>
          <a:noFill/>
        </p:spPr>
        <p:txBody>
          <a:bodyPr wrap="square">
            <a:spAutoFit/>
          </a:bodyPr>
          <a:lstStyle/>
          <a:p>
            <a:r>
              <a:rPr lang="en-US" sz="1200" b="1" spc="-25" dirty="0">
                <a:latin typeface="Arial"/>
                <a:cs typeface="Arial"/>
              </a:rPr>
              <a:t>First Stage:</a:t>
            </a:r>
            <a:endParaRPr lang="en-US" sz="1200" b="1" dirty="0"/>
          </a:p>
        </p:txBody>
      </p:sp>
      <p:sp>
        <p:nvSpPr>
          <p:cNvPr id="26" name="TextBox 25">
            <a:extLst>
              <a:ext uri="{FF2B5EF4-FFF2-40B4-BE49-F238E27FC236}">
                <a16:creationId xmlns:a16="http://schemas.microsoft.com/office/drawing/2014/main" id="{20826FB6-A000-390C-2E5C-EC438545FEEC}"/>
              </a:ext>
            </a:extLst>
          </p:cNvPr>
          <p:cNvSpPr txBox="1"/>
          <p:nvPr/>
        </p:nvSpPr>
        <p:spPr>
          <a:xfrm>
            <a:off x="136618" y="1149204"/>
            <a:ext cx="3138054" cy="276999"/>
          </a:xfrm>
          <a:prstGeom prst="rect">
            <a:avLst/>
          </a:prstGeom>
          <a:noFill/>
        </p:spPr>
        <p:txBody>
          <a:bodyPr wrap="square">
            <a:spAutoFit/>
          </a:bodyPr>
          <a:lstStyle/>
          <a:p>
            <a:r>
              <a:rPr lang="en-US" sz="1200" b="1" spc="-25" dirty="0">
                <a:latin typeface="Arial"/>
                <a:cs typeface="Arial"/>
              </a:rPr>
              <a:t>Second Stage:</a:t>
            </a:r>
            <a:endParaRPr lang="en-US" sz="1200" b="1" dirty="0"/>
          </a:p>
        </p:txBody>
      </p:sp>
      <p:grpSp>
        <p:nvGrpSpPr>
          <p:cNvPr id="4" name="Group 3">
            <a:extLst>
              <a:ext uri="{FF2B5EF4-FFF2-40B4-BE49-F238E27FC236}">
                <a16:creationId xmlns:a16="http://schemas.microsoft.com/office/drawing/2014/main" id="{7A957B67-9833-2755-00A9-BED8171A0B25}"/>
              </a:ext>
            </a:extLst>
          </p:cNvPr>
          <p:cNvGrpSpPr/>
          <p:nvPr/>
        </p:nvGrpSpPr>
        <p:grpSpPr>
          <a:xfrm>
            <a:off x="194091" y="1777786"/>
            <a:ext cx="5810394" cy="1296028"/>
            <a:chOff x="714375" y="1120775"/>
            <a:chExt cx="4476115" cy="763122"/>
          </a:xfrm>
        </p:grpSpPr>
        <p:sp>
          <p:nvSpPr>
            <p:cNvPr id="8" name="object 3">
              <a:extLst>
                <a:ext uri="{FF2B5EF4-FFF2-40B4-BE49-F238E27FC236}">
                  <a16:creationId xmlns:a16="http://schemas.microsoft.com/office/drawing/2014/main" id="{78E43E33-371B-9F4A-A05E-656E018FC114}"/>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3FC17482-7E99-11E8-2163-7682D6F1E308}"/>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Variable Scaling and Coefficient Interpretation</a:t>
              </a:r>
              <a:endParaRPr sz="1000" dirty="0">
                <a:latin typeface="Tahoma"/>
                <a:cs typeface="Tahoma"/>
              </a:endParaRPr>
            </a:p>
          </p:txBody>
        </p:sp>
        <p:grpSp>
          <p:nvGrpSpPr>
            <p:cNvPr id="21" name="object 5">
              <a:extLst>
                <a:ext uri="{FF2B5EF4-FFF2-40B4-BE49-F238E27FC236}">
                  <a16:creationId xmlns:a16="http://schemas.microsoft.com/office/drawing/2014/main" id="{E4FCD8DC-81B0-1702-E0BD-8E33A865F72D}"/>
                </a:ext>
              </a:extLst>
            </p:cNvPr>
            <p:cNvGrpSpPr/>
            <p:nvPr/>
          </p:nvGrpSpPr>
          <p:grpSpPr>
            <a:xfrm>
              <a:off x="714375" y="1283996"/>
              <a:ext cx="4476115" cy="599901"/>
              <a:chOff x="66229" y="1425651"/>
              <a:chExt cx="4476115" cy="599901"/>
            </a:xfrm>
          </p:grpSpPr>
          <p:pic>
            <p:nvPicPr>
              <p:cNvPr id="22" name="object 6">
                <a:extLst>
                  <a:ext uri="{FF2B5EF4-FFF2-40B4-BE49-F238E27FC236}">
                    <a16:creationId xmlns:a16="http://schemas.microsoft.com/office/drawing/2014/main" id="{0CCDBD76-8267-70EA-A915-FF861D67A397}"/>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EF3261A3-AEE2-BE3E-9914-D4C3E2B392B0}"/>
                  </a:ext>
                </a:extLst>
              </p:cNvPr>
              <p:cNvSpPr/>
              <p:nvPr/>
            </p:nvSpPr>
            <p:spPr>
              <a:xfrm>
                <a:off x="66229" y="1469927"/>
                <a:ext cx="4476115" cy="55562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6E2B5E68-3C1D-24D2-6BAF-6C14D0661368}"/>
              </a:ext>
            </a:extLst>
          </p:cNvPr>
          <p:cNvSpPr txBox="1"/>
          <p:nvPr/>
        </p:nvSpPr>
        <p:spPr>
          <a:xfrm>
            <a:off x="245067" y="2246368"/>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spc="-25" dirty="0">
                <a:latin typeface="Arial"/>
                <a:cs typeface="Arial"/>
              </a:rPr>
              <a:t>Variables measured as stocks. Outstanding short-term debt and cash-holdings at end-of-Q. </a:t>
            </a:r>
          </a:p>
          <a:p>
            <a:pPr marL="171450" indent="-171450">
              <a:spcBef>
                <a:spcPts val="300"/>
              </a:spcBef>
              <a:spcAft>
                <a:spcPts val="300"/>
              </a:spcAft>
              <a:buFont typeface="Arial" panose="020B0604020202020204" pitchFamily="34" charset="0"/>
              <a:buChar char="•"/>
            </a:pPr>
            <a:r>
              <a:rPr lang="en-US" sz="1100" spc="-25" dirty="0">
                <a:latin typeface="Arial"/>
                <a:cs typeface="Arial"/>
              </a:rPr>
              <a:t>Dependent, endogenous, and instrumental variables expressed as % of average level of DR (2009-2016). </a:t>
            </a:r>
          </a:p>
        </p:txBody>
      </p:sp>
    </p:spTree>
    <p:extLst>
      <p:ext uri="{BB962C8B-B14F-4D97-AF65-F5344CB8AC3E}">
        <p14:creationId xmlns:p14="http://schemas.microsoft.com/office/powerpoint/2010/main" val="3921743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5C3E3CB1-1D8E-0D47-EE41-0577FF12CF50}"/>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E9FF7389-660E-C3FD-3710-CF3CA3300512}"/>
              </a:ext>
            </a:extLst>
          </p:cNvPr>
          <p:cNvSpPr txBox="1"/>
          <p:nvPr/>
        </p:nvSpPr>
        <p:spPr>
          <a:xfrm>
            <a:off x="112333" y="636249"/>
            <a:ext cx="5928483" cy="921984"/>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D010D7AA-79CD-54EA-F31B-D6F61C0FE271}"/>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3584024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31FD-4A60-2BB6-034D-6F4E475AEAA9}"/>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4A4EFCFE-134A-234A-BD92-969049152028}"/>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F985DBB1-AE78-1066-B99B-C428E8B774AC}"/>
              </a:ext>
            </a:extLst>
          </p:cNvPr>
          <p:cNvSpPr txBox="1"/>
          <p:nvPr/>
        </p:nvSpPr>
        <p:spPr>
          <a:xfrm>
            <a:off x="112333" y="636249"/>
            <a:ext cx="5928483" cy="161576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Credit Ratings: </a:t>
            </a:r>
            <a:r>
              <a:rPr lang="en-US" sz="1100" b="1" dirty="0">
                <a:solidFill>
                  <a:srgbClr val="690204"/>
                </a:solidFill>
                <a:latin typeface="Arial" panose="020B0604020202020204" pitchFamily="34" charset="0"/>
                <a:cs typeface="Arial" panose="020B0604020202020204" pitchFamily="34" charset="0"/>
              </a:rPr>
              <a:t>web-scraped</a:t>
            </a:r>
            <a:r>
              <a:rPr lang="en-US" sz="1100" dirty="0">
                <a:latin typeface="Arial" panose="020B0604020202020204" pitchFamily="34" charset="0"/>
                <a:cs typeface="Arial" panose="020B0604020202020204" pitchFamily="34" charset="0"/>
              </a:rPr>
              <a:t> from Fitch Ratings website.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Control Variables: </a:t>
            </a:r>
            <a:r>
              <a:rPr lang="en-US" sz="1100" dirty="0">
                <a:latin typeface="Arial" panose="020B0604020202020204" pitchFamily="34" charset="0"/>
                <a:cs typeface="Arial" panose="020B0604020202020204" pitchFamily="34" charset="0"/>
              </a:rPr>
              <a:t>National Statistics Agency (INEGI) surveys and IRS data.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E02A2F56-1A5F-6379-1704-498F89786F6F}"/>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12066126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F679-98A2-78BE-9390-F3A7A9FF3B23}"/>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61D7FCBB-4CF3-F057-D7B8-525BE741E4D6}"/>
              </a:ext>
            </a:extLst>
          </p:cNvPr>
          <p:cNvSpPr txBox="1">
            <a:spLocks/>
          </p:cNvSpPr>
          <p:nvPr/>
        </p:nvSpPr>
        <p:spPr>
          <a:xfrm>
            <a:off x="21891" y="53975"/>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Data </a:t>
            </a:r>
          </a:p>
        </p:txBody>
      </p:sp>
      <p:sp>
        <p:nvSpPr>
          <p:cNvPr id="3" name="object 3">
            <a:extLst>
              <a:ext uri="{FF2B5EF4-FFF2-40B4-BE49-F238E27FC236}">
                <a16:creationId xmlns:a16="http://schemas.microsoft.com/office/drawing/2014/main" id="{FBE4CAE3-3983-5EAF-54CE-C607E5939567}"/>
              </a:ext>
            </a:extLst>
          </p:cNvPr>
          <p:cNvSpPr txBox="1"/>
          <p:nvPr/>
        </p:nvSpPr>
        <p:spPr>
          <a:xfrm>
            <a:off x="112333" y="636249"/>
            <a:ext cx="5928483" cy="1962653"/>
          </a:xfrm>
          <a:prstGeom prst="rect">
            <a:avLst/>
          </a:prstGeom>
        </p:spPr>
        <p:txBody>
          <a:bodyPr vert="horz" wrap="square" lIns="0" tIns="12065" rIns="0" bIns="0" rtlCol="0">
            <a:spAutoFit/>
          </a:bodyPr>
          <a:lstStyle/>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Financial Variables (Cash and Debt): </a:t>
            </a:r>
            <a:r>
              <a:rPr lang="en-US" sz="1100" b="1" dirty="0">
                <a:solidFill>
                  <a:srgbClr val="690204"/>
                </a:solidFill>
                <a:latin typeface="Arial" panose="020B0604020202020204" pitchFamily="34" charset="0"/>
                <a:cs typeface="Arial" panose="020B0604020202020204" pitchFamily="34" charset="0"/>
              </a:rPr>
              <a:t>text-scraped</a:t>
            </a:r>
            <a:r>
              <a:rPr lang="en-US" sz="1100" dirty="0">
                <a:latin typeface="Arial" panose="020B0604020202020204" pitchFamily="34" charset="0"/>
                <a:cs typeface="Arial" panose="020B0604020202020204" pitchFamily="34" charset="0"/>
              </a:rPr>
              <a:t> from state-reported forms submitted to the Ministry of Finance.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Fiscal Variables (Revenues, Expenditures): </a:t>
            </a:r>
            <a:r>
              <a:rPr lang="en-US" sz="1100" dirty="0">
                <a:latin typeface="Arial" panose="020B0604020202020204" pitchFamily="34" charset="0"/>
                <a:cs typeface="Arial" panose="020B0604020202020204" pitchFamily="34" charset="0"/>
              </a:rPr>
              <a:t>annual survey of state and local government finances. State-by-year.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Credit Ratings: </a:t>
            </a:r>
            <a:r>
              <a:rPr lang="en-US" sz="1100" b="1" dirty="0">
                <a:solidFill>
                  <a:srgbClr val="690204"/>
                </a:solidFill>
                <a:latin typeface="Arial" panose="020B0604020202020204" pitchFamily="34" charset="0"/>
                <a:cs typeface="Arial" panose="020B0604020202020204" pitchFamily="34" charset="0"/>
              </a:rPr>
              <a:t>web-scraped</a:t>
            </a:r>
            <a:r>
              <a:rPr lang="en-US" sz="1100" dirty="0">
                <a:latin typeface="Arial" panose="020B0604020202020204" pitchFamily="34" charset="0"/>
                <a:cs typeface="Arial" panose="020B0604020202020204" pitchFamily="34" charset="0"/>
              </a:rPr>
              <a:t> from Fitch Ratings website. </a:t>
            </a: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Control Variables: </a:t>
            </a:r>
            <a:r>
              <a:rPr lang="en-US" sz="1100" dirty="0">
                <a:latin typeface="Arial" panose="020B0604020202020204" pitchFamily="34" charset="0"/>
                <a:cs typeface="Arial" panose="020B0604020202020204" pitchFamily="34" charset="0"/>
              </a:rPr>
              <a:t>National Statistics Agency (INEGI) surveys and IRS data. </a:t>
            </a:r>
            <a:endParaRPr lang="en-US" sz="1100" b="1" dirty="0">
              <a:latin typeface="Arial" panose="020B0604020202020204" pitchFamily="34" charset="0"/>
              <a:cs typeface="Arial" panose="020B0604020202020204" pitchFamily="34" charset="0"/>
            </a:endParaRPr>
          </a:p>
          <a:p>
            <a:pPr marL="167640" marR="30480" indent="-117475">
              <a:lnSpc>
                <a:spcPct val="114000"/>
              </a:lnSpc>
              <a:spcBef>
                <a:spcPts val="600"/>
              </a:spcBef>
              <a:spcAft>
                <a:spcPts val="600"/>
              </a:spcAft>
              <a:buFont typeface="Arial"/>
              <a:buChar char="•"/>
              <a:tabLst>
                <a:tab pos="167640" algn="l"/>
              </a:tabLst>
            </a:pPr>
            <a:r>
              <a:rPr lang="en-US" sz="1100" b="1" dirty="0">
                <a:latin typeface="Arial" panose="020B0604020202020204" pitchFamily="34" charset="0"/>
                <a:cs typeface="Arial" panose="020B0604020202020204" pitchFamily="34" charset="0"/>
              </a:rPr>
              <a:t>Final Sample: </a:t>
            </a:r>
            <a:r>
              <a:rPr lang="en-US" sz="1100" dirty="0">
                <a:latin typeface="Arial" panose="020B0604020202020204" pitchFamily="34" charset="0"/>
                <a:cs typeface="Arial" panose="020B0604020202020204" pitchFamily="34" charset="0"/>
              </a:rPr>
              <a:t>quarterly observations for 30 states between 2018-2022.</a:t>
            </a:r>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 </a:t>
            </a:r>
            <a:endParaRPr lang="en-US" sz="1100" b="1" dirty="0">
              <a:latin typeface="Arial" panose="020B0604020202020204" pitchFamily="34" charset="0"/>
              <a:cs typeface="Arial" panose="020B0604020202020204" pitchFamily="34" charset="0"/>
            </a:endParaRPr>
          </a:p>
        </p:txBody>
      </p:sp>
      <p:sp>
        <p:nvSpPr>
          <p:cNvPr id="12" name="object 5">
            <a:extLst>
              <a:ext uri="{FF2B5EF4-FFF2-40B4-BE49-F238E27FC236}">
                <a16:creationId xmlns:a16="http://schemas.microsoft.com/office/drawing/2014/main" id="{62F5363A-1725-131C-2622-900C3083C099}"/>
              </a:ext>
            </a:extLst>
          </p:cNvPr>
          <p:cNvSpPr txBox="1"/>
          <p:nvPr/>
        </p:nvSpPr>
        <p:spPr>
          <a:xfrm>
            <a:off x="111161" y="2923413"/>
            <a:ext cx="6051761" cy="109645"/>
          </a:xfrm>
          <a:prstGeom prst="rect">
            <a:avLst/>
          </a:prstGeom>
        </p:spPr>
        <p:txBody>
          <a:bodyPr vert="horz" wrap="square" lIns="0" tIns="17145" rIns="0" bIns="0" rtlCol="0">
            <a:spAutoFit/>
          </a:bodyPr>
          <a:lstStyle/>
          <a:p>
            <a:pPr marL="73660" marR="731520">
              <a:spcAft>
                <a:spcPts val="0"/>
              </a:spcAft>
            </a:pPr>
            <a:r>
              <a:rPr lang="en-US" sz="600" b="1" dirty="0">
                <a:effectLst/>
                <a:latin typeface="Georgia" panose="02040502050405020303" pitchFamily="18" charset="0"/>
                <a:ea typeface="Times New Roman" panose="02020603050405020304" pitchFamily="18" charset="0"/>
              </a:rPr>
              <a:t>Note: </a:t>
            </a:r>
            <a:r>
              <a:rPr lang="en-US" sz="600" dirty="0">
                <a:effectLst/>
                <a:latin typeface="Georgia" panose="02040502050405020303" pitchFamily="18" charset="0"/>
                <a:ea typeface="Times New Roman" panose="02020603050405020304" pitchFamily="18" charset="0"/>
              </a:rPr>
              <a:t>Tlaxcala and Mexico City are excluded from the analysis as they are subject to different fiscal rules. </a:t>
            </a:r>
          </a:p>
        </p:txBody>
      </p:sp>
    </p:spTree>
    <p:extLst>
      <p:ext uri="{BB962C8B-B14F-4D97-AF65-F5344CB8AC3E}">
        <p14:creationId xmlns:p14="http://schemas.microsoft.com/office/powerpoint/2010/main" val="3427672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3B0F-254E-8672-32EC-2ECCF267AA14}"/>
            </a:ext>
          </a:extLst>
        </p:cNvPr>
        <p:cNvGrpSpPr/>
        <p:nvPr/>
      </p:nvGrpSpPr>
      <p:grpSpPr>
        <a:xfrm>
          <a:off x="0" y="0"/>
          <a:ext cx="0" cy="0"/>
          <a:chOff x="0" y="0"/>
          <a:chExt cx="0" cy="0"/>
        </a:xfrm>
      </p:grpSpPr>
      <p:sp>
        <p:nvSpPr>
          <p:cNvPr id="9" name="object 5">
            <a:extLst>
              <a:ext uri="{FF2B5EF4-FFF2-40B4-BE49-F238E27FC236}">
                <a16:creationId xmlns:a16="http://schemas.microsoft.com/office/drawing/2014/main" id="{EF62088B-239A-DF9A-2CB1-47EEC5120B97}"/>
              </a:ext>
            </a:extLst>
          </p:cNvPr>
          <p:cNvSpPr txBox="1"/>
          <p:nvPr/>
        </p:nvSpPr>
        <p:spPr>
          <a:xfrm>
            <a:off x="-47625" y="2822899"/>
            <a:ext cx="6705600" cy="325089"/>
          </a:xfrm>
          <a:prstGeom prst="rect">
            <a:avLst/>
          </a:prstGeom>
        </p:spPr>
        <p:txBody>
          <a:bodyPr vert="horz" wrap="square" lIns="0" tIns="17145" rIns="0" bIns="0" rtlCol="0">
            <a:spAutoFit/>
          </a:bodyPr>
          <a:lstStyle/>
          <a:p>
            <a:pPr marL="73660" marR="731520">
              <a:spcAft>
                <a:spcPts val="0"/>
              </a:spcAft>
            </a:pPr>
            <a:r>
              <a:rPr lang="en-US" sz="500" b="1" dirty="0">
                <a:effectLst/>
                <a:latin typeface="Arial" panose="020B0604020202020204" pitchFamily="34" charset="0"/>
                <a:ea typeface="Times New Roman" panose="02020603050405020304" pitchFamily="18" charset="0"/>
                <a:cs typeface="Arial" panose="020B0604020202020204" pitchFamily="34" charset="0"/>
              </a:rPr>
              <a:t>Notes: </a:t>
            </a:r>
            <a:r>
              <a:rPr lang="en-US" sz="500" dirty="0">
                <a:effectLst/>
                <a:latin typeface="Arial" panose="020B0604020202020204" pitchFamily="34" charset="0"/>
                <a:ea typeface="Times New Roman" panose="02020603050405020304" pitchFamily="18" charset="0"/>
                <a:cs typeface="Arial" panose="020B0604020202020204" pitchFamily="34" charset="0"/>
              </a:rPr>
              <a:t>This panel shows the descriptive statistics of the main variables used for the analysis.  N= 597 for all variables. The first two columns show the sample mean and standard deviation. Considering the distribution of ratings I grouped them in 3 categories AAA,AA = 1, A = 2, and BBB,BB,NR = 3. Short-Term borrowing, cash reserves, FGP budget error, and fiscal balance measures are expressed as a percentage of the average discretionary revenues (DR) observed between 2009 and 2016. That is, outside the analysis period to avoid endogeneity concerns. All these fiscal variables correspond to one-year lagged measures.</a:t>
            </a:r>
          </a:p>
        </p:txBody>
      </p:sp>
      <p:sp>
        <p:nvSpPr>
          <p:cNvPr id="2" name="TextBox 1">
            <a:extLst>
              <a:ext uri="{FF2B5EF4-FFF2-40B4-BE49-F238E27FC236}">
                <a16:creationId xmlns:a16="http://schemas.microsoft.com/office/drawing/2014/main" id="{5DC74D6E-2B7B-8874-5436-C985FF5E0171}"/>
              </a:ext>
            </a:extLst>
          </p:cNvPr>
          <p:cNvSpPr txBox="1"/>
          <p:nvPr/>
        </p:nvSpPr>
        <p:spPr>
          <a:xfrm>
            <a:off x="23791" y="16867"/>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Main Variables</a:t>
            </a:r>
          </a:p>
        </p:txBody>
      </p:sp>
      <p:graphicFrame>
        <p:nvGraphicFramePr>
          <p:cNvPr id="5" name="Table 4">
            <a:extLst>
              <a:ext uri="{FF2B5EF4-FFF2-40B4-BE49-F238E27FC236}">
                <a16:creationId xmlns:a16="http://schemas.microsoft.com/office/drawing/2014/main" id="{ACA32A3F-E09B-05A1-E9B7-23801829A380}"/>
              </a:ext>
            </a:extLst>
          </p:cNvPr>
          <p:cNvGraphicFramePr>
            <a:graphicFrameLocks noGrp="1"/>
          </p:cNvGraphicFramePr>
          <p:nvPr>
            <p:extLst>
              <p:ext uri="{D42A27DB-BD31-4B8C-83A1-F6EECF244321}">
                <p14:modId xmlns:p14="http://schemas.microsoft.com/office/powerpoint/2010/main" val="1694480806"/>
              </p:ext>
            </p:extLst>
          </p:nvPr>
        </p:nvGraphicFramePr>
        <p:xfrm>
          <a:off x="28575" y="310828"/>
          <a:ext cx="4572000" cy="2487168"/>
        </p:xfrm>
        <a:graphic>
          <a:graphicData uri="http://schemas.openxmlformats.org/drawingml/2006/table">
            <a:tbl>
              <a:tblPr firstRow="1" firstCol="1" lastRow="1" lastCol="1" bandRow="1" bandCol="1"/>
              <a:tblGrid>
                <a:gridCol w="3048000">
                  <a:extLst>
                    <a:ext uri="{9D8B030D-6E8A-4147-A177-3AD203B41FA5}">
                      <a16:colId xmlns:a16="http://schemas.microsoft.com/office/drawing/2014/main" val="3543273419"/>
                    </a:ext>
                  </a:extLst>
                </a:gridCol>
                <a:gridCol w="762000">
                  <a:extLst>
                    <a:ext uri="{9D8B030D-6E8A-4147-A177-3AD203B41FA5}">
                      <a16:colId xmlns:a16="http://schemas.microsoft.com/office/drawing/2014/main" val="2081524775"/>
                    </a:ext>
                  </a:extLst>
                </a:gridCol>
                <a:gridCol w="762000">
                  <a:extLst>
                    <a:ext uri="{9D8B030D-6E8A-4147-A177-3AD203B41FA5}">
                      <a16:colId xmlns:a16="http://schemas.microsoft.com/office/drawing/2014/main" val="1573361521"/>
                    </a:ext>
                  </a:extLst>
                </a:gridCol>
              </a:tblGrid>
              <a:tr h="155448">
                <a:tc>
                  <a:txBody>
                    <a:bodyPr/>
                    <a:lstStyle/>
                    <a:p>
                      <a:pPr marL="0" marR="0" algn="l">
                        <a:lnSpc>
                          <a:spcPts val="1095"/>
                        </a:lnSpc>
                        <a:spcBef>
                          <a:spcPts val="0"/>
                        </a:spcBef>
                        <a:spcAft>
                          <a:spcPts val="0"/>
                        </a:spcAft>
                      </a:pPr>
                      <a:r>
                        <a:rPr lang="en-US" sz="800" b="1" dirty="0">
                          <a:effectLst/>
                          <a:latin typeface="Arial" panose="020B0604020202020204" pitchFamily="34" charset="0"/>
                          <a:ea typeface="Cambria" panose="02040503050406030204" pitchFamily="18" charset="0"/>
                          <a:cs typeface="Arial" panose="020B0604020202020204" pitchFamily="34" charset="0"/>
                          <a:hlinkClick r:id="rId2" action="ppaction://hlinksldjump"/>
                        </a:rPr>
                        <a:t> Descriptive Stats</a:t>
                      </a:r>
                      <a:endParaRPr lang="en-US" sz="800" b="1"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635" algn="ctr">
                        <a:lnSpc>
                          <a:spcPts val="83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Mean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1270" algn="ctr">
                        <a:lnSpc>
                          <a:spcPts val="83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Std.Dev.</a:t>
                      </a:r>
                      <a:endParaRPr lang="en-US" sz="80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7404150"/>
                  </a:ext>
                </a:extLst>
              </a:tr>
              <a:tr h="155448">
                <a:tc>
                  <a:txBody>
                    <a:bodyPr/>
                    <a:lstStyle/>
                    <a:p>
                      <a:pPr marL="75565" marR="0" algn="l">
                        <a:lnSpc>
                          <a:spcPts val="78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DepVar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Short-Term</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63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1270"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D78"/>
                    </a:solidFill>
                  </a:tcPr>
                </a:tc>
                <a:extLst>
                  <a:ext uri="{0D108BD9-81ED-4DB2-BD59-A6C34878D82A}">
                    <a16:rowId xmlns:a16="http://schemas.microsoft.com/office/drawing/2014/main" val="3092835447"/>
                  </a:ext>
                </a:extLst>
              </a:tr>
              <a:tr h="155448">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EndVar</a:t>
                      </a:r>
                      <a:r>
                        <a:rPr lang="en-US" sz="800" b="1" dirty="0">
                          <a:effectLst/>
                          <a:latin typeface="Arial" panose="020B0604020202020204" pitchFamily="34" charset="0"/>
                          <a:ea typeface="Cambria" panose="02040503050406030204" pitchFamily="18" charset="0"/>
                          <a:cs typeface="Arial" panose="020B0604020202020204" pitchFamily="34" charset="0"/>
                        </a:rPr>
                        <a:t>:</a:t>
                      </a:r>
                      <a:r>
                        <a:rPr lang="en-US" sz="800" dirty="0">
                          <a:effectLst/>
                          <a:latin typeface="Arial" panose="020B0604020202020204" pitchFamily="34" charset="0"/>
                          <a:ea typeface="Cambria" panose="02040503050406030204" pitchFamily="18" charset="0"/>
                          <a:cs typeface="Arial" panose="020B0604020202020204" pitchFamily="34" charset="0"/>
                        </a:rPr>
                        <a:t> Cash</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0.2289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extLst>
                  <a:ext uri="{0D108BD9-81ED-4DB2-BD59-A6C34878D82A}">
                    <a16:rowId xmlns:a16="http://schemas.microsoft.com/office/drawing/2014/main" val="419754814"/>
                  </a:ext>
                </a:extLst>
              </a:tr>
              <a:tr h="155448">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InstVar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0.0043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0.0235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rgbClr val="FFFD78"/>
                    </a:solidFill>
                  </a:tcPr>
                </a:tc>
                <a:extLst>
                  <a:ext uri="{0D108BD9-81ED-4DB2-BD59-A6C34878D82A}">
                    <a16:rowId xmlns:a16="http://schemas.microsoft.com/office/drawing/2014/main" val="290217258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9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Annual</a:t>
                      </a:r>
                      <a:r>
                        <a:rPr lang="en-US" sz="800" spc="10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Difference (%DR,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0.0130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0.0655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643694425"/>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Primary</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Balance</a:t>
                      </a:r>
                      <a:r>
                        <a:rPr lang="en-US" sz="800" spc="7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0.0623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0.1261</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82108631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Current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Expenditures</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E</a:t>
                      </a:r>
                      <a:r>
                        <a:rPr lang="en-US" sz="800" spc="-10" dirty="0">
                          <a:effectLst/>
                          <a:latin typeface="Arial" panose="020B0604020202020204" pitchFamily="34" charset="0"/>
                          <a:ea typeface="Cambria" panose="02040503050406030204" pitchFamily="18" charset="0"/>
                          <a:cs typeface="Arial" panose="020B0604020202020204" pitchFamily="34" charset="0"/>
                        </a:rPr>
                        <a:t>xp, Lag = 1 </a:t>
                      </a:r>
                      <a:r>
                        <a:rPr lang="en-US" sz="800" spc="-10" dirty="0" err="1">
                          <a:effectLst/>
                          <a:latin typeface="Arial" panose="020B0604020202020204" pitchFamily="34" charset="0"/>
                          <a:ea typeface="Cambria" panose="02040503050406030204" pitchFamily="18" charset="0"/>
                          <a:cs typeface="Arial" panose="020B0604020202020204" pitchFamily="34" charset="0"/>
                        </a:rPr>
                        <a:t>yr</a:t>
                      </a:r>
                      <a:r>
                        <a:rPr lang="en-US" sz="800" spc="-10" dirty="0">
                          <a:effectLst/>
                          <a:latin typeface="Arial" panose="020B0604020202020204" pitchFamily="34" charset="0"/>
                          <a:ea typeface="Cambria" panose="02040503050406030204" pitchFamily="18" charset="0"/>
                          <a:cs typeface="Arial" panose="020B0604020202020204" pitchFamily="34" charset="0"/>
                        </a:rPr>
                        <a:t>)</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0.7375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1995047142"/>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Discretionary Revenues</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0.4766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tc>
                  <a:txBody>
                    <a:bodyPr/>
                    <a:lstStyle/>
                    <a:p>
                      <a:pPr marL="0"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0.0781</a:t>
                      </a:r>
                      <a:endParaRPr lang="en-US" sz="80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23780374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Long</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Term</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Debt, Lag = 1yr)</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0.6726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0.5133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527996903"/>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Credit</a:t>
                      </a:r>
                      <a:r>
                        <a:rPr lang="en-US" sz="800" spc="11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Rating</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3.1273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1.0700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3819815706"/>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as</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Collateral</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0.5332</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0.2163</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393218592"/>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Unemployment</a:t>
                      </a:r>
                      <a:r>
                        <a:rPr lang="en-US" sz="800" spc="125" dirty="0">
                          <a:effectLst/>
                          <a:latin typeface="Arial" panose="020B0604020202020204" pitchFamily="34" charset="0"/>
                          <a:ea typeface="Cambria" panose="02040503050406030204" pitchFamily="18" charset="0"/>
                          <a:cs typeface="Arial" panose="020B0604020202020204" pitchFamily="34" charset="0"/>
                        </a:rPr>
                        <a:t> </a:t>
                      </a:r>
                      <a:r>
                        <a:rPr lang="en-US" sz="800" spc="-20" dirty="0">
                          <a:effectLst/>
                          <a:latin typeface="Arial" panose="020B0604020202020204" pitchFamily="34" charset="0"/>
                          <a:ea typeface="Cambria" panose="02040503050406030204" pitchFamily="18" charset="0"/>
                          <a:cs typeface="Arial" panose="020B0604020202020204" pitchFamily="34" charset="0"/>
                        </a:rPr>
                        <a:t>Rate</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0.0346</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0.0129</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3530893457"/>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Taxpayers</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0.5574</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0.1015</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2420418218"/>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i="1" dirty="0">
                          <a:effectLst/>
                          <a:latin typeface="Arial" panose="020B0604020202020204" pitchFamily="34" charset="0"/>
                          <a:ea typeface="Cambria" panose="02040503050406030204" pitchFamily="18" charset="0"/>
                          <a:cs typeface="Arial" panose="020B0604020202020204" pitchFamily="34" charset="0"/>
                        </a:rPr>
                        <a:t>&lt;</a:t>
                      </a:r>
                      <a:r>
                        <a:rPr lang="en-US" sz="800" i="1"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18</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0.0584</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0.0040</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3397844899"/>
                  </a:ext>
                </a:extLst>
              </a:tr>
              <a:tr h="155448">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19-35</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0.0438</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0.0022</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2798844361"/>
                  </a:ext>
                </a:extLst>
              </a:tr>
              <a:tr h="155448">
                <a:tc>
                  <a:txBody>
                    <a:bodyPr/>
                    <a:lstStyle/>
                    <a:p>
                      <a:pPr marL="75565" marR="0" algn="l">
                        <a:lnSpc>
                          <a:spcPts val="8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36-65</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63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0.0847</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127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0.0047</a:t>
                      </a:r>
                      <a:endParaRPr lang="en-US" sz="8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5305137"/>
                  </a:ext>
                </a:extLst>
              </a:tr>
            </a:tbl>
          </a:graphicData>
        </a:graphic>
      </p:graphicFrame>
      <p:sp>
        <p:nvSpPr>
          <p:cNvPr id="3" name="Right Brace 2">
            <a:extLst>
              <a:ext uri="{FF2B5EF4-FFF2-40B4-BE49-F238E27FC236}">
                <a16:creationId xmlns:a16="http://schemas.microsoft.com/office/drawing/2014/main" id="{92C8C8A3-E170-121A-B230-02EEDD179AC4}"/>
              </a:ext>
            </a:extLst>
          </p:cNvPr>
          <p:cNvSpPr/>
          <p:nvPr/>
        </p:nvSpPr>
        <p:spPr>
          <a:xfrm>
            <a:off x="4600575" y="968375"/>
            <a:ext cx="152400" cy="1829621"/>
          </a:xfrm>
          <a:prstGeom prst="rightBrace">
            <a:avLst>
              <a:gd name="adj1" fmla="val 8333"/>
              <a:gd name="adj2" fmla="val 50325"/>
            </a:avLst>
          </a:prstGeom>
          <a:ln>
            <a:solidFill>
              <a:srgbClr val="69020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688ECA5A-7969-EB58-FDE2-1AE76F96BA89}"/>
              </a:ext>
            </a:extLst>
          </p:cNvPr>
          <p:cNvSpPr txBox="1"/>
          <p:nvPr/>
        </p:nvSpPr>
        <p:spPr>
          <a:xfrm>
            <a:off x="4981575" y="730632"/>
            <a:ext cx="914400" cy="261610"/>
          </a:xfrm>
          <a:prstGeom prst="rect">
            <a:avLst/>
          </a:prstGeom>
          <a:noFill/>
        </p:spPr>
        <p:txBody>
          <a:bodyPr wrap="square">
            <a:spAutoFit/>
          </a:bodyPr>
          <a:lstStyle/>
          <a:p>
            <a:pPr>
              <a:spcBef>
                <a:spcPts val="300"/>
              </a:spcBef>
              <a:spcAft>
                <a:spcPts val="300"/>
              </a:spcAft>
            </a:pPr>
            <a:r>
              <a:rPr lang="en-US" sz="1100" b="1" spc="-25" dirty="0">
                <a:latin typeface="Arial"/>
                <a:cs typeface="Arial"/>
              </a:rPr>
              <a:t>Controls</a:t>
            </a:r>
          </a:p>
        </p:txBody>
      </p:sp>
      <p:sp>
        <p:nvSpPr>
          <p:cNvPr id="8" name="TextBox 7">
            <a:extLst>
              <a:ext uri="{FF2B5EF4-FFF2-40B4-BE49-F238E27FC236}">
                <a16:creationId xmlns:a16="http://schemas.microsoft.com/office/drawing/2014/main" id="{978CCCEC-AA4A-2F1F-71AB-B6FDB6587793}"/>
              </a:ext>
            </a:extLst>
          </p:cNvPr>
          <p:cNvSpPr txBox="1"/>
          <p:nvPr/>
        </p:nvSpPr>
        <p:spPr>
          <a:xfrm>
            <a:off x="4761716" y="873888"/>
            <a:ext cx="1268763" cy="1877437"/>
          </a:xfrm>
          <a:prstGeom prst="rect">
            <a:avLst/>
          </a:prstGeom>
          <a:noFill/>
        </p:spPr>
        <p:txBody>
          <a:bodyPr wrap="square">
            <a:spAutoFit/>
          </a:bodyPr>
          <a:lstStyle/>
          <a:p>
            <a:pPr>
              <a:lnSpc>
                <a:spcPct val="150000"/>
              </a:lnSpc>
              <a:spcBef>
                <a:spcPts val="300"/>
              </a:spcBef>
              <a:spcAft>
                <a:spcPts val="300"/>
              </a:spcAft>
            </a:pPr>
            <a:r>
              <a:rPr lang="en-US" sz="1200" b="1" spc="-25" dirty="0">
                <a:solidFill>
                  <a:srgbClr val="0070C0"/>
                </a:solidFill>
                <a:latin typeface="Arial"/>
                <a:cs typeface="Arial"/>
              </a:rPr>
              <a:t>liquidity needs </a:t>
            </a:r>
          </a:p>
          <a:p>
            <a:pPr>
              <a:lnSpc>
                <a:spcPct val="150000"/>
              </a:lnSpc>
              <a:spcBef>
                <a:spcPts val="300"/>
              </a:spcBef>
              <a:spcAft>
                <a:spcPts val="300"/>
              </a:spcAft>
            </a:pPr>
            <a:r>
              <a:rPr lang="en-US" sz="1200" b="1" spc="-25" dirty="0">
                <a:solidFill>
                  <a:srgbClr val="4F6228"/>
                </a:solidFill>
                <a:latin typeface="Arial"/>
                <a:cs typeface="Arial"/>
              </a:rPr>
              <a:t>fiscal structure</a:t>
            </a:r>
          </a:p>
          <a:p>
            <a:pPr>
              <a:lnSpc>
                <a:spcPct val="150000"/>
              </a:lnSpc>
              <a:spcBef>
                <a:spcPts val="300"/>
              </a:spcBef>
              <a:spcAft>
                <a:spcPts val="300"/>
              </a:spcAft>
            </a:pPr>
            <a:r>
              <a:rPr lang="en-US" sz="1200" b="1" spc="-25" dirty="0">
                <a:solidFill>
                  <a:srgbClr val="C00000"/>
                </a:solidFill>
                <a:latin typeface="Arial"/>
                <a:cs typeface="Arial"/>
              </a:rPr>
              <a:t>debt burden</a:t>
            </a:r>
          </a:p>
          <a:p>
            <a:pPr>
              <a:lnSpc>
                <a:spcPct val="150000"/>
              </a:lnSpc>
              <a:spcBef>
                <a:spcPts val="300"/>
              </a:spcBef>
              <a:spcAft>
                <a:spcPts val="300"/>
              </a:spcAft>
            </a:pPr>
            <a:endParaRPr lang="en-US" sz="1200" spc="-25" dirty="0">
              <a:latin typeface="Arial"/>
              <a:cs typeface="Arial"/>
            </a:endParaRPr>
          </a:p>
          <a:p>
            <a:pPr>
              <a:spcBef>
                <a:spcPts val="300"/>
              </a:spcBef>
              <a:spcAft>
                <a:spcPts val="300"/>
              </a:spcAft>
            </a:pPr>
            <a:r>
              <a:rPr lang="en-US" sz="1200" b="1" spc="-25" dirty="0">
                <a:solidFill>
                  <a:schemeClr val="tx1">
                    <a:lumMod val="50000"/>
                    <a:lumOff val="50000"/>
                  </a:schemeClr>
                </a:solidFill>
                <a:latin typeface="Arial"/>
                <a:cs typeface="Arial"/>
              </a:rPr>
              <a:t>economic activity</a:t>
            </a:r>
          </a:p>
        </p:txBody>
      </p:sp>
    </p:spTree>
    <p:extLst>
      <p:ext uri="{BB962C8B-B14F-4D97-AF65-F5344CB8AC3E}">
        <p14:creationId xmlns:p14="http://schemas.microsoft.com/office/powerpoint/2010/main" val="465354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113C-D609-88C5-9181-42CDC0FF742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C791F5F4-9EBA-F0BC-8C54-6AAA62DA3EE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Identification</a:t>
            </a:r>
          </a:p>
        </p:txBody>
      </p:sp>
      <p:grpSp>
        <p:nvGrpSpPr>
          <p:cNvPr id="13" name="Group 12">
            <a:extLst>
              <a:ext uri="{FF2B5EF4-FFF2-40B4-BE49-F238E27FC236}">
                <a16:creationId xmlns:a16="http://schemas.microsoft.com/office/drawing/2014/main" id="{56DE74D5-A69D-D666-03E1-2230B055CA1F}"/>
              </a:ext>
            </a:extLst>
          </p:cNvPr>
          <p:cNvGrpSpPr/>
          <p:nvPr/>
        </p:nvGrpSpPr>
        <p:grpSpPr>
          <a:xfrm>
            <a:off x="171378" y="358774"/>
            <a:ext cx="5810394" cy="1002615"/>
            <a:chOff x="714375" y="1120775"/>
            <a:chExt cx="4476115" cy="590356"/>
          </a:xfrm>
        </p:grpSpPr>
        <p:sp>
          <p:nvSpPr>
            <p:cNvPr id="14" name="object 3">
              <a:extLst>
                <a:ext uri="{FF2B5EF4-FFF2-40B4-BE49-F238E27FC236}">
                  <a16:creationId xmlns:a16="http://schemas.microsoft.com/office/drawing/2014/main" id="{AF6A9FE8-6772-974C-827E-DC2C8A6FAE6C}"/>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9714AB63-8B8D-7A1D-360A-6E9DA1A7FCD2}"/>
                </a:ext>
              </a:extLst>
            </p:cNvPr>
            <p:cNvSpPr txBox="1"/>
            <p:nvPr/>
          </p:nvSpPr>
          <p:spPr>
            <a:xfrm>
              <a:off x="765176" y="1165643"/>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Relevance Assumption: </a:t>
              </a:r>
              <a:r>
                <a:rPr lang="en-US" sz="1000" spc="-25" dirty="0">
                  <a:solidFill>
                    <a:schemeClr val="bg1"/>
                  </a:solidFill>
                  <a:latin typeface="Arial"/>
                  <a:cs typeface="Arial"/>
                </a:rPr>
                <a:t>FGP Errors influence the level of cash reserves. </a:t>
              </a:r>
            </a:p>
          </p:txBody>
        </p:sp>
        <p:grpSp>
          <p:nvGrpSpPr>
            <p:cNvPr id="16" name="object 5">
              <a:extLst>
                <a:ext uri="{FF2B5EF4-FFF2-40B4-BE49-F238E27FC236}">
                  <a16:creationId xmlns:a16="http://schemas.microsoft.com/office/drawing/2014/main" id="{9DCFA635-E02C-BBF5-3668-C4D055A064B7}"/>
                </a:ext>
              </a:extLst>
            </p:cNvPr>
            <p:cNvGrpSpPr/>
            <p:nvPr/>
          </p:nvGrpSpPr>
          <p:grpSpPr>
            <a:xfrm>
              <a:off x="714375" y="1283996"/>
              <a:ext cx="4476115" cy="427135"/>
              <a:chOff x="66229" y="1425651"/>
              <a:chExt cx="4476115" cy="427135"/>
            </a:xfrm>
          </p:grpSpPr>
          <p:pic>
            <p:nvPicPr>
              <p:cNvPr id="18" name="object 6">
                <a:extLst>
                  <a:ext uri="{FF2B5EF4-FFF2-40B4-BE49-F238E27FC236}">
                    <a16:creationId xmlns:a16="http://schemas.microsoft.com/office/drawing/2014/main" id="{8C6645BF-F2E9-2BC5-8386-B6E6D7D86CDD}"/>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3C410D75-FBD1-DA64-B884-88993328C451}"/>
                  </a:ext>
                </a:extLst>
              </p:cNvPr>
              <p:cNvSpPr/>
              <p:nvPr/>
            </p:nvSpPr>
            <p:spPr>
              <a:xfrm>
                <a:off x="66229" y="1469928"/>
                <a:ext cx="4476115" cy="382858"/>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grpSp>
        <p:nvGrpSpPr>
          <p:cNvPr id="4" name="Group 3">
            <a:extLst>
              <a:ext uri="{FF2B5EF4-FFF2-40B4-BE49-F238E27FC236}">
                <a16:creationId xmlns:a16="http://schemas.microsoft.com/office/drawing/2014/main" id="{5FCA9C8A-96CF-D17E-314F-96640852FEBE}"/>
              </a:ext>
            </a:extLst>
          </p:cNvPr>
          <p:cNvGrpSpPr/>
          <p:nvPr/>
        </p:nvGrpSpPr>
        <p:grpSpPr>
          <a:xfrm>
            <a:off x="194091" y="1425576"/>
            <a:ext cx="5810394" cy="1676402"/>
            <a:chOff x="714375" y="1120775"/>
            <a:chExt cx="4476115" cy="987092"/>
          </a:xfrm>
        </p:grpSpPr>
        <p:sp>
          <p:nvSpPr>
            <p:cNvPr id="8" name="object 3">
              <a:extLst>
                <a:ext uri="{FF2B5EF4-FFF2-40B4-BE49-F238E27FC236}">
                  <a16:creationId xmlns:a16="http://schemas.microsoft.com/office/drawing/2014/main" id="{91D54B64-D06F-FD16-73AC-F98340FA98A0}"/>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5F455B12-E91C-9D0E-5B7C-FB02BA135543}"/>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Exclusion Restriction (ER): Institutional Setting of the FGP</a:t>
              </a:r>
              <a:endParaRPr sz="1000" dirty="0">
                <a:latin typeface="Tahoma"/>
                <a:cs typeface="Tahoma"/>
              </a:endParaRPr>
            </a:p>
          </p:txBody>
        </p:sp>
        <p:grpSp>
          <p:nvGrpSpPr>
            <p:cNvPr id="21" name="object 5">
              <a:extLst>
                <a:ext uri="{FF2B5EF4-FFF2-40B4-BE49-F238E27FC236}">
                  <a16:creationId xmlns:a16="http://schemas.microsoft.com/office/drawing/2014/main" id="{35D3AE3B-ADDC-1B44-ACBA-478BF1E3D961}"/>
                </a:ext>
              </a:extLst>
            </p:cNvPr>
            <p:cNvGrpSpPr/>
            <p:nvPr/>
          </p:nvGrpSpPr>
          <p:grpSpPr>
            <a:xfrm>
              <a:off x="714375" y="1283996"/>
              <a:ext cx="4476115" cy="823871"/>
              <a:chOff x="66229" y="1425651"/>
              <a:chExt cx="4476115" cy="823871"/>
            </a:xfrm>
          </p:grpSpPr>
          <p:pic>
            <p:nvPicPr>
              <p:cNvPr id="22" name="object 6">
                <a:extLst>
                  <a:ext uri="{FF2B5EF4-FFF2-40B4-BE49-F238E27FC236}">
                    <a16:creationId xmlns:a16="http://schemas.microsoft.com/office/drawing/2014/main" id="{E5C6E4AD-FC84-2F12-7C7E-72B25FF66C12}"/>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B5872C51-396C-B64B-D76A-A309904C05DA}"/>
                  </a:ext>
                </a:extLst>
              </p:cNvPr>
              <p:cNvSpPr/>
              <p:nvPr/>
            </p:nvSpPr>
            <p:spPr>
              <a:xfrm>
                <a:off x="66229" y="1469927"/>
                <a:ext cx="4476115" cy="77959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2FCBA306-FE93-C98F-C1A1-EDAF65521740}"/>
              </a:ext>
            </a:extLst>
          </p:cNvPr>
          <p:cNvSpPr txBox="1"/>
          <p:nvPr/>
        </p:nvSpPr>
        <p:spPr>
          <a:xfrm>
            <a:off x="198351" y="1713626"/>
            <a:ext cx="5797528" cy="1246495"/>
          </a:xfrm>
          <a:prstGeom prst="rect">
            <a:avLst/>
          </a:prstGeom>
          <a:noFill/>
        </p:spPr>
        <p:txBody>
          <a:bodyPr wrap="square">
            <a:spAutoFit/>
          </a:bodyPr>
          <a:lstStyle/>
          <a:p>
            <a:pPr>
              <a:spcBef>
                <a:spcPts val="300"/>
              </a:spcBef>
              <a:spcAft>
                <a:spcPts val="300"/>
              </a:spcAft>
            </a:pPr>
            <a:r>
              <a:rPr lang="en-US" sz="1100" b="1" dirty="0">
                <a:solidFill>
                  <a:srgbClr val="690204"/>
                </a:solidFill>
                <a:latin typeface="Arial" panose="020B0604020202020204" pitchFamily="34" charset="0"/>
                <a:cs typeface="Arial" panose="020B0604020202020204" pitchFamily="34" charset="0"/>
              </a:rPr>
              <a:t>ER: </a:t>
            </a:r>
            <a:r>
              <a:rPr lang="en-US" sz="1100" dirty="0">
                <a:solidFill>
                  <a:srgbClr val="690204"/>
                </a:solidFill>
                <a:latin typeface="Arial" panose="020B0604020202020204" pitchFamily="34" charset="0"/>
                <a:cs typeface="Arial" panose="020B0604020202020204" pitchFamily="34" charset="0"/>
              </a:rPr>
              <a:t>FGP Errors only influence short-term debt through cash reserves.</a:t>
            </a:r>
            <a:endParaRPr lang="en-US" sz="1100" spc="-25" dirty="0">
              <a:solidFill>
                <a:srgbClr val="690204"/>
              </a:solidFill>
              <a:latin typeface="Arial" panose="020B0604020202020204" pitchFamily="34" charset="0"/>
              <a:cs typeface="Arial" panose="020B0604020202020204" pitchFamily="34" charset="0"/>
            </a:endParaRP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FGP annual shares had been historically stable. Determined mainly by population.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Tax collection done by the federal government with no intervention of the states.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Monthly calendar is determined by the federal government with no clear rules.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No systematic pass-through of national FGP error to states FGP error. </a:t>
            </a:r>
          </a:p>
        </p:txBody>
      </p:sp>
      <p:sp>
        <p:nvSpPr>
          <p:cNvPr id="9" name="TextBox 8">
            <a:extLst>
              <a:ext uri="{FF2B5EF4-FFF2-40B4-BE49-F238E27FC236}">
                <a16:creationId xmlns:a16="http://schemas.microsoft.com/office/drawing/2014/main" id="{80368F7B-80B4-E8A6-1D39-CA386C5E898D}"/>
              </a:ext>
            </a:extLst>
          </p:cNvPr>
          <p:cNvSpPr txBox="1"/>
          <p:nvPr/>
        </p:nvSpPr>
        <p:spPr>
          <a:xfrm>
            <a:off x="177498" y="662497"/>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b="1" spc="-25" dirty="0">
                <a:latin typeface="Arial"/>
                <a:cs typeface="Arial"/>
              </a:rPr>
              <a:t>Descriptive Stats: </a:t>
            </a:r>
            <a:r>
              <a:rPr lang="en-US" sz="1100" spc="-25" dirty="0">
                <a:latin typeface="Arial"/>
                <a:cs typeface="Arial"/>
              </a:rPr>
              <a:t>observing a quarterly FGP error within one SD from the mean is equivalent to 12% of the average stock of cash reserves. </a:t>
            </a:r>
          </a:p>
          <a:p>
            <a:pPr marL="171450" indent="-171450">
              <a:spcBef>
                <a:spcPts val="300"/>
              </a:spcBef>
              <a:spcAft>
                <a:spcPts val="300"/>
              </a:spcAft>
              <a:buFont typeface="Arial" panose="020B0604020202020204" pitchFamily="34" charset="0"/>
              <a:buChar char="•"/>
            </a:pPr>
            <a:r>
              <a:rPr lang="en-US" sz="1100" b="1" spc="-25" dirty="0">
                <a:latin typeface="Arial"/>
                <a:cs typeface="Arial"/>
              </a:rPr>
              <a:t>Formal test: </a:t>
            </a:r>
            <a:r>
              <a:rPr lang="en-US" sz="1100" spc="-25" dirty="0">
                <a:latin typeface="Arial"/>
                <a:cs typeface="Arial"/>
              </a:rPr>
              <a:t>Cragg-Donald test for weak instruments (First stage F stat).  </a:t>
            </a:r>
            <a:endParaRPr lang="en-US" sz="1100" dirty="0"/>
          </a:p>
        </p:txBody>
      </p:sp>
      <p:sp>
        <p:nvSpPr>
          <p:cNvPr id="2" name="Rectangle 1">
            <a:extLst>
              <a:ext uri="{FF2B5EF4-FFF2-40B4-BE49-F238E27FC236}">
                <a16:creationId xmlns:a16="http://schemas.microsoft.com/office/drawing/2014/main" id="{5077C192-BB70-A4C3-A4FB-BCF4DD1EF574}"/>
              </a:ext>
            </a:extLst>
          </p:cNvPr>
          <p:cNvSpPr/>
          <p:nvPr/>
        </p:nvSpPr>
        <p:spPr>
          <a:xfrm>
            <a:off x="85346" y="1396721"/>
            <a:ext cx="5981772" cy="17052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64719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60D03-6318-032C-DF4C-C9F5EBD667C0}"/>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A68EF54E-8069-E87E-1988-282DED97B173}"/>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Identification</a:t>
            </a:r>
          </a:p>
        </p:txBody>
      </p:sp>
      <p:grpSp>
        <p:nvGrpSpPr>
          <p:cNvPr id="13" name="Group 12">
            <a:extLst>
              <a:ext uri="{FF2B5EF4-FFF2-40B4-BE49-F238E27FC236}">
                <a16:creationId xmlns:a16="http://schemas.microsoft.com/office/drawing/2014/main" id="{9E891615-2E61-862C-22F2-A6075AC16050}"/>
              </a:ext>
            </a:extLst>
          </p:cNvPr>
          <p:cNvGrpSpPr/>
          <p:nvPr/>
        </p:nvGrpSpPr>
        <p:grpSpPr>
          <a:xfrm>
            <a:off x="171378" y="358774"/>
            <a:ext cx="5810394" cy="1002615"/>
            <a:chOff x="714375" y="1120775"/>
            <a:chExt cx="4476115" cy="590356"/>
          </a:xfrm>
        </p:grpSpPr>
        <p:sp>
          <p:nvSpPr>
            <p:cNvPr id="14" name="object 3">
              <a:extLst>
                <a:ext uri="{FF2B5EF4-FFF2-40B4-BE49-F238E27FC236}">
                  <a16:creationId xmlns:a16="http://schemas.microsoft.com/office/drawing/2014/main" id="{B1E31EB7-1A00-E2EF-39A9-3E3AB4E40164}"/>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5" name="object 4">
              <a:extLst>
                <a:ext uri="{FF2B5EF4-FFF2-40B4-BE49-F238E27FC236}">
                  <a16:creationId xmlns:a16="http://schemas.microsoft.com/office/drawing/2014/main" id="{1378AA78-BED1-C7BF-B3A4-1CB0DF2C39C8}"/>
                </a:ext>
              </a:extLst>
            </p:cNvPr>
            <p:cNvSpPr txBox="1"/>
            <p:nvPr/>
          </p:nvSpPr>
          <p:spPr>
            <a:xfrm>
              <a:off x="765176" y="1165643"/>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Relevance Assumption: </a:t>
              </a:r>
              <a:r>
                <a:rPr lang="en-US" sz="1000" spc="-25" dirty="0">
                  <a:solidFill>
                    <a:schemeClr val="bg1"/>
                  </a:solidFill>
                  <a:latin typeface="Arial"/>
                  <a:cs typeface="Arial"/>
                </a:rPr>
                <a:t>FGP Errors influence the level of cash reserves. </a:t>
              </a:r>
            </a:p>
          </p:txBody>
        </p:sp>
        <p:grpSp>
          <p:nvGrpSpPr>
            <p:cNvPr id="16" name="object 5">
              <a:extLst>
                <a:ext uri="{FF2B5EF4-FFF2-40B4-BE49-F238E27FC236}">
                  <a16:creationId xmlns:a16="http://schemas.microsoft.com/office/drawing/2014/main" id="{3285FEDF-2335-95CC-1285-B2AD7EBCE2DC}"/>
                </a:ext>
              </a:extLst>
            </p:cNvPr>
            <p:cNvGrpSpPr/>
            <p:nvPr/>
          </p:nvGrpSpPr>
          <p:grpSpPr>
            <a:xfrm>
              <a:off x="714375" y="1283996"/>
              <a:ext cx="4476115" cy="427135"/>
              <a:chOff x="66229" y="1425651"/>
              <a:chExt cx="4476115" cy="427135"/>
            </a:xfrm>
          </p:grpSpPr>
          <p:pic>
            <p:nvPicPr>
              <p:cNvPr id="18" name="object 6">
                <a:extLst>
                  <a:ext uri="{FF2B5EF4-FFF2-40B4-BE49-F238E27FC236}">
                    <a16:creationId xmlns:a16="http://schemas.microsoft.com/office/drawing/2014/main" id="{EB882762-1602-C7BA-E6DA-FF87BD3C75A5}"/>
                  </a:ext>
                </a:extLst>
              </p:cNvPr>
              <p:cNvPicPr/>
              <p:nvPr/>
            </p:nvPicPr>
            <p:blipFill>
              <a:blip r:embed="rId3" cstate="print"/>
              <a:stretch>
                <a:fillRect/>
              </a:stretch>
            </p:blipFill>
            <p:spPr>
              <a:xfrm>
                <a:off x="66229" y="1425651"/>
                <a:ext cx="4475587" cy="50609"/>
              </a:xfrm>
              <a:prstGeom prst="rect">
                <a:avLst/>
              </a:prstGeom>
            </p:spPr>
          </p:pic>
          <p:sp>
            <p:nvSpPr>
              <p:cNvPr id="19" name="object 8">
                <a:extLst>
                  <a:ext uri="{FF2B5EF4-FFF2-40B4-BE49-F238E27FC236}">
                    <a16:creationId xmlns:a16="http://schemas.microsoft.com/office/drawing/2014/main" id="{C9F7E088-0153-9BCF-829D-5791CDDCC188}"/>
                  </a:ext>
                </a:extLst>
              </p:cNvPr>
              <p:cNvSpPr/>
              <p:nvPr/>
            </p:nvSpPr>
            <p:spPr>
              <a:xfrm>
                <a:off x="66229" y="1469928"/>
                <a:ext cx="4476115" cy="382858"/>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grpSp>
        <p:nvGrpSpPr>
          <p:cNvPr id="4" name="Group 3">
            <a:extLst>
              <a:ext uri="{FF2B5EF4-FFF2-40B4-BE49-F238E27FC236}">
                <a16:creationId xmlns:a16="http://schemas.microsoft.com/office/drawing/2014/main" id="{5D401732-59AA-38CE-7764-8CFB7B0F4547}"/>
              </a:ext>
            </a:extLst>
          </p:cNvPr>
          <p:cNvGrpSpPr/>
          <p:nvPr/>
        </p:nvGrpSpPr>
        <p:grpSpPr>
          <a:xfrm>
            <a:off x="194091" y="1425576"/>
            <a:ext cx="5810394" cy="1676402"/>
            <a:chOff x="714375" y="1120775"/>
            <a:chExt cx="4476115" cy="987092"/>
          </a:xfrm>
        </p:grpSpPr>
        <p:sp>
          <p:nvSpPr>
            <p:cNvPr id="8" name="object 3">
              <a:extLst>
                <a:ext uri="{FF2B5EF4-FFF2-40B4-BE49-F238E27FC236}">
                  <a16:creationId xmlns:a16="http://schemas.microsoft.com/office/drawing/2014/main" id="{BA0D381C-4DFF-3675-E087-586D9FD1E722}"/>
                </a:ext>
              </a:extLst>
            </p:cNvPr>
            <p:cNvSpPr/>
            <p:nvPr/>
          </p:nvSpPr>
          <p:spPr>
            <a:xfrm>
              <a:off x="714375" y="1120775"/>
              <a:ext cx="4476115" cy="175895"/>
            </a:xfrm>
            <a:custGeom>
              <a:avLst/>
              <a:gdLst/>
              <a:ahLst/>
              <a:cxnLst/>
              <a:rect l="l" t="t" r="r" b="b"/>
              <a:pathLst>
                <a:path w="4476115" h="175894">
                  <a:moveTo>
                    <a:pt x="4424787" y="0"/>
                  </a:moveTo>
                  <a:lnTo>
                    <a:pt x="50800" y="0"/>
                  </a:lnTo>
                  <a:lnTo>
                    <a:pt x="31075" y="4008"/>
                  </a:lnTo>
                  <a:lnTo>
                    <a:pt x="14922" y="14922"/>
                  </a:lnTo>
                  <a:lnTo>
                    <a:pt x="4008" y="31075"/>
                  </a:lnTo>
                  <a:lnTo>
                    <a:pt x="0" y="50800"/>
                  </a:lnTo>
                  <a:lnTo>
                    <a:pt x="0" y="175874"/>
                  </a:lnTo>
                  <a:lnTo>
                    <a:pt x="4475587" y="175874"/>
                  </a:lnTo>
                  <a:lnTo>
                    <a:pt x="4475587" y="50800"/>
                  </a:lnTo>
                  <a:lnTo>
                    <a:pt x="4471579" y="31075"/>
                  </a:lnTo>
                  <a:lnTo>
                    <a:pt x="4460665" y="14922"/>
                  </a:lnTo>
                  <a:lnTo>
                    <a:pt x="4444512" y="4008"/>
                  </a:lnTo>
                  <a:lnTo>
                    <a:pt x="4424787" y="0"/>
                  </a:lnTo>
                  <a:close/>
                </a:path>
              </a:pathLst>
            </a:custGeom>
            <a:solidFill>
              <a:srgbClr val="690204"/>
            </a:solidFill>
          </p:spPr>
          <p:txBody>
            <a:bodyPr wrap="square" lIns="0" tIns="0" rIns="0" bIns="0" rtlCol="0"/>
            <a:lstStyle/>
            <a:p>
              <a:endParaRPr/>
            </a:p>
          </p:txBody>
        </p:sp>
        <p:sp>
          <p:nvSpPr>
            <p:cNvPr id="17" name="object 4">
              <a:extLst>
                <a:ext uri="{FF2B5EF4-FFF2-40B4-BE49-F238E27FC236}">
                  <a16:creationId xmlns:a16="http://schemas.microsoft.com/office/drawing/2014/main" id="{B9F894B3-46E4-7B3F-0C2D-A4C1FEBAE6C8}"/>
                </a:ext>
              </a:extLst>
            </p:cNvPr>
            <p:cNvSpPr txBox="1"/>
            <p:nvPr/>
          </p:nvSpPr>
          <p:spPr>
            <a:xfrm>
              <a:off x="765176" y="1150701"/>
              <a:ext cx="4178950" cy="75510"/>
            </a:xfrm>
            <a:prstGeom prst="rect">
              <a:avLst/>
            </a:prstGeom>
          </p:spPr>
          <p:txBody>
            <a:bodyPr vert="horz" wrap="square" lIns="0" tIns="0" rIns="0" bIns="0" rtlCol="0">
              <a:spAutoFit/>
            </a:bodyPr>
            <a:lstStyle/>
            <a:p>
              <a:pPr>
                <a:lnSpc>
                  <a:spcPts val="955"/>
                </a:lnSpc>
              </a:pPr>
              <a:r>
                <a:rPr lang="en-US" sz="1000" dirty="0">
                  <a:solidFill>
                    <a:srgbClr val="FFFFFF"/>
                  </a:solidFill>
                  <a:latin typeface="Tahoma"/>
                  <a:cs typeface="Tahoma"/>
                </a:rPr>
                <a:t>Exclusion Restriction (ER): Institutional Setting of the FGP</a:t>
              </a:r>
              <a:endParaRPr sz="1000" dirty="0">
                <a:latin typeface="Tahoma"/>
                <a:cs typeface="Tahoma"/>
              </a:endParaRPr>
            </a:p>
          </p:txBody>
        </p:sp>
        <p:grpSp>
          <p:nvGrpSpPr>
            <p:cNvPr id="21" name="object 5">
              <a:extLst>
                <a:ext uri="{FF2B5EF4-FFF2-40B4-BE49-F238E27FC236}">
                  <a16:creationId xmlns:a16="http://schemas.microsoft.com/office/drawing/2014/main" id="{E4EDD918-43EA-935C-75D6-1EFD6EB8D849}"/>
                </a:ext>
              </a:extLst>
            </p:cNvPr>
            <p:cNvGrpSpPr/>
            <p:nvPr/>
          </p:nvGrpSpPr>
          <p:grpSpPr>
            <a:xfrm>
              <a:off x="714375" y="1283996"/>
              <a:ext cx="4476115" cy="823871"/>
              <a:chOff x="66229" y="1425651"/>
              <a:chExt cx="4476115" cy="823871"/>
            </a:xfrm>
          </p:grpSpPr>
          <p:pic>
            <p:nvPicPr>
              <p:cNvPr id="22" name="object 6">
                <a:extLst>
                  <a:ext uri="{FF2B5EF4-FFF2-40B4-BE49-F238E27FC236}">
                    <a16:creationId xmlns:a16="http://schemas.microsoft.com/office/drawing/2014/main" id="{3921FFFA-D21A-FE7A-560E-FEB32881F81B}"/>
                  </a:ext>
                </a:extLst>
              </p:cNvPr>
              <p:cNvPicPr/>
              <p:nvPr/>
            </p:nvPicPr>
            <p:blipFill>
              <a:blip r:embed="rId3" cstate="print"/>
              <a:stretch>
                <a:fillRect/>
              </a:stretch>
            </p:blipFill>
            <p:spPr>
              <a:xfrm>
                <a:off x="66229" y="1425651"/>
                <a:ext cx="4475587" cy="50609"/>
              </a:xfrm>
              <a:prstGeom prst="rect">
                <a:avLst/>
              </a:prstGeom>
            </p:spPr>
          </p:pic>
          <p:sp>
            <p:nvSpPr>
              <p:cNvPr id="24" name="object 8">
                <a:extLst>
                  <a:ext uri="{FF2B5EF4-FFF2-40B4-BE49-F238E27FC236}">
                    <a16:creationId xmlns:a16="http://schemas.microsoft.com/office/drawing/2014/main" id="{4609508A-4150-AFCB-1A44-18E64D54D029}"/>
                  </a:ext>
                </a:extLst>
              </p:cNvPr>
              <p:cNvSpPr/>
              <p:nvPr/>
            </p:nvSpPr>
            <p:spPr>
              <a:xfrm>
                <a:off x="66229" y="1469927"/>
                <a:ext cx="4476115" cy="779595"/>
              </a:xfrm>
              <a:custGeom>
                <a:avLst/>
                <a:gdLst/>
                <a:ahLst/>
                <a:cxnLst/>
                <a:rect l="l" t="t" r="r" b="b"/>
                <a:pathLst>
                  <a:path w="4476115" h="555625">
                    <a:moveTo>
                      <a:pt x="4475587" y="0"/>
                    </a:moveTo>
                    <a:lnTo>
                      <a:pt x="0" y="0"/>
                    </a:lnTo>
                    <a:lnTo>
                      <a:pt x="0" y="504795"/>
                    </a:lnTo>
                    <a:lnTo>
                      <a:pt x="4008" y="524520"/>
                    </a:lnTo>
                    <a:lnTo>
                      <a:pt x="14922" y="540673"/>
                    </a:lnTo>
                    <a:lnTo>
                      <a:pt x="31075" y="551587"/>
                    </a:lnTo>
                    <a:lnTo>
                      <a:pt x="50800" y="555596"/>
                    </a:lnTo>
                    <a:lnTo>
                      <a:pt x="4424787" y="555596"/>
                    </a:lnTo>
                    <a:lnTo>
                      <a:pt x="4444512" y="551587"/>
                    </a:lnTo>
                    <a:lnTo>
                      <a:pt x="4460665" y="540673"/>
                    </a:lnTo>
                    <a:lnTo>
                      <a:pt x="4471579" y="524520"/>
                    </a:lnTo>
                    <a:lnTo>
                      <a:pt x="4475587" y="504795"/>
                    </a:lnTo>
                    <a:lnTo>
                      <a:pt x="4475587" y="0"/>
                    </a:lnTo>
                    <a:close/>
                  </a:path>
                </a:pathLst>
              </a:custGeom>
              <a:solidFill>
                <a:srgbClr val="F8F8F8"/>
              </a:solidFill>
            </p:spPr>
            <p:txBody>
              <a:bodyPr wrap="square" lIns="0" tIns="0" rIns="0" bIns="0" rtlCol="0"/>
              <a:lstStyle/>
              <a:p>
                <a:endParaRPr dirty="0"/>
              </a:p>
            </p:txBody>
          </p:sp>
        </p:grpSp>
      </p:grpSp>
      <p:sp>
        <p:nvSpPr>
          <p:cNvPr id="29" name="TextBox 28">
            <a:extLst>
              <a:ext uri="{FF2B5EF4-FFF2-40B4-BE49-F238E27FC236}">
                <a16:creationId xmlns:a16="http://schemas.microsoft.com/office/drawing/2014/main" id="{9C441F82-B188-1A9C-ED3A-40E81EE3E7FB}"/>
              </a:ext>
            </a:extLst>
          </p:cNvPr>
          <p:cNvSpPr txBox="1"/>
          <p:nvPr/>
        </p:nvSpPr>
        <p:spPr>
          <a:xfrm>
            <a:off x="198351" y="1713626"/>
            <a:ext cx="5797528" cy="1246495"/>
          </a:xfrm>
          <a:prstGeom prst="rect">
            <a:avLst/>
          </a:prstGeom>
          <a:noFill/>
        </p:spPr>
        <p:txBody>
          <a:bodyPr wrap="square">
            <a:spAutoFit/>
          </a:bodyPr>
          <a:lstStyle/>
          <a:p>
            <a:pPr>
              <a:spcBef>
                <a:spcPts val="300"/>
              </a:spcBef>
              <a:spcAft>
                <a:spcPts val="300"/>
              </a:spcAft>
            </a:pPr>
            <a:r>
              <a:rPr lang="en-US" sz="1100" b="1" dirty="0">
                <a:solidFill>
                  <a:srgbClr val="690204"/>
                </a:solidFill>
                <a:latin typeface="Arial" panose="020B0604020202020204" pitchFamily="34" charset="0"/>
                <a:cs typeface="Arial" panose="020B0604020202020204" pitchFamily="34" charset="0"/>
              </a:rPr>
              <a:t>ER: </a:t>
            </a:r>
            <a:r>
              <a:rPr lang="en-US" sz="1100" dirty="0">
                <a:solidFill>
                  <a:srgbClr val="690204"/>
                </a:solidFill>
                <a:latin typeface="Arial" panose="020B0604020202020204" pitchFamily="34" charset="0"/>
                <a:cs typeface="Arial" panose="020B0604020202020204" pitchFamily="34" charset="0"/>
              </a:rPr>
              <a:t>FGP Errors only influence short-term debt through cash reserves.</a:t>
            </a:r>
            <a:endParaRPr lang="en-US" sz="1100" spc="-25" dirty="0">
              <a:solidFill>
                <a:srgbClr val="690204"/>
              </a:solidFill>
              <a:latin typeface="Arial" panose="020B0604020202020204" pitchFamily="34" charset="0"/>
              <a:cs typeface="Arial" panose="020B0604020202020204" pitchFamily="34" charset="0"/>
            </a:endParaRP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FGP annual shares had been historically stable. Determined mainly by population.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Tax collection done by the federal government with no intervention of the states.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Monthly calendar is determined by the federal government with no clear rules. </a:t>
            </a:r>
          </a:p>
          <a:p>
            <a:pPr marL="171450" indent="-171450">
              <a:spcBef>
                <a:spcPts val="300"/>
              </a:spcBef>
              <a:spcAft>
                <a:spcPts val="300"/>
              </a:spcAft>
              <a:buFont typeface="Arial" panose="020B0604020202020204" pitchFamily="34" charset="0"/>
              <a:buChar char="•"/>
            </a:pPr>
            <a:r>
              <a:rPr lang="en-US" sz="1100" spc="-25" dirty="0">
                <a:latin typeface="Arial" panose="020B0604020202020204" pitchFamily="34" charset="0"/>
                <a:cs typeface="Arial" panose="020B0604020202020204" pitchFamily="34" charset="0"/>
              </a:rPr>
              <a:t>No systematic pass-through of national FGP error to states FGP error. </a:t>
            </a:r>
          </a:p>
        </p:txBody>
      </p:sp>
      <p:sp>
        <p:nvSpPr>
          <p:cNvPr id="9" name="TextBox 8">
            <a:extLst>
              <a:ext uri="{FF2B5EF4-FFF2-40B4-BE49-F238E27FC236}">
                <a16:creationId xmlns:a16="http://schemas.microsoft.com/office/drawing/2014/main" id="{D5162129-E5F6-E1E1-3D77-0D3DA06BEE3E}"/>
              </a:ext>
            </a:extLst>
          </p:cNvPr>
          <p:cNvSpPr txBox="1"/>
          <p:nvPr/>
        </p:nvSpPr>
        <p:spPr>
          <a:xfrm>
            <a:off x="177498" y="662497"/>
            <a:ext cx="5797528" cy="677108"/>
          </a:xfrm>
          <a:prstGeom prst="rect">
            <a:avLst/>
          </a:prstGeom>
          <a:noFill/>
        </p:spPr>
        <p:txBody>
          <a:bodyPr wrap="square">
            <a:spAutoFit/>
          </a:bodyPr>
          <a:lstStyle/>
          <a:p>
            <a:pPr marL="171450" indent="-171450">
              <a:spcBef>
                <a:spcPts val="300"/>
              </a:spcBef>
              <a:spcAft>
                <a:spcPts val="300"/>
              </a:spcAft>
              <a:buFont typeface="Arial" panose="020B0604020202020204" pitchFamily="34" charset="0"/>
              <a:buChar char="•"/>
            </a:pPr>
            <a:r>
              <a:rPr lang="en-US" sz="1100" b="1" spc="-25" dirty="0">
                <a:latin typeface="Arial"/>
                <a:cs typeface="Arial"/>
              </a:rPr>
              <a:t>Descriptive Stats: </a:t>
            </a:r>
            <a:r>
              <a:rPr lang="en-US" sz="1100" spc="-25" dirty="0">
                <a:latin typeface="Arial"/>
                <a:cs typeface="Arial"/>
              </a:rPr>
              <a:t>observing a quarterly FGP error within one SD from the mean is equivalent to 12% of the average stock of cash reserves. </a:t>
            </a:r>
          </a:p>
          <a:p>
            <a:pPr marL="171450" indent="-171450">
              <a:spcBef>
                <a:spcPts val="300"/>
              </a:spcBef>
              <a:spcAft>
                <a:spcPts val="300"/>
              </a:spcAft>
              <a:buFont typeface="Arial" panose="020B0604020202020204" pitchFamily="34" charset="0"/>
              <a:buChar char="•"/>
            </a:pPr>
            <a:r>
              <a:rPr lang="en-US" sz="1100" b="1" spc="-25" dirty="0">
                <a:latin typeface="Arial"/>
                <a:cs typeface="Arial"/>
              </a:rPr>
              <a:t>Formal test: </a:t>
            </a:r>
            <a:r>
              <a:rPr lang="en-US" sz="1100" spc="-25" dirty="0">
                <a:latin typeface="Arial"/>
                <a:cs typeface="Arial"/>
              </a:rPr>
              <a:t>Cragg-Donald test for weak instruments (First stage F stat).  </a:t>
            </a:r>
            <a:endParaRPr lang="en-US" sz="1100" dirty="0"/>
          </a:p>
        </p:txBody>
      </p:sp>
    </p:spTree>
    <p:extLst>
      <p:ext uri="{BB962C8B-B14F-4D97-AF65-F5344CB8AC3E}">
        <p14:creationId xmlns:p14="http://schemas.microsoft.com/office/powerpoint/2010/main" val="3571177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66C39-4323-0632-9A63-188BB18AF835}"/>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45B45DCF-D5CF-3CAD-8117-FA81E0008543}"/>
              </a:ext>
            </a:extLst>
          </p:cNvPr>
          <p:cNvSpPr txBox="1"/>
          <p:nvPr/>
        </p:nvSpPr>
        <p:spPr>
          <a:xfrm>
            <a:off x="1196873" y="695028"/>
            <a:ext cx="3759404"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Instrument Validity: Effect of FGP Errors on Local Economic Activity</a:t>
            </a:r>
            <a:endParaRPr sz="800" dirty="0">
              <a:latin typeface="Arial"/>
              <a:cs typeface="Arial"/>
            </a:endParaRPr>
          </a:p>
        </p:txBody>
      </p:sp>
      <p:sp>
        <p:nvSpPr>
          <p:cNvPr id="9" name="object 5">
            <a:extLst>
              <a:ext uri="{FF2B5EF4-FFF2-40B4-BE49-F238E27FC236}">
                <a16:creationId xmlns:a16="http://schemas.microsoft.com/office/drawing/2014/main" id="{64BDF26E-77EB-CBF8-2210-4DB2924D0E02}"/>
              </a:ext>
            </a:extLst>
          </p:cNvPr>
          <p:cNvSpPr txBox="1"/>
          <p:nvPr/>
        </p:nvSpPr>
        <p:spPr>
          <a:xfrm>
            <a:off x="147494" y="2873375"/>
            <a:ext cx="5989986" cy="278731"/>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These panels show the results from estimating Equation 9 across different subsets of the data set. In this case, with observations from each quarter of the calendar year. All coefficients correspond to the 2SLS specification with controls, state and quarter-by-year fixed effects. All the dependent, independent, and instrumental variables are expressed as a percentage of each state’s average discretionary revenues (DR) from 2009-2016. Time FE = Quarter-Year FE. Standard errors clustered by state. Significance level: +p &lt; 0.10, *p &lt; 0.05 , ** p &lt; 0.01 , *** p &lt; 0.001</a:t>
            </a:r>
          </a:p>
        </p:txBody>
      </p:sp>
      <p:sp>
        <p:nvSpPr>
          <p:cNvPr id="2" name="TextBox 1">
            <a:extLst>
              <a:ext uri="{FF2B5EF4-FFF2-40B4-BE49-F238E27FC236}">
                <a16:creationId xmlns:a16="http://schemas.microsoft.com/office/drawing/2014/main" id="{269C9EA2-EF2A-D63A-A6EC-C358FE8683D8}"/>
              </a:ext>
            </a:extLst>
          </p:cNvPr>
          <p:cNvSpPr txBox="1"/>
          <p:nvPr/>
        </p:nvSpPr>
        <p:spPr>
          <a:xfrm>
            <a:off x="-85725" y="0"/>
            <a:ext cx="6324600"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IV Validity: FGP Errors do not predict state economic activity. </a:t>
            </a:r>
          </a:p>
        </p:txBody>
      </p:sp>
      <p:graphicFrame>
        <p:nvGraphicFramePr>
          <p:cNvPr id="5" name="Table 4">
            <a:extLst>
              <a:ext uri="{FF2B5EF4-FFF2-40B4-BE49-F238E27FC236}">
                <a16:creationId xmlns:a16="http://schemas.microsoft.com/office/drawing/2014/main" id="{B638DE6E-1AB5-ADB5-D71C-55B23DBBB652}"/>
              </a:ext>
            </a:extLst>
          </p:cNvPr>
          <p:cNvGraphicFramePr>
            <a:graphicFrameLocks noGrp="1"/>
          </p:cNvGraphicFramePr>
          <p:nvPr/>
        </p:nvGraphicFramePr>
        <p:xfrm>
          <a:off x="965454" y="874992"/>
          <a:ext cx="3985995" cy="1953711"/>
        </p:xfrm>
        <a:graphic>
          <a:graphicData uri="http://schemas.openxmlformats.org/drawingml/2006/table">
            <a:tbl>
              <a:tblPr firstRow="1" firstCol="1" lastRow="1" lastCol="1" bandRow="1" bandCol="1"/>
              <a:tblGrid>
                <a:gridCol w="2133601">
                  <a:extLst>
                    <a:ext uri="{9D8B030D-6E8A-4147-A177-3AD203B41FA5}">
                      <a16:colId xmlns:a16="http://schemas.microsoft.com/office/drawing/2014/main" val="2365279943"/>
                    </a:ext>
                  </a:extLst>
                </a:gridCol>
                <a:gridCol w="926197">
                  <a:extLst>
                    <a:ext uri="{9D8B030D-6E8A-4147-A177-3AD203B41FA5}">
                      <a16:colId xmlns:a16="http://schemas.microsoft.com/office/drawing/2014/main" val="3008995102"/>
                    </a:ext>
                  </a:extLst>
                </a:gridCol>
                <a:gridCol w="926197">
                  <a:extLst>
                    <a:ext uri="{9D8B030D-6E8A-4147-A177-3AD203B41FA5}">
                      <a16:colId xmlns:a16="http://schemas.microsoft.com/office/drawing/2014/main" val="500597512"/>
                    </a:ext>
                  </a:extLst>
                </a:gridCol>
              </a:tblGrid>
              <a:tr h="91440">
                <a:tc>
                  <a:txBody>
                    <a:bodyPr/>
                    <a:lstStyle/>
                    <a:p>
                      <a:pPr marL="75565" marR="0" algn="l">
                        <a:lnSpc>
                          <a:spcPts val="105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Dependent</a:t>
                      </a:r>
                      <a:r>
                        <a:rPr lang="en-US" sz="900" spc="80">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Variable</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981390"/>
                  </a:ext>
                </a:extLst>
              </a:tr>
              <a:tr h="91440">
                <a:tc>
                  <a:txBody>
                    <a:bodyPr/>
                    <a:lstStyle/>
                    <a:p>
                      <a:pPr marL="75565" marR="0" algn="l">
                        <a:lnSpc>
                          <a:spcPts val="102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Unemployment</a:t>
                      </a:r>
                      <a:r>
                        <a:rPr lang="en-US" sz="900" spc="15" dirty="0">
                          <a:effectLst/>
                          <a:latin typeface="Arial" panose="020B0604020202020204" pitchFamily="34" charset="0"/>
                          <a:ea typeface="Cambria" panose="02040503050406030204" pitchFamily="18" charset="0"/>
                          <a:cs typeface="Arial" panose="020B0604020202020204" pitchFamily="34" charset="0"/>
                        </a:rPr>
                        <a:t> </a:t>
                      </a:r>
                      <a:r>
                        <a:rPr lang="en-US" sz="900" spc="-20" dirty="0">
                          <a:effectLst/>
                          <a:latin typeface="Arial" panose="020B0604020202020204" pitchFamily="34" charset="0"/>
                          <a:ea typeface="Cambria" panose="02040503050406030204" pitchFamily="18" charset="0"/>
                          <a:cs typeface="Arial" panose="020B0604020202020204" pitchFamily="34" charset="0"/>
                        </a:rPr>
                        <a:t>Rate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chemeClr val="accent2">
                        <a:lumMod val="20000"/>
                        <a:lumOff val="80000"/>
                      </a:schemeClr>
                    </a:solidFill>
                  </a:tcPr>
                </a:tc>
                <a:extLst>
                  <a:ext uri="{0D108BD9-81ED-4DB2-BD59-A6C34878D82A}">
                    <a16:rowId xmlns:a16="http://schemas.microsoft.com/office/drawing/2014/main" val="2107602810"/>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679423848"/>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Active</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Taxpayers</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80" dirty="0">
                          <a:effectLst/>
                          <a:latin typeface="Arial" panose="020B0604020202020204" pitchFamily="34" charset="0"/>
                          <a:ea typeface="Cambria" panose="02040503050406030204" pitchFamily="18" charset="0"/>
                          <a:cs typeface="Arial" panose="020B0604020202020204" pitchFamily="34" charset="0"/>
                        </a:rPr>
                        <a:t> </a:t>
                      </a:r>
                      <a:r>
                        <a:rPr lang="en-US" sz="9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276777496"/>
                  </a:ext>
                </a:extLst>
              </a:tr>
              <a:tr h="9144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26935933"/>
                  </a:ext>
                </a:extLst>
              </a:tr>
              <a:tr h="91440">
                <a:tc>
                  <a:txBody>
                    <a:bodyPr/>
                    <a:lstStyle/>
                    <a:p>
                      <a:pPr marL="75565" marR="0" algn="l">
                        <a:lnSpc>
                          <a:spcPts val="109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Industrial</a:t>
                      </a:r>
                      <a:r>
                        <a:rPr lang="en-US" sz="900" spc="165">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Activity</a:t>
                      </a:r>
                      <a:r>
                        <a:rPr lang="en-US" sz="900" spc="170">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Index</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a:t>
                      </a:r>
                      <a:r>
                        <a:rPr lang="en-US" sz="900" spc="-10" dirty="0">
                          <a:effectLst/>
                          <a:latin typeface="Arial" panose="020B0604020202020204" pitchFamily="34" charset="0"/>
                          <a:ea typeface="Cambria" panose="02040503050406030204" pitchFamily="18" charset="0"/>
                          <a:cs typeface="Arial" panose="020B0604020202020204" pitchFamily="34" charset="0"/>
                        </a:rPr>
                        <a:t>0.024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851412731"/>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4247449494"/>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Quarterly</a:t>
                      </a:r>
                      <a:r>
                        <a:rPr lang="en-US" sz="900" spc="175"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Economic</a:t>
                      </a:r>
                      <a:r>
                        <a:rPr lang="en-US" sz="900" spc="180" dirty="0">
                          <a:effectLst/>
                          <a:latin typeface="Arial" panose="020B0604020202020204" pitchFamily="34" charset="0"/>
                          <a:ea typeface="Cambria" panose="02040503050406030204" pitchFamily="18" charset="0"/>
                          <a:cs typeface="Arial" panose="020B0604020202020204" pitchFamily="34" charset="0"/>
                        </a:rPr>
                        <a:t> </a:t>
                      </a:r>
                      <a:r>
                        <a:rPr lang="en-US" sz="900" dirty="0">
                          <a:effectLst/>
                          <a:latin typeface="Arial" panose="020B0604020202020204" pitchFamily="34" charset="0"/>
                          <a:ea typeface="Cambria" panose="02040503050406030204" pitchFamily="18" charset="0"/>
                          <a:cs typeface="Arial" panose="020B0604020202020204" pitchFamily="34" charset="0"/>
                        </a:rPr>
                        <a:t>Activity</a:t>
                      </a:r>
                      <a:r>
                        <a:rPr lang="en-US" sz="900" spc="175" dirty="0">
                          <a:effectLst/>
                          <a:latin typeface="Arial" panose="020B0604020202020204" pitchFamily="34" charset="0"/>
                          <a:ea typeface="Cambria" panose="02040503050406030204" pitchFamily="18" charset="0"/>
                          <a:cs typeface="Arial" panose="020B0604020202020204" pitchFamily="34" charset="0"/>
                        </a:rPr>
                        <a:t> </a:t>
                      </a:r>
                      <a:r>
                        <a:rPr lang="en-US" sz="900" spc="-10" dirty="0">
                          <a:effectLst/>
                          <a:latin typeface="Arial" panose="020B0604020202020204" pitchFamily="34" charset="0"/>
                          <a:ea typeface="Cambria" panose="02040503050406030204" pitchFamily="18" charset="0"/>
                          <a:cs typeface="Arial" panose="020B0604020202020204" pitchFamily="34" charset="0"/>
                        </a:rPr>
                        <a:t>Index</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801936035"/>
                  </a:ext>
                </a:extLst>
              </a:tr>
              <a:tr h="91440">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(0.237)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(0.199)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740455468"/>
                  </a:ext>
                </a:extLst>
              </a:tr>
              <a:tr h="91440">
                <a:tc>
                  <a:txBody>
                    <a:bodyPr/>
                    <a:lstStyle/>
                    <a:p>
                      <a:pPr marL="75565" marR="0" algn="l">
                        <a:lnSpc>
                          <a:spcPts val="1095"/>
                        </a:lnSpc>
                        <a:spcBef>
                          <a:spcPts val="0"/>
                        </a:spcBef>
                        <a:spcAft>
                          <a:spcPts val="0"/>
                        </a:spcAft>
                      </a:pPr>
                      <a:r>
                        <a:rPr lang="en-US" sz="900">
                          <a:effectLst/>
                          <a:latin typeface="Arial" panose="020B0604020202020204" pitchFamily="34" charset="0"/>
                          <a:ea typeface="Cambria" panose="02040503050406030204" pitchFamily="18" charset="0"/>
                          <a:cs typeface="Arial" panose="020B0604020202020204" pitchFamily="34" charset="0"/>
                        </a:rPr>
                        <a:t>Informal</a:t>
                      </a:r>
                      <a:r>
                        <a:rPr lang="en-US" sz="900" spc="80">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Labor</a:t>
                      </a:r>
                      <a:r>
                        <a:rPr lang="en-US" sz="900" spc="85">
                          <a:effectLst/>
                          <a:latin typeface="Arial" panose="020B0604020202020204" pitchFamily="34" charset="0"/>
                          <a:ea typeface="Cambria" panose="02040503050406030204" pitchFamily="18" charset="0"/>
                          <a:cs typeface="Arial" panose="020B0604020202020204" pitchFamily="34" charset="0"/>
                        </a:rPr>
                        <a:t> </a:t>
                      </a:r>
                      <a:r>
                        <a:rPr lang="en-US" sz="900">
                          <a:effectLst/>
                          <a:latin typeface="Arial" panose="020B0604020202020204" pitchFamily="34" charset="0"/>
                          <a:ea typeface="Cambria" panose="02040503050406030204" pitchFamily="18" charset="0"/>
                          <a:cs typeface="Arial" panose="020B0604020202020204" pitchFamily="34" charset="0"/>
                        </a:rPr>
                        <a:t>(%</a:t>
                      </a:r>
                      <a:r>
                        <a:rPr lang="en-US" sz="900" spc="85">
                          <a:effectLst/>
                          <a:latin typeface="Arial" panose="020B0604020202020204" pitchFamily="34" charset="0"/>
                          <a:ea typeface="Cambria" panose="02040503050406030204" pitchFamily="18" charset="0"/>
                          <a:cs typeface="Arial" panose="020B0604020202020204" pitchFamily="34" charset="0"/>
                        </a:rPr>
                        <a:t> </a:t>
                      </a:r>
                      <a:r>
                        <a:rPr lang="en-US" sz="900" spc="-10">
                          <a:effectLst/>
                          <a:latin typeface="Arial" panose="020B0604020202020204" pitchFamily="34" charset="0"/>
                          <a:ea typeface="Cambria" panose="02040503050406030204" pitchFamily="18" charset="0"/>
                          <a:cs typeface="Arial" panose="020B0604020202020204" pitchFamily="34" charset="0"/>
                        </a:rPr>
                        <a:t>Population)</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0.005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724078526"/>
                  </a:ext>
                </a:extLst>
              </a:tr>
              <a:tr h="91440">
                <a:tc>
                  <a:txBody>
                    <a:bodyPr/>
                    <a:lstStyle/>
                    <a:p>
                      <a:pPr marL="0"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 </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(0.022)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dirty="0">
                          <a:effectLst/>
                          <a:latin typeface="Arial" panose="020B0604020202020204" pitchFamily="34" charset="0"/>
                          <a:ea typeface="Cambria" panose="02040503050406030204" pitchFamily="18" charset="0"/>
                          <a:cs typeface="Arial" panose="020B0604020202020204" pitchFamily="34" charset="0"/>
                        </a:rPr>
                        <a:t>(0.018)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31680689"/>
                  </a:ext>
                </a:extLst>
              </a:tr>
              <a:tr h="91440">
                <a:tc>
                  <a:txBody>
                    <a:bodyPr/>
                    <a:lstStyle/>
                    <a:p>
                      <a:pPr marL="75565" marR="0" algn="l">
                        <a:lnSpc>
                          <a:spcPts val="1025"/>
                        </a:lnSpc>
                        <a:spcBef>
                          <a:spcPts val="0"/>
                        </a:spcBef>
                        <a:spcAft>
                          <a:spcPts val="0"/>
                        </a:spcAft>
                      </a:pPr>
                      <a:r>
                        <a:rPr lang="en-US" sz="900" spc="-10">
                          <a:effectLst/>
                          <a:latin typeface="Arial" panose="020B0604020202020204" pitchFamily="34" charset="0"/>
                          <a:ea typeface="Cambria" panose="02040503050406030204" pitchFamily="18" charset="0"/>
                          <a:cs typeface="Arial" panose="020B0604020202020204" pitchFamily="34" charset="0"/>
                        </a:rPr>
                        <a:t>Num.Obs.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597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597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78687942"/>
                  </a:ext>
                </a:extLst>
              </a:tr>
              <a:tr h="91440">
                <a:tc>
                  <a:txBody>
                    <a:bodyPr/>
                    <a:lstStyle/>
                    <a:p>
                      <a:pPr marL="75565" marR="0" algn="l">
                        <a:lnSpc>
                          <a:spcPts val="1095"/>
                        </a:lnSpc>
                        <a:spcBef>
                          <a:spcPts val="0"/>
                        </a:spcBef>
                        <a:spcAft>
                          <a:spcPts val="0"/>
                        </a:spcAft>
                      </a:pPr>
                      <a:r>
                        <a:rPr lang="en-US" sz="900" spc="-10">
                          <a:effectLst/>
                          <a:latin typeface="Arial" panose="020B0604020202020204" pitchFamily="34" charset="0"/>
                          <a:ea typeface="Cambria" panose="02040503050406030204" pitchFamily="18" charset="0"/>
                          <a:cs typeface="Arial" panose="020B0604020202020204" pitchFamily="34" charset="0"/>
                        </a:rPr>
                        <a:t>Controls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No</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2640331515"/>
                  </a:ext>
                </a:extLst>
              </a:tr>
              <a:tr h="91440">
                <a:tc>
                  <a:txBody>
                    <a:bodyPr/>
                    <a:lstStyle/>
                    <a:p>
                      <a:pPr marL="75565" marR="0" algn="l">
                        <a:lnSpc>
                          <a:spcPts val="109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State</a:t>
                      </a:r>
                      <a:r>
                        <a:rPr lang="en-US" sz="900" spc="-20" dirty="0">
                          <a:effectLst/>
                          <a:latin typeface="Arial" panose="020B0604020202020204" pitchFamily="34" charset="0"/>
                          <a:ea typeface="Cambria" panose="02040503050406030204" pitchFamily="18" charset="0"/>
                          <a:cs typeface="Arial" panose="020B0604020202020204" pitchFamily="34" charset="0"/>
                        </a:rPr>
                        <a:t> </a:t>
                      </a:r>
                      <a:r>
                        <a:rPr lang="en-US" sz="900" spc="-25" dirty="0">
                          <a:effectLst/>
                          <a:latin typeface="Arial" panose="020B0604020202020204" pitchFamily="34" charset="0"/>
                          <a:ea typeface="Cambria" panose="02040503050406030204" pitchFamily="18" charset="0"/>
                          <a:cs typeface="Arial" panose="020B0604020202020204" pitchFamily="34" charset="0"/>
                        </a:rPr>
                        <a:t>FE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Arial" panose="020B0604020202020204" pitchFamily="34" charset="0"/>
                          <a:ea typeface="Cambria" panose="02040503050406030204" pitchFamily="18" charset="0"/>
                          <a:cs typeface="Arial" panose="020B0604020202020204" pitchFamily="34" charset="0"/>
                        </a:rPr>
                        <a:t>Yes</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3322656681"/>
                  </a:ext>
                </a:extLst>
              </a:tr>
              <a:tr h="91440">
                <a:tc>
                  <a:txBody>
                    <a:bodyPr/>
                    <a:lstStyle/>
                    <a:p>
                      <a:pPr marL="75565" marR="0" algn="l">
                        <a:lnSpc>
                          <a:spcPts val="1125"/>
                        </a:lnSpc>
                        <a:spcBef>
                          <a:spcPts val="0"/>
                        </a:spcBef>
                        <a:spcAft>
                          <a:spcPts val="0"/>
                        </a:spcAft>
                      </a:pPr>
                      <a:r>
                        <a:rPr lang="en-US" sz="900" dirty="0">
                          <a:effectLst/>
                          <a:latin typeface="Arial" panose="020B0604020202020204" pitchFamily="34" charset="0"/>
                          <a:ea typeface="Cambria" panose="02040503050406030204" pitchFamily="18" charset="0"/>
                          <a:cs typeface="Arial" panose="020B0604020202020204" pitchFamily="34" charset="0"/>
                        </a:rPr>
                        <a:t>Time</a:t>
                      </a:r>
                      <a:r>
                        <a:rPr lang="en-US" sz="900" spc="40" dirty="0">
                          <a:effectLst/>
                          <a:latin typeface="Arial" panose="020B0604020202020204" pitchFamily="34" charset="0"/>
                          <a:ea typeface="Cambria" panose="02040503050406030204" pitchFamily="18" charset="0"/>
                          <a:cs typeface="Arial" panose="020B0604020202020204" pitchFamily="34" charset="0"/>
                        </a:rPr>
                        <a:t> </a:t>
                      </a:r>
                      <a:r>
                        <a:rPr lang="en-US" sz="900" spc="-25" dirty="0">
                          <a:effectLst/>
                          <a:latin typeface="Arial" panose="020B0604020202020204" pitchFamily="34" charset="0"/>
                          <a:ea typeface="Cambria" panose="02040503050406030204" pitchFamily="18" charset="0"/>
                          <a:cs typeface="Arial" panose="020B0604020202020204" pitchFamily="34" charset="0"/>
                        </a:rPr>
                        <a:t>FE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Arial" panose="020B0604020202020204" pitchFamily="34" charset="0"/>
                          <a:ea typeface="Cambria" panose="02040503050406030204" pitchFamily="18" charset="0"/>
                          <a:cs typeface="Arial" panose="020B0604020202020204" pitchFamily="34" charset="0"/>
                        </a:rPr>
                        <a:t>Yes</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7728186"/>
                  </a:ext>
                </a:extLst>
              </a:tr>
            </a:tbl>
          </a:graphicData>
        </a:graphic>
      </p:graphicFrame>
      <p:sp>
        <p:nvSpPr>
          <p:cNvPr id="3" name="object 3">
            <a:extLst>
              <a:ext uri="{FF2B5EF4-FFF2-40B4-BE49-F238E27FC236}">
                <a16:creationId xmlns:a16="http://schemas.microsoft.com/office/drawing/2014/main" id="{AB8338BB-B67A-267D-F8CC-9D60A962B9B4}"/>
              </a:ext>
            </a:extLst>
          </p:cNvPr>
          <p:cNvSpPr txBox="1"/>
          <p:nvPr/>
        </p:nvSpPr>
        <p:spPr>
          <a:xfrm>
            <a:off x="32508" y="430537"/>
            <a:ext cx="5928483" cy="189091"/>
          </a:xfrm>
          <a:prstGeom prst="rect">
            <a:avLst/>
          </a:prstGeom>
        </p:spPr>
        <p:txBody>
          <a:bodyPr vert="horz" wrap="square" lIns="0" tIns="12065" rIns="0" bIns="0" rtlCol="0">
            <a:spAutoFit/>
          </a:bodyPr>
          <a:lstStyle/>
          <a:p>
            <a:pPr marL="50165" marR="30480">
              <a:lnSpc>
                <a:spcPct val="114000"/>
              </a:lnSpc>
              <a:spcBef>
                <a:spcPts val="600"/>
              </a:spcBef>
              <a:spcAft>
                <a:spcPts val="600"/>
              </a:spcAft>
              <a:tabLst>
                <a:tab pos="167640" algn="l"/>
              </a:tabLst>
            </a:pPr>
            <a:r>
              <a:rPr lang="en-US" sz="1100" b="1" dirty="0">
                <a:latin typeface="Arial" panose="020B0604020202020204" pitchFamily="34" charset="0"/>
                <a:cs typeface="Arial" panose="020B0604020202020204" pitchFamily="34" charset="0"/>
              </a:rPr>
              <a:t>Exclusion Restriction: </a:t>
            </a:r>
            <a:r>
              <a:rPr lang="en-US" sz="1100" dirty="0">
                <a:latin typeface="Arial" panose="020B0604020202020204" pitchFamily="34" charset="0"/>
                <a:cs typeface="Arial" panose="020B0604020202020204" pitchFamily="34" charset="0"/>
              </a:rPr>
              <a:t>FGP errors only influence short-term debt via cash-reserves. </a:t>
            </a:r>
          </a:p>
        </p:txBody>
      </p:sp>
    </p:spTree>
    <p:extLst>
      <p:ext uri="{BB962C8B-B14F-4D97-AF65-F5344CB8AC3E}">
        <p14:creationId xmlns:p14="http://schemas.microsoft.com/office/powerpoint/2010/main" val="8800869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4B92B-1E6B-A3AF-7368-F517DE229E21}"/>
            </a:ext>
          </a:extLst>
        </p:cNvPr>
        <p:cNvGrpSpPr/>
        <p:nvPr/>
      </p:nvGrpSpPr>
      <p:grpSpPr>
        <a:xfrm>
          <a:off x="0" y="0"/>
          <a:ext cx="0" cy="0"/>
          <a:chOff x="0" y="0"/>
          <a:chExt cx="0" cy="0"/>
        </a:xfrm>
      </p:grpSpPr>
      <p:sp>
        <p:nvSpPr>
          <p:cNvPr id="6" name="object 3">
            <a:extLst>
              <a:ext uri="{FF2B5EF4-FFF2-40B4-BE49-F238E27FC236}">
                <a16:creationId xmlns:a16="http://schemas.microsoft.com/office/drawing/2014/main" id="{087C2612-926A-6FC4-547B-089E2B63FB18}"/>
              </a:ext>
            </a:extLst>
          </p:cNvPr>
          <p:cNvSpPr txBox="1"/>
          <p:nvPr/>
        </p:nvSpPr>
        <p:spPr>
          <a:xfrm>
            <a:off x="1781175" y="360608"/>
            <a:ext cx="3032125"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Effects of Cash Reserves on Short-Term Debt</a:t>
            </a:r>
            <a:endParaRPr sz="800" dirty="0">
              <a:latin typeface="Arial"/>
              <a:cs typeface="Arial"/>
            </a:endParaRPr>
          </a:p>
        </p:txBody>
      </p:sp>
      <p:sp>
        <p:nvSpPr>
          <p:cNvPr id="9" name="object 5">
            <a:extLst>
              <a:ext uri="{FF2B5EF4-FFF2-40B4-BE49-F238E27FC236}">
                <a16:creationId xmlns:a16="http://schemas.microsoft.com/office/drawing/2014/main" id="{24395D68-26B6-C64C-1A5F-75C282530210}"/>
              </a:ext>
            </a:extLst>
          </p:cNvPr>
          <p:cNvSpPr txBox="1"/>
          <p:nvPr/>
        </p:nvSpPr>
        <p:spPr>
          <a:xfrm>
            <a:off x="53821" y="2792094"/>
            <a:ext cx="5972175" cy="278731"/>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Panel A shows the results of estimating Equation 7 with an OLS estimator across several specifications. Panel B displays the results from estimating Equation 9 with a 2SLS estimator using the timing error as instrument for cash reserves. All the dependent, independent, and instrumental variables are expressed as a percentage of each state’s average discretionary revenues (DR) from 2009-2016. Time FE = Quarter-Year FE. Standard errors clustered by state. Significance level: *p &lt; 0.10 , ** p &lt; 0.05 , *** p &lt; 0.01</a:t>
            </a:r>
          </a:p>
        </p:txBody>
      </p:sp>
      <p:sp>
        <p:nvSpPr>
          <p:cNvPr id="2" name="TextBox 1">
            <a:extLst>
              <a:ext uri="{FF2B5EF4-FFF2-40B4-BE49-F238E27FC236}">
                <a16:creationId xmlns:a16="http://schemas.microsoft.com/office/drawing/2014/main" id="{C5578CF1-27F0-9F4B-B686-D20CF5F0BC87}"/>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Results</a:t>
            </a:r>
          </a:p>
        </p:txBody>
      </p:sp>
      <p:graphicFrame>
        <p:nvGraphicFramePr>
          <p:cNvPr id="4" name="Table 3">
            <a:extLst>
              <a:ext uri="{FF2B5EF4-FFF2-40B4-BE49-F238E27FC236}">
                <a16:creationId xmlns:a16="http://schemas.microsoft.com/office/drawing/2014/main" id="{C3ABDD38-2058-F749-4242-FD0BB3D7FFDA}"/>
              </a:ext>
            </a:extLst>
          </p:cNvPr>
          <p:cNvGraphicFramePr>
            <a:graphicFrameLocks noGrp="1"/>
          </p:cNvGraphicFramePr>
          <p:nvPr>
            <p:extLst>
              <p:ext uri="{D42A27DB-BD31-4B8C-83A1-F6EECF244321}">
                <p14:modId xmlns:p14="http://schemas.microsoft.com/office/powerpoint/2010/main" val="3995435325"/>
              </p:ext>
            </p:extLst>
          </p:nvPr>
        </p:nvGraphicFramePr>
        <p:xfrm>
          <a:off x="985199" y="550337"/>
          <a:ext cx="4182751" cy="2187321"/>
        </p:xfrm>
        <a:graphic>
          <a:graphicData uri="http://schemas.openxmlformats.org/drawingml/2006/table">
            <a:tbl>
              <a:tblPr firstRow="1" firstCol="1" lastRow="1" lastCol="1" bandRow="1" bandCol="1"/>
              <a:tblGrid>
                <a:gridCol w="1846726">
                  <a:extLst>
                    <a:ext uri="{9D8B030D-6E8A-4147-A177-3AD203B41FA5}">
                      <a16:colId xmlns:a16="http://schemas.microsoft.com/office/drawing/2014/main" val="1677651759"/>
                    </a:ext>
                  </a:extLst>
                </a:gridCol>
                <a:gridCol w="635788">
                  <a:extLst>
                    <a:ext uri="{9D8B030D-6E8A-4147-A177-3AD203B41FA5}">
                      <a16:colId xmlns:a16="http://schemas.microsoft.com/office/drawing/2014/main" val="1591696533"/>
                    </a:ext>
                  </a:extLst>
                </a:gridCol>
                <a:gridCol w="509111">
                  <a:extLst>
                    <a:ext uri="{9D8B030D-6E8A-4147-A177-3AD203B41FA5}">
                      <a16:colId xmlns:a16="http://schemas.microsoft.com/office/drawing/2014/main" val="497304717"/>
                    </a:ext>
                  </a:extLst>
                </a:gridCol>
                <a:gridCol w="595563">
                  <a:extLst>
                    <a:ext uri="{9D8B030D-6E8A-4147-A177-3AD203B41FA5}">
                      <a16:colId xmlns:a16="http://schemas.microsoft.com/office/drawing/2014/main" val="1044719312"/>
                    </a:ext>
                  </a:extLst>
                </a:gridCol>
                <a:gridCol w="595563">
                  <a:extLst>
                    <a:ext uri="{9D8B030D-6E8A-4147-A177-3AD203B41FA5}">
                      <a16:colId xmlns:a16="http://schemas.microsoft.com/office/drawing/2014/main" val="3457127346"/>
                    </a:ext>
                  </a:extLst>
                </a:gridCol>
              </a:tblGrid>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(2)</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3175" algn="ctr">
                        <a:lnSpc>
                          <a:spcPts val="105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3175" algn="ctr">
                        <a:lnSpc>
                          <a:spcPts val="105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(4)</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22521010"/>
                  </a:ext>
                </a:extLst>
              </a:tr>
              <a:tr h="0">
                <a:tc>
                  <a:txBody>
                    <a:bodyPr/>
                    <a:lstStyle/>
                    <a:p>
                      <a:pPr marL="75565" marR="0" algn="l">
                        <a:lnSpc>
                          <a:spcPts val="1040"/>
                        </a:lnSpc>
                        <a:spcBef>
                          <a:spcPts val="0"/>
                        </a:spcBef>
                        <a:spcAft>
                          <a:spcPts val="0"/>
                        </a:spcAft>
                      </a:pPr>
                      <a:r>
                        <a:rPr lang="en-US" sz="800" b="1">
                          <a:effectLst/>
                          <a:latin typeface="Arial" panose="020B0604020202020204" pitchFamily="34" charset="0"/>
                          <a:ea typeface="Cambria" panose="02040503050406030204" pitchFamily="18" charset="0"/>
                          <a:cs typeface="Arial" panose="020B0604020202020204" pitchFamily="34" charset="0"/>
                        </a:rPr>
                        <a:t>Panel</a:t>
                      </a:r>
                      <a:r>
                        <a:rPr lang="en-US" sz="800" b="1" spc="9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A:</a:t>
                      </a:r>
                      <a:r>
                        <a:rPr lang="en-US" sz="800" b="1" spc="10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OLS</a:t>
                      </a:r>
                      <a:r>
                        <a:rPr lang="en-US" sz="800" b="1" spc="95">
                          <a:effectLst/>
                          <a:latin typeface="Arial" panose="020B0604020202020204" pitchFamily="34" charset="0"/>
                          <a:ea typeface="Cambria" panose="02040503050406030204" pitchFamily="18" charset="0"/>
                          <a:cs typeface="Arial" panose="020B0604020202020204" pitchFamily="34" charset="0"/>
                        </a:rPr>
                        <a:t> </a:t>
                      </a:r>
                      <a:r>
                        <a:rPr lang="en-US" sz="800" b="1" spc="-10">
                          <a:effectLst/>
                          <a:latin typeface="Arial" panose="020B0604020202020204" pitchFamily="34" charset="0"/>
                          <a:ea typeface="Cambria" panose="02040503050406030204" pitchFamily="18" charset="0"/>
                          <a:cs typeface="Arial" panose="020B0604020202020204" pitchFamily="34" charset="0"/>
                        </a:rPr>
                        <a:t>Estimates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31933874"/>
                  </a:ext>
                </a:extLst>
              </a:tr>
              <a:tr h="0">
                <a:tc>
                  <a:txBody>
                    <a:bodyPr/>
                    <a:lstStyle/>
                    <a:p>
                      <a:pPr marL="75565" marR="0" algn="l">
                        <a:lnSpc>
                          <a:spcPts val="11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Cash</a:t>
                      </a:r>
                      <a:r>
                        <a:rPr lang="en-US" sz="800" spc="1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14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DR)</a:t>
                      </a:r>
                      <a:r>
                        <a:rPr lang="en-US" sz="800" spc="140" dirty="0">
                          <a:effectLst/>
                          <a:latin typeface="Arial" panose="020B0604020202020204" pitchFamily="34" charset="0"/>
                          <a:ea typeface="Cambria" panose="02040503050406030204" pitchFamily="18" charset="0"/>
                          <a:cs typeface="Arial" panose="020B0604020202020204" pitchFamily="34" charset="0"/>
                        </a:rPr>
                        <a:t> </a:t>
                      </a:r>
                      <a:r>
                        <a:rPr lang="en-US" sz="800" i="1" spc="-25" dirty="0" err="1">
                          <a:effectLst/>
                          <a:latin typeface="Arial" panose="020B0604020202020204" pitchFamily="34" charset="0"/>
                          <a:ea typeface="Cambria" panose="02040503050406030204" pitchFamily="18" charset="0"/>
                          <a:cs typeface="Arial" panose="020B0604020202020204" pitchFamily="34" charset="0"/>
                        </a:rPr>
                        <a:t>δ</a:t>
                      </a:r>
                      <a:r>
                        <a:rPr lang="en-US" sz="800" spc="-25" dirty="0">
                          <a:effectLst/>
                          <a:latin typeface="Arial" panose="020B0604020202020204" pitchFamily="34" charset="0"/>
                          <a:ea typeface="Cambria" panose="02040503050406030204" pitchFamily="18" charset="0"/>
                          <a:cs typeface="Arial" panose="020B0604020202020204" pitchFamily="34" charset="0"/>
                        </a:rPr>
                        <a:t>ˆ</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-0.152***</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a:t>
                      </a:r>
                      <a:r>
                        <a:rPr lang="en-US" sz="800" spc="-10">
                          <a:effectLst/>
                          <a:latin typeface="Arial" panose="020B0604020202020204" pitchFamily="34" charset="0"/>
                          <a:ea typeface="Cambria" panose="02040503050406030204" pitchFamily="18" charset="0"/>
                          <a:cs typeface="Arial" panose="020B0604020202020204" pitchFamily="34" charset="0"/>
                        </a:rPr>
                        <a:t>0.043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810"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0.093**</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4075894364"/>
                  </a:ext>
                </a:extLst>
              </a:tr>
              <a:tr h="0">
                <a:tc>
                  <a:txBody>
                    <a:bodyPr/>
                    <a:lstStyle/>
                    <a:p>
                      <a:pPr marL="0"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270" marR="190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(0.030)</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(0.031)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175"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86361382"/>
                  </a:ext>
                </a:extLst>
              </a:tr>
              <a:tr h="0">
                <a:tc>
                  <a:txBody>
                    <a:bodyPr/>
                    <a:lstStyle/>
                    <a:p>
                      <a:pPr marL="75565" marR="0" algn="l">
                        <a:lnSpc>
                          <a:spcPts val="1040"/>
                        </a:lnSpc>
                        <a:spcBef>
                          <a:spcPts val="0"/>
                        </a:spcBef>
                        <a:spcAft>
                          <a:spcPts val="0"/>
                        </a:spcAft>
                      </a:pPr>
                      <a:r>
                        <a:rPr lang="en-US" sz="800" b="1">
                          <a:effectLst/>
                          <a:latin typeface="Arial" panose="020B0604020202020204" pitchFamily="34" charset="0"/>
                          <a:ea typeface="Cambria" panose="02040503050406030204" pitchFamily="18" charset="0"/>
                          <a:cs typeface="Arial" panose="020B0604020202020204" pitchFamily="34" charset="0"/>
                        </a:rPr>
                        <a:t>Panel</a:t>
                      </a:r>
                      <a:r>
                        <a:rPr lang="en-US" sz="800" b="1" spc="80">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B:</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2SLS</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a:effectLst/>
                          <a:latin typeface="Arial" panose="020B0604020202020204" pitchFamily="34" charset="0"/>
                          <a:ea typeface="Cambria" panose="02040503050406030204" pitchFamily="18" charset="0"/>
                          <a:cs typeface="Arial" panose="020B0604020202020204" pitchFamily="34" charset="0"/>
                        </a:rPr>
                        <a:t>IV</a:t>
                      </a:r>
                      <a:r>
                        <a:rPr lang="en-US" sz="800" b="1" spc="85">
                          <a:effectLst/>
                          <a:latin typeface="Arial" panose="020B0604020202020204" pitchFamily="34" charset="0"/>
                          <a:ea typeface="Cambria" panose="02040503050406030204" pitchFamily="18" charset="0"/>
                          <a:cs typeface="Arial" panose="020B0604020202020204" pitchFamily="34" charset="0"/>
                        </a:rPr>
                        <a:t> </a:t>
                      </a:r>
                      <a:r>
                        <a:rPr lang="en-US" sz="800" b="1" spc="-10">
                          <a:effectLst/>
                          <a:latin typeface="Arial" panose="020B0604020202020204" pitchFamily="34" charset="0"/>
                          <a:ea typeface="Cambria" panose="02040503050406030204" pitchFamily="18" charset="0"/>
                          <a:cs typeface="Arial" panose="020B0604020202020204" pitchFamily="34" charset="0"/>
                        </a:rPr>
                        <a:t>Estimates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700" dirty="0">
                          <a:effectLst/>
                          <a:latin typeface="Arial" panose="020B0604020202020204" pitchFamily="34" charset="0"/>
                          <a:ea typeface="Cambria" panose="02040503050406030204" pitchFamily="18" charset="0"/>
                          <a:cs typeface="Arial" panose="020B0604020202020204" pitchFamily="34" charset="0"/>
                        </a:rPr>
                        <a:t> </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chemeClr val="accent5">
                        <a:lumMod val="40000"/>
                        <a:lumOff val="60000"/>
                      </a:schemeClr>
                    </a:solidFill>
                  </a:tcPr>
                </a:tc>
                <a:extLst>
                  <a:ext uri="{0D108BD9-81ED-4DB2-BD59-A6C34878D82A}">
                    <a16:rowId xmlns:a16="http://schemas.microsoft.com/office/drawing/2014/main" val="505775045"/>
                  </a:ext>
                </a:extLst>
              </a:tr>
              <a:tr h="0">
                <a:tc>
                  <a:txBody>
                    <a:bodyPr/>
                    <a:lstStyle/>
                    <a:p>
                      <a:pPr marL="75565" marR="0" algn="l">
                        <a:lnSpc>
                          <a:spcPts val="11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Cash</a:t>
                      </a:r>
                      <a:r>
                        <a:rPr lang="en-US" sz="800" spc="13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Reserves</a:t>
                      </a:r>
                      <a:r>
                        <a:rPr lang="en-US" sz="800" spc="140">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a:t>
                      </a:r>
                      <a:r>
                        <a:rPr lang="en-US" sz="800" spc="13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DR)</a:t>
                      </a:r>
                      <a:r>
                        <a:rPr lang="en-US" sz="800" spc="140">
                          <a:effectLst/>
                          <a:latin typeface="Arial" panose="020B0604020202020204" pitchFamily="34" charset="0"/>
                          <a:ea typeface="Cambria" panose="02040503050406030204" pitchFamily="18" charset="0"/>
                          <a:cs typeface="Arial" panose="020B0604020202020204" pitchFamily="34" charset="0"/>
                        </a:rPr>
                        <a:t> </a:t>
                      </a:r>
                      <a:r>
                        <a:rPr lang="en-US" sz="800" i="1" spc="-25">
                          <a:effectLst/>
                          <a:latin typeface="Arial" panose="020B0604020202020204" pitchFamily="34" charset="0"/>
                          <a:ea typeface="Cambria" panose="02040503050406030204" pitchFamily="18" charset="0"/>
                          <a:cs typeface="Arial" panose="020B0604020202020204" pitchFamily="34" charset="0"/>
                        </a:rPr>
                        <a:t>δ</a:t>
                      </a:r>
                      <a:r>
                        <a:rPr lang="en-US" sz="800" spc="-25">
                          <a:effectLst/>
                          <a:latin typeface="Arial" panose="020B0604020202020204" pitchFamily="34" charset="0"/>
                          <a:ea typeface="Cambria" panose="02040503050406030204" pitchFamily="18" charset="0"/>
                          <a:cs typeface="Arial" panose="020B0604020202020204" pitchFamily="34" charset="0"/>
                        </a:rPr>
                        <a:t>ˆ</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0.194</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0.325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0.211*</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5"/>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0.246**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3721031882"/>
                  </a:ext>
                </a:extLst>
              </a:tr>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1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(0.149)</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(0.200)</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(0.107)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1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3869623893"/>
                  </a:ext>
                </a:extLst>
              </a:tr>
              <a:tr h="0">
                <a:tc>
                  <a:txBody>
                    <a:bodyPr/>
                    <a:lstStyle/>
                    <a:p>
                      <a:pPr marL="75565" marR="0" algn="l">
                        <a:lnSpc>
                          <a:spcPts val="11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First</a:t>
                      </a:r>
                      <a:r>
                        <a:rPr lang="en-US" sz="800" spc="3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Stage:</a:t>
                      </a:r>
                      <a:r>
                        <a:rPr lang="en-US" sz="800" spc="1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3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i="1" spc="-25" dirty="0">
                          <a:effectLst/>
                          <a:latin typeface="Arial" panose="020B0604020202020204" pitchFamily="34" charset="0"/>
                          <a:ea typeface="Cambria" panose="02040503050406030204" pitchFamily="18" charset="0"/>
                          <a:cs typeface="Arial" panose="020B0604020202020204" pitchFamily="34" charset="0"/>
                        </a:rPr>
                        <a:t>β</a:t>
                      </a:r>
                      <a:r>
                        <a:rPr lang="en-US" sz="800" spc="-25" dirty="0">
                          <a:effectLst/>
                          <a:latin typeface="Arial" panose="020B0604020202020204" pitchFamily="34" charset="0"/>
                          <a:ea typeface="Cambria" panose="02040503050406030204" pitchFamily="18" charset="0"/>
                          <a:cs typeface="Arial" panose="020B0604020202020204" pitchFamily="34" charset="0"/>
                        </a:rPr>
                        <a:t>ˆ</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1.565**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1.131**</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1.661***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140"/>
                        </a:lnSpc>
                        <a:spcBef>
                          <a:spcPts val="5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1.467***</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744316905"/>
                  </a:ext>
                </a:extLst>
              </a:tr>
              <a:tr h="0">
                <a:tc>
                  <a:txBody>
                    <a:bodyPr/>
                    <a:lstStyle/>
                    <a:p>
                      <a:pPr marL="0" marR="0" algn="l">
                        <a:lnSpc>
                          <a:spcPts val="1095"/>
                        </a:lnSpc>
                        <a:spcBef>
                          <a:spcPts val="0"/>
                        </a:spcBef>
                        <a:spcAft>
                          <a:spcPts val="0"/>
                        </a:spcAft>
                      </a:pPr>
                      <a:r>
                        <a:rPr lang="en-US" sz="700">
                          <a:effectLst/>
                          <a:latin typeface="Arial" panose="020B0604020202020204" pitchFamily="34" charset="0"/>
                          <a:ea typeface="Cambria" panose="02040503050406030204" pitchFamily="18" charset="0"/>
                          <a:cs typeface="Arial" panose="020B0604020202020204" pitchFamily="34" charset="0"/>
                        </a:rPr>
                        <a:t> </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(0.573)</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(0.454)</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(0.415)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(0.365)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4026668354"/>
                  </a:ext>
                </a:extLst>
              </a:tr>
              <a:tr h="0">
                <a:tc>
                  <a:txBody>
                    <a:bodyPr/>
                    <a:lstStyle/>
                    <a:p>
                      <a:pPr marL="75565" marR="0" algn="l">
                        <a:lnSpc>
                          <a:spcPts val="112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Cragg-Donald</a:t>
                      </a:r>
                      <a:r>
                        <a:rPr lang="en-US" sz="800" spc="-10">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F-</a:t>
                      </a:r>
                      <a:r>
                        <a:rPr lang="en-US" sz="800" spc="-10">
                          <a:effectLst/>
                          <a:latin typeface="Arial" panose="020B0604020202020204" pitchFamily="34" charset="0"/>
                          <a:ea typeface="Cambria" panose="02040503050406030204" pitchFamily="18" charset="0"/>
                          <a:cs typeface="Arial" panose="020B0604020202020204" pitchFamily="34" charset="0"/>
                        </a:rPr>
                        <a:t>Statistic</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7.4171</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6.9449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30.0677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24.2066</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416186242"/>
                  </a:ext>
                </a:extLst>
              </a:tr>
              <a:tr h="0">
                <a:tc>
                  <a:txBody>
                    <a:bodyPr/>
                    <a:lstStyle/>
                    <a:p>
                      <a:pPr marL="75565" marR="0" algn="l">
                        <a:lnSpc>
                          <a:spcPts val="102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Short-Term</a:t>
                      </a:r>
                      <a:r>
                        <a:rPr lang="en-US" sz="800" spc="14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Debt</a:t>
                      </a:r>
                      <a:r>
                        <a:rPr lang="en-US" sz="800" spc="150">
                          <a:effectLst/>
                          <a:latin typeface="Arial" panose="020B0604020202020204" pitchFamily="34" charset="0"/>
                          <a:ea typeface="Cambria" panose="02040503050406030204" pitchFamily="18" charset="0"/>
                          <a:cs typeface="Arial" panose="020B0604020202020204" pitchFamily="34" charset="0"/>
                        </a:rPr>
                        <a:t> </a:t>
                      </a:r>
                      <a:r>
                        <a:rPr lang="en-US" sz="800" spc="-10">
                          <a:effectLst/>
                          <a:latin typeface="Arial" panose="020B0604020202020204" pitchFamily="34" charset="0"/>
                          <a:ea typeface="Cambria" panose="02040503050406030204" pitchFamily="18" charset="0"/>
                          <a:cs typeface="Arial" panose="020B0604020202020204" pitchFamily="34" charset="0"/>
                        </a:rPr>
                        <a:t>(Mean)</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270" marR="1270"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0.0519</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810" algn="ctr">
                        <a:lnSpc>
                          <a:spcPts val="102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88388571"/>
                  </a:ext>
                </a:extLst>
              </a:tr>
              <a:tr h="0">
                <a:tc>
                  <a:txBody>
                    <a:bodyPr/>
                    <a:lstStyle/>
                    <a:p>
                      <a:pPr marL="75565" marR="0" algn="l">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Short-Term</a:t>
                      </a:r>
                      <a:r>
                        <a:rPr lang="en-US" sz="800" spc="30">
                          <a:effectLst/>
                          <a:latin typeface="Arial" panose="020B0604020202020204" pitchFamily="34" charset="0"/>
                          <a:ea typeface="Cambria" panose="02040503050406030204" pitchFamily="18" charset="0"/>
                          <a:cs typeface="Arial" panose="020B0604020202020204" pitchFamily="34" charset="0"/>
                        </a:rPr>
                        <a:t> </a:t>
                      </a:r>
                      <a:r>
                        <a:rPr lang="en-US" sz="800" spc="-10">
                          <a:effectLst/>
                          <a:latin typeface="Arial" panose="020B0604020202020204" pitchFamily="34" charset="0"/>
                          <a:ea typeface="Cambria" panose="02040503050406030204" pitchFamily="18" charset="0"/>
                          <a:cs typeface="Arial" panose="020B0604020202020204" pitchFamily="34" charset="0"/>
                        </a:rPr>
                        <a:t>Debt</a:t>
                      </a:r>
                      <a:r>
                        <a:rPr lang="en-US" sz="800" spc="30">
                          <a:effectLst/>
                          <a:latin typeface="Arial" panose="020B0604020202020204" pitchFamily="34" charset="0"/>
                          <a:ea typeface="Cambria" panose="02040503050406030204" pitchFamily="18" charset="0"/>
                          <a:cs typeface="Arial" panose="020B0604020202020204" pitchFamily="34" charset="0"/>
                        </a:rPr>
                        <a:t> </a:t>
                      </a:r>
                      <a:r>
                        <a:rPr lang="en-US" sz="800" spc="-20">
                          <a:effectLst/>
                          <a:latin typeface="Arial" panose="020B0604020202020204" pitchFamily="34" charset="0"/>
                          <a:ea typeface="Cambria" panose="02040503050406030204" pitchFamily="18" charset="0"/>
                          <a:cs typeface="Arial" panose="020B0604020202020204" pitchFamily="34" charset="0"/>
                        </a:rPr>
                        <a:t>(SD)</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90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0.0635</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435234945"/>
                  </a:ext>
                </a:extLst>
              </a:tr>
              <a:tr h="0">
                <a:tc>
                  <a:txBody>
                    <a:bodyPr/>
                    <a:lstStyle/>
                    <a:p>
                      <a:pPr marL="75565" marR="0" algn="l">
                        <a:lnSpc>
                          <a:spcPts val="1095"/>
                        </a:lnSpc>
                        <a:spcBef>
                          <a:spcPts val="0"/>
                        </a:spcBef>
                        <a:spcAft>
                          <a:spcPts val="0"/>
                        </a:spcAft>
                      </a:pPr>
                      <a:r>
                        <a:rPr lang="en-US" sz="800">
                          <a:effectLst/>
                          <a:latin typeface="Arial" panose="020B0604020202020204" pitchFamily="34" charset="0"/>
                          <a:ea typeface="Cambria" panose="02040503050406030204" pitchFamily="18" charset="0"/>
                          <a:cs typeface="Arial" panose="020B0604020202020204" pitchFamily="34" charset="0"/>
                        </a:rPr>
                        <a:t>Cash</a:t>
                      </a:r>
                      <a:r>
                        <a:rPr lang="en-US" sz="800" spc="95">
                          <a:effectLst/>
                          <a:latin typeface="Arial" panose="020B0604020202020204" pitchFamily="34" charset="0"/>
                          <a:ea typeface="Cambria" panose="02040503050406030204" pitchFamily="18" charset="0"/>
                          <a:cs typeface="Arial" panose="020B0604020202020204" pitchFamily="34" charset="0"/>
                        </a:rPr>
                        <a:t> </a:t>
                      </a:r>
                      <a:r>
                        <a:rPr lang="en-US" sz="800">
                          <a:effectLst/>
                          <a:latin typeface="Arial" panose="020B0604020202020204" pitchFamily="34" charset="0"/>
                          <a:ea typeface="Cambria" panose="02040503050406030204" pitchFamily="18" charset="0"/>
                          <a:cs typeface="Arial" panose="020B0604020202020204" pitchFamily="34" charset="0"/>
                        </a:rPr>
                        <a:t>Reserves</a:t>
                      </a:r>
                      <a:r>
                        <a:rPr lang="en-US" sz="800" spc="95">
                          <a:effectLst/>
                          <a:latin typeface="Arial" panose="020B0604020202020204" pitchFamily="34" charset="0"/>
                          <a:ea typeface="Cambria" panose="02040503050406030204" pitchFamily="18" charset="0"/>
                          <a:cs typeface="Arial" panose="020B0604020202020204" pitchFamily="34" charset="0"/>
                        </a:rPr>
                        <a:t> </a:t>
                      </a:r>
                      <a:r>
                        <a:rPr lang="en-US" sz="800" spc="-20">
                          <a:effectLst/>
                          <a:latin typeface="Arial" panose="020B0604020202020204" pitchFamily="34" charset="0"/>
                          <a:ea typeface="Cambria" panose="02040503050406030204" pitchFamily="18" charset="0"/>
                          <a:cs typeface="Arial" panose="020B0604020202020204" pitchFamily="34" charset="0"/>
                        </a:rPr>
                        <a:t>(SD)</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0.1548</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297974514"/>
                  </a:ext>
                </a:extLst>
              </a:tr>
              <a:tr h="0">
                <a:tc>
                  <a:txBody>
                    <a:bodyPr/>
                    <a:lstStyle/>
                    <a:p>
                      <a:pPr marL="75565" marR="0" algn="l">
                        <a:lnSpc>
                          <a:spcPts val="109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Num.Obs.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81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597</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3441200593"/>
                  </a:ext>
                </a:extLst>
              </a:tr>
              <a:tr h="0">
                <a:tc>
                  <a:txBody>
                    <a:bodyPr/>
                    <a:lstStyle/>
                    <a:p>
                      <a:pPr marL="75565" marR="0" algn="l">
                        <a:lnSpc>
                          <a:spcPts val="10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Controls</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1131364645"/>
                  </a:ext>
                </a:extLst>
              </a:tr>
              <a:tr h="0">
                <a:tc>
                  <a:txBody>
                    <a:bodyPr/>
                    <a:lstStyle/>
                    <a:p>
                      <a:pPr marL="75565" marR="0" algn="l">
                        <a:lnSpc>
                          <a:spcPts val="10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State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FE</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1270" marR="127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No</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noFill/>
                  </a:tcPr>
                </a:tc>
                <a:extLst>
                  <a:ext uri="{0D108BD9-81ED-4DB2-BD59-A6C34878D82A}">
                    <a16:rowId xmlns:a16="http://schemas.microsoft.com/office/drawing/2014/main" val="1001011779"/>
                  </a:ext>
                </a:extLst>
              </a:tr>
              <a:tr h="0">
                <a:tc>
                  <a:txBody>
                    <a:bodyPr/>
                    <a:lstStyle/>
                    <a:p>
                      <a:pPr marL="75565" marR="0" algn="l">
                        <a:lnSpc>
                          <a:spcPts val="1125"/>
                        </a:lnSpc>
                        <a:spcBef>
                          <a:spcPts val="0"/>
                        </a:spcBef>
                        <a:spcAft>
                          <a:spcPts val="0"/>
                        </a:spcAft>
                      </a:pPr>
                      <a:r>
                        <a:rPr lang="en-US" sz="800" spc="40" dirty="0">
                          <a:effectLst/>
                          <a:latin typeface="Arial" panose="020B0604020202020204" pitchFamily="34" charset="0"/>
                          <a:ea typeface="Cambria" panose="02040503050406030204" pitchFamily="18" charset="0"/>
                          <a:cs typeface="Arial" panose="020B0604020202020204" pitchFamily="34" charset="0"/>
                        </a:rPr>
                        <a:t>Quarter-by-Year </a:t>
                      </a:r>
                      <a:r>
                        <a:rPr lang="en-US" sz="800" spc="-25" dirty="0">
                          <a:effectLst/>
                          <a:latin typeface="Arial" panose="020B0604020202020204" pitchFamily="34" charset="0"/>
                          <a:ea typeface="Cambria" panose="02040503050406030204" pitchFamily="18" charset="0"/>
                          <a:cs typeface="Arial" panose="020B0604020202020204" pitchFamily="34" charset="0"/>
                        </a:rPr>
                        <a:t>FE</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270" marR="1270"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175"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Yes</a:t>
                      </a:r>
                      <a:endParaRPr lang="en-US" sz="90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3810" algn="ctr">
                        <a:lnSpc>
                          <a:spcPts val="112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Yes</a:t>
                      </a:r>
                      <a:endParaRPr lang="en-US" sz="90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1878424"/>
                  </a:ext>
                </a:extLst>
              </a:tr>
            </a:tbl>
          </a:graphicData>
        </a:graphic>
      </p:graphicFrame>
    </p:spTree>
    <p:extLst>
      <p:ext uri="{BB962C8B-B14F-4D97-AF65-F5344CB8AC3E}">
        <p14:creationId xmlns:p14="http://schemas.microsoft.com/office/powerpoint/2010/main" val="2239136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19F4-FE04-7581-8E23-7C8FFAB4F4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0BA372-EF36-257B-F7E6-DCF09A13429C}"/>
              </a:ext>
            </a:extLst>
          </p:cNvPr>
          <p:cNvSpPr txBox="1"/>
          <p:nvPr/>
        </p:nvSpPr>
        <p:spPr>
          <a:xfrm>
            <a:off x="-47625" y="-15192"/>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Results</a:t>
            </a:r>
          </a:p>
        </p:txBody>
      </p:sp>
      <mc:AlternateContent xmlns:mc="http://schemas.openxmlformats.org/markup-compatibility/2006">
        <mc:Choice xmlns:a14="http://schemas.microsoft.com/office/drawing/2010/main" Requires="a14">
          <p:sp>
            <p:nvSpPr>
              <p:cNvPr id="3" name="object 3">
                <a:extLst>
                  <a:ext uri="{FF2B5EF4-FFF2-40B4-BE49-F238E27FC236}">
                    <a16:creationId xmlns:a16="http://schemas.microsoft.com/office/drawing/2014/main" id="{B4BE70F8-B8AD-E634-AC3D-6149CE6759A4}"/>
                  </a:ext>
                </a:extLst>
              </p:cNvPr>
              <p:cNvSpPr txBox="1"/>
              <p:nvPr/>
            </p:nvSpPr>
            <p:spPr>
              <a:xfrm>
                <a:off x="295631" y="2569416"/>
                <a:ext cx="5561887" cy="473015"/>
              </a:xfrm>
              <a:prstGeom prst="rect">
                <a:avLst/>
              </a:prstGeom>
            </p:spPr>
            <p:txBody>
              <a:bodyPr vert="horz" wrap="square" lIns="0" tIns="12065" rIns="0" bIns="0" rtlCol="0">
                <a:spAutoFit/>
              </a:bodyPr>
              <a:lstStyle/>
              <a:p>
                <a:pPr marL="50165" marR="30480" algn="ctr">
                  <a:lnSpc>
                    <a:spcPct val="101000"/>
                  </a:lnSpc>
                  <a:spcBef>
                    <a:spcPts val="600"/>
                  </a:spcBef>
                  <a:spcAft>
                    <a:spcPts val="600"/>
                  </a:spcAft>
                  <a:tabLst>
                    <a:tab pos="167640" algn="l"/>
                  </a:tabLst>
                </a:pPr>
                <a:r>
                  <a:rPr lang="en-US" sz="1000" b="1" dirty="0">
                    <a:solidFill>
                      <a:schemeClr val="tx1"/>
                    </a:solidFill>
                    <a:latin typeface="Arial" panose="020B0604020202020204" pitchFamily="34" charset="0"/>
                    <a:cs typeface="Arial" panose="020B0604020202020204" pitchFamily="34" charset="0"/>
                  </a:rPr>
                  <a:t>If cash reserves </a:t>
                </a:r>
                <a:r>
                  <a:rPr lang="en-US" sz="1000" b="1" spc="-45" dirty="0">
                    <a:solidFill>
                      <a:schemeClr val="tx1"/>
                    </a:solidFill>
                    <a:latin typeface="Arial" panose="020B0604020202020204" pitchFamily="34" charset="0"/>
                    <a:cs typeface="Arial" panose="020B0604020202020204" pitchFamily="34" charset="0"/>
                  </a:rPr>
                  <a:t>⬆️</a:t>
                </a:r>
                <a:r>
                  <a:rPr lang="en-US" sz="1000" b="1" dirty="0">
                    <a:solidFill>
                      <a:schemeClr val="tx1"/>
                    </a:solidFill>
                    <a:latin typeface="Arial" panose="020B0604020202020204" pitchFamily="34" charset="0"/>
                    <a:cs typeface="Arial" panose="020B0604020202020204" pitchFamily="34" charset="0"/>
                  </a:rPr>
                  <a:t> 1 </a:t>
                </a:r>
                <a14:m>
                  <m:oMath xmlns:m="http://schemas.openxmlformats.org/officeDocument/2006/math">
                    <m:r>
                      <a:rPr lang="en-US" sz="1000" b="1" i="1" smtClean="0">
                        <a:solidFill>
                          <a:schemeClr val="tx1"/>
                        </a:solidFill>
                        <a:latin typeface="Cambria Math" panose="02040503050406030204" pitchFamily="18" charset="0"/>
                        <a:cs typeface="Arial" panose="020B0604020202020204" pitchFamily="34" charset="0"/>
                      </a:rPr>
                      <m:t>𝑺</m:t>
                    </m:r>
                    <m:sSub>
                      <m:sSubPr>
                        <m:ctrlPr>
                          <a:rPr lang="en-US" sz="1000" b="1" i="1" smtClean="0">
                            <a:solidFill>
                              <a:schemeClr val="tx1"/>
                            </a:solidFill>
                            <a:latin typeface="Cambria Math" panose="02040503050406030204" pitchFamily="18" charset="0"/>
                            <a:cs typeface="Arial" panose="020B0604020202020204" pitchFamily="34" charset="0"/>
                          </a:rPr>
                        </m:ctrlPr>
                      </m:sSubPr>
                      <m:e>
                        <m:r>
                          <a:rPr lang="en-US" sz="1000" b="1" i="1" smtClean="0">
                            <a:solidFill>
                              <a:schemeClr val="tx1"/>
                            </a:solidFill>
                            <a:latin typeface="Cambria Math" panose="02040503050406030204" pitchFamily="18" charset="0"/>
                            <a:cs typeface="Arial" panose="020B0604020202020204" pitchFamily="34" charset="0"/>
                          </a:rPr>
                          <m:t>𝑫</m:t>
                        </m:r>
                      </m:e>
                      <m:sub>
                        <m:r>
                          <a:rPr lang="en-US" sz="1000" b="1" i="1" smtClean="0">
                            <a:solidFill>
                              <a:schemeClr val="tx1"/>
                            </a:solidFill>
                            <a:latin typeface="Cambria Math" panose="02040503050406030204" pitchFamily="18" charset="0"/>
                            <a:cs typeface="Arial" panose="020B0604020202020204" pitchFamily="34" charset="0"/>
                          </a:rPr>
                          <m:t>𝒄𝒂𝒔𝒉</m:t>
                        </m:r>
                      </m:sub>
                    </m:sSub>
                  </m:oMath>
                </a14:m>
                <a:r>
                  <a:rPr lang="en-US" sz="1000" dirty="0">
                    <a:solidFill>
                      <a:schemeClr val="tx1"/>
                    </a:solidFill>
                    <a:latin typeface="Arial" panose="020B0604020202020204" pitchFamily="34" charset="0"/>
                    <a:cs typeface="Arial" panose="020B0604020202020204" pitchFamily="34" charset="0"/>
                  </a:rPr>
                  <a:t> </a:t>
                </a:r>
                <a:r>
                  <a:rPr lang="en-US" sz="1000" b="1" dirty="0">
                    <a:solidFill>
                      <a:schemeClr val="tx1"/>
                    </a:solidFill>
                    <a:latin typeface="Arial" panose="020B0604020202020204" pitchFamily="34" charset="0"/>
                    <a:cs typeface="Arial" panose="020B0604020202020204" pitchFamily="34" charset="0"/>
                  </a:rPr>
                  <a:t>, then outstanding short-term debt:</a:t>
                </a:r>
              </a:p>
              <a:p>
                <a:pPr marL="50165" marR="30480">
                  <a:lnSpc>
                    <a:spcPct val="101000"/>
                  </a:lnSpc>
                  <a:spcBef>
                    <a:spcPts val="600"/>
                  </a:spcBef>
                  <a:spcAft>
                    <a:spcPts val="600"/>
                  </a:spcAft>
                  <a:tabLst>
                    <a:tab pos="167640" algn="l"/>
                  </a:tabLst>
                </a:pPr>
                <a:r>
                  <a:rPr lang="en-US" sz="1000" b="1" dirty="0">
                    <a:solidFill>
                      <a:schemeClr val="tx1"/>
                    </a:solidFill>
                    <a:latin typeface="Arial" panose="020B0604020202020204" pitchFamily="34" charset="0"/>
                    <a:cs typeface="Arial" panose="020B0604020202020204" pitchFamily="34" charset="0"/>
                  </a:rPr>
                  <a:t>OLS: </a:t>
                </a:r>
                <a:r>
                  <a:rPr lang="en-US" sz="1000" b="1" spc="-45" dirty="0">
                    <a:solidFill>
                      <a:schemeClr val="tx1"/>
                    </a:solidFill>
                    <a:latin typeface="Arial" panose="020B0604020202020204" pitchFamily="34" charset="0"/>
                    <a:cs typeface="Arial" panose="020B0604020202020204" pitchFamily="34" charset="0"/>
                  </a:rPr>
                  <a:t>⬆️</a:t>
                </a:r>
                <a:r>
                  <a:rPr lang="en-US" sz="1000" spc="-45" dirty="0">
                    <a:solidFill>
                      <a:schemeClr val="tx1"/>
                    </a:solidFill>
                    <a:latin typeface="Arial" panose="020B0604020202020204" pitchFamily="34" charset="0"/>
                    <a:cs typeface="Arial" panose="020B0604020202020204" pitchFamily="34" charset="0"/>
                  </a:rPr>
                  <a:t> </a:t>
                </a:r>
                <a:r>
                  <a:rPr lang="en-US" sz="1000" dirty="0">
                    <a:solidFill>
                      <a:schemeClr val="tx1"/>
                    </a:solidFill>
                    <a:latin typeface="Arial" panose="020B0604020202020204" pitchFamily="34" charset="0"/>
                    <a:cs typeface="Arial" panose="020B0604020202020204" pitchFamily="34" charset="0"/>
                  </a:rPr>
                  <a:t>1.43% DR. </a:t>
                </a:r>
                <a:r>
                  <a:rPr lang="en-US" sz="1000" b="1" dirty="0">
                    <a:solidFill>
                      <a:schemeClr val="tx1"/>
                    </a:solidFill>
                    <a:latin typeface="Arial" panose="020B0604020202020204" pitchFamily="34" charset="0"/>
                    <a:cs typeface="Arial" panose="020B0604020202020204" pitchFamily="34" charset="0"/>
                  </a:rPr>
                  <a:t>Eff Size:</a:t>
                </a:r>
                <a:r>
                  <a:rPr lang="en-US" sz="1000" dirty="0">
                    <a:solidFill>
                      <a:schemeClr val="tx1"/>
                    </a:solidFill>
                    <a:latin typeface="Arial" panose="020B0604020202020204" pitchFamily="34" charset="0"/>
                    <a:cs typeface="Arial" panose="020B0604020202020204" pitchFamily="34" charset="0"/>
                  </a:rPr>
                  <a:t> 0.22 </a:t>
                </a:r>
                <a14:m>
                  <m:oMath xmlns:m="http://schemas.openxmlformats.org/officeDocument/2006/math">
                    <m:r>
                      <a:rPr lang="en-US" sz="1000" b="0" i="1" smtClean="0">
                        <a:solidFill>
                          <a:schemeClr val="tx1"/>
                        </a:solidFill>
                        <a:latin typeface="Cambria Math" panose="02040503050406030204" pitchFamily="18" charset="0"/>
                        <a:cs typeface="Arial" panose="020B0604020202020204" pitchFamily="34" charset="0"/>
                      </a:rPr>
                      <m:t>𝑆</m:t>
                    </m:r>
                    <m:sSub>
                      <m:sSubPr>
                        <m:ctrlPr>
                          <a:rPr lang="en-US" sz="1000" b="0" i="1" smtClean="0">
                            <a:solidFill>
                              <a:schemeClr val="tx1"/>
                            </a:solidFill>
                            <a:latin typeface="Cambria Math" panose="02040503050406030204" pitchFamily="18" charset="0"/>
                            <a:cs typeface="Arial" panose="020B0604020202020204" pitchFamily="34" charset="0"/>
                          </a:rPr>
                        </m:ctrlPr>
                      </m:sSubPr>
                      <m:e>
                        <m:r>
                          <a:rPr lang="en-US" sz="1000" b="0" i="1" smtClean="0">
                            <a:solidFill>
                              <a:schemeClr val="tx1"/>
                            </a:solidFill>
                            <a:latin typeface="Cambria Math" panose="02040503050406030204" pitchFamily="18" charset="0"/>
                            <a:cs typeface="Arial" panose="020B0604020202020204" pitchFamily="34" charset="0"/>
                          </a:rPr>
                          <m:t>𝐷</m:t>
                        </m:r>
                      </m:e>
                      <m:sub>
                        <m:r>
                          <a:rPr lang="en-US" sz="1000" b="0" i="1" smtClean="0">
                            <a:solidFill>
                              <a:schemeClr val="tx1"/>
                            </a:solidFill>
                            <a:latin typeface="Cambria Math" panose="02040503050406030204" pitchFamily="18" charset="0"/>
                            <a:cs typeface="Arial" panose="020B0604020202020204" pitchFamily="34" charset="0"/>
                          </a:rPr>
                          <m:t>𝑑𝑒𝑏𝑡</m:t>
                        </m:r>
                      </m:sub>
                    </m:sSub>
                  </m:oMath>
                </a14:m>
                <a:r>
                  <a:rPr lang="en-US" sz="1000" dirty="0">
                    <a:solidFill>
                      <a:schemeClr val="tx1"/>
                    </a:solidFill>
                    <a:latin typeface="Arial" panose="020B0604020202020204" pitchFamily="34" charset="0"/>
                    <a:cs typeface="Arial" panose="020B0604020202020204" pitchFamily="34" charset="0"/>
                  </a:rPr>
                  <a:t> </a:t>
                </a:r>
                <a:r>
                  <a:rPr lang="en-US" sz="1000" b="1" dirty="0">
                    <a:solidFill>
                      <a:schemeClr val="tx1"/>
                    </a:solidFill>
                    <a:latin typeface="Arial" panose="020B0604020202020204" pitchFamily="34" charset="0"/>
                    <a:cs typeface="Arial" panose="020B0604020202020204" pitchFamily="34" charset="0"/>
                  </a:rPr>
                  <a:t>	IV : </a:t>
                </a:r>
                <a:r>
                  <a:rPr lang="en-US" sz="1000" b="1" spc="-45" dirty="0">
                    <a:solidFill>
                      <a:schemeClr val="tx1"/>
                    </a:solidFill>
                    <a:latin typeface="Arial" panose="020B0604020202020204" pitchFamily="34" charset="0"/>
                    <a:cs typeface="Arial" panose="020B0604020202020204" pitchFamily="34" charset="0"/>
                  </a:rPr>
                  <a:t>⬆️ </a:t>
                </a:r>
                <a:r>
                  <a:rPr lang="en-US" sz="1000" spc="-45" dirty="0">
                    <a:solidFill>
                      <a:schemeClr val="tx1"/>
                    </a:solidFill>
                    <a:latin typeface="Arial" panose="020B0604020202020204" pitchFamily="34" charset="0"/>
                    <a:cs typeface="Arial" panose="020B0604020202020204" pitchFamily="34" charset="0"/>
                  </a:rPr>
                  <a:t>3.80% DR: </a:t>
                </a:r>
                <a:r>
                  <a:rPr lang="en-US" sz="1000" b="1" spc="-45" dirty="0">
                    <a:solidFill>
                      <a:schemeClr val="tx1"/>
                    </a:solidFill>
                    <a:latin typeface="Arial" panose="020B0604020202020204" pitchFamily="34" charset="0"/>
                    <a:cs typeface="Arial" panose="020B0604020202020204" pitchFamily="34" charset="0"/>
                  </a:rPr>
                  <a:t>Eff Size: </a:t>
                </a:r>
                <a:r>
                  <a:rPr lang="en-US" sz="1000" spc="-45" dirty="0">
                    <a:solidFill>
                      <a:schemeClr val="tx1"/>
                    </a:solidFill>
                    <a:latin typeface="Arial" panose="020B0604020202020204" pitchFamily="34" charset="0"/>
                    <a:cs typeface="Arial" panose="020B0604020202020204" pitchFamily="34" charset="0"/>
                  </a:rPr>
                  <a:t>0.60 </a:t>
                </a:r>
                <a14:m>
                  <m:oMath xmlns:m="http://schemas.openxmlformats.org/officeDocument/2006/math">
                    <m:r>
                      <a:rPr lang="en-US" sz="1000" b="0" i="1" smtClean="0">
                        <a:solidFill>
                          <a:schemeClr val="tx1"/>
                        </a:solidFill>
                        <a:latin typeface="Cambria Math" panose="02040503050406030204" pitchFamily="18" charset="0"/>
                        <a:cs typeface="Arial" panose="020B0604020202020204" pitchFamily="34" charset="0"/>
                      </a:rPr>
                      <m:t>𝑆</m:t>
                    </m:r>
                    <m:sSub>
                      <m:sSubPr>
                        <m:ctrlPr>
                          <a:rPr lang="en-US" sz="1000" b="0" i="1" smtClean="0">
                            <a:solidFill>
                              <a:schemeClr val="tx1"/>
                            </a:solidFill>
                            <a:latin typeface="Cambria Math" panose="02040503050406030204" pitchFamily="18" charset="0"/>
                            <a:cs typeface="Arial" panose="020B0604020202020204" pitchFamily="34" charset="0"/>
                          </a:rPr>
                        </m:ctrlPr>
                      </m:sSubPr>
                      <m:e>
                        <m:r>
                          <a:rPr lang="en-US" sz="1000" b="0" i="1" smtClean="0">
                            <a:solidFill>
                              <a:schemeClr val="tx1"/>
                            </a:solidFill>
                            <a:latin typeface="Cambria Math" panose="02040503050406030204" pitchFamily="18" charset="0"/>
                            <a:cs typeface="Arial" panose="020B0604020202020204" pitchFamily="34" charset="0"/>
                          </a:rPr>
                          <m:t>𝐷</m:t>
                        </m:r>
                      </m:e>
                      <m:sub>
                        <m:r>
                          <a:rPr lang="en-US" sz="10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1000" b="1" dirty="0">
                  <a:solidFill>
                    <a:schemeClr val="tx1"/>
                  </a:solidFill>
                  <a:latin typeface="Arial" panose="020B0604020202020204" pitchFamily="34" charset="0"/>
                  <a:cs typeface="Arial" panose="020B0604020202020204" pitchFamily="34" charset="0"/>
                </a:endParaRPr>
              </a:p>
            </p:txBody>
          </p:sp>
        </mc:Choice>
        <mc:Fallback>
          <p:sp>
            <p:nvSpPr>
              <p:cNvPr id="3" name="object 3">
                <a:extLst>
                  <a:ext uri="{FF2B5EF4-FFF2-40B4-BE49-F238E27FC236}">
                    <a16:creationId xmlns:a16="http://schemas.microsoft.com/office/drawing/2014/main" id="{B4BE70F8-B8AD-E634-AC3D-6149CE6759A4}"/>
                  </a:ext>
                </a:extLst>
              </p:cNvPr>
              <p:cNvSpPr txBox="1">
                <a:spLocks noRot="1" noChangeAspect="1" noMove="1" noResize="1" noEditPoints="1" noAdjustHandles="1" noChangeArrowheads="1" noChangeShapeType="1" noTextEdit="1"/>
              </p:cNvSpPr>
              <p:nvPr/>
            </p:nvSpPr>
            <p:spPr>
              <a:xfrm>
                <a:off x="295631" y="2569416"/>
                <a:ext cx="5561887" cy="473015"/>
              </a:xfrm>
              <a:prstGeom prst="rect">
                <a:avLst/>
              </a:prstGeom>
              <a:blipFill>
                <a:blip r:embed="rId2"/>
                <a:stretch>
                  <a:fillRect l="-456" t="-7895" b="-15789"/>
                </a:stretch>
              </a:blipFill>
            </p:spPr>
            <p:txBody>
              <a:bodyPr/>
              <a:lstStyle/>
              <a:p>
                <a:r>
                  <a:rPr lang="en-US">
                    <a:noFill/>
                  </a:rPr>
                  <a:t> </a:t>
                </a:r>
              </a:p>
            </p:txBody>
          </p:sp>
        </mc:Fallback>
      </mc:AlternateContent>
      <p:graphicFrame>
        <p:nvGraphicFramePr>
          <p:cNvPr id="19" name="Table 18">
            <a:extLst>
              <a:ext uri="{FF2B5EF4-FFF2-40B4-BE49-F238E27FC236}">
                <a16:creationId xmlns:a16="http://schemas.microsoft.com/office/drawing/2014/main" id="{757FCE1E-7D3D-5ED8-3CD8-6FD47B503A97}"/>
              </a:ext>
            </a:extLst>
          </p:cNvPr>
          <p:cNvGraphicFramePr>
            <a:graphicFrameLocks noGrp="1"/>
          </p:cNvGraphicFramePr>
          <p:nvPr/>
        </p:nvGraphicFramePr>
        <p:xfrm>
          <a:off x="128997" y="358775"/>
          <a:ext cx="1409578" cy="1747920"/>
        </p:xfrm>
        <a:graphic>
          <a:graphicData uri="http://schemas.openxmlformats.org/drawingml/2006/table">
            <a:tbl>
              <a:tblPr firstRow="1" bandRow="1">
                <a:tableStyleId>{5C22544A-7EE6-4342-B048-85BDC9FD1C3A}</a:tableStyleId>
              </a:tblPr>
              <a:tblGrid>
                <a:gridCol w="704789">
                  <a:extLst>
                    <a:ext uri="{9D8B030D-6E8A-4147-A177-3AD203B41FA5}">
                      <a16:colId xmlns:a16="http://schemas.microsoft.com/office/drawing/2014/main" val="1144790362"/>
                    </a:ext>
                  </a:extLst>
                </a:gridCol>
                <a:gridCol w="704789">
                  <a:extLst>
                    <a:ext uri="{9D8B030D-6E8A-4147-A177-3AD203B41FA5}">
                      <a16:colId xmlns:a16="http://schemas.microsoft.com/office/drawing/2014/main" val="2962113699"/>
                    </a:ext>
                  </a:extLst>
                </a:gridCol>
              </a:tblGrid>
              <a:tr h="311250">
                <a:tc>
                  <a:txBody>
                    <a:bodyPr/>
                    <a:lstStyle/>
                    <a:p>
                      <a:pPr algn="ctr"/>
                      <a:r>
                        <a:rPr lang="en-US" sz="900" b="1" dirty="0">
                          <a:solidFill>
                            <a:schemeClr val="tx1"/>
                          </a:solidFill>
                          <a:latin typeface="Arial" panose="020B0604020202020204" pitchFamily="34" charset="0"/>
                          <a:cs typeface="Arial" panose="020B0604020202020204" pitchFamily="34" charset="0"/>
                        </a:rPr>
                        <a:t>Implied</a:t>
                      </a:r>
                    </a:p>
                    <a:p>
                      <a:pPr algn="ctr"/>
                      <a:r>
                        <a:rPr lang="en-US" sz="900" b="1" dirty="0">
                          <a:solidFill>
                            <a:schemeClr val="tx1"/>
                          </a:solidFill>
                          <a:latin typeface="Arial" panose="020B0604020202020204" pitchFamily="34" charset="0"/>
                          <a:cs typeface="Arial" panose="020B0604020202020204" pitchFamily="34" charset="0"/>
                        </a:rPr>
                        <a:t>Elasticity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First Stage F-Stat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56121019"/>
                  </a:ext>
                </a:extLst>
              </a:tr>
              <a:tr h="311250">
                <a:tc>
                  <a:txBody>
                    <a:bodyPr/>
                    <a:lstStyle/>
                    <a:p>
                      <a:pPr algn="ctr"/>
                      <a:r>
                        <a:rPr lang="en-US" sz="900" b="0" dirty="0">
                          <a:solidFill>
                            <a:srgbClr val="690204"/>
                          </a:solidFill>
                          <a:latin typeface="Arial" panose="020B0604020202020204" pitchFamily="34" charset="0"/>
                          <a:cs typeface="Arial" panose="020B0604020202020204" pitchFamily="34" charset="0"/>
                        </a:rPr>
                        <a:t>0.47</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b="0" dirty="0">
                          <a:solidFill>
                            <a:schemeClr val="tx1"/>
                          </a:solidFill>
                          <a:latin typeface="Arial" panose="020B0604020202020204" pitchFamily="34" charset="0"/>
                          <a:cs typeface="Arial" panose="020B0604020202020204" pitchFamily="34" charset="0"/>
                        </a:rPr>
                        <a:t>7.41</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25516177"/>
                  </a:ext>
                </a:extLst>
              </a:tr>
              <a:tr h="311250">
                <a:tc>
                  <a:txBody>
                    <a:bodyPr/>
                    <a:lstStyle/>
                    <a:p>
                      <a:pPr algn="ctr"/>
                      <a:r>
                        <a:rPr lang="en-US" sz="900" dirty="0">
                          <a:solidFill>
                            <a:srgbClr val="690204"/>
                          </a:solidFill>
                          <a:latin typeface="Arial" panose="020B0604020202020204" pitchFamily="34" charset="0"/>
                          <a:cs typeface="Arial" panose="020B0604020202020204" pitchFamily="34" charset="0"/>
                        </a:rPr>
                        <a:t>0.79</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6.95</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09251823"/>
                  </a:ext>
                </a:extLst>
              </a:tr>
              <a:tr h="311250">
                <a:tc>
                  <a:txBody>
                    <a:bodyPr/>
                    <a:lstStyle/>
                    <a:p>
                      <a:pPr algn="ctr"/>
                      <a:r>
                        <a:rPr lang="en-US" sz="900" dirty="0">
                          <a:solidFill>
                            <a:srgbClr val="690204"/>
                          </a:solidFill>
                          <a:latin typeface="Arial" panose="020B0604020202020204" pitchFamily="34" charset="0"/>
                          <a:cs typeface="Arial" panose="020B0604020202020204" pitchFamily="34" charset="0"/>
                        </a:rPr>
                        <a:t>0.51*</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30.06</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0849032"/>
                  </a:ext>
                </a:extLst>
              </a:tr>
              <a:tr h="311250">
                <a:tc>
                  <a:txBody>
                    <a:bodyPr/>
                    <a:lstStyle/>
                    <a:p>
                      <a:pPr algn="ctr"/>
                      <a:r>
                        <a:rPr lang="en-US" sz="900" b="1" dirty="0">
                          <a:solidFill>
                            <a:srgbClr val="690204"/>
                          </a:solidFill>
                          <a:latin typeface="Arial" panose="020B0604020202020204" pitchFamily="34" charset="0"/>
                          <a:cs typeface="Arial" panose="020B0604020202020204" pitchFamily="34" charset="0"/>
                        </a:rPr>
                        <a:t>0.60**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BE59B"/>
                    </a:solid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24.20</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BE59B"/>
                    </a:solidFill>
                  </a:tcPr>
                </a:tc>
                <a:extLst>
                  <a:ext uri="{0D108BD9-81ED-4DB2-BD59-A6C34878D82A}">
                    <a16:rowId xmlns:a16="http://schemas.microsoft.com/office/drawing/2014/main" val="4189028726"/>
                  </a:ext>
                </a:extLst>
              </a:tr>
            </a:tbl>
          </a:graphicData>
        </a:graphic>
      </p:graphicFrame>
      <p:sp>
        <p:nvSpPr>
          <p:cNvPr id="20" name="TextBox 19">
            <a:extLst>
              <a:ext uri="{FF2B5EF4-FFF2-40B4-BE49-F238E27FC236}">
                <a16:creationId xmlns:a16="http://schemas.microsoft.com/office/drawing/2014/main" id="{6E63959E-184C-447B-2E46-BA289ACC570A}"/>
              </a:ext>
            </a:extLst>
          </p:cNvPr>
          <p:cNvSpPr txBox="1"/>
          <p:nvPr/>
        </p:nvSpPr>
        <p:spPr>
          <a:xfrm>
            <a:off x="4308693" y="3231840"/>
            <a:ext cx="734347" cy="246221"/>
          </a:xfrm>
          <a:prstGeom prst="rect">
            <a:avLst/>
          </a:prstGeom>
          <a:noFill/>
        </p:spPr>
        <p:txBody>
          <a:bodyPr wrap="square">
            <a:spAutoFit/>
          </a:bodyPr>
          <a:lstStyle/>
          <a:p>
            <a:r>
              <a:rPr lang="en-US" sz="500" b="1" dirty="0">
                <a:solidFill>
                  <a:srgbClr val="690204"/>
                </a:solidFill>
                <a:latin typeface="Arial" panose="020B0604020202020204" pitchFamily="34" charset="0"/>
                <a:cs typeface="Arial" panose="020B0604020202020204" pitchFamily="34" charset="0"/>
              </a:rPr>
              <a:t>IV Implied Elasticity</a:t>
            </a:r>
          </a:p>
        </p:txBody>
      </p:sp>
      <p:sp>
        <p:nvSpPr>
          <p:cNvPr id="7" name="TextBox 6">
            <a:extLst>
              <a:ext uri="{FF2B5EF4-FFF2-40B4-BE49-F238E27FC236}">
                <a16:creationId xmlns:a16="http://schemas.microsoft.com/office/drawing/2014/main" id="{BE5231A6-84F7-9BEF-A952-C3EA65CEB7B7}"/>
              </a:ext>
            </a:extLst>
          </p:cNvPr>
          <p:cNvSpPr txBox="1"/>
          <p:nvPr/>
        </p:nvSpPr>
        <p:spPr>
          <a:xfrm>
            <a:off x="96611" y="2121442"/>
            <a:ext cx="1441964" cy="271869"/>
          </a:xfrm>
          <a:prstGeom prst="rect">
            <a:avLst/>
          </a:prstGeom>
          <a:noFill/>
        </p:spPr>
        <p:txBody>
          <a:bodyPr wrap="square">
            <a:spAutoFit/>
          </a:bodyPr>
          <a:lstStyle/>
          <a:p>
            <a:pPr marL="12700" marR="5080">
              <a:lnSpc>
                <a:spcPts val="700"/>
              </a:lnSpc>
              <a:spcBef>
                <a:spcPts val="135"/>
              </a:spcBef>
            </a:pPr>
            <a:r>
              <a:rPr lang="en-US" sz="500" dirty="0">
                <a:latin typeface="Arial"/>
                <a:cs typeface="Arial"/>
              </a:rPr>
              <a:t>Significance level: *p &lt; 0.10 , ** p &lt; 0.05 , *** p &lt; 0.01</a:t>
            </a:r>
          </a:p>
        </p:txBody>
      </p:sp>
      <p:pic>
        <p:nvPicPr>
          <p:cNvPr id="5" name="Picture 4" descr="A graph of a number of individuals&#10;&#10;Description automatically generated with medium confidence">
            <a:extLst>
              <a:ext uri="{FF2B5EF4-FFF2-40B4-BE49-F238E27FC236}">
                <a16:creationId xmlns:a16="http://schemas.microsoft.com/office/drawing/2014/main" id="{6974F5A1-29B9-1DFB-70B2-B31601539D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15414" y="305134"/>
            <a:ext cx="4395378" cy="2197690"/>
          </a:xfrm>
          <a:prstGeom prst="rect">
            <a:avLst/>
          </a:prstGeom>
        </p:spPr>
      </p:pic>
    </p:spTree>
    <p:extLst>
      <p:ext uri="{BB962C8B-B14F-4D97-AF65-F5344CB8AC3E}">
        <p14:creationId xmlns:p14="http://schemas.microsoft.com/office/powerpoint/2010/main" val="34618304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Mechanisms and Robustness Checks</a:t>
            </a:r>
          </a:p>
        </p:txBody>
      </p:sp>
      <p:graphicFrame>
        <p:nvGraphicFramePr>
          <p:cNvPr id="2" name="Table 1">
            <a:extLst>
              <a:ext uri="{FF2B5EF4-FFF2-40B4-BE49-F238E27FC236}">
                <a16:creationId xmlns:a16="http://schemas.microsoft.com/office/drawing/2014/main" id="{0E4BA32E-E192-5220-1D2D-0E7960F74755}"/>
              </a:ext>
            </a:extLst>
          </p:cNvPr>
          <p:cNvGraphicFramePr>
            <a:graphicFrameLocks noGrp="1"/>
          </p:cNvGraphicFramePr>
          <p:nvPr>
            <p:extLst>
              <p:ext uri="{D42A27DB-BD31-4B8C-83A1-F6EECF244321}">
                <p14:modId xmlns:p14="http://schemas.microsoft.com/office/powerpoint/2010/main" val="3537451449"/>
              </p:ext>
            </p:extLst>
          </p:nvPr>
        </p:nvGraphicFramePr>
        <p:xfrm>
          <a:off x="742699" y="958007"/>
          <a:ext cx="4689642" cy="1417320"/>
        </p:xfrm>
        <a:graphic>
          <a:graphicData uri="http://schemas.openxmlformats.org/drawingml/2006/table">
            <a:tbl>
              <a:tblPr firstRow="1" bandRow="1">
                <a:tableStyleId>{5C22544A-7EE6-4342-B048-85BDC9FD1C3A}</a:tableStyleId>
              </a:tblPr>
              <a:tblGrid>
                <a:gridCol w="1895814">
                  <a:extLst>
                    <a:ext uri="{9D8B030D-6E8A-4147-A177-3AD203B41FA5}">
                      <a16:colId xmlns:a16="http://schemas.microsoft.com/office/drawing/2014/main" val="3006586341"/>
                    </a:ext>
                  </a:extLst>
                </a:gridCol>
                <a:gridCol w="1559712">
                  <a:extLst>
                    <a:ext uri="{9D8B030D-6E8A-4147-A177-3AD203B41FA5}">
                      <a16:colId xmlns:a16="http://schemas.microsoft.com/office/drawing/2014/main" val="1501350102"/>
                    </a:ext>
                  </a:extLst>
                </a:gridCol>
                <a:gridCol w="1234116">
                  <a:extLst>
                    <a:ext uri="{9D8B030D-6E8A-4147-A177-3AD203B41FA5}">
                      <a16:colId xmlns:a16="http://schemas.microsoft.com/office/drawing/2014/main" val="916146904"/>
                    </a:ext>
                  </a:extLst>
                </a:gridCol>
              </a:tblGrid>
              <a:tr h="199592">
                <a:tc>
                  <a:txBody>
                    <a:bodyPr/>
                    <a:lstStyle/>
                    <a:p>
                      <a:pPr algn="ctr"/>
                      <a:r>
                        <a:rPr lang="en-US" sz="1050" b="1" dirty="0">
                          <a:solidFill>
                            <a:schemeClr val="bg1"/>
                          </a:solidFill>
                          <a:latin typeface="Arial" panose="020B0604020202020204" pitchFamily="34" charset="0"/>
                          <a:cs typeface="Arial" panose="020B0604020202020204" pitchFamily="34" charset="0"/>
                        </a:rPr>
                        <a:t>Specification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ctr"/>
                      <a:r>
                        <a:rPr lang="en-US" sz="1050" b="1" spc="-45" dirty="0">
                          <a:solidFill>
                            <a:schemeClr val="bg1"/>
                          </a:solidFill>
                          <a:latin typeface="Arial"/>
                          <a:cs typeface="Arial"/>
                        </a:rPr>
                        <a:t>⬆️ in ST Debt for a 1 SD ⬆️ in Cash Reserves </a:t>
                      </a:r>
                      <a:endParaRPr lang="en-US" sz="105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tc>
                  <a:txBody>
                    <a:bodyPr/>
                    <a:lstStyle/>
                    <a:p>
                      <a:pPr algn="ctr"/>
                      <a:r>
                        <a:rPr lang="en-US" sz="1050" b="1" dirty="0">
                          <a:solidFill>
                            <a:schemeClr val="bg1"/>
                          </a:solidFill>
                          <a:latin typeface="Arial" panose="020B0604020202020204" pitchFamily="34" charset="0"/>
                          <a:cs typeface="Arial" panose="020B0604020202020204" pitchFamily="34" charset="0"/>
                        </a:rPr>
                        <a:t>Implied Elasticity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90204"/>
                    </a:solidFill>
                  </a:tcPr>
                </a:tc>
                <a:extLst>
                  <a:ext uri="{0D108BD9-81ED-4DB2-BD59-A6C34878D82A}">
                    <a16:rowId xmlns:a16="http://schemas.microsoft.com/office/drawing/2014/main" val="224832269"/>
                  </a:ext>
                </a:extLst>
              </a:tr>
              <a:tr h="182880">
                <a:tc>
                  <a:txBody>
                    <a:bodyPr/>
                    <a:lstStyle/>
                    <a:p>
                      <a:r>
                        <a:rPr lang="en-US" sz="1050" b="0" dirty="0">
                          <a:solidFill>
                            <a:schemeClr val="tx1"/>
                          </a:solidFill>
                          <a:latin typeface="Arial" panose="020B0604020202020204" pitchFamily="34" charset="0"/>
                          <a:cs typeface="Arial" panose="020B0604020202020204" pitchFamily="34" charset="0"/>
                          <a:hlinkClick r:id="rId2" action="ppaction://hlinksldjump"/>
                        </a:rPr>
                        <a:t>Baseline</a:t>
                      </a:r>
                      <a:endParaRPr lang="en-US" sz="105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3.8%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7534880"/>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3" action="ppaction://hlinksldjump"/>
                        </a:rPr>
                        <a:t>Cash Reserves &lt; Median</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5.3%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3787433"/>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4" action="ppaction://hlinksldjump"/>
                        </a:rPr>
                        <a:t>Lower Rated Governments</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8.3%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1.33**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983844"/>
                  </a:ext>
                </a:extLst>
              </a:tr>
              <a:tr h="182880">
                <a:tc>
                  <a:txBody>
                    <a:bodyPr/>
                    <a:lstStyle/>
                    <a:p>
                      <a:r>
                        <a:rPr lang="en-US" sz="1050" dirty="0">
                          <a:solidFill>
                            <a:schemeClr val="tx1"/>
                          </a:solidFill>
                          <a:latin typeface="Arial" panose="020B0604020202020204" pitchFamily="34" charset="0"/>
                          <a:cs typeface="Arial" panose="020B0604020202020204" pitchFamily="34" charset="0"/>
                          <a:hlinkClick r:id="rId5" action="ppaction://hlinksldjump"/>
                        </a:rPr>
                        <a:t>End-of-Year (Q4) Sample</a:t>
                      </a:r>
                      <a:endParaRPr lang="en-US" sz="105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6.7% of DR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50" dirty="0">
                          <a:solidFill>
                            <a:schemeClr val="tx1"/>
                          </a:solidFill>
                          <a:latin typeface="Arial" panose="020B0604020202020204" pitchFamily="34" charset="0"/>
                          <a:cs typeface="Arial" panose="020B0604020202020204" pitchFamily="34" charset="0"/>
                        </a:rPr>
                        <a:t>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1241779"/>
                  </a:ext>
                </a:extLst>
              </a:tr>
            </a:tbl>
          </a:graphicData>
        </a:graphic>
      </p:graphicFrame>
      <p:sp>
        <p:nvSpPr>
          <p:cNvPr id="6" name="TextBox 5">
            <a:extLst>
              <a:ext uri="{FF2B5EF4-FFF2-40B4-BE49-F238E27FC236}">
                <a16:creationId xmlns:a16="http://schemas.microsoft.com/office/drawing/2014/main" id="{4771D466-E607-A8E6-58B3-84100CAE23E3}"/>
              </a:ext>
            </a:extLst>
          </p:cNvPr>
          <p:cNvSpPr txBox="1"/>
          <p:nvPr/>
        </p:nvSpPr>
        <p:spPr>
          <a:xfrm>
            <a:off x="638175" y="2375327"/>
            <a:ext cx="4197684" cy="188834"/>
          </a:xfrm>
          <a:prstGeom prst="rect">
            <a:avLst/>
          </a:prstGeom>
          <a:noFill/>
        </p:spPr>
        <p:txBody>
          <a:bodyPr wrap="square">
            <a:spAutoFit/>
          </a:bodyPr>
          <a:lstStyle/>
          <a:p>
            <a:pPr marL="12700" marR="5080">
              <a:lnSpc>
                <a:spcPts val="700"/>
              </a:lnSpc>
              <a:spcBef>
                <a:spcPts val="135"/>
              </a:spcBef>
            </a:pPr>
            <a:r>
              <a:rPr lang="en-US" sz="900" i="1" dirty="0">
                <a:latin typeface="Arial"/>
                <a:cs typeface="Arial"/>
              </a:rPr>
              <a:t>Significance level: *p &lt; 0.10 , ** p &lt; 0.05 , *** p &lt; 0.01</a:t>
            </a:r>
          </a:p>
        </p:txBody>
      </p:sp>
      <p:sp>
        <p:nvSpPr>
          <p:cNvPr id="7" name="object 3">
            <a:extLst>
              <a:ext uri="{FF2B5EF4-FFF2-40B4-BE49-F238E27FC236}">
                <a16:creationId xmlns:a16="http://schemas.microsoft.com/office/drawing/2014/main" id="{ACDD538B-4BD9-118D-A49E-DBCE9109DBE3}"/>
              </a:ext>
            </a:extLst>
          </p:cNvPr>
          <p:cNvSpPr txBox="1"/>
          <p:nvPr/>
        </p:nvSpPr>
        <p:spPr>
          <a:xfrm>
            <a:off x="122154" y="2715866"/>
            <a:ext cx="5908841" cy="227626"/>
          </a:xfrm>
          <a:prstGeom prst="rect">
            <a:avLst/>
          </a:prstGeom>
        </p:spPr>
        <p:txBody>
          <a:bodyPr vert="horz" wrap="square" lIns="0" tIns="12065" rIns="0" bIns="0" rtlCol="0">
            <a:spAutoFit/>
          </a:bodyPr>
          <a:lstStyle/>
          <a:p>
            <a:pPr marL="50801" algn="ctr">
              <a:spcBef>
                <a:spcPts val="600"/>
              </a:spcBef>
              <a:spcAft>
                <a:spcPts val="600"/>
              </a:spcAft>
              <a:tabLst>
                <a:tab pos="167640" algn="l"/>
              </a:tabLst>
            </a:pPr>
            <a:r>
              <a:rPr lang="en-US" sz="1400" spc="-45" dirty="0">
                <a:solidFill>
                  <a:srgbClr val="990000"/>
                </a:solidFill>
                <a:latin typeface="Arial" panose="020B0604020202020204" pitchFamily="34" charset="0"/>
                <a:cs typeface="Arial" panose="020B0604020202020204" pitchFamily="34" charset="0"/>
              </a:rPr>
              <a:t>More stringent liquidity constraints lead to stronger complementarity effects. </a:t>
            </a:r>
          </a:p>
        </p:txBody>
      </p:sp>
      <p:sp>
        <p:nvSpPr>
          <p:cNvPr id="8" name="TextBox 7">
            <a:extLst>
              <a:ext uri="{FF2B5EF4-FFF2-40B4-BE49-F238E27FC236}">
                <a16:creationId xmlns:a16="http://schemas.microsoft.com/office/drawing/2014/main" id="{21A06CAD-0B68-17F1-D50C-7D53AD603B11}"/>
              </a:ext>
            </a:extLst>
          </p:cNvPr>
          <p:cNvSpPr txBox="1"/>
          <p:nvPr/>
        </p:nvSpPr>
        <p:spPr>
          <a:xfrm>
            <a:off x="0" y="319176"/>
            <a:ext cx="6009104" cy="495841"/>
          </a:xfrm>
          <a:prstGeom prst="rect">
            <a:avLst/>
          </a:prstGeom>
          <a:noFill/>
        </p:spPr>
        <p:txBody>
          <a:bodyPr wrap="square">
            <a:spAutoFit/>
          </a:bodyPr>
          <a:lstStyle/>
          <a:p>
            <a:pPr marL="50165" marR="30480">
              <a:lnSpc>
                <a:spcPct val="114000"/>
              </a:lnSpc>
              <a:spcBef>
                <a:spcPts val="600"/>
              </a:spcBef>
              <a:spcAft>
                <a:spcPts val="600"/>
              </a:spcAft>
              <a:tabLst>
                <a:tab pos="167640" algn="l"/>
              </a:tabLst>
            </a:pPr>
            <a:r>
              <a:rPr lang="en-US" sz="1200" b="1" dirty="0">
                <a:latin typeface="Arial" panose="020B0604020202020204" pitchFamily="34" charset="0"/>
                <a:cs typeface="Arial" panose="020B0604020202020204" pitchFamily="34" charset="0"/>
              </a:rPr>
              <a:t>Research Design: </a:t>
            </a:r>
            <a:r>
              <a:rPr lang="en-US" sz="1200" dirty="0">
                <a:latin typeface="Arial" panose="020B0604020202020204" pitchFamily="34" charset="0"/>
                <a:cs typeface="Arial" panose="020B0604020202020204" pitchFamily="34" charset="0"/>
              </a:rPr>
              <a:t>sample partition by specific strata (cash reserves quartiles, credit rating categories, quarter of the FY) and model estimation in independent samples. </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42361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CF87-6BB7-3DF2-28FC-84055E50187A}"/>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474A570B-57FC-970A-90ED-67A27B12859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AF5A621B-41EA-348B-13A1-0B22EBE59D17}"/>
              </a:ext>
            </a:extLst>
          </p:cNvPr>
          <p:cNvSpPr txBox="1"/>
          <p:nvPr/>
        </p:nvSpPr>
        <p:spPr>
          <a:xfrm>
            <a:off x="104775" y="481053"/>
            <a:ext cx="5842878" cy="843180"/>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p:txBody>
      </p:sp>
    </p:spTree>
    <p:extLst>
      <p:ext uri="{BB962C8B-B14F-4D97-AF65-F5344CB8AC3E}">
        <p14:creationId xmlns:p14="http://schemas.microsoft.com/office/powerpoint/2010/main" val="16078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74FE9-C10A-B138-4CDE-6723319834D5}"/>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E9A33F9B-51C4-7E4C-5F43-891CD525A16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182A9384-874E-4F8A-6A92-48C04880CEB8}"/>
              </a:ext>
            </a:extLst>
          </p:cNvPr>
          <p:cNvSpPr txBox="1"/>
          <p:nvPr/>
        </p:nvSpPr>
        <p:spPr>
          <a:xfrm>
            <a:off x="104775" y="481053"/>
            <a:ext cx="5842878" cy="1658787"/>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Why I find cash and debt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Institutional setting amplifies the stringency of liquidity constraints: </a:t>
            </a:r>
            <a:r>
              <a:rPr lang="en-US" sz="1100" spc="-45" dirty="0">
                <a:latin typeface="Arial" panose="020B0604020202020204" pitchFamily="34" charset="0"/>
                <a:cs typeface="Arial" panose="020B0604020202020204" pitchFamily="34" charset="0"/>
              </a:rPr>
              <a:t>Fiscal rules limit ability to generate excess cash and use long-term debt for liquidity management. </a:t>
            </a:r>
            <a:endParaRPr lang="en-US" sz="1100" b="1" spc="-4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891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DE093-7B1D-66CD-AA1A-AACCFEB76D7D}"/>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967DA844-EC7C-6453-0A87-06D52ED291B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Relation with the Literature</a:t>
            </a:r>
          </a:p>
        </p:txBody>
      </p:sp>
      <p:sp>
        <p:nvSpPr>
          <p:cNvPr id="4" name="object 3">
            <a:extLst>
              <a:ext uri="{FF2B5EF4-FFF2-40B4-BE49-F238E27FC236}">
                <a16:creationId xmlns:a16="http://schemas.microsoft.com/office/drawing/2014/main" id="{5A42D7F0-E964-1382-7752-B9989CF8FDD4}"/>
              </a:ext>
            </a:extLst>
          </p:cNvPr>
          <p:cNvSpPr txBox="1"/>
          <p:nvPr/>
        </p:nvSpPr>
        <p:spPr>
          <a:xfrm>
            <a:off x="104775" y="481053"/>
            <a:ext cx="5842878" cy="2474395"/>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Theoretical Extension: </a:t>
            </a:r>
            <a:r>
              <a:rPr lang="en-US" sz="1100" spc="-45" dirty="0">
                <a:latin typeface="Arial" panose="020B0604020202020204" pitchFamily="34" charset="0"/>
                <a:cs typeface="Arial" panose="020B0604020202020204" pitchFamily="34" charset="0"/>
              </a:rPr>
              <a:t>This paper provides a model that shows the moderating role of cash reserves on the complementarity-substitutability of cash and debt. </a:t>
            </a:r>
            <a:endParaRPr lang="en-US" sz="1100" b="1" spc="-45"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New Empirical Evidence: </a:t>
            </a:r>
            <a:r>
              <a:rPr lang="en-US" sz="1100" spc="-45" dirty="0">
                <a:latin typeface="Arial" panose="020B0604020202020204" pitchFamily="34" charset="0"/>
                <a:cs typeface="Arial" panose="020B0604020202020204" pitchFamily="34" charset="0"/>
              </a:rPr>
              <a:t>Contrasting evidence to literature on US local governments that find cash and debt are substitutes (Su and Hildreth 2018; Lofton and Kioko, 2021).</a:t>
            </a: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Why I find cash and debt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Institutional setting amplifies the stringency of liquidity constraints: </a:t>
            </a:r>
            <a:r>
              <a:rPr lang="en-US" sz="1100" spc="-45" dirty="0">
                <a:latin typeface="Arial" panose="020B0604020202020204" pitchFamily="34" charset="0"/>
                <a:cs typeface="Arial" panose="020B0604020202020204" pitchFamily="34" charset="0"/>
              </a:rPr>
              <a:t>Fiscal rules limit ability to generate excess cash and use long-term debt for liquidity management. </a:t>
            </a:r>
            <a:endParaRPr lang="en-US" sz="1100" b="1" spc="-45" dirty="0">
              <a:latin typeface="Arial" panose="020B0604020202020204" pitchFamily="34" charset="0"/>
              <a:cs typeface="Arial" panose="020B0604020202020204" pitchFamily="34" charset="0"/>
            </a:endParaRPr>
          </a:p>
          <a:p>
            <a:pPr marL="50801">
              <a:spcBef>
                <a:spcPts val="600"/>
              </a:spcBef>
              <a:spcAft>
                <a:spcPts val="600"/>
              </a:spcAft>
              <a:tabLst>
                <a:tab pos="167640" algn="l"/>
              </a:tabLst>
            </a:pPr>
            <a:r>
              <a:rPr lang="en-US" sz="1100" b="1" spc="-45" dirty="0">
                <a:solidFill>
                  <a:srgbClr val="690204"/>
                </a:solidFill>
                <a:latin typeface="Arial" panose="020B0604020202020204" pitchFamily="34" charset="0"/>
                <a:cs typeface="Arial" panose="020B0604020202020204" pitchFamily="34" charset="0"/>
              </a:rPr>
              <a:t>Is this only present in developing or centralized economies like Mexico?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 No! </a:t>
            </a:r>
            <a:r>
              <a:rPr lang="en-US" sz="1100" spc="-45" dirty="0">
                <a:latin typeface="Arial" panose="020B0604020202020204" pitchFamily="34" charset="0"/>
                <a:cs typeface="Arial" panose="020B0604020202020204" pitchFamily="34" charset="0"/>
              </a:rPr>
              <a:t>In my second dissertation chapter I document </a:t>
            </a:r>
            <a:r>
              <a:rPr lang="en-US" sz="1100" b="1" spc="-45" dirty="0">
                <a:latin typeface="Arial" panose="020B0604020202020204" pitchFamily="34" charset="0"/>
                <a:cs typeface="Arial" panose="020B0604020202020204" pitchFamily="34" charset="0"/>
              </a:rPr>
              <a:t>similar evidence for U.S. local governments during the pandemic. </a:t>
            </a:r>
          </a:p>
        </p:txBody>
      </p:sp>
    </p:spTree>
    <p:extLst>
      <p:ext uri="{BB962C8B-B14F-4D97-AF65-F5344CB8AC3E}">
        <p14:creationId xmlns:p14="http://schemas.microsoft.com/office/powerpoint/2010/main" val="39578523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F107-C257-B824-7111-EE95EE61E28C}"/>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5C56B0CC-34E0-2BEB-8622-65226BE89B65}"/>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4" name="object 3">
            <a:extLst>
              <a:ext uri="{FF2B5EF4-FFF2-40B4-BE49-F238E27FC236}">
                <a16:creationId xmlns:a16="http://schemas.microsoft.com/office/drawing/2014/main" id="{16B351AC-2892-2931-61EF-F0460A1BA958}"/>
              </a:ext>
            </a:extLst>
          </p:cNvPr>
          <p:cNvSpPr txBox="1"/>
          <p:nvPr/>
        </p:nvSpPr>
        <p:spPr>
          <a:xfrm>
            <a:off x="129297" y="587375"/>
            <a:ext cx="5894555" cy="725199"/>
          </a:xfrm>
          <a:prstGeom prst="rect">
            <a:avLst/>
          </a:prstGeom>
        </p:spPr>
        <p:txBody>
          <a:bodyPr vert="horz" wrap="square" lIns="0" tIns="12065" rIns="0" bIns="0" rtlCol="0">
            <a:spAutoFit/>
          </a:bodyPr>
          <a:lstStyle/>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RQ: </a:t>
            </a:r>
            <a:r>
              <a:rPr lang="en-US" sz="1100" spc="-45" dirty="0">
                <a:latin typeface="Arial" panose="020B0604020202020204" pitchFamily="34" charset="0"/>
                <a:cs typeface="Arial" panose="020B0604020202020204" pitchFamily="34" charset="0"/>
              </a:rPr>
              <a:t>What is the role of federal aid on local government borrowing during macroeconomic crises ?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Policy: </a:t>
            </a:r>
            <a:r>
              <a:rPr lang="en-US" sz="1100" dirty="0">
                <a:latin typeface="Arial" panose="020B0604020202020204" pitchFamily="34" charset="0"/>
                <a:cs typeface="Arial" panose="020B0604020202020204" pitchFamily="34" charset="0"/>
              </a:rPr>
              <a:t>The Coronavirus Relief Fund (CRF) creates a quasi-experimental setting in which some governments (i.e., population &gt; 500K) received direct aid from the Treasury.</a:t>
            </a:r>
          </a:p>
        </p:txBody>
      </p:sp>
    </p:spTree>
    <p:extLst>
      <p:ext uri="{BB962C8B-B14F-4D97-AF65-F5344CB8AC3E}">
        <p14:creationId xmlns:p14="http://schemas.microsoft.com/office/powerpoint/2010/main" val="37823308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D75B-EF71-C247-3560-F20851F680C2}"/>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7847AF93-81D6-DA94-2AFA-C191D06705E9}"/>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4" name="object 3">
            <a:extLst>
              <a:ext uri="{FF2B5EF4-FFF2-40B4-BE49-F238E27FC236}">
                <a16:creationId xmlns:a16="http://schemas.microsoft.com/office/drawing/2014/main" id="{9187F737-9D76-9EAC-3508-80C73BA8330E}"/>
              </a:ext>
            </a:extLst>
          </p:cNvPr>
          <p:cNvSpPr txBox="1"/>
          <p:nvPr/>
        </p:nvSpPr>
        <p:spPr>
          <a:xfrm>
            <a:off x="129297" y="587375"/>
            <a:ext cx="5894555" cy="1812676"/>
          </a:xfrm>
          <a:prstGeom prst="rect">
            <a:avLst/>
          </a:prstGeom>
        </p:spPr>
        <p:txBody>
          <a:bodyPr vert="horz" wrap="square" lIns="0" tIns="12065" rIns="0" bIns="0" rtlCol="0">
            <a:spAutoFit/>
          </a:bodyPr>
          <a:lstStyle/>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RQ: </a:t>
            </a:r>
            <a:r>
              <a:rPr lang="en-US" sz="1100" spc="-45" dirty="0">
                <a:latin typeface="Arial" panose="020B0604020202020204" pitchFamily="34" charset="0"/>
                <a:cs typeface="Arial" panose="020B0604020202020204" pitchFamily="34" charset="0"/>
              </a:rPr>
              <a:t>What is the role of federal aid on local government borrowing during macroeconomic crises ?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Policy: </a:t>
            </a:r>
            <a:r>
              <a:rPr lang="en-US" sz="1100" dirty="0">
                <a:latin typeface="Arial" panose="020B0604020202020204" pitchFamily="34" charset="0"/>
                <a:cs typeface="Arial" panose="020B0604020202020204" pitchFamily="34" charset="0"/>
              </a:rPr>
              <a:t>The Coronavirus Relief Fund (CRF) creates a quasi-experimental setting in which some governments (i.e., population &gt; 500K) received direct aid from the Treasury.</a:t>
            </a:r>
          </a:p>
          <a:p>
            <a:pPr marL="167640" indent="-116839">
              <a:spcBef>
                <a:spcPts val="800"/>
              </a:spcBef>
              <a:spcAft>
                <a:spcPts val="800"/>
              </a:spcAft>
              <a:buFont typeface="Arial"/>
              <a:buChar char="•"/>
              <a:tabLst>
                <a:tab pos="167640" algn="l"/>
              </a:tabLst>
            </a:pPr>
            <a:r>
              <a:rPr lang="en-US" sz="1100" spc="-45" dirty="0">
                <a:latin typeface="Arial" panose="020B0604020202020204" pitchFamily="34" charset="0"/>
                <a:cs typeface="Arial" panose="020B0604020202020204" pitchFamily="34" charset="0"/>
              </a:rPr>
              <a:t>Using a regression discontinuity design (RDD), I estimate the effect of CRF funding on local government borrowing costs and amount of debt issued. </a:t>
            </a:r>
          </a:p>
          <a:p>
            <a:pPr marL="167640" indent="-116839">
              <a:spcBef>
                <a:spcPts val="800"/>
              </a:spcBef>
              <a:spcAft>
                <a:spcPts val="800"/>
              </a:spcAft>
              <a:buFont typeface="Arial"/>
              <a:buChar char="•"/>
              <a:tabLst>
                <a:tab pos="167640" algn="l"/>
              </a:tabLst>
            </a:pPr>
            <a:r>
              <a:rPr lang="en-US" sz="1100" b="1" spc="-45" dirty="0">
                <a:latin typeface="Arial" panose="020B0604020202020204" pitchFamily="34" charset="0"/>
                <a:cs typeface="Arial" panose="020B0604020202020204" pitchFamily="34" charset="0"/>
              </a:rPr>
              <a:t>Similarity with Ch1: </a:t>
            </a:r>
            <a:r>
              <a:rPr lang="en-US" sz="1100" spc="-45" dirty="0">
                <a:latin typeface="Arial" panose="020B0604020202020204" pitchFamily="34" charset="0"/>
                <a:cs typeface="Arial" panose="020B0604020202020204" pitchFamily="34" charset="0"/>
              </a:rPr>
              <a:t>for governments around the cutoff for CRF eligibility, CRF payments mimic a random liquidity shock. </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25159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532BA665-CBE3-FA5D-4FFE-06C1E2AA4D7C}"/>
              </a:ext>
            </a:extLst>
          </p:cNvPr>
          <p:cNvPicPr/>
          <p:nvPr/>
        </p:nvPicPr>
        <p:blipFill>
          <a:blip r:embed="rId2" cstate="print"/>
          <a:srcRect t="1993" b="49294"/>
          <a:stretch/>
        </p:blipFill>
        <p:spPr>
          <a:xfrm>
            <a:off x="0" y="685128"/>
            <a:ext cx="4197684" cy="2044178"/>
          </a:xfrm>
          <a:prstGeom prst="rect">
            <a:avLst/>
          </a:prstGeom>
        </p:spPr>
      </p:pic>
      <p:sp>
        <p:nvSpPr>
          <p:cNvPr id="4" name="object 4">
            <a:extLst>
              <a:ext uri="{FF2B5EF4-FFF2-40B4-BE49-F238E27FC236}">
                <a16:creationId xmlns:a16="http://schemas.microsoft.com/office/drawing/2014/main" id="{8208864C-2FA3-3B18-7C7A-5E8967317390}"/>
              </a:ext>
            </a:extLst>
          </p:cNvPr>
          <p:cNvSpPr txBox="1"/>
          <p:nvPr/>
        </p:nvSpPr>
        <p:spPr>
          <a:xfrm>
            <a:off x="21891" y="2670844"/>
            <a:ext cx="4331405" cy="278731"/>
          </a:xfrm>
          <a:prstGeom prst="rect">
            <a:avLst/>
          </a:prstGeom>
        </p:spPr>
        <p:txBody>
          <a:bodyPr vert="horz" wrap="square" lIns="0" tIns="17145" rIns="0" bIns="0" rtlCol="0">
            <a:spAutoFit/>
          </a:bodyPr>
          <a:lstStyle/>
          <a:p>
            <a:pPr marL="12700" marR="5080">
              <a:lnSpc>
                <a:spcPts val="700"/>
              </a:lnSpc>
              <a:spcBef>
                <a:spcPts val="135"/>
              </a:spcBef>
            </a:pPr>
            <a:r>
              <a:rPr sz="500" b="1" dirty="0">
                <a:latin typeface="Arial"/>
                <a:cs typeface="Arial"/>
              </a:rPr>
              <a:t>Note:</a:t>
            </a:r>
            <a:r>
              <a:rPr sz="500" b="1" spc="85" dirty="0">
                <a:latin typeface="Arial"/>
                <a:cs typeface="Arial"/>
              </a:rPr>
              <a:t> </a:t>
            </a:r>
            <a:r>
              <a:rPr sz="500" spc="-10" dirty="0">
                <a:latin typeface="Arial"/>
                <a:cs typeface="Arial"/>
              </a:rPr>
              <a:t>These</a:t>
            </a:r>
            <a:r>
              <a:rPr sz="500" spc="30" dirty="0">
                <a:latin typeface="Arial"/>
                <a:cs typeface="Arial"/>
              </a:rPr>
              <a:t> </a:t>
            </a:r>
            <a:r>
              <a:rPr sz="500" spc="-10" dirty="0">
                <a:latin typeface="Arial"/>
                <a:cs typeface="Arial"/>
              </a:rPr>
              <a:t>figures</a:t>
            </a:r>
            <a:r>
              <a:rPr sz="500" spc="30" dirty="0">
                <a:latin typeface="Arial"/>
                <a:cs typeface="Arial"/>
              </a:rPr>
              <a:t> </a:t>
            </a:r>
            <a:r>
              <a:rPr sz="500" spc="-10" dirty="0">
                <a:latin typeface="Arial"/>
                <a:cs typeface="Arial"/>
              </a:rPr>
              <a:t>display</a:t>
            </a:r>
            <a:r>
              <a:rPr sz="500" spc="30" dirty="0">
                <a:latin typeface="Arial"/>
                <a:cs typeface="Arial"/>
              </a:rPr>
              <a:t> </a:t>
            </a:r>
            <a:r>
              <a:rPr sz="500" dirty="0">
                <a:latin typeface="Arial"/>
                <a:cs typeface="Arial"/>
              </a:rPr>
              <a:t>the</a:t>
            </a:r>
            <a:r>
              <a:rPr sz="500" spc="35" dirty="0">
                <a:latin typeface="Arial"/>
                <a:cs typeface="Arial"/>
              </a:rPr>
              <a:t> </a:t>
            </a:r>
            <a:r>
              <a:rPr sz="500" dirty="0">
                <a:latin typeface="Arial"/>
                <a:cs typeface="Arial"/>
              </a:rPr>
              <a:t>scatter</a:t>
            </a:r>
            <a:r>
              <a:rPr sz="500" spc="30" dirty="0">
                <a:latin typeface="Arial"/>
                <a:cs typeface="Arial"/>
              </a:rPr>
              <a:t> </a:t>
            </a:r>
            <a:r>
              <a:rPr sz="500" spc="-10" dirty="0">
                <a:latin typeface="Arial"/>
                <a:cs typeface="Arial"/>
              </a:rPr>
              <a:t>binned</a:t>
            </a:r>
            <a:r>
              <a:rPr sz="500" spc="30" dirty="0">
                <a:latin typeface="Arial"/>
                <a:cs typeface="Arial"/>
              </a:rPr>
              <a:t> </a:t>
            </a:r>
            <a:r>
              <a:rPr sz="500" dirty="0">
                <a:latin typeface="Arial"/>
                <a:cs typeface="Arial"/>
              </a:rPr>
              <a:t>plots</a:t>
            </a:r>
            <a:r>
              <a:rPr sz="500" spc="30" dirty="0">
                <a:latin typeface="Arial"/>
                <a:cs typeface="Arial"/>
              </a:rPr>
              <a:t> </a:t>
            </a:r>
            <a:r>
              <a:rPr sz="500" dirty="0">
                <a:latin typeface="Arial"/>
                <a:cs typeface="Arial"/>
              </a:rPr>
              <a:t>of</a:t>
            </a:r>
            <a:r>
              <a:rPr sz="500" spc="30" dirty="0">
                <a:latin typeface="Arial"/>
                <a:cs typeface="Arial"/>
              </a:rPr>
              <a:t> </a:t>
            </a:r>
            <a:r>
              <a:rPr sz="500" dirty="0">
                <a:latin typeface="Arial"/>
                <a:cs typeface="Arial"/>
              </a:rPr>
              <a:t>the</a:t>
            </a:r>
            <a:r>
              <a:rPr sz="500" spc="30" dirty="0">
                <a:latin typeface="Arial"/>
                <a:cs typeface="Arial"/>
              </a:rPr>
              <a:t> </a:t>
            </a:r>
            <a:r>
              <a:rPr sz="500" spc="-10" dirty="0">
                <a:latin typeface="Arial"/>
                <a:cs typeface="Arial"/>
              </a:rPr>
              <a:t>dependent</a:t>
            </a:r>
            <a:r>
              <a:rPr sz="500" spc="35" dirty="0">
                <a:latin typeface="Arial"/>
                <a:cs typeface="Arial"/>
              </a:rPr>
              <a:t> </a:t>
            </a:r>
            <a:r>
              <a:rPr sz="500" spc="-20" dirty="0">
                <a:latin typeface="Arial"/>
                <a:cs typeface="Arial"/>
              </a:rPr>
              <a:t>variables</a:t>
            </a:r>
            <a:r>
              <a:rPr sz="500" spc="30" dirty="0">
                <a:latin typeface="Arial"/>
                <a:cs typeface="Arial"/>
              </a:rPr>
              <a:t> </a:t>
            </a:r>
            <a:r>
              <a:rPr sz="500" spc="-10" dirty="0">
                <a:latin typeface="Arial"/>
                <a:cs typeface="Arial"/>
              </a:rPr>
              <a:t>around</a:t>
            </a:r>
            <a:r>
              <a:rPr sz="500" spc="30" dirty="0">
                <a:latin typeface="Arial"/>
                <a:cs typeface="Arial"/>
              </a:rPr>
              <a:t> </a:t>
            </a:r>
            <a:r>
              <a:rPr sz="500" dirty="0">
                <a:latin typeface="Arial"/>
                <a:cs typeface="Arial"/>
              </a:rPr>
              <a:t>the</a:t>
            </a:r>
            <a:r>
              <a:rPr sz="500" spc="30" dirty="0">
                <a:latin typeface="Arial"/>
                <a:cs typeface="Arial"/>
              </a:rPr>
              <a:t> </a:t>
            </a:r>
            <a:r>
              <a:rPr sz="500" dirty="0">
                <a:latin typeface="Arial"/>
                <a:cs typeface="Arial"/>
              </a:rPr>
              <a:t>cutoff</a:t>
            </a:r>
            <a:r>
              <a:rPr sz="500" spc="30" dirty="0">
                <a:latin typeface="Arial"/>
                <a:cs typeface="Arial"/>
              </a:rPr>
              <a:t> </a:t>
            </a:r>
            <a:r>
              <a:rPr sz="500" dirty="0">
                <a:latin typeface="Arial"/>
                <a:cs typeface="Arial"/>
              </a:rPr>
              <a:t>for</a:t>
            </a:r>
            <a:r>
              <a:rPr sz="500" spc="30" dirty="0">
                <a:latin typeface="Arial"/>
                <a:cs typeface="Arial"/>
              </a:rPr>
              <a:t> </a:t>
            </a:r>
            <a:r>
              <a:rPr sz="500" dirty="0">
                <a:latin typeface="Arial"/>
                <a:cs typeface="Arial"/>
              </a:rPr>
              <a:t>treatment</a:t>
            </a:r>
            <a:r>
              <a:rPr sz="500" spc="35" dirty="0">
                <a:latin typeface="Arial"/>
                <a:cs typeface="Arial"/>
              </a:rPr>
              <a:t> </a:t>
            </a:r>
            <a:r>
              <a:rPr sz="500" spc="-10" dirty="0">
                <a:latin typeface="Arial"/>
                <a:cs typeface="Arial"/>
              </a:rPr>
              <a:t>assignment</a:t>
            </a:r>
            <a:r>
              <a:rPr lang="en-US" sz="500" spc="-10" dirty="0">
                <a:latin typeface="Arial"/>
                <a:cs typeface="Arial"/>
              </a:rPr>
              <a:t>.</a:t>
            </a:r>
            <a:r>
              <a:rPr sz="500" spc="85" dirty="0">
                <a:latin typeface="Arial"/>
                <a:cs typeface="Arial"/>
              </a:rPr>
              <a:t> </a:t>
            </a:r>
            <a:r>
              <a:rPr sz="500" dirty="0">
                <a:latin typeface="Arial"/>
                <a:cs typeface="Arial"/>
              </a:rPr>
              <a:t>The</a:t>
            </a:r>
            <a:r>
              <a:rPr sz="500" spc="25" dirty="0">
                <a:latin typeface="Arial"/>
                <a:cs typeface="Arial"/>
              </a:rPr>
              <a:t> </a:t>
            </a:r>
            <a:r>
              <a:rPr sz="500" spc="-10" dirty="0">
                <a:latin typeface="Arial"/>
                <a:cs typeface="Arial"/>
              </a:rPr>
              <a:t>gray</a:t>
            </a:r>
            <a:r>
              <a:rPr sz="500" spc="30" dirty="0">
                <a:latin typeface="Arial"/>
                <a:cs typeface="Arial"/>
              </a:rPr>
              <a:t> </a:t>
            </a:r>
            <a:r>
              <a:rPr sz="500" spc="-25" dirty="0">
                <a:latin typeface="Arial"/>
                <a:cs typeface="Arial"/>
              </a:rPr>
              <a:t>dashed</a:t>
            </a:r>
            <a:r>
              <a:rPr sz="500" spc="25" dirty="0">
                <a:latin typeface="Arial"/>
                <a:cs typeface="Arial"/>
              </a:rPr>
              <a:t> </a:t>
            </a:r>
            <a:r>
              <a:rPr sz="500" spc="-10" dirty="0">
                <a:latin typeface="Arial"/>
                <a:cs typeface="Arial"/>
              </a:rPr>
              <a:t>lines</a:t>
            </a:r>
            <a:r>
              <a:rPr sz="500" spc="30" dirty="0">
                <a:latin typeface="Arial"/>
                <a:cs typeface="Arial"/>
              </a:rPr>
              <a:t> </a:t>
            </a:r>
            <a:r>
              <a:rPr sz="500" spc="-10" dirty="0">
                <a:latin typeface="Arial"/>
                <a:cs typeface="Arial"/>
              </a:rPr>
              <a:t>show</a:t>
            </a:r>
            <a:r>
              <a:rPr sz="500" spc="25" dirty="0">
                <a:latin typeface="Arial"/>
                <a:cs typeface="Arial"/>
              </a:rPr>
              <a:t> </a:t>
            </a:r>
            <a:r>
              <a:rPr sz="500" spc="-25" dirty="0">
                <a:latin typeface="Arial"/>
                <a:cs typeface="Arial"/>
              </a:rPr>
              <a:t>the</a:t>
            </a:r>
            <a:r>
              <a:rPr sz="500" spc="500" dirty="0">
                <a:latin typeface="Arial"/>
                <a:cs typeface="Arial"/>
              </a:rPr>
              <a:t> </a:t>
            </a:r>
            <a:r>
              <a:rPr sz="500" dirty="0">
                <a:latin typeface="Arial"/>
                <a:cs typeface="Arial"/>
              </a:rPr>
              <a:t>optimal</a:t>
            </a:r>
            <a:r>
              <a:rPr sz="500" spc="30" dirty="0">
                <a:latin typeface="Arial"/>
                <a:cs typeface="Arial"/>
              </a:rPr>
              <a:t> </a:t>
            </a:r>
            <a:r>
              <a:rPr sz="500" dirty="0">
                <a:latin typeface="Arial"/>
                <a:cs typeface="Arial"/>
              </a:rPr>
              <a:t>bandwidth</a:t>
            </a:r>
            <a:r>
              <a:rPr sz="500" spc="35" dirty="0">
                <a:latin typeface="Arial"/>
                <a:cs typeface="Arial"/>
              </a:rPr>
              <a:t> </a:t>
            </a:r>
            <a:r>
              <a:rPr sz="500" spc="-25" dirty="0">
                <a:latin typeface="Arial"/>
                <a:cs typeface="Arial"/>
              </a:rPr>
              <a:t>used</a:t>
            </a:r>
            <a:r>
              <a:rPr sz="500" spc="35" dirty="0">
                <a:latin typeface="Arial"/>
                <a:cs typeface="Arial"/>
              </a:rPr>
              <a:t> </a:t>
            </a:r>
            <a:r>
              <a:rPr sz="500" dirty="0">
                <a:latin typeface="Arial"/>
                <a:cs typeface="Arial"/>
              </a:rPr>
              <a:t>for</a:t>
            </a:r>
            <a:r>
              <a:rPr sz="500" spc="30" dirty="0">
                <a:latin typeface="Arial"/>
                <a:cs typeface="Arial"/>
              </a:rPr>
              <a:t> </a:t>
            </a:r>
            <a:r>
              <a:rPr sz="500" dirty="0">
                <a:latin typeface="Arial"/>
                <a:cs typeface="Arial"/>
              </a:rPr>
              <a:t>the</a:t>
            </a:r>
            <a:r>
              <a:rPr sz="500" spc="35" dirty="0">
                <a:latin typeface="Arial"/>
                <a:cs typeface="Arial"/>
              </a:rPr>
              <a:t> </a:t>
            </a:r>
            <a:r>
              <a:rPr sz="500" dirty="0">
                <a:latin typeface="Arial"/>
                <a:cs typeface="Arial"/>
              </a:rPr>
              <a:t>estimation</a:t>
            </a:r>
            <a:r>
              <a:rPr sz="500" spc="35" dirty="0">
                <a:latin typeface="Arial"/>
                <a:cs typeface="Arial"/>
              </a:rPr>
              <a:t> </a:t>
            </a:r>
            <a:r>
              <a:rPr sz="500" dirty="0">
                <a:latin typeface="Arial"/>
                <a:cs typeface="Arial"/>
              </a:rPr>
              <a:t>of</a:t>
            </a:r>
            <a:r>
              <a:rPr sz="500" spc="35" dirty="0">
                <a:latin typeface="Arial"/>
                <a:cs typeface="Arial"/>
              </a:rPr>
              <a:t> </a:t>
            </a:r>
            <a:r>
              <a:rPr sz="500" dirty="0">
                <a:latin typeface="Arial"/>
                <a:cs typeface="Arial"/>
              </a:rPr>
              <a:t>the</a:t>
            </a:r>
            <a:r>
              <a:rPr sz="500" spc="30" dirty="0">
                <a:latin typeface="Arial"/>
                <a:cs typeface="Arial"/>
              </a:rPr>
              <a:t> </a:t>
            </a:r>
            <a:r>
              <a:rPr sz="500" dirty="0">
                <a:latin typeface="Arial"/>
                <a:cs typeface="Arial"/>
              </a:rPr>
              <a:t>Local</a:t>
            </a:r>
            <a:r>
              <a:rPr sz="500" spc="35" dirty="0">
                <a:latin typeface="Arial"/>
                <a:cs typeface="Arial"/>
              </a:rPr>
              <a:t> </a:t>
            </a:r>
            <a:r>
              <a:rPr sz="500" spc="-10" dirty="0">
                <a:latin typeface="Arial"/>
                <a:cs typeface="Arial"/>
              </a:rPr>
              <a:t>Average</a:t>
            </a:r>
            <a:r>
              <a:rPr sz="500" spc="35" dirty="0">
                <a:latin typeface="Arial"/>
                <a:cs typeface="Arial"/>
              </a:rPr>
              <a:t> </a:t>
            </a:r>
            <a:r>
              <a:rPr sz="500" dirty="0">
                <a:latin typeface="Arial"/>
                <a:cs typeface="Arial"/>
              </a:rPr>
              <a:t>Treatment</a:t>
            </a:r>
            <a:r>
              <a:rPr sz="500" spc="30" dirty="0">
                <a:latin typeface="Arial"/>
                <a:cs typeface="Arial"/>
              </a:rPr>
              <a:t> </a:t>
            </a:r>
            <a:r>
              <a:rPr sz="500" dirty="0">
                <a:latin typeface="Arial"/>
                <a:cs typeface="Arial"/>
              </a:rPr>
              <a:t>Effect.</a:t>
            </a:r>
            <a:r>
              <a:rPr sz="500" spc="90" dirty="0">
                <a:latin typeface="Arial"/>
                <a:cs typeface="Arial"/>
              </a:rPr>
              <a:t> </a:t>
            </a:r>
            <a:r>
              <a:rPr sz="500" dirty="0">
                <a:latin typeface="Arial"/>
                <a:cs typeface="Arial"/>
              </a:rPr>
              <a:t>Both</a:t>
            </a:r>
            <a:r>
              <a:rPr sz="500" spc="35" dirty="0">
                <a:latin typeface="Arial"/>
                <a:cs typeface="Arial"/>
              </a:rPr>
              <a:t> </a:t>
            </a:r>
            <a:r>
              <a:rPr sz="500" spc="-10" dirty="0">
                <a:latin typeface="Arial"/>
                <a:cs typeface="Arial"/>
              </a:rPr>
              <a:t>linear</a:t>
            </a:r>
            <a:r>
              <a:rPr sz="500" spc="30" dirty="0">
                <a:latin typeface="Arial"/>
                <a:cs typeface="Arial"/>
              </a:rPr>
              <a:t> </a:t>
            </a:r>
            <a:r>
              <a:rPr sz="500" dirty="0">
                <a:latin typeface="Arial"/>
                <a:cs typeface="Arial"/>
              </a:rPr>
              <a:t>and</a:t>
            </a:r>
            <a:r>
              <a:rPr sz="500" spc="35" dirty="0">
                <a:latin typeface="Arial"/>
                <a:cs typeface="Arial"/>
              </a:rPr>
              <a:t> </a:t>
            </a:r>
            <a:r>
              <a:rPr sz="500" dirty="0">
                <a:latin typeface="Arial"/>
                <a:cs typeface="Arial"/>
              </a:rPr>
              <a:t>quadratic</a:t>
            </a:r>
            <a:r>
              <a:rPr sz="500" spc="35" dirty="0">
                <a:latin typeface="Arial"/>
                <a:cs typeface="Arial"/>
              </a:rPr>
              <a:t> </a:t>
            </a:r>
            <a:r>
              <a:rPr sz="500" spc="-10" dirty="0">
                <a:latin typeface="Arial"/>
                <a:cs typeface="Arial"/>
              </a:rPr>
              <a:t>estimations</a:t>
            </a:r>
            <a:r>
              <a:rPr sz="500" spc="35" dirty="0">
                <a:latin typeface="Arial"/>
                <a:cs typeface="Arial"/>
              </a:rPr>
              <a:t> </a:t>
            </a:r>
            <a:r>
              <a:rPr sz="500" spc="-25" dirty="0">
                <a:latin typeface="Arial"/>
                <a:cs typeface="Arial"/>
              </a:rPr>
              <a:t>are</a:t>
            </a:r>
            <a:r>
              <a:rPr sz="500" spc="500" dirty="0">
                <a:latin typeface="Arial"/>
                <a:cs typeface="Arial"/>
              </a:rPr>
              <a:t> </a:t>
            </a:r>
            <a:r>
              <a:rPr sz="500" dirty="0">
                <a:latin typeface="Arial"/>
                <a:cs typeface="Arial"/>
              </a:rPr>
              <a:t>reported.</a:t>
            </a:r>
            <a:r>
              <a:rPr sz="500" spc="110" dirty="0">
                <a:latin typeface="Arial"/>
                <a:cs typeface="Arial"/>
              </a:rPr>
              <a:t> </a:t>
            </a:r>
            <a:r>
              <a:rPr sz="500" dirty="0">
                <a:latin typeface="Arial"/>
                <a:cs typeface="Arial"/>
              </a:rPr>
              <a:t>The</a:t>
            </a:r>
            <a:r>
              <a:rPr sz="500" spc="50" dirty="0">
                <a:latin typeface="Arial"/>
                <a:cs typeface="Arial"/>
              </a:rPr>
              <a:t> </a:t>
            </a:r>
            <a:r>
              <a:rPr sz="500" dirty="0">
                <a:latin typeface="Arial"/>
                <a:cs typeface="Arial"/>
              </a:rPr>
              <a:t>top-left</a:t>
            </a:r>
            <a:r>
              <a:rPr sz="500" spc="50" dirty="0">
                <a:latin typeface="Arial"/>
                <a:cs typeface="Arial"/>
              </a:rPr>
              <a:t> </a:t>
            </a:r>
            <a:r>
              <a:rPr sz="500" spc="-10" dirty="0">
                <a:latin typeface="Arial"/>
                <a:cs typeface="Arial"/>
              </a:rPr>
              <a:t>scatter-</a:t>
            </a:r>
            <a:r>
              <a:rPr sz="500" dirty="0">
                <a:latin typeface="Arial"/>
                <a:cs typeface="Arial"/>
              </a:rPr>
              <a:t>plot</a:t>
            </a:r>
            <a:r>
              <a:rPr sz="500" spc="50" dirty="0">
                <a:latin typeface="Arial"/>
                <a:cs typeface="Arial"/>
              </a:rPr>
              <a:t> </a:t>
            </a:r>
            <a:r>
              <a:rPr sz="500" spc="-25" dirty="0">
                <a:latin typeface="Arial"/>
                <a:cs typeface="Arial"/>
              </a:rPr>
              <a:t>(spreads</a:t>
            </a:r>
            <a:r>
              <a:rPr sz="500" spc="50" dirty="0">
                <a:latin typeface="Arial"/>
                <a:cs typeface="Arial"/>
              </a:rPr>
              <a:t> </a:t>
            </a:r>
            <a:r>
              <a:rPr sz="500" dirty="0">
                <a:latin typeface="Arial"/>
                <a:cs typeface="Arial"/>
              </a:rPr>
              <a:t>at</a:t>
            </a:r>
            <a:r>
              <a:rPr sz="500" spc="45" dirty="0">
                <a:latin typeface="Arial"/>
                <a:cs typeface="Arial"/>
              </a:rPr>
              <a:t> </a:t>
            </a:r>
            <a:r>
              <a:rPr sz="500" spc="-10" dirty="0">
                <a:latin typeface="Arial"/>
                <a:cs typeface="Arial"/>
              </a:rPr>
              <a:t>issue)</a:t>
            </a:r>
            <a:r>
              <a:rPr sz="500" spc="50" dirty="0">
                <a:latin typeface="Arial"/>
                <a:cs typeface="Arial"/>
              </a:rPr>
              <a:t> </a:t>
            </a:r>
            <a:r>
              <a:rPr sz="500" dirty="0">
                <a:latin typeface="Arial"/>
                <a:cs typeface="Arial"/>
              </a:rPr>
              <a:t>restricts</a:t>
            </a:r>
            <a:r>
              <a:rPr sz="500" spc="50" dirty="0">
                <a:latin typeface="Arial"/>
                <a:cs typeface="Arial"/>
              </a:rPr>
              <a:t> </a:t>
            </a:r>
            <a:r>
              <a:rPr sz="500" dirty="0">
                <a:latin typeface="Arial"/>
                <a:cs typeface="Arial"/>
              </a:rPr>
              <a:t>the</a:t>
            </a:r>
            <a:r>
              <a:rPr sz="500" spc="50" dirty="0">
                <a:latin typeface="Arial"/>
                <a:cs typeface="Arial"/>
              </a:rPr>
              <a:t> </a:t>
            </a:r>
            <a:r>
              <a:rPr sz="500" dirty="0">
                <a:latin typeface="Arial"/>
                <a:cs typeface="Arial"/>
              </a:rPr>
              <a:t>vertical</a:t>
            </a:r>
            <a:r>
              <a:rPr sz="500" spc="50" dirty="0">
                <a:latin typeface="Arial"/>
                <a:cs typeface="Arial"/>
              </a:rPr>
              <a:t> </a:t>
            </a:r>
            <a:r>
              <a:rPr sz="500" spc="-10" dirty="0">
                <a:latin typeface="Arial"/>
                <a:cs typeface="Arial"/>
              </a:rPr>
              <a:t>axis</a:t>
            </a:r>
            <a:r>
              <a:rPr sz="500" spc="50" dirty="0">
                <a:latin typeface="Arial"/>
                <a:cs typeface="Arial"/>
              </a:rPr>
              <a:t> </a:t>
            </a:r>
            <a:r>
              <a:rPr sz="500" dirty="0">
                <a:latin typeface="Arial"/>
                <a:cs typeface="Arial"/>
              </a:rPr>
              <a:t>to</a:t>
            </a:r>
            <a:r>
              <a:rPr sz="500" spc="50" dirty="0">
                <a:latin typeface="Arial"/>
                <a:cs typeface="Arial"/>
              </a:rPr>
              <a:t> </a:t>
            </a:r>
            <a:r>
              <a:rPr sz="500" spc="-20" dirty="0">
                <a:latin typeface="Arial"/>
                <a:cs typeface="Arial"/>
              </a:rPr>
              <a:t>exclude</a:t>
            </a:r>
            <a:r>
              <a:rPr sz="500" spc="50" dirty="0">
                <a:latin typeface="Arial"/>
                <a:cs typeface="Arial"/>
              </a:rPr>
              <a:t> </a:t>
            </a:r>
            <a:r>
              <a:rPr sz="500" dirty="0">
                <a:latin typeface="Arial"/>
                <a:cs typeface="Arial"/>
              </a:rPr>
              <a:t>an</a:t>
            </a:r>
            <a:r>
              <a:rPr sz="500" spc="50" dirty="0">
                <a:latin typeface="Arial"/>
                <a:cs typeface="Arial"/>
              </a:rPr>
              <a:t> </a:t>
            </a:r>
            <a:r>
              <a:rPr sz="500" dirty="0">
                <a:latin typeface="Arial"/>
                <a:cs typeface="Arial"/>
              </a:rPr>
              <a:t>outlier</a:t>
            </a:r>
            <a:r>
              <a:rPr sz="500" spc="50" dirty="0">
                <a:latin typeface="Arial"/>
                <a:cs typeface="Arial"/>
              </a:rPr>
              <a:t> </a:t>
            </a:r>
            <a:r>
              <a:rPr sz="500" spc="-10" dirty="0">
                <a:latin typeface="Arial"/>
                <a:cs typeface="Arial"/>
              </a:rPr>
              <a:t>observation</a:t>
            </a:r>
            <a:r>
              <a:rPr sz="500" spc="50" dirty="0">
                <a:latin typeface="Arial"/>
                <a:cs typeface="Arial"/>
              </a:rPr>
              <a:t> </a:t>
            </a:r>
            <a:r>
              <a:rPr sz="500" dirty="0">
                <a:latin typeface="Arial"/>
                <a:cs typeface="Arial"/>
              </a:rPr>
              <a:t>that</a:t>
            </a:r>
            <a:r>
              <a:rPr sz="500" spc="50" dirty="0">
                <a:latin typeface="Arial"/>
                <a:cs typeface="Arial"/>
              </a:rPr>
              <a:t> </a:t>
            </a:r>
            <a:r>
              <a:rPr sz="500" spc="-25" dirty="0">
                <a:latin typeface="Arial"/>
                <a:cs typeface="Arial"/>
              </a:rPr>
              <a:t>obscures</a:t>
            </a:r>
            <a:r>
              <a:rPr sz="500" spc="50" dirty="0">
                <a:latin typeface="Arial"/>
                <a:cs typeface="Arial"/>
              </a:rPr>
              <a:t> </a:t>
            </a:r>
            <a:r>
              <a:rPr sz="500" spc="-25" dirty="0">
                <a:latin typeface="Arial"/>
                <a:cs typeface="Arial"/>
              </a:rPr>
              <a:t>the</a:t>
            </a:r>
            <a:r>
              <a:rPr sz="500" spc="500" dirty="0">
                <a:latin typeface="Arial"/>
                <a:cs typeface="Arial"/>
              </a:rPr>
              <a:t> </a:t>
            </a:r>
            <a:r>
              <a:rPr sz="500" spc="-10" dirty="0">
                <a:latin typeface="Arial"/>
                <a:cs typeface="Arial"/>
              </a:rPr>
              <a:t>visualization</a:t>
            </a:r>
            <a:r>
              <a:rPr sz="500" spc="75" dirty="0">
                <a:latin typeface="Arial"/>
                <a:cs typeface="Arial"/>
              </a:rPr>
              <a:t> </a:t>
            </a:r>
            <a:r>
              <a:rPr sz="500" spc="-10" dirty="0">
                <a:latin typeface="Arial"/>
                <a:cs typeface="Arial"/>
              </a:rPr>
              <a:t>results.</a:t>
            </a:r>
            <a:endParaRPr sz="500" dirty="0">
              <a:latin typeface="Arial"/>
              <a:cs typeface="Arial"/>
            </a:endParaRPr>
          </a:p>
        </p:txBody>
      </p:sp>
      <p:sp>
        <p:nvSpPr>
          <p:cNvPr id="6" name="TextBox 5">
            <a:extLst>
              <a:ext uri="{FF2B5EF4-FFF2-40B4-BE49-F238E27FC236}">
                <a16:creationId xmlns:a16="http://schemas.microsoft.com/office/drawing/2014/main" id="{5C401D28-6BEF-C35E-B8E6-52FC9F75B6E4}"/>
              </a:ext>
            </a:extLst>
          </p:cNvPr>
          <p:cNvSpPr txBox="1"/>
          <p:nvPr/>
        </p:nvSpPr>
        <p:spPr>
          <a:xfrm>
            <a:off x="78051" y="288067"/>
            <a:ext cx="2133600" cy="400110"/>
          </a:xfrm>
          <a:prstGeom prst="rect">
            <a:avLst/>
          </a:prstGeom>
          <a:noFill/>
        </p:spPr>
        <p:txBody>
          <a:bodyPr wrap="square">
            <a:spAutoFit/>
          </a:bodyPr>
          <a:lstStyle/>
          <a:p>
            <a:pPr algn="l">
              <a:spcBef>
                <a:spcPts val="600"/>
              </a:spcBef>
              <a:spcAft>
                <a:spcPts val="600"/>
              </a:spcAft>
            </a:pPr>
            <a:r>
              <a:rPr lang="en-US" sz="1000" b="1" dirty="0">
                <a:latin typeface="Arial" panose="020B0604020202020204" pitchFamily="34" charset="0"/>
                <a:cs typeface="Arial" panose="020B0604020202020204" pitchFamily="34" charset="0"/>
              </a:rPr>
              <a:t>Primary Market Bond Spreads: </a:t>
            </a:r>
            <a:r>
              <a:rPr lang="en-US" sz="1000" spc="-45" dirty="0">
                <a:solidFill>
                  <a:srgbClr val="690204"/>
                </a:solidFill>
                <a:latin typeface="Arial"/>
                <a:cs typeface="Arial"/>
              </a:rPr>
              <a:t> ⬇️ </a:t>
            </a:r>
            <a:r>
              <a:rPr lang="en-US" sz="1000" dirty="0">
                <a:latin typeface="Arial" panose="020B0604020202020204" pitchFamily="34" charset="0"/>
                <a:cs typeface="Arial" panose="020B0604020202020204" pitchFamily="34" charset="0"/>
              </a:rPr>
              <a:t>7−9 bps, 0.12-0.17 SD </a:t>
            </a:r>
          </a:p>
        </p:txBody>
      </p:sp>
      <p:sp>
        <p:nvSpPr>
          <p:cNvPr id="7" name="TextBox 6">
            <a:extLst>
              <a:ext uri="{FF2B5EF4-FFF2-40B4-BE49-F238E27FC236}">
                <a16:creationId xmlns:a16="http://schemas.microsoft.com/office/drawing/2014/main" id="{9A0FE3F6-7532-14DC-BB82-0AE876863AB1}"/>
              </a:ext>
            </a:extLst>
          </p:cNvPr>
          <p:cNvSpPr txBox="1"/>
          <p:nvPr/>
        </p:nvSpPr>
        <p:spPr>
          <a:xfrm>
            <a:off x="2390775" y="263465"/>
            <a:ext cx="2133600" cy="400110"/>
          </a:xfrm>
          <a:prstGeom prst="rect">
            <a:avLst/>
          </a:prstGeom>
          <a:noFill/>
        </p:spPr>
        <p:txBody>
          <a:bodyPr wrap="square">
            <a:spAutoFit/>
          </a:bodyPr>
          <a:lstStyle/>
          <a:p>
            <a:pPr algn="l">
              <a:spcBef>
                <a:spcPts val="600"/>
              </a:spcBef>
              <a:spcAft>
                <a:spcPts val="600"/>
              </a:spcAft>
            </a:pPr>
            <a:r>
              <a:rPr lang="en-US" sz="1000" b="1" dirty="0">
                <a:latin typeface="Arial" panose="020B0604020202020204" pitchFamily="34" charset="0"/>
                <a:cs typeface="Arial" panose="020B0604020202020204" pitchFamily="34" charset="0"/>
              </a:rPr>
              <a:t>Primary Market Debt Issuance: </a:t>
            </a:r>
            <a:r>
              <a:rPr lang="en-US" sz="1000" b="1" spc="-45" dirty="0">
                <a:solidFill>
                  <a:srgbClr val="690204"/>
                </a:solidFill>
                <a:latin typeface="Arial"/>
                <a:cs typeface="Arial"/>
              </a:rPr>
              <a:t>⬆️</a:t>
            </a:r>
            <a:r>
              <a:rPr lang="en-US" sz="1000" dirty="0">
                <a:latin typeface="Arial" panose="020B0604020202020204" pitchFamily="34" charset="0"/>
                <a:cs typeface="Arial" panose="020B0604020202020204" pitchFamily="34" charset="0"/>
              </a:rPr>
              <a:t> $1.7- $5.0, 0.13-0.39 SD</a:t>
            </a:r>
          </a:p>
        </p:txBody>
      </p:sp>
      <p:sp>
        <p:nvSpPr>
          <p:cNvPr id="8" name="object 2">
            <a:extLst>
              <a:ext uri="{FF2B5EF4-FFF2-40B4-BE49-F238E27FC236}">
                <a16:creationId xmlns:a16="http://schemas.microsoft.com/office/drawing/2014/main" id="{DE325084-25FD-55DE-B9D0-DDCD0E57380D}"/>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Federal Assistance and Municipal Borrowing (Chapter 2)</a:t>
            </a:r>
          </a:p>
        </p:txBody>
      </p:sp>
      <p:sp>
        <p:nvSpPr>
          <p:cNvPr id="9" name="object 3">
            <a:extLst>
              <a:ext uri="{FF2B5EF4-FFF2-40B4-BE49-F238E27FC236}">
                <a16:creationId xmlns:a16="http://schemas.microsoft.com/office/drawing/2014/main" id="{2DF998F4-C377-6A60-CB3B-B51828978873}"/>
              </a:ext>
            </a:extLst>
          </p:cNvPr>
          <p:cNvSpPr txBox="1"/>
          <p:nvPr/>
        </p:nvSpPr>
        <p:spPr>
          <a:xfrm>
            <a:off x="4295775" y="777517"/>
            <a:ext cx="1807482" cy="1905715"/>
          </a:xfrm>
          <a:prstGeom prst="rect">
            <a:avLst/>
          </a:prstGeom>
        </p:spPr>
        <p:txBody>
          <a:bodyPr vert="horz" wrap="square" lIns="0" tIns="12065" rIns="0" bIns="0" rtlCol="0">
            <a:spAutoFit/>
          </a:bodyPr>
          <a:lstStyle/>
          <a:p>
            <a:pPr>
              <a:lnSpc>
                <a:spcPct val="114000"/>
              </a:lnSpc>
              <a:spcBef>
                <a:spcPts val="600"/>
              </a:spcBef>
              <a:spcAft>
                <a:spcPts val="600"/>
              </a:spcAft>
            </a:pPr>
            <a:r>
              <a:rPr lang="en-US" sz="1000" b="1" dirty="0">
                <a:latin typeface="Arial" panose="020B0604020202020204" pitchFamily="34" charset="0"/>
                <a:cs typeface="Arial" panose="020B0604020202020204" pitchFamily="34" charset="0"/>
              </a:rPr>
              <a:t>Crow-in effects of federal aid on local borrowing: </a:t>
            </a:r>
            <a:r>
              <a:rPr lang="en-US" sz="1000" dirty="0">
                <a:latin typeface="Arial" panose="020B0604020202020204" pitchFamily="34" charset="0"/>
                <a:cs typeface="Arial" panose="020B0604020202020204" pitchFamily="34" charset="0"/>
              </a:rPr>
              <a:t>An ⬆️ in revenues (cash) led to an ⬆️ in per capita debt issuance. </a:t>
            </a:r>
          </a:p>
          <a:p>
            <a:pPr>
              <a:lnSpc>
                <a:spcPct val="114000"/>
              </a:lnSpc>
              <a:spcBef>
                <a:spcPts val="600"/>
              </a:spcBef>
              <a:spcAft>
                <a:spcPts val="600"/>
              </a:spcAft>
            </a:pPr>
            <a:r>
              <a:rPr lang="en-US" sz="1000" b="1" dirty="0">
                <a:latin typeface="Arial" panose="020B0604020202020204" pitchFamily="34" charset="0"/>
                <a:cs typeface="Arial" panose="020B0604020202020204" pitchFamily="34" charset="0"/>
              </a:rPr>
              <a:t>Rationale: ⬇️ </a:t>
            </a:r>
            <a:r>
              <a:rPr lang="en-US" sz="1000" dirty="0">
                <a:latin typeface="Arial" panose="020B0604020202020204" pitchFamily="34" charset="0"/>
                <a:cs typeface="Arial" panose="020B0604020202020204" pitchFamily="34" charset="0"/>
              </a:rPr>
              <a:t>tax revenues + ⬆️ spending to cope with the crisis + ⬆️ uncertainty on the duration and magnitude of the pandemic = </a:t>
            </a:r>
            <a:r>
              <a:rPr lang="en-US" sz="1000" b="1" dirty="0">
                <a:latin typeface="Arial" panose="020B0604020202020204" pitchFamily="34" charset="0"/>
                <a:cs typeface="Arial" panose="020B0604020202020204" pitchFamily="34" charset="0"/>
              </a:rPr>
              <a:t>more stringent liquidity constraints</a:t>
            </a:r>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996401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04445-3688-248C-8B2E-8FC44FD8256F}"/>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0864E80C-3E8F-4EDD-0EA9-E890D9F995F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Implications</a:t>
            </a:r>
          </a:p>
        </p:txBody>
      </p:sp>
      <p:sp>
        <p:nvSpPr>
          <p:cNvPr id="4" name="object 3">
            <a:extLst>
              <a:ext uri="{FF2B5EF4-FFF2-40B4-BE49-F238E27FC236}">
                <a16:creationId xmlns:a16="http://schemas.microsoft.com/office/drawing/2014/main" id="{943E3D77-27A5-BCD4-0227-848BA6FB9BF9}"/>
              </a:ext>
            </a:extLst>
          </p:cNvPr>
          <p:cNvSpPr txBox="1"/>
          <p:nvPr/>
        </p:nvSpPr>
        <p:spPr>
          <a:xfrm>
            <a:off x="129297" y="739775"/>
            <a:ext cx="5894555" cy="945772"/>
          </a:xfrm>
          <a:prstGeom prst="rect">
            <a:avLst/>
          </a:prstGeom>
        </p:spPr>
        <p:txBody>
          <a:bodyPr vert="horz" wrap="square" lIns="0" tIns="12065" rIns="0" bIns="0" rtlCol="0">
            <a:spAutoFit/>
          </a:bodyPr>
          <a:lstStyle/>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Liquidity management tools could alleviate the welfare costs associated with under-capitalized governments. Relevance of rainy-day funds. </a:t>
            </a:r>
          </a:p>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Cash and debt behave like complements for less capitalized governments, and like substitutes for highly-capitalized governments. </a:t>
            </a:r>
          </a:p>
        </p:txBody>
      </p:sp>
    </p:spTree>
    <p:extLst>
      <p:ext uri="{BB962C8B-B14F-4D97-AF65-F5344CB8AC3E}">
        <p14:creationId xmlns:p14="http://schemas.microsoft.com/office/powerpoint/2010/main" val="2057162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Policy Implications</a:t>
            </a:r>
          </a:p>
        </p:txBody>
      </p:sp>
      <p:sp>
        <p:nvSpPr>
          <p:cNvPr id="4" name="object 3">
            <a:extLst>
              <a:ext uri="{FF2B5EF4-FFF2-40B4-BE49-F238E27FC236}">
                <a16:creationId xmlns:a16="http://schemas.microsoft.com/office/drawing/2014/main" id="{0E5BAB54-3120-DB4F-B206-493BB9E33171}"/>
              </a:ext>
            </a:extLst>
          </p:cNvPr>
          <p:cNvSpPr txBox="1"/>
          <p:nvPr/>
        </p:nvSpPr>
        <p:spPr>
          <a:xfrm>
            <a:off x="129297" y="739775"/>
            <a:ext cx="5894555" cy="1966564"/>
          </a:xfrm>
          <a:prstGeom prst="rect">
            <a:avLst/>
          </a:prstGeom>
        </p:spPr>
        <p:txBody>
          <a:bodyPr vert="horz" wrap="square" lIns="0" tIns="12065" rIns="0" bIns="0" rtlCol="0">
            <a:spAutoFit/>
          </a:bodyPr>
          <a:lstStyle/>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Liquidity management tools could alleviate the welfare costs associated with under-capitalized governments. Relevance of rainy-day funds. </a:t>
            </a:r>
          </a:p>
          <a:p>
            <a:pPr marL="167640" indent="-116839">
              <a:spcBef>
                <a:spcPts val="1000"/>
              </a:spcBef>
              <a:spcAft>
                <a:spcPts val="1000"/>
              </a:spcAft>
              <a:buFont typeface="Arial"/>
              <a:buChar char="•"/>
              <a:tabLst>
                <a:tab pos="167640" algn="l"/>
              </a:tabLst>
            </a:pPr>
            <a:r>
              <a:rPr lang="en-US" sz="1100" spc="-45" dirty="0">
                <a:latin typeface="Arial" panose="020B0604020202020204" pitchFamily="34" charset="0"/>
                <a:cs typeface="Arial" panose="020B0604020202020204" pitchFamily="34" charset="0"/>
              </a:rPr>
              <a:t>Cash and debt behave like complements for less capitalized governments, and like substitutes for highly-capitalized governments. </a:t>
            </a:r>
          </a:p>
          <a:p>
            <a:pPr marL="167640" indent="-116839">
              <a:spcBef>
                <a:spcPts val="1000"/>
              </a:spcBef>
              <a:spcAft>
                <a:spcPts val="1000"/>
              </a:spcAft>
              <a:buFont typeface="Arial"/>
              <a:buChar char="•"/>
              <a:tabLst>
                <a:tab pos="167640" algn="l"/>
              </a:tabLst>
            </a:pPr>
            <a:r>
              <a:rPr lang="en-US" sz="1100" b="1" spc="-45" dirty="0">
                <a:latin typeface="Arial" panose="020B0604020202020204" pitchFamily="34" charset="0"/>
                <a:cs typeface="Arial" panose="020B0604020202020204" pitchFamily="34" charset="0"/>
              </a:rPr>
              <a:t>Optimal level of cash reserves:</a:t>
            </a:r>
            <a:r>
              <a:rPr lang="en-US" sz="1100" spc="-45" dirty="0">
                <a:latin typeface="Arial" panose="020B0604020202020204" pitchFamily="34" charset="0"/>
                <a:cs typeface="Arial" panose="020B0604020202020204" pitchFamily="34" charset="0"/>
              </a:rPr>
              <a:t> minimum required to avoid liquidity premiums on the bond market.  </a:t>
            </a:r>
          </a:p>
          <a:p>
            <a:pPr marL="167640" indent="-116839">
              <a:spcBef>
                <a:spcPts val="1000"/>
              </a:spcBef>
              <a:spcAft>
                <a:spcPts val="1000"/>
              </a:spcAft>
              <a:buFont typeface="Arial"/>
              <a:buChar char="•"/>
              <a:tabLst>
                <a:tab pos="167640" algn="l"/>
              </a:tabLst>
            </a:pPr>
            <a:r>
              <a:rPr lang="en-US" sz="1100" b="1" spc="-45" dirty="0">
                <a:latin typeface="Arial" panose="020B0604020202020204" pitchFamily="34" charset="0"/>
                <a:cs typeface="Arial" panose="020B0604020202020204" pitchFamily="34" charset="0"/>
              </a:rPr>
              <a:t>Lessons from institutional setting: </a:t>
            </a:r>
            <a:r>
              <a:rPr lang="en-US" sz="1100" spc="-45" dirty="0">
                <a:latin typeface="Arial" panose="020B0604020202020204" pitchFamily="34" charset="0"/>
                <a:cs typeface="Arial" panose="020B0604020202020204" pitchFamily="34" charset="0"/>
              </a:rPr>
              <a:t>shared-revenue systems could lead to fiscal spillovers that translate into liquidity shocks for subnational governments. </a:t>
            </a:r>
          </a:p>
        </p:txBody>
      </p:sp>
    </p:spTree>
    <p:extLst>
      <p:ext uri="{BB962C8B-B14F-4D97-AF65-F5344CB8AC3E}">
        <p14:creationId xmlns:p14="http://schemas.microsoft.com/office/powerpoint/2010/main" val="29980667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6BDE4D4-AC7D-8657-B7EE-8F450BBDAF58}"/>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Conclusions</a:t>
            </a:r>
          </a:p>
        </p:txBody>
      </p:sp>
      <p:sp>
        <p:nvSpPr>
          <p:cNvPr id="4" name="object 3">
            <a:extLst>
              <a:ext uri="{FF2B5EF4-FFF2-40B4-BE49-F238E27FC236}">
                <a16:creationId xmlns:a16="http://schemas.microsoft.com/office/drawing/2014/main" id="{0E5BAB54-3120-DB4F-B206-493BB9E33171}"/>
              </a:ext>
            </a:extLst>
          </p:cNvPr>
          <p:cNvSpPr txBox="1"/>
          <p:nvPr/>
        </p:nvSpPr>
        <p:spPr>
          <a:xfrm>
            <a:off x="153820" y="815975"/>
            <a:ext cx="5867400" cy="1540806"/>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r>
              <a:rPr lang="en-US" dirty="0"/>
              <a:t>Theory suggests that liquidity constraints shape the complementarity between cash reserves and short-term borrowing. </a:t>
            </a:r>
          </a:p>
          <a:p>
            <a:r>
              <a:rPr lang="en-US" dirty="0"/>
              <a:t>Evidence for Mexican states suggests cash and debt behave like complements. Upon a cash windfall, states will build up reserves and manage cash-flows via short-term borrowing. </a:t>
            </a:r>
          </a:p>
          <a:p>
            <a:r>
              <a:rPr lang="en-US" dirty="0"/>
              <a:t>Liquidity-constrained governments might prefer to manage cash-flows via short-term debt , even if they face a high interest rate. </a:t>
            </a:r>
          </a:p>
        </p:txBody>
      </p:sp>
    </p:spTree>
    <p:extLst>
      <p:ext uri="{BB962C8B-B14F-4D97-AF65-F5344CB8AC3E}">
        <p14:creationId xmlns:p14="http://schemas.microsoft.com/office/powerpoint/2010/main" val="35955345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3FA3F-98D8-CA4F-DF0A-4BCAA2366B72}"/>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104E2B1D-2186-F149-8160-0CDE6601D496}"/>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Future Research Agenda</a:t>
            </a:r>
          </a:p>
        </p:txBody>
      </p:sp>
      <p:sp>
        <p:nvSpPr>
          <p:cNvPr id="2" name="object 3">
            <a:extLst>
              <a:ext uri="{FF2B5EF4-FFF2-40B4-BE49-F238E27FC236}">
                <a16:creationId xmlns:a16="http://schemas.microsoft.com/office/drawing/2014/main" id="{D1115789-A42F-B689-1CF6-B9D100C25067}"/>
              </a:ext>
            </a:extLst>
          </p:cNvPr>
          <p:cNvSpPr txBox="1"/>
          <p:nvPr/>
        </p:nvSpPr>
        <p:spPr>
          <a:xfrm>
            <a:off x="104775" y="815975"/>
            <a:ext cx="5894555" cy="1658787"/>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Fiscal federalism and social equity: </a:t>
            </a:r>
            <a:r>
              <a:rPr lang="en-US" sz="1100" spc="-45" dirty="0">
                <a:latin typeface="Arial" panose="020B0604020202020204" pitchFamily="34" charset="0"/>
                <a:cs typeface="Arial" panose="020B0604020202020204" pitchFamily="34" charset="0"/>
              </a:rPr>
              <a:t>unintended consequences of federal tax policy on state and local economic outcomes.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Financial markets and social equity: </a:t>
            </a:r>
            <a:r>
              <a:rPr lang="en-US" sz="1100" spc="-45" dirty="0">
                <a:latin typeface="Arial" panose="020B0604020202020204" pitchFamily="34" charset="0"/>
                <a:cs typeface="Arial" panose="020B0604020202020204" pitchFamily="34" charset="0"/>
              </a:rPr>
              <a:t>borrowing costs premiums associated with sociodemographic characteristics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Public finance + relevant policy areas: </a:t>
            </a:r>
            <a:r>
              <a:rPr lang="en-US" sz="1100" spc="-45" dirty="0">
                <a:latin typeface="Arial" panose="020B0604020202020204" pitchFamily="34" charset="0"/>
                <a:cs typeface="Arial" panose="020B0604020202020204" pitchFamily="34" charset="0"/>
              </a:rPr>
              <a:t>disaster management and climate change, hospital finances, police budgets, and school districts. Fiscal stress and quality of public goods and services.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Fiscal Externalities: </a:t>
            </a:r>
            <a:r>
              <a:rPr lang="en-US" sz="1100" spc="-45" dirty="0">
                <a:latin typeface="Arial" panose="020B0604020202020204" pitchFamily="34" charset="0"/>
                <a:cs typeface="Arial" panose="020B0604020202020204" pitchFamily="34" charset="0"/>
              </a:rPr>
              <a:t>tax competition and shared tax bases. Implications for financial management. </a:t>
            </a:r>
          </a:p>
        </p:txBody>
      </p:sp>
    </p:spTree>
    <p:extLst>
      <p:ext uri="{BB962C8B-B14F-4D97-AF65-F5344CB8AC3E}">
        <p14:creationId xmlns:p14="http://schemas.microsoft.com/office/powerpoint/2010/main" val="16351792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E851A1-6406-246D-D0A4-7EA8A232D9F4}"/>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8D091A19-5799-E828-CCB4-70B224DD1874}"/>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Teaching</a:t>
            </a:r>
          </a:p>
        </p:txBody>
      </p:sp>
      <p:sp>
        <p:nvSpPr>
          <p:cNvPr id="4" name="object 3">
            <a:extLst>
              <a:ext uri="{FF2B5EF4-FFF2-40B4-BE49-F238E27FC236}">
                <a16:creationId xmlns:a16="http://schemas.microsoft.com/office/drawing/2014/main" id="{51CB587A-24BF-3257-9C56-47A766B47F86}"/>
              </a:ext>
            </a:extLst>
          </p:cNvPr>
          <p:cNvSpPr txBox="1"/>
          <p:nvPr/>
        </p:nvSpPr>
        <p:spPr>
          <a:xfrm>
            <a:off x="140242" y="434975"/>
            <a:ext cx="5894555" cy="2443618"/>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Expertise: </a:t>
            </a:r>
            <a:r>
              <a:rPr lang="en-US" sz="1100" spc="-45" dirty="0">
                <a:latin typeface="Arial" panose="020B0604020202020204" pitchFamily="34" charset="0"/>
                <a:cs typeface="Arial" panose="020B0604020202020204" pitchFamily="34" charset="0"/>
              </a:rPr>
              <a:t>public budgeting and finance, financial management and capital markets </a:t>
            </a:r>
            <a:endParaRPr lang="en-US" sz="1100" dirty="0">
              <a:latin typeface="Arial" panose="020B0604020202020204" pitchFamily="34" charset="0"/>
              <a:cs typeface="Arial" panose="020B0604020202020204" pitchFamily="34" charset="0"/>
            </a:endParaRP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Financial Management and Budgeting </a:t>
            </a: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Management and Public Capital Markets </a:t>
            </a:r>
          </a:p>
          <a:p>
            <a:pPr marL="167640" indent="-116839">
              <a:spcBef>
                <a:spcPts val="600"/>
              </a:spcBef>
              <a:spcAft>
                <a:spcPts val="600"/>
              </a:spcAft>
              <a:buFont typeface="Arial"/>
              <a:buChar char="•"/>
              <a:tabLst>
                <a:tab pos="167640" algn="l"/>
              </a:tabLst>
            </a:pPr>
            <a:r>
              <a:rPr lang="en-US" sz="1100" dirty="0">
                <a:latin typeface="Arial" panose="020B0604020202020204" pitchFamily="34" charset="0"/>
                <a:cs typeface="Arial" panose="020B0604020202020204" pitchFamily="34" charset="0"/>
              </a:rPr>
              <a:t>Advanced Budgeting in the Public Sector</a:t>
            </a:r>
          </a:p>
          <a:p>
            <a:pPr marL="50801">
              <a:spcBef>
                <a:spcPts val="600"/>
              </a:spcBef>
              <a:spcAft>
                <a:spcPts val="600"/>
              </a:spcAft>
              <a:tabLst>
                <a:tab pos="167640" algn="l"/>
              </a:tabLst>
            </a:pPr>
            <a:r>
              <a:rPr lang="en-US" sz="1100" b="1" spc="-45" dirty="0">
                <a:latin typeface="Arial" panose="020B0604020202020204" pitchFamily="34" charset="0"/>
                <a:cs typeface="Arial" panose="020B0604020202020204" pitchFamily="34" charset="0"/>
              </a:rPr>
              <a:t>Experience: </a:t>
            </a:r>
            <a:r>
              <a:rPr lang="en-US" sz="1100" spc="-45" dirty="0">
                <a:latin typeface="Arial" panose="020B0604020202020204" pitchFamily="34" charset="0"/>
                <a:cs typeface="Arial" panose="020B0604020202020204" pitchFamily="34" charset="0"/>
              </a:rPr>
              <a:t>undergraduate economics and graduate statistics</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Microeconomic Policy and Management Analysis </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Public Policy Analysis and Program Evaluation</a:t>
            </a:r>
          </a:p>
          <a:p>
            <a:pPr marL="167640" indent="-116839">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Quantitative Analysis I and II </a:t>
            </a:r>
          </a:p>
        </p:txBody>
      </p:sp>
    </p:spTree>
    <p:extLst>
      <p:ext uri="{BB962C8B-B14F-4D97-AF65-F5344CB8AC3E}">
        <p14:creationId xmlns:p14="http://schemas.microsoft.com/office/powerpoint/2010/main" val="37132463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a:extLst>
              <a:ext uri="{FF2B5EF4-FFF2-40B4-BE49-F238E27FC236}">
                <a16:creationId xmlns:a16="http://schemas.microsoft.com/office/drawing/2014/main" id="{0E966586-AE7B-5CB8-FC63-D473DE0BD504}"/>
              </a:ext>
            </a:extLst>
          </p:cNvPr>
          <p:cNvSpPr txBox="1">
            <a:spLocks noGrp="1"/>
          </p:cNvSpPr>
          <p:nvPr>
            <p:ph idx="1"/>
          </p:nvPr>
        </p:nvSpPr>
        <p:spPr>
          <a:prstGeom prst="rect">
            <a:avLst/>
          </a:prstGeom>
        </p:spPr>
        <p:txBody>
          <a:bodyPr vert="horz" wrap="square" lIns="0" tIns="0" rIns="0" bIns="0" rtlCol="0">
            <a:spAutoFit/>
          </a:bodyPr>
          <a:lstStyle/>
          <a:p>
            <a:pPr>
              <a:lnSpc>
                <a:spcPts val="955"/>
              </a:lnSpc>
            </a:pPr>
            <a:r>
              <a:rPr sz="1000" spc="-20" dirty="0">
                <a:solidFill>
                  <a:srgbClr val="FFFFFF"/>
                </a:solidFill>
                <a:latin typeface="Tahoma"/>
                <a:cs typeface="Tahoma"/>
              </a:rPr>
              <a:t>Thanks</a:t>
            </a:r>
            <a:r>
              <a:rPr sz="1000" spc="-35" dirty="0">
                <a:solidFill>
                  <a:srgbClr val="FFFFFF"/>
                </a:solidFill>
                <a:latin typeface="Tahoma"/>
                <a:cs typeface="Tahoma"/>
              </a:rPr>
              <a:t> </a:t>
            </a:r>
            <a:r>
              <a:rPr sz="1000" spc="-10" dirty="0">
                <a:solidFill>
                  <a:srgbClr val="FFFFFF"/>
                </a:solidFill>
                <a:latin typeface="Tahoma"/>
                <a:cs typeface="Tahoma"/>
              </a:rPr>
              <a:t>for</a:t>
            </a:r>
            <a:r>
              <a:rPr sz="1000" spc="-30" dirty="0">
                <a:solidFill>
                  <a:srgbClr val="FFFFFF"/>
                </a:solidFill>
                <a:latin typeface="Tahoma"/>
                <a:cs typeface="Tahoma"/>
              </a:rPr>
              <a:t> </a:t>
            </a:r>
            <a:r>
              <a:rPr sz="1000" spc="-40" dirty="0">
                <a:solidFill>
                  <a:srgbClr val="FFFFFF"/>
                </a:solidFill>
                <a:latin typeface="Tahoma"/>
                <a:cs typeface="Tahoma"/>
              </a:rPr>
              <a:t>your</a:t>
            </a:r>
            <a:r>
              <a:rPr sz="1000" spc="-30" dirty="0">
                <a:solidFill>
                  <a:srgbClr val="FFFFFF"/>
                </a:solidFill>
                <a:latin typeface="Tahoma"/>
                <a:cs typeface="Tahoma"/>
              </a:rPr>
              <a:t> </a:t>
            </a:r>
            <a:r>
              <a:rPr sz="1000" spc="-20" dirty="0">
                <a:solidFill>
                  <a:srgbClr val="FFFFFF"/>
                </a:solidFill>
                <a:latin typeface="Tahoma"/>
                <a:cs typeface="Tahoma"/>
              </a:rPr>
              <a:t>attention!</a:t>
            </a:r>
            <a:endParaRPr sz="1000" dirty="0">
              <a:latin typeface="Tahoma"/>
              <a:cs typeface="Tahoma"/>
            </a:endParaRPr>
          </a:p>
        </p:txBody>
      </p:sp>
      <p:pic>
        <p:nvPicPr>
          <p:cNvPr id="4" name="Picture 3" descr="A qr code with a few squares&#10;&#10;Description automatically generated">
            <a:extLst>
              <a:ext uri="{FF2B5EF4-FFF2-40B4-BE49-F238E27FC236}">
                <a16:creationId xmlns:a16="http://schemas.microsoft.com/office/drawing/2014/main" id="{8DC97D6A-3782-78A7-2F50-18308ABC5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90" y="739775"/>
            <a:ext cx="1157055" cy="1157055"/>
          </a:xfrm>
          <a:prstGeom prst="rect">
            <a:avLst/>
          </a:prstGeom>
        </p:spPr>
      </p:pic>
      <p:sp>
        <p:nvSpPr>
          <p:cNvPr id="7" name="TextBox 6">
            <a:extLst>
              <a:ext uri="{FF2B5EF4-FFF2-40B4-BE49-F238E27FC236}">
                <a16:creationId xmlns:a16="http://schemas.microsoft.com/office/drawing/2014/main" id="{3F3A3780-8136-6CE6-9F58-266EB3E3AF97}"/>
              </a:ext>
            </a:extLst>
          </p:cNvPr>
          <p:cNvSpPr txBox="1"/>
          <p:nvPr/>
        </p:nvSpPr>
        <p:spPr>
          <a:xfrm>
            <a:off x="361089" y="1952418"/>
            <a:ext cx="3083798" cy="276999"/>
          </a:xfrm>
          <a:prstGeom prst="rect">
            <a:avLst/>
          </a:prstGeom>
          <a:noFill/>
        </p:spPr>
        <p:txBody>
          <a:bodyPr wrap="square">
            <a:spAutoFit/>
          </a:bodyPr>
          <a:lstStyle/>
          <a:p>
            <a:pPr>
              <a:spcBef>
                <a:spcPts val="95"/>
              </a:spcBef>
            </a:pPr>
            <a:r>
              <a:rPr lang="en-US" sz="1200" dirty="0">
                <a:solidFill>
                  <a:schemeClr val="bg1"/>
                </a:solidFill>
                <a:latin typeface="Tahoma"/>
                <a:cs typeface="Tahoma"/>
              </a:rPr>
              <a:t>Contact:</a:t>
            </a:r>
            <a:r>
              <a:rPr lang="en-US" sz="1200" spc="75" dirty="0">
                <a:solidFill>
                  <a:schemeClr val="bg1"/>
                </a:solidFill>
                <a:latin typeface="Tahoma"/>
                <a:cs typeface="Tahoma"/>
              </a:rPr>
              <a:t> </a:t>
            </a:r>
            <a:r>
              <a:rPr lang="en-US" sz="1200" dirty="0">
                <a:solidFill>
                  <a:schemeClr val="bg1"/>
                </a:solidFill>
                <a:latin typeface="Tahoma"/>
                <a:cs typeface="Tahoma"/>
              </a:rPr>
              <a:t>Luis</a:t>
            </a:r>
            <a:r>
              <a:rPr lang="en-US" sz="1200" spc="-10" dirty="0">
                <a:solidFill>
                  <a:schemeClr val="bg1"/>
                </a:solidFill>
                <a:latin typeface="Tahoma"/>
                <a:cs typeface="Tahoma"/>
              </a:rPr>
              <a:t> Navarro</a:t>
            </a:r>
            <a:r>
              <a:rPr lang="en-US" sz="1200" spc="-20" dirty="0">
                <a:solidFill>
                  <a:schemeClr val="bg1"/>
                </a:solidFill>
                <a:latin typeface="Tahoma"/>
                <a:cs typeface="Tahoma"/>
              </a:rPr>
              <a:t> </a:t>
            </a:r>
            <a:r>
              <a:rPr lang="en-US" sz="1200" spc="-10" dirty="0">
                <a:solidFill>
                  <a:srgbClr val="FFFD78"/>
                </a:solidFill>
                <a:latin typeface="Palatino Linotype"/>
                <a:cs typeface="Palatino Linotype"/>
                <a:hlinkClick r:id="rId3">
                  <a:extLst>
                    <a:ext uri="{A12FA001-AC4F-418D-AE19-62706E023703}">
                      <ahyp:hlinkClr xmlns:ahyp="http://schemas.microsoft.com/office/drawing/2018/hyperlinkcolor" val="tx"/>
                    </a:ext>
                  </a:extLst>
                </a:hlinkClick>
              </a:rPr>
              <a:t>lunavarr@iu.edu</a:t>
            </a:r>
            <a:endParaRPr lang="en-US" sz="1200" dirty="0">
              <a:solidFill>
                <a:srgbClr val="FFFD78"/>
              </a:solidFill>
              <a:latin typeface="Palatino Linotype"/>
              <a:cs typeface="Palatino Linotype"/>
            </a:endParaRPr>
          </a:p>
        </p:txBody>
      </p:sp>
      <p:sp>
        <p:nvSpPr>
          <p:cNvPr id="8" name="TextBox 7">
            <a:extLst>
              <a:ext uri="{FF2B5EF4-FFF2-40B4-BE49-F238E27FC236}">
                <a16:creationId xmlns:a16="http://schemas.microsoft.com/office/drawing/2014/main" id="{84F86262-3775-384C-930F-9351C2B1E4F4}"/>
              </a:ext>
            </a:extLst>
          </p:cNvPr>
          <p:cNvSpPr txBox="1"/>
          <p:nvPr/>
        </p:nvSpPr>
        <p:spPr>
          <a:xfrm>
            <a:off x="1521800" y="1639256"/>
            <a:ext cx="3083798" cy="261610"/>
          </a:xfrm>
          <a:prstGeom prst="rect">
            <a:avLst/>
          </a:prstGeom>
          <a:noFill/>
        </p:spPr>
        <p:txBody>
          <a:bodyPr wrap="square">
            <a:spAutoFit/>
          </a:bodyPr>
          <a:lstStyle/>
          <a:p>
            <a:pPr>
              <a:spcBef>
                <a:spcPts val="95"/>
              </a:spcBef>
            </a:pPr>
            <a:r>
              <a:rPr lang="en-US" sz="1050" dirty="0">
                <a:solidFill>
                  <a:schemeClr val="bg1"/>
                </a:solidFill>
                <a:latin typeface="Tahoma"/>
                <a:cs typeface="Tahoma"/>
              </a:rPr>
              <a:t>Scan to learn more about my research.</a:t>
            </a:r>
            <a:endParaRPr lang="en-US" sz="1050" dirty="0">
              <a:latin typeface="Palatino Linotype"/>
              <a:cs typeface="Palatino Linotype"/>
            </a:endParaRPr>
          </a:p>
        </p:txBody>
      </p:sp>
    </p:spTree>
    <p:extLst>
      <p:ext uri="{BB962C8B-B14F-4D97-AF65-F5344CB8AC3E}">
        <p14:creationId xmlns:p14="http://schemas.microsoft.com/office/powerpoint/2010/main" val="5277576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0123-C093-DF82-B33B-CA140FEC7A29}"/>
              </a:ext>
            </a:extLst>
          </p:cNvPr>
          <p:cNvSpPr>
            <a:spLocks noGrp="1"/>
          </p:cNvSpPr>
          <p:nvPr>
            <p:ph type="title"/>
          </p:nvPr>
        </p:nvSpPr>
        <p:spPr/>
        <p:txBody>
          <a:bodyPr/>
          <a:lstStyle/>
          <a:p>
            <a:r>
              <a:rPr lang="en-US" dirty="0"/>
              <a:t>Appendix</a:t>
            </a:r>
          </a:p>
        </p:txBody>
      </p:sp>
      <p:sp>
        <p:nvSpPr>
          <p:cNvPr id="3" name="Text Placeholder 2">
            <a:extLst>
              <a:ext uri="{FF2B5EF4-FFF2-40B4-BE49-F238E27FC236}">
                <a16:creationId xmlns:a16="http://schemas.microsoft.com/office/drawing/2014/main" id="{AAA49BD4-E6DB-ED60-1A50-BD5EF0D8A3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3250532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4E1D6-6E27-CEC4-A2E5-20D5B5D67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0E65B-FA64-CF5D-1E8B-91542C8969E6}"/>
              </a:ext>
            </a:extLst>
          </p:cNvPr>
          <p:cNvSpPr>
            <a:spLocks noGrp="1"/>
          </p:cNvSpPr>
          <p:nvPr>
            <p:ph type="title"/>
          </p:nvPr>
        </p:nvSpPr>
        <p:spPr/>
        <p:txBody>
          <a:bodyPr/>
          <a:lstStyle/>
          <a:p>
            <a:r>
              <a:rPr lang="en-US" dirty="0"/>
              <a:t>Theoretical Model</a:t>
            </a:r>
          </a:p>
        </p:txBody>
      </p:sp>
      <p:sp>
        <p:nvSpPr>
          <p:cNvPr id="3" name="Text Placeholder 2">
            <a:extLst>
              <a:ext uri="{FF2B5EF4-FFF2-40B4-BE49-F238E27FC236}">
                <a16:creationId xmlns:a16="http://schemas.microsoft.com/office/drawing/2014/main" id="{4A119443-F9C8-45E1-059E-63B979492AA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991551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EA7A-FD0A-440E-F6F4-2CABAE4B71E7}"/>
            </a:ext>
          </a:extLst>
        </p:cNvPr>
        <p:cNvGrpSpPr/>
        <p:nvPr/>
      </p:nvGrpSpPr>
      <p:grpSpPr>
        <a:xfrm>
          <a:off x="0" y="0"/>
          <a:ext cx="0" cy="0"/>
          <a:chOff x="0" y="0"/>
          <a:chExt cx="0" cy="0"/>
        </a:xfrm>
      </p:grpSpPr>
      <p:sp>
        <p:nvSpPr>
          <p:cNvPr id="11" name="Right Arrow 10">
            <a:extLst>
              <a:ext uri="{FF2B5EF4-FFF2-40B4-BE49-F238E27FC236}">
                <a16:creationId xmlns:a16="http://schemas.microsoft.com/office/drawing/2014/main" id="{8A55833D-252A-39DD-025A-B80FB337ACD0}"/>
              </a:ext>
            </a:extLst>
          </p:cNvPr>
          <p:cNvSpPr/>
          <p:nvPr/>
        </p:nvSpPr>
        <p:spPr>
          <a:xfrm>
            <a:off x="2954056" y="1271429"/>
            <a:ext cx="990600" cy="572135"/>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4C554C-27EB-CC55-61F4-6D9346C00539}"/>
              </a:ext>
            </a:extLst>
          </p:cNvPr>
          <p:cNvSpPr/>
          <p:nvPr/>
        </p:nvSpPr>
        <p:spPr>
          <a:xfrm>
            <a:off x="221333" y="968375"/>
            <a:ext cx="3200400" cy="1217930"/>
          </a:xfrm>
          <a:prstGeom prst="rect">
            <a:avLst/>
          </a:prstGeom>
          <a:solidFill>
            <a:schemeClr val="bg1"/>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BBB2D0A3-3B14-832B-D5A2-C317561205BA}"/>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Theoretical Model: No Liquidity Constraints</a:t>
            </a:r>
          </a:p>
        </p:txBody>
      </p:sp>
      <p:sp>
        <p:nvSpPr>
          <p:cNvPr id="2" name="object 3">
            <a:extLst>
              <a:ext uri="{FF2B5EF4-FFF2-40B4-BE49-F238E27FC236}">
                <a16:creationId xmlns:a16="http://schemas.microsoft.com/office/drawing/2014/main" id="{40663D17-8B8E-8D54-F944-127835F2AE2D}"/>
              </a:ext>
            </a:extLst>
          </p:cNvPr>
          <p:cNvSpPr txBox="1"/>
          <p:nvPr/>
        </p:nvSpPr>
        <p:spPr>
          <a:xfrm>
            <a:off x="0" y="334644"/>
            <a:ext cx="6131258" cy="520014"/>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Periods 1 and 2 partition the FY. The government chooses spending </a:t>
            </a:r>
            <a:r>
              <a:rPr lang="en-US" i="1" dirty="0"/>
              <a:t>(G) </a:t>
            </a:r>
            <a:r>
              <a:rPr lang="en-US" dirty="0"/>
              <a:t>across the FY and the amount of short-term debt </a:t>
            </a:r>
            <a:r>
              <a:rPr lang="en-US" i="1" dirty="0"/>
              <a:t>(D) </a:t>
            </a:r>
            <a:r>
              <a:rPr lang="en-US" dirty="0"/>
              <a:t>to issue to maximize social welfare. Cash reserves </a:t>
            </a:r>
            <a:r>
              <a:rPr lang="en-US" i="1" dirty="0"/>
              <a:t>(S), </a:t>
            </a:r>
            <a:r>
              <a:rPr lang="en-US" dirty="0"/>
              <a:t>tax revenues </a:t>
            </a:r>
            <a:r>
              <a:rPr lang="en-US" i="1" dirty="0"/>
              <a:t>(T) </a:t>
            </a:r>
            <a:r>
              <a:rPr lang="en-US" dirty="0"/>
              <a:t>and the interest rate are exogeneous. </a:t>
            </a:r>
            <a:r>
              <a:rPr lang="en-US" i="1" dirty="0"/>
              <a:t>C(T) </a:t>
            </a:r>
            <a:r>
              <a:rPr lang="en-US" dirty="0"/>
              <a:t>measures the excess burden induced by taxation. </a:t>
            </a:r>
            <a:endParaRPr lang="en-US" i="1" dirty="0"/>
          </a:p>
        </p:txBody>
      </p:sp>
      <p:pic>
        <p:nvPicPr>
          <p:cNvPr id="5" name="Picture 4" descr="A math equations on a white background&#10;&#10;Description automatically generated">
            <a:extLst>
              <a:ext uri="{FF2B5EF4-FFF2-40B4-BE49-F238E27FC236}">
                <a16:creationId xmlns:a16="http://schemas.microsoft.com/office/drawing/2014/main" id="{D9C95930-6113-61E1-7E24-9D8C7805B99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0975" y="1027589"/>
            <a:ext cx="3281116" cy="1158716"/>
          </a:xfrm>
          <a:prstGeom prst="rect">
            <a:avLst/>
          </a:prstGeom>
        </p:spPr>
      </p:pic>
      <p:pic>
        <p:nvPicPr>
          <p:cNvPr id="10" name="Picture 9" descr="A math equation with numbers and lines&#10;&#10;Description automatically generated">
            <a:extLst>
              <a:ext uri="{FF2B5EF4-FFF2-40B4-BE49-F238E27FC236}">
                <a16:creationId xmlns:a16="http://schemas.microsoft.com/office/drawing/2014/main" id="{2952063D-92EA-B0B4-9F3A-61A2C0160DFA}"/>
              </a:ext>
            </a:extLst>
          </p:cNvPr>
          <p:cNvPicPr>
            <a:picLocks noChangeAspect="1"/>
          </p:cNvPicPr>
          <p:nvPr/>
        </p:nvPicPr>
        <p:blipFill>
          <a:blip r:embed="rId4">
            <a:clrChange>
              <a:clrFrom>
                <a:srgbClr val="FFFEFE"/>
              </a:clrFrom>
              <a:clrTo>
                <a:srgbClr val="FFFEFE">
                  <a:alpha val="0"/>
                </a:srgbClr>
              </a:clrTo>
            </a:clrChange>
            <a:extLst>
              <a:ext uri="{28A0092B-C50C-407E-A947-70E740481C1C}">
                <a14:useLocalDpi xmlns:a14="http://schemas.microsoft.com/office/drawing/2010/main" val="0"/>
              </a:ext>
            </a:extLst>
          </a:blip>
          <a:stretch>
            <a:fillRect/>
          </a:stretch>
        </p:blipFill>
        <p:spPr>
          <a:xfrm>
            <a:off x="3926300" y="1255594"/>
            <a:ext cx="1709427" cy="643492"/>
          </a:xfrm>
          <a:prstGeom prst="rect">
            <a:avLst/>
          </a:prstGeom>
        </p:spPr>
      </p:pic>
      <p:sp>
        <p:nvSpPr>
          <p:cNvPr id="13" name="object 3">
            <a:extLst>
              <a:ext uri="{FF2B5EF4-FFF2-40B4-BE49-F238E27FC236}">
                <a16:creationId xmlns:a16="http://schemas.microsoft.com/office/drawing/2014/main" id="{CA0BAA20-7B6B-AEC3-C36F-D735F1F26EF6}"/>
              </a:ext>
            </a:extLst>
          </p:cNvPr>
          <p:cNvSpPr txBox="1"/>
          <p:nvPr/>
        </p:nvSpPr>
        <p:spPr>
          <a:xfrm>
            <a:off x="118352" y="2359236"/>
            <a:ext cx="5853824" cy="673902"/>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Prediction: </a:t>
            </a:r>
            <a:r>
              <a:rPr lang="en-US" sz="1100" spc="-45" dirty="0">
                <a:latin typeface="Arial" panose="020B0604020202020204" pitchFamily="34" charset="0"/>
                <a:cs typeface="Arial" panose="020B0604020202020204" pitchFamily="34" charset="0"/>
              </a:rPr>
              <a:t>Cash and debt behave like substitutes.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cash can only be used to finance spending (operational role). Government minimizes borrowing costs by choosing lowest level of D possible.  </a:t>
            </a:r>
          </a:p>
        </p:txBody>
      </p:sp>
    </p:spTree>
    <p:extLst>
      <p:ext uri="{BB962C8B-B14F-4D97-AF65-F5344CB8AC3E}">
        <p14:creationId xmlns:p14="http://schemas.microsoft.com/office/powerpoint/2010/main" val="35106379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B9F5C-EF5A-7CFD-EFDE-365E49AE84FF}"/>
            </a:ext>
          </a:extLst>
        </p:cNvPr>
        <p:cNvGrpSpPr/>
        <p:nvPr/>
      </p:nvGrpSpPr>
      <p:grpSpPr>
        <a:xfrm>
          <a:off x="0" y="0"/>
          <a:ext cx="0" cy="0"/>
          <a:chOff x="0" y="0"/>
          <a:chExt cx="0" cy="0"/>
        </a:xfrm>
      </p:grpSpPr>
      <p:sp>
        <p:nvSpPr>
          <p:cNvPr id="11" name="Right Arrow 10">
            <a:extLst>
              <a:ext uri="{FF2B5EF4-FFF2-40B4-BE49-F238E27FC236}">
                <a16:creationId xmlns:a16="http://schemas.microsoft.com/office/drawing/2014/main" id="{DAFB373E-4996-DE86-1D5D-AB20563D903A}"/>
              </a:ext>
            </a:extLst>
          </p:cNvPr>
          <p:cNvSpPr/>
          <p:nvPr/>
        </p:nvSpPr>
        <p:spPr>
          <a:xfrm>
            <a:off x="2966791" y="1291272"/>
            <a:ext cx="990600" cy="572135"/>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325D05-2751-6280-EB7F-8BD599993054}"/>
              </a:ext>
            </a:extLst>
          </p:cNvPr>
          <p:cNvSpPr/>
          <p:nvPr/>
        </p:nvSpPr>
        <p:spPr>
          <a:xfrm>
            <a:off x="221333" y="968375"/>
            <a:ext cx="3200400" cy="1217930"/>
          </a:xfrm>
          <a:prstGeom prst="rect">
            <a:avLst/>
          </a:prstGeom>
          <a:solidFill>
            <a:schemeClr val="bg1"/>
          </a:solidFill>
          <a:ln>
            <a:solidFill>
              <a:srgbClr val="69020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bject 2">
            <a:extLst>
              <a:ext uri="{FF2B5EF4-FFF2-40B4-BE49-F238E27FC236}">
                <a16:creationId xmlns:a16="http://schemas.microsoft.com/office/drawing/2014/main" id="{9DA1A484-C40D-168C-1C16-24465852086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Theoretical Model: With Liquidity Constraints</a:t>
            </a:r>
          </a:p>
        </p:txBody>
      </p:sp>
      <mc:AlternateContent xmlns:mc="http://schemas.openxmlformats.org/markup-compatibility/2006">
        <mc:Choice xmlns:a14="http://schemas.microsoft.com/office/drawing/2010/main" Requires="a14">
          <p:sp>
            <p:nvSpPr>
              <p:cNvPr id="2" name="object 3">
                <a:extLst>
                  <a:ext uri="{FF2B5EF4-FFF2-40B4-BE49-F238E27FC236}">
                    <a16:creationId xmlns:a16="http://schemas.microsoft.com/office/drawing/2014/main" id="{3AB0850A-D621-0149-A29B-82D5950B5A1E}"/>
                  </a:ext>
                </a:extLst>
              </p:cNvPr>
              <p:cNvSpPr txBox="1"/>
              <p:nvPr/>
            </p:nvSpPr>
            <p:spPr>
              <a:xfrm>
                <a:off x="0" y="334644"/>
                <a:ext cx="6131258" cy="350737"/>
              </a:xfrm>
              <a:prstGeom prst="rect">
                <a:avLst/>
              </a:prstGeom>
            </p:spPr>
            <p:txBody>
              <a:bodyPr vert="horz" wrap="square" lIns="0" tIns="12065" rIns="0" bIns="0" rtlCol="0">
                <a:spAutoFit/>
              </a:bodyPr>
              <a:lstStyle>
                <a:defPPr>
                  <a:defRPr kern="0"/>
                </a:defPPr>
                <a:lvl1pPr marL="167640" indent="-116839">
                  <a:spcBef>
                    <a:spcPts val="1000"/>
                  </a:spcBef>
                  <a:spcAft>
                    <a:spcPts val="1000"/>
                  </a:spcAft>
                  <a:buFont typeface="Arial"/>
                  <a:buChar char="•"/>
                  <a:tabLst>
                    <a:tab pos="167640" algn="l"/>
                  </a:tabLst>
                  <a:defRPr sz="1100" spc="-45">
                    <a:latin typeface="Arial" panose="020B0604020202020204" pitchFamily="34" charset="0"/>
                    <a:cs typeface="Arial" panose="020B0604020202020204" pitchFamily="34" charset="0"/>
                  </a:defRPr>
                </a:lvl1pPr>
              </a:lstStyle>
              <a:p>
                <a:pPr marL="50801" indent="0">
                  <a:buNone/>
                </a:pPr>
                <a:r>
                  <a:rPr lang="en-US" dirty="0"/>
                  <a:t>Suppose risk-averse lenders that charge an interest rate depending on cash savings. Let </a:t>
                </a:r>
                <a14:m>
                  <m:oMath xmlns:m="http://schemas.openxmlformats.org/officeDocument/2006/math">
                    <m:r>
                      <a:rPr lang="en-US" b="0" i="1" smtClean="0">
                        <a:latin typeface="Cambria Math" panose="02040503050406030204" pitchFamily="18" charset="0"/>
                      </a:rPr>
                      <m:t>𝜃</m:t>
                    </m:r>
                  </m:oMath>
                </a14:m>
                <a:r>
                  <a:rPr lang="en-US" dirty="0"/>
                  <a:t> be the proportion of cash spent to manage cash flows. </a:t>
                </a:r>
              </a:p>
            </p:txBody>
          </p:sp>
        </mc:Choice>
        <mc:Fallback>
          <p:sp>
            <p:nvSpPr>
              <p:cNvPr id="2" name="object 3">
                <a:extLst>
                  <a:ext uri="{FF2B5EF4-FFF2-40B4-BE49-F238E27FC236}">
                    <a16:creationId xmlns:a16="http://schemas.microsoft.com/office/drawing/2014/main" id="{3AB0850A-D621-0149-A29B-82D5950B5A1E}"/>
                  </a:ext>
                </a:extLst>
              </p:cNvPr>
              <p:cNvSpPr txBox="1">
                <a:spLocks noRot="1" noChangeAspect="1" noMove="1" noResize="1" noEditPoints="1" noAdjustHandles="1" noChangeArrowheads="1" noChangeShapeType="1" noTextEdit="1"/>
              </p:cNvSpPr>
              <p:nvPr/>
            </p:nvSpPr>
            <p:spPr>
              <a:xfrm>
                <a:off x="0" y="334644"/>
                <a:ext cx="6131258" cy="350737"/>
              </a:xfrm>
              <a:prstGeom prst="rect">
                <a:avLst/>
              </a:prstGeom>
              <a:blipFill>
                <a:blip r:embed="rId3"/>
                <a:stretch>
                  <a:fillRect l="-621" t="-7143" r="-1863" b="-25000"/>
                </a:stretch>
              </a:blipFill>
            </p:spPr>
            <p:txBody>
              <a:bodyPr/>
              <a:lstStyle/>
              <a:p>
                <a:r>
                  <a:rPr lang="en-US">
                    <a:noFill/>
                  </a:rPr>
                  <a:t> </a:t>
                </a:r>
              </a:p>
            </p:txBody>
          </p:sp>
        </mc:Fallback>
      </mc:AlternateContent>
      <p:pic>
        <p:nvPicPr>
          <p:cNvPr id="5" name="Picture 4" descr="A math equations on a white background&#10;&#10;Description automatically generated">
            <a:extLst>
              <a:ext uri="{FF2B5EF4-FFF2-40B4-BE49-F238E27FC236}">
                <a16:creationId xmlns:a16="http://schemas.microsoft.com/office/drawing/2014/main" id="{A23825C0-FB02-299A-04DD-1C22AF00ABA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0975" y="1027589"/>
            <a:ext cx="3281116" cy="1158716"/>
          </a:xfrm>
          <a:prstGeom prst="rect">
            <a:avLst/>
          </a:prstGeom>
          <a:noFill/>
        </p:spPr>
      </p:pic>
      <p:sp>
        <p:nvSpPr>
          <p:cNvPr id="13" name="object 3">
            <a:extLst>
              <a:ext uri="{FF2B5EF4-FFF2-40B4-BE49-F238E27FC236}">
                <a16:creationId xmlns:a16="http://schemas.microsoft.com/office/drawing/2014/main" id="{2E760ADE-E799-4A74-2075-66C172656052}"/>
              </a:ext>
            </a:extLst>
          </p:cNvPr>
          <p:cNvSpPr txBox="1"/>
          <p:nvPr/>
        </p:nvSpPr>
        <p:spPr>
          <a:xfrm>
            <a:off x="118352" y="2359236"/>
            <a:ext cx="5853824" cy="673902"/>
          </a:xfrm>
          <a:prstGeom prst="rect">
            <a:avLst/>
          </a:prstGeom>
        </p:spPr>
        <p:txBody>
          <a:bodyPr vert="horz" wrap="square" lIns="0" tIns="12065" rIns="0" bIns="0" rtlCol="0">
            <a:spAutoFit/>
          </a:bodyPr>
          <a:lstStyle/>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Prediction: </a:t>
            </a:r>
            <a:r>
              <a:rPr lang="en-US" sz="1100" spc="-45" dirty="0">
                <a:latin typeface="Arial" panose="020B0604020202020204" pitchFamily="34" charset="0"/>
                <a:cs typeface="Arial" panose="020B0604020202020204" pitchFamily="34" charset="0"/>
              </a:rPr>
              <a:t>Cash and debt behave like complements. </a:t>
            </a:r>
          </a:p>
          <a:p>
            <a:pPr marL="167640" indent="-116839">
              <a:spcBef>
                <a:spcPts val="600"/>
              </a:spcBef>
              <a:spcAft>
                <a:spcPts val="600"/>
              </a:spcAft>
              <a:buFont typeface="Arial"/>
              <a:buChar char="•"/>
              <a:tabLst>
                <a:tab pos="167640" algn="l"/>
              </a:tabLst>
            </a:pPr>
            <a:r>
              <a:rPr lang="en-US" sz="1100" b="1" spc="-45" dirty="0">
                <a:latin typeface="Arial" panose="020B0604020202020204" pitchFamily="34" charset="0"/>
                <a:cs typeface="Arial" panose="020B0604020202020204" pitchFamily="34" charset="0"/>
              </a:rPr>
              <a:t>Intuition: </a:t>
            </a:r>
            <a:r>
              <a:rPr lang="en-US" sz="1100" spc="-45" dirty="0">
                <a:latin typeface="Arial" panose="020B0604020202020204" pitchFamily="34" charset="0"/>
                <a:cs typeface="Arial" panose="020B0604020202020204" pitchFamily="34" charset="0"/>
              </a:rPr>
              <a:t>since cash signal solvency to lenders, it leads to a liquidity constraint that represents the inflection point between the complementarity/substitutability of cash and debt.  </a:t>
            </a:r>
          </a:p>
        </p:txBody>
      </p:sp>
      <p:pic>
        <p:nvPicPr>
          <p:cNvPr id="3" name="Picture 2" descr="A math equations on a white background&#10;&#10;Description automatically generated">
            <a:extLst>
              <a:ext uri="{FF2B5EF4-FFF2-40B4-BE49-F238E27FC236}">
                <a16:creationId xmlns:a16="http://schemas.microsoft.com/office/drawing/2014/main" id="{5605F2C4-2C4B-6572-2FAD-10CB193710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3126" y="1488035"/>
            <a:ext cx="1801976" cy="613365"/>
          </a:xfrm>
          <a:prstGeom prst="rect">
            <a:avLst/>
          </a:prstGeom>
        </p:spPr>
      </p:pic>
      <p:pic>
        <p:nvPicPr>
          <p:cNvPr id="4" name="Picture 3" descr="A math equations with numbers&#10;&#10;Description automatically generated with medium confidence">
            <a:extLst>
              <a:ext uri="{FF2B5EF4-FFF2-40B4-BE49-F238E27FC236}">
                <a16:creationId xmlns:a16="http://schemas.microsoft.com/office/drawing/2014/main" id="{411308A2-D2AA-1AA6-31E1-3907210A48E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97631" y="966063"/>
            <a:ext cx="2233627" cy="637620"/>
          </a:xfrm>
          <a:prstGeom prst="rect">
            <a:avLst/>
          </a:prstGeom>
        </p:spPr>
      </p:pic>
      <p:pic>
        <p:nvPicPr>
          <p:cNvPr id="6" name="Picture 5" descr="A math equation with numbers and a line&#10;&#10;Description automatically generated with medium confidence">
            <a:extLst>
              <a:ext uri="{FF2B5EF4-FFF2-40B4-BE49-F238E27FC236}">
                <a16:creationId xmlns:a16="http://schemas.microsoft.com/office/drawing/2014/main" id="{C64249FF-D72E-CD0B-3865-2236EF2C6E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33884" y="1595084"/>
            <a:ext cx="1263464" cy="572135"/>
          </a:xfrm>
          <a:prstGeom prst="rect">
            <a:avLst/>
          </a:prstGeom>
        </p:spPr>
      </p:pic>
      <p:pic>
        <p:nvPicPr>
          <p:cNvPr id="8" name="Picture 7">
            <a:extLst>
              <a:ext uri="{FF2B5EF4-FFF2-40B4-BE49-F238E27FC236}">
                <a16:creationId xmlns:a16="http://schemas.microsoft.com/office/drawing/2014/main" id="{849592F5-F994-8859-E678-E61F5496752E}"/>
              </a:ext>
            </a:extLst>
          </p:cNvPr>
          <p:cNvPicPr>
            <a:picLocks noChangeAspect="1"/>
          </p:cNvPicPr>
          <p:nvPr/>
        </p:nvPicPr>
        <p:blipFill>
          <a:blip r:embed="rId8"/>
          <a:stretch>
            <a:fillRect/>
          </a:stretch>
        </p:blipFill>
        <p:spPr>
          <a:xfrm>
            <a:off x="4490569" y="2191389"/>
            <a:ext cx="1047750" cy="504798"/>
          </a:xfrm>
          <a:prstGeom prst="rect">
            <a:avLst/>
          </a:prstGeom>
        </p:spPr>
      </p:pic>
    </p:spTree>
    <p:extLst>
      <p:ext uri="{BB962C8B-B14F-4D97-AF65-F5344CB8AC3E}">
        <p14:creationId xmlns:p14="http://schemas.microsoft.com/office/powerpoint/2010/main" val="22758635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DB8A-CBB3-14AF-589C-4218CC4B0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4FB67-C459-C298-7FB7-F01B54DC7210}"/>
              </a:ext>
            </a:extLst>
          </p:cNvPr>
          <p:cNvSpPr>
            <a:spLocks noGrp="1"/>
          </p:cNvSpPr>
          <p:nvPr>
            <p:ph type="title"/>
          </p:nvPr>
        </p:nvSpPr>
        <p:spPr/>
        <p:txBody>
          <a:bodyPr/>
          <a:lstStyle/>
          <a:p>
            <a:r>
              <a:rPr lang="en-US" dirty="0"/>
              <a:t>Instrument Validity</a:t>
            </a:r>
          </a:p>
        </p:txBody>
      </p:sp>
      <p:sp>
        <p:nvSpPr>
          <p:cNvPr id="3" name="Text Placeholder 2">
            <a:extLst>
              <a:ext uri="{FF2B5EF4-FFF2-40B4-BE49-F238E27FC236}">
                <a16:creationId xmlns:a16="http://schemas.microsoft.com/office/drawing/2014/main" id="{FD435D62-F628-2FF8-5763-C7F0D72AF94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311350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31233" y="2725590"/>
            <a:ext cx="6090684" cy="376385"/>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The panel on the left shows the distribution of the FGP timing error for each month, across state and years. The solid line represents the mean across states by month-year. The dark-shaded area shows the percentiles between 25%-75%, as well as the area within one standard deviation form the mean, while the light-shaded areas percentiles 1% to 99% (excluding outliers) and 5%-95%. The panel on the right shows the distribution of timing errors for each state and calendar month, across year. For illustrative purposes, dashed blue lines show the interval between +/- 10% of discretionary revenues.</a:t>
            </a:r>
            <a:endParaRPr lang="en-US" sz="600" b="1" spc="-10" dirty="0">
              <a:latin typeface="Arial"/>
              <a:cs typeface="Arial"/>
            </a:endParaRPr>
          </a:p>
        </p:txBody>
      </p:sp>
      <p:sp>
        <p:nvSpPr>
          <p:cNvPr id="6" name="object 3">
            <a:extLst>
              <a:ext uri="{FF2B5EF4-FFF2-40B4-BE49-F238E27FC236}">
                <a16:creationId xmlns:a16="http://schemas.microsoft.com/office/drawing/2014/main" id="{676DE632-F4C5-7E3E-9B3B-AFF3E7B378ED}"/>
              </a:ext>
            </a:extLst>
          </p:cNvPr>
          <p:cNvSpPr txBox="1"/>
          <p:nvPr/>
        </p:nvSpPr>
        <p:spPr>
          <a:xfrm>
            <a:off x="4448175" y="471383"/>
            <a:ext cx="1728978" cy="2166619"/>
          </a:xfrm>
          <a:prstGeom prst="rect">
            <a:avLst/>
          </a:prstGeom>
        </p:spPr>
        <p:txBody>
          <a:bodyPr vert="horz" wrap="square" lIns="0" tIns="12065" rIns="0" bIns="0" rtlCol="0">
            <a:spAutoFit/>
          </a:bodyPr>
          <a:lstStyle/>
          <a:p>
            <a:pPr marL="50801">
              <a:spcBef>
                <a:spcPts val="600"/>
              </a:spcBef>
              <a:spcAft>
                <a:spcPts val="600"/>
              </a:spcAft>
              <a:tabLst>
                <a:tab pos="167640" algn="l"/>
              </a:tabLst>
            </a:pPr>
            <a:r>
              <a:rPr lang="en-US" sz="1000" b="1" spc="-45" dirty="0">
                <a:solidFill>
                  <a:srgbClr val="990000"/>
                </a:solidFill>
                <a:latin typeface="Arial"/>
                <a:cs typeface="Arial"/>
              </a:rPr>
              <a:t>Timing errors are in average: </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Positive in Jan, Feb, Apr</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Negative the rest of the year. </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Lowest in Jun. </a:t>
            </a:r>
          </a:p>
          <a:p>
            <a:pPr marL="50801">
              <a:spcBef>
                <a:spcPts val="600"/>
              </a:spcBef>
              <a:spcAft>
                <a:spcPts val="600"/>
              </a:spcAft>
              <a:tabLst>
                <a:tab pos="167640" algn="l"/>
              </a:tabLst>
            </a:pPr>
            <a:r>
              <a:rPr lang="en-US" sz="1000" b="1" spc="-45" dirty="0">
                <a:solidFill>
                  <a:srgbClr val="990000"/>
                </a:solidFill>
                <a:latin typeface="Arial"/>
                <a:cs typeface="Arial"/>
              </a:rPr>
              <a:t>No systematic variation across states within months</a:t>
            </a:r>
          </a:p>
          <a:p>
            <a:pPr marL="167640" indent="-116839">
              <a:spcBef>
                <a:spcPts val="600"/>
              </a:spcBef>
              <a:spcAft>
                <a:spcPts val="600"/>
              </a:spcAft>
              <a:buFont typeface="Arial"/>
              <a:buChar char="•"/>
              <a:tabLst>
                <a:tab pos="167640" algn="l"/>
              </a:tabLst>
            </a:pPr>
            <a:r>
              <a:rPr lang="en-US" sz="1000" spc="-45" dirty="0">
                <a:solidFill>
                  <a:srgbClr val="990000"/>
                </a:solidFill>
                <a:latin typeface="Arial"/>
                <a:cs typeface="Arial"/>
              </a:rPr>
              <a:t>States get the same draw of monthly timing errors within the same fiscal year.</a:t>
            </a:r>
          </a:p>
        </p:txBody>
      </p:sp>
      <p:sp>
        <p:nvSpPr>
          <p:cNvPr id="7" name="TextBox 6">
            <a:extLst>
              <a:ext uri="{FF2B5EF4-FFF2-40B4-BE49-F238E27FC236}">
                <a16:creationId xmlns:a16="http://schemas.microsoft.com/office/drawing/2014/main" id="{7FC1C21D-8077-408E-7FA7-FFF0B1A1AABF}"/>
              </a:ext>
            </a:extLst>
          </p:cNvPr>
          <p:cNvSpPr txBox="1"/>
          <p:nvPr/>
        </p:nvSpPr>
        <p:spPr>
          <a:xfrm>
            <a:off x="0" y="20221"/>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Instrument Validity: FGP Timing Errors by Calendar Month</a:t>
            </a:r>
          </a:p>
        </p:txBody>
      </p:sp>
      <p:pic>
        <p:nvPicPr>
          <p:cNvPr id="5" name="Picture 4" descr="A close-up of a graph&#10;&#10;Description automatically generated">
            <a:extLst>
              <a:ext uri="{FF2B5EF4-FFF2-40B4-BE49-F238E27FC236}">
                <a16:creationId xmlns:a16="http://schemas.microsoft.com/office/drawing/2014/main" id="{480F64CD-B4D7-714B-4E4E-05031700B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58" y="446363"/>
            <a:ext cx="4425712" cy="2212856"/>
          </a:xfrm>
          <a:prstGeom prst="rect">
            <a:avLst/>
          </a:prstGeom>
        </p:spPr>
      </p:pic>
    </p:spTree>
    <p:extLst>
      <p:ext uri="{BB962C8B-B14F-4D97-AF65-F5344CB8AC3E}">
        <p14:creationId xmlns:p14="http://schemas.microsoft.com/office/powerpoint/2010/main" val="35205149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34AC8CF7-B96F-6B94-8643-A47882ADE520}"/>
              </a:ext>
            </a:extLst>
          </p:cNvPr>
          <p:cNvSpPr txBox="1"/>
          <p:nvPr/>
        </p:nvSpPr>
        <p:spPr>
          <a:xfrm>
            <a:off x="114424" y="2790181"/>
            <a:ext cx="6019800" cy="389209"/>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Both panels shows the distribution of cash reserves (left) and FGP timing errors (right) by state across quarter-years. Each boxplot depicts the distribution by state, excluding outlier observations. States are partitioned into groups depending on quartiles of the distribution of cash reserves in FY 2018. Variables expressed as percent of discretionary revenues. For illustrative purposes, dashed blue lines on the left panel show the interval between +/- 10% of discretionary revenues.</a:t>
            </a:r>
          </a:p>
          <a:p>
            <a:pPr marL="12700" marR="5080">
              <a:lnSpc>
                <a:spcPts val="700"/>
              </a:lnSpc>
              <a:spcBef>
                <a:spcPts val="135"/>
              </a:spcBef>
            </a:pPr>
            <a:endParaRPr lang="en-US" sz="600" b="1" spc="-10" dirty="0">
              <a:latin typeface="Arial"/>
              <a:cs typeface="Arial"/>
            </a:endParaRPr>
          </a:p>
        </p:txBody>
      </p:sp>
      <p:sp>
        <p:nvSpPr>
          <p:cNvPr id="7" name="TextBox 6">
            <a:extLst>
              <a:ext uri="{FF2B5EF4-FFF2-40B4-BE49-F238E27FC236}">
                <a16:creationId xmlns:a16="http://schemas.microsoft.com/office/drawing/2014/main" id="{7FC1C21D-8077-408E-7FA7-FFF0B1A1AABF}"/>
              </a:ext>
            </a:extLst>
          </p:cNvPr>
          <p:cNvSpPr txBox="1"/>
          <p:nvPr/>
        </p:nvSpPr>
        <p:spPr>
          <a:xfrm>
            <a:off x="-47625" y="-11875"/>
            <a:ext cx="5972175" cy="276999"/>
          </a:xfrm>
          <a:prstGeom prst="rect">
            <a:avLst/>
          </a:prstGeom>
          <a:noFill/>
        </p:spPr>
        <p:txBody>
          <a:bodyPr wrap="square">
            <a:spAutoFit/>
          </a:bodyPr>
          <a:lstStyle/>
          <a:p>
            <a:pPr marL="50801">
              <a:spcBef>
                <a:spcPts val="600"/>
              </a:spcBef>
              <a:spcAft>
                <a:spcPts val="600"/>
              </a:spcAft>
              <a:tabLst>
                <a:tab pos="167640" algn="l"/>
              </a:tabLst>
            </a:pPr>
            <a:r>
              <a:rPr lang="en-US" sz="1200" spc="-45" dirty="0">
                <a:solidFill>
                  <a:srgbClr val="690204"/>
                </a:solidFill>
                <a:latin typeface="Arial"/>
                <a:cs typeface="Arial"/>
              </a:rPr>
              <a:t>Timing errors do not seem to vary with the level of cash reserves. </a:t>
            </a:r>
          </a:p>
        </p:txBody>
      </p:sp>
      <p:pic>
        <p:nvPicPr>
          <p:cNvPr id="9" name="Picture 8" descr="A graph of a bar graph&#10;&#10;Description automatically generated with medium confidence">
            <a:extLst>
              <a:ext uri="{FF2B5EF4-FFF2-40B4-BE49-F238E27FC236}">
                <a16:creationId xmlns:a16="http://schemas.microsoft.com/office/drawing/2014/main" id="{28CC52E3-4EE1-FC93-83A0-5EC5E3F9D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343" y="324458"/>
            <a:ext cx="4945432" cy="2472717"/>
          </a:xfrm>
          <a:prstGeom prst="rect">
            <a:avLst/>
          </a:prstGeom>
        </p:spPr>
      </p:pic>
    </p:spTree>
    <p:extLst>
      <p:ext uri="{BB962C8B-B14F-4D97-AF65-F5344CB8AC3E}">
        <p14:creationId xmlns:p14="http://schemas.microsoft.com/office/powerpoint/2010/main" val="1182541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BD8C11E8-8F5A-8D66-21E5-CE665ED9E94D}"/>
              </a:ext>
            </a:extLst>
          </p:cNvPr>
          <p:cNvSpPr txBox="1"/>
          <p:nvPr/>
        </p:nvSpPr>
        <p:spPr>
          <a:xfrm>
            <a:off x="183884" y="384968"/>
            <a:ext cx="3759404" cy="135293"/>
          </a:xfrm>
          <a:prstGeom prst="rect">
            <a:avLst/>
          </a:prstGeom>
        </p:spPr>
        <p:txBody>
          <a:bodyPr vert="horz" wrap="square" lIns="0" tIns="12065" rIns="0" bIns="0" rtlCol="0">
            <a:spAutoFit/>
          </a:bodyPr>
          <a:lstStyle/>
          <a:p>
            <a:pPr marL="12700">
              <a:spcBef>
                <a:spcPts val="95"/>
              </a:spcBef>
            </a:pPr>
            <a:r>
              <a:rPr sz="800" b="1" spc="-10" dirty="0">
                <a:solidFill>
                  <a:srgbClr val="3333B2"/>
                </a:solidFill>
                <a:latin typeface="Arial"/>
                <a:cs typeface="Arial"/>
              </a:rPr>
              <a:t>Table:</a:t>
            </a:r>
            <a:r>
              <a:rPr sz="800" b="1" spc="45" dirty="0">
                <a:solidFill>
                  <a:srgbClr val="3333B2"/>
                </a:solidFill>
                <a:latin typeface="Arial"/>
                <a:cs typeface="Arial"/>
              </a:rPr>
              <a:t> </a:t>
            </a:r>
            <a:r>
              <a:rPr lang="en-US" sz="800" dirty="0">
                <a:latin typeface="Arial"/>
                <a:cs typeface="Arial"/>
              </a:rPr>
              <a:t>Instrument Validity: Effect of Timing Errors on Local Economic Activity</a:t>
            </a:r>
            <a:endParaRPr sz="800" dirty="0">
              <a:latin typeface="Arial"/>
              <a:cs typeface="Arial"/>
            </a:endParaRPr>
          </a:p>
        </p:txBody>
      </p:sp>
      <p:sp>
        <p:nvSpPr>
          <p:cNvPr id="9" name="object 5">
            <a:extLst>
              <a:ext uri="{FF2B5EF4-FFF2-40B4-BE49-F238E27FC236}">
                <a16:creationId xmlns:a16="http://schemas.microsoft.com/office/drawing/2014/main" id="{A64700E3-F485-FF30-BB8B-23AD1463271C}"/>
              </a:ext>
            </a:extLst>
          </p:cNvPr>
          <p:cNvSpPr txBox="1"/>
          <p:nvPr/>
        </p:nvSpPr>
        <p:spPr>
          <a:xfrm>
            <a:off x="136197" y="2585638"/>
            <a:ext cx="3854778" cy="458267"/>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These panels show the results from estimating Equation 9 across different subsets of the data set. In this case, with observations from each quarter of the calendar year. All coefficients correspond to the 2SLS specification with controls, state and quarter-by-year fixed effects. All the dependent, independent, and instrumental variables are expressed as a percentage of each state’s average discretionary revenues (DR) from 2009-2016. Time FE = Quarter-Year FE. Standard errors clustered by state. Significance level: +p &lt; 0.10, *p &lt; 0.05 , ** p &lt; 0.01 , *** p &lt; 0.001</a:t>
            </a:r>
          </a:p>
        </p:txBody>
      </p:sp>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Instrument Validity: Correlation with Local Economic Activity </a:t>
            </a:r>
          </a:p>
        </p:txBody>
      </p:sp>
      <p:graphicFrame>
        <p:nvGraphicFramePr>
          <p:cNvPr id="5" name="Table 4">
            <a:extLst>
              <a:ext uri="{FF2B5EF4-FFF2-40B4-BE49-F238E27FC236}">
                <a16:creationId xmlns:a16="http://schemas.microsoft.com/office/drawing/2014/main" id="{A3E3EE02-EC9E-31AD-D7BC-340E3353C49C}"/>
              </a:ext>
            </a:extLst>
          </p:cNvPr>
          <p:cNvGraphicFramePr>
            <a:graphicFrameLocks noGrp="1"/>
          </p:cNvGraphicFramePr>
          <p:nvPr/>
        </p:nvGraphicFramePr>
        <p:xfrm>
          <a:off x="136197" y="605662"/>
          <a:ext cx="3748394" cy="1953711"/>
        </p:xfrm>
        <a:graphic>
          <a:graphicData uri="http://schemas.openxmlformats.org/drawingml/2006/table">
            <a:tbl>
              <a:tblPr firstRow="1" firstCol="1" lastRow="1" lastCol="1" bandRow="1" bandCol="1"/>
              <a:tblGrid>
                <a:gridCol w="1853810">
                  <a:extLst>
                    <a:ext uri="{9D8B030D-6E8A-4147-A177-3AD203B41FA5}">
                      <a16:colId xmlns:a16="http://schemas.microsoft.com/office/drawing/2014/main" val="2365279943"/>
                    </a:ext>
                  </a:extLst>
                </a:gridCol>
                <a:gridCol w="473646">
                  <a:extLst>
                    <a:ext uri="{9D8B030D-6E8A-4147-A177-3AD203B41FA5}">
                      <a16:colId xmlns:a16="http://schemas.microsoft.com/office/drawing/2014/main" val="2420451841"/>
                    </a:ext>
                  </a:extLst>
                </a:gridCol>
                <a:gridCol w="473646">
                  <a:extLst>
                    <a:ext uri="{9D8B030D-6E8A-4147-A177-3AD203B41FA5}">
                      <a16:colId xmlns:a16="http://schemas.microsoft.com/office/drawing/2014/main" val="35899715"/>
                    </a:ext>
                  </a:extLst>
                </a:gridCol>
                <a:gridCol w="473646">
                  <a:extLst>
                    <a:ext uri="{9D8B030D-6E8A-4147-A177-3AD203B41FA5}">
                      <a16:colId xmlns:a16="http://schemas.microsoft.com/office/drawing/2014/main" val="3008995102"/>
                    </a:ext>
                  </a:extLst>
                </a:gridCol>
                <a:gridCol w="473646">
                  <a:extLst>
                    <a:ext uri="{9D8B030D-6E8A-4147-A177-3AD203B41FA5}">
                      <a16:colId xmlns:a16="http://schemas.microsoft.com/office/drawing/2014/main" val="500597512"/>
                    </a:ext>
                  </a:extLst>
                </a:gridCol>
              </a:tblGrid>
              <a:tr h="91440">
                <a:tc>
                  <a:txBody>
                    <a:bodyPr/>
                    <a:lstStyle/>
                    <a:p>
                      <a:pPr marL="75565" marR="0" algn="l">
                        <a:lnSpc>
                          <a:spcPts val="105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Dependent</a:t>
                      </a:r>
                      <a:r>
                        <a:rPr lang="en-US" sz="900" spc="80">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Variable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270"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1905"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105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981390"/>
                  </a:ext>
                </a:extLst>
              </a:tr>
              <a:tr h="91440">
                <a:tc>
                  <a:txBody>
                    <a:bodyPr/>
                    <a:lstStyle/>
                    <a:p>
                      <a:pPr marL="75565" marR="0" algn="l">
                        <a:lnSpc>
                          <a:spcPts val="102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Unemployment</a:t>
                      </a:r>
                      <a:r>
                        <a:rPr lang="en-US" sz="900" spc="15" dirty="0">
                          <a:effectLst/>
                          <a:latin typeface="Cambria" panose="02040503050406030204" pitchFamily="18" charset="0"/>
                          <a:ea typeface="Cambria" panose="02040503050406030204" pitchFamily="18" charset="0"/>
                          <a:cs typeface="Cambria" panose="02040503050406030204" pitchFamily="18" charset="0"/>
                        </a:rPr>
                        <a:t> </a:t>
                      </a:r>
                      <a:r>
                        <a:rPr lang="en-US" sz="900" spc="-20" dirty="0">
                          <a:effectLst/>
                          <a:latin typeface="Cambria" panose="02040503050406030204" pitchFamily="18" charset="0"/>
                          <a:ea typeface="Cambria" panose="02040503050406030204" pitchFamily="18" charset="0"/>
                          <a:cs typeface="Cambria" panose="02040503050406030204" pitchFamily="18" charset="0"/>
                        </a:rPr>
                        <a:t>Rate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1905"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0.084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1905"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07602810"/>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(0.076)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679423848"/>
                  </a:ext>
                </a:extLst>
              </a:tr>
              <a:tr h="91440">
                <a:tc>
                  <a:txBody>
                    <a:bodyPr/>
                    <a:lstStyle/>
                    <a:p>
                      <a:pPr marL="75565" marR="0" algn="l">
                        <a:lnSpc>
                          <a:spcPts val="109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Active</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Taxpayers</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spc="-10" dirty="0">
                          <a:effectLst/>
                          <a:latin typeface="Cambria" panose="02040503050406030204" pitchFamily="18" charset="0"/>
                          <a:ea typeface="Cambria" panose="02040503050406030204" pitchFamily="18" charset="0"/>
                          <a:cs typeface="Cambria" panose="02040503050406030204" pitchFamily="18" charset="0"/>
                        </a:rPr>
                        <a:t>Population)</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0.067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0.158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76777496"/>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(0.460)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(0.226)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6935933"/>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Industrial</a:t>
                      </a:r>
                      <a:r>
                        <a:rPr lang="en-US" sz="900" spc="165">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Activity</a:t>
                      </a:r>
                      <a:r>
                        <a:rPr lang="en-US" sz="900" spc="170">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Index</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0.067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0.158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0.024</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51412731"/>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(0.460)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(0.226)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(0.031)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4247449494"/>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Quarterly</a:t>
                      </a:r>
                      <a:r>
                        <a:rPr lang="en-US" sz="900" spc="175">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Economic</a:t>
                      </a:r>
                      <a:r>
                        <a:rPr lang="en-US" sz="900" spc="180">
                          <a:effectLst/>
                          <a:latin typeface="Cambria" panose="02040503050406030204" pitchFamily="18" charset="0"/>
                          <a:ea typeface="Cambria" panose="02040503050406030204" pitchFamily="18" charset="0"/>
                          <a:cs typeface="Cambria" panose="02040503050406030204" pitchFamily="18" charset="0"/>
                        </a:rPr>
                        <a:t> </a:t>
                      </a:r>
                      <a:r>
                        <a:rPr lang="en-US" sz="900">
                          <a:effectLst/>
                          <a:latin typeface="Cambria" panose="02040503050406030204" pitchFamily="18" charset="0"/>
                          <a:ea typeface="Cambria" panose="02040503050406030204" pitchFamily="18" charset="0"/>
                          <a:cs typeface="Cambria" panose="02040503050406030204" pitchFamily="18" charset="0"/>
                        </a:rPr>
                        <a:t>Activity</a:t>
                      </a:r>
                      <a:r>
                        <a:rPr lang="en-US" sz="900" spc="175">
                          <a:effectLst/>
                          <a:latin typeface="Cambria" panose="02040503050406030204" pitchFamily="18" charset="0"/>
                          <a:ea typeface="Cambria" panose="02040503050406030204" pitchFamily="18" charset="0"/>
                          <a:cs typeface="Cambria" panose="02040503050406030204" pitchFamily="18" charset="0"/>
                        </a:rPr>
                        <a:t> </a:t>
                      </a:r>
                      <a:r>
                        <a:rPr lang="en-US" sz="900" spc="-10">
                          <a:effectLst/>
                          <a:latin typeface="Cambria" panose="02040503050406030204" pitchFamily="18" charset="0"/>
                          <a:ea typeface="Cambria" panose="02040503050406030204" pitchFamily="18" charset="0"/>
                          <a:cs typeface="Cambria" panose="02040503050406030204" pitchFamily="18" charset="0"/>
                        </a:rPr>
                        <a:t>Index</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0.475*</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0.381*</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0.140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0.133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01936035"/>
                  </a:ext>
                </a:extLst>
              </a:tr>
              <a:tr h="91440">
                <a:tc>
                  <a:txBody>
                    <a:bodyPr/>
                    <a:lstStyle/>
                    <a:p>
                      <a:pPr marL="0" marR="0" algn="l">
                        <a:lnSpc>
                          <a:spcPts val="1095"/>
                        </a:lnSpc>
                        <a:spcBef>
                          <a:spcPts val="0"/>
                        </a:spcBef>
                        <a:spcAft>
                          <a:spcPts val="0"/>
                        </a:spcAft>
                      </a:pPr>
                      <a:r>
                        <a:rPr lang="en-US" sz="7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(0.178)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(0.169)</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(0.237)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(0.199)</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740455468"/>
                  </a:ext>
                </a:extLst>
              </a:tr>
              <a:tr h="91440">
                <a:tc>
                  <a:txBody>
                    <a:bodyPr/>
                    <a:lstStyle/>
                    <a:p>
                      <a:pPr marL="75565" marR="0" algn="l">
                        <a:lnSpc>
                          <a:spcPts val="109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Informal</a:t>
                      </a:r>
                      <a:r>
                        <a:rPr lang="en-US" sz="900" spc="80"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Labor</a:t>
                      </a:r>
                      <a:r>
                        <a:rPr lang="en-US" sz="900" spc="85" dirty="0">
                          <a:effectLst/>
                          <a:latin typeface="Cambria" panose="02040503050406030204" pitchFamily="18" charset="0"/>
                          <a:ea typeface="Cambria" panose="02040503050406030204" pitchFamily="18" charset="0"/>
                          <a:cs typeface="Cambria" panose="02040503050406030204" pitchFamily="18" charset="0"/>
                        </a:rPr>
                        <a:t> </a:t>
                      </a:r>
                      <a:r>
                        <a:rPr lang="en-US" sz="900" dirty="0">
                          <a:effectLst/>
                          <a:latin typeface="Cambria" panose="02040503050406030204" pitchFamily="18" charset="0"/>
                          <a:ea typeface="Cambria" panose="02040503050406030204" pitchFamily="18" charset="0"/>
                          <a:cs typeface="Cambria" panose="02040503050406030204" pitchFamily="18" charset="0"/>
                        </a:rPr>
                        <a:t>(%</a:t>
                      </a:r>
                      <a:r>
                        <a:rPr lang="en-US" sz="900" spc="85" dirty="0">
                          <a:effectLst/>
                          <a:latin typeface="Cambria" panose="02040503050406030204" pitchFamily="18" charset="0"/>
                          <a:ea typeface="Cambria" panose="02040503050406030204" pitchFamily="18" charset="0"/>
                          <a:cs typeface="Cambria" panose="02040503050406030204" pitchFamily="18" charset="0"/>
                        </a:rPr>
                        <a:t> </a:t>
                      </a:r>
                      <a:r>
                        <a:rPr lang="en-US" sz="900" spc="-10" dirty="0">
                          <a:effectLst/>
                          <a:latin typeface="Cambria" panose="02040503050406030204" pitchFamily="18" charset="0"/>
                          <a:ea typeface="Cambria" panose="02040503050406030204" pitchFamily="18" charset="0"/>
                          <a:cs typeface="Cambria" panose="02040503050406030204" pitchFamily="18" charset="0"/>
                        </a:rPr>
                        <a:t>Population)</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a:t>
                      </a:r>
                      <a:r>
                        <a:rPr lang="en-US" sz="900" spc="-10">
                          <a:effectLst/>
                          <a:latin typeface="Cambria" panose="02040503050406030204" pitchFamily="18" charset="0"/>
                          <a:ea typeface="Cambria" panose="02040503050406030204" pitchFamily="18" charset="0"/>
                          <a:cs typeface="Cambria" panose="02040503050406030204" pitchFamily="18" charset="0"/>
                        </a:rPr>
                        <a:t>0.063</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0.006</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3175" algn="ctr">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0.005</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724078526"/>
                  </a:ext>
                </a:extLst>
              </a:tr>
              <a:tr h="91440">
                <a:tc>
                  <a:txBody>
                    <a:bodyPr/>
                    <a:lstStyle/>
                    <a:p>
                      <a:pPr marL="0" marR="0" algn="l">
                        <a:lnSpc>
                          <a:spcPts val="1095"/>
                        </a:lnSpc>
                        <a:spcBef>
                          <a:spcPts val="0"/>
                        </a:spcBef>
                        <a:spcAft>
                          <a:spcPts val="0"/>
                        </a:spcAft>
                      </a:pPr>
                      <a:r>
                        <a:rPr lang="en-US" sz="800">
                          <a:effectLst/>
                          <a:latin typeface="Times New Roman" panose="02020603050405020304" pitchFamily="18" charset="0"/>
                          <a:ea typeface="Cambria" panose="02040503050406030204" pitchFamily="18" charset="0"/>
                          <a:cs typeface="Cambria" panose="02040503050406030204" pitchFamily="18" charset="0"/>
                        </a:rPr>
                        <a:t> </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(0.040)</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(0.022)</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(0.018)</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1680689"/>
                  </a:ext>
                </a:extLst>
              </a:tr>
              <a:tr h="91440">
                <a:tc>
                  <a:txBody>
                    <a:bodyPr/>
                    <a:lstStyle/>
                    <a:p>
                      <a:pPr marL="75565" marR="0" algn="l">
                        <a:lnSpc>
                          <a:spcPts val="102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Num.Obs.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3175" algn="ctr">
                        <a:lnSpc>
                          <a:spcPts val="10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597</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78687942"/>
                  </a:ext>
                </a:extLst>
              </a:tr>
              <a:tr h="91440">
                <a:tc>
                  <a:txBody>
                    <a:bodyPr/>
                    <a:lstStyle/>
                    <a:p>
                      <a:pPr marL="75565" marR="0" algn="l">
                        <a:lnSpc>
                          <a:spcPts val="1095"/>
                        </a:lnSpc>
                        <a:spcBef>
                          <a:spcPts val="0"/>
                        </a:spcBef>
                        <a:spcAft>
                          <a:spcPts val="0"/>
                        </a:spcAft>
                      </a:pPr>
                      <a:r>
                        <a:rPr lang="en-US" sz="900" spc="-10">
                          <a:effectLst/>
                          <a:latin typeface="Cambria" panose="02040503050406030204" pitchFamily="18" charset="0"/>
                          <a:ea typeface="Cambria" panose="02040503050406030204" pitchFamily="18" charset="0"/>
                          <a:cs typeface="Cambria" panose="02040503050406030204" pitchFamily="18" charset="0"/>
                        </a:rPr>
                        <a:t>Controls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27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640331515"/>
                  </a:ext>
                </a:extLst>
              </a:tr>
              <a:tr h="91440">
                <a:tc>
                  <a:txBody>
                    <a:bodyPr/>
                    <a:lstStyle/>
                    <a:p>
                      <a:pPr marL="75565" marR="0" algn="l">
                        <a:lnSpc>
                          <a:spcPts val="1095"/>
                        </a:lnSpc>
                        <a:spcBef>
                          <a:spcPts val="0"/>
                        </a:spcBef>
                        <a:spcAft>
                          <a:spcPts val="0"/>
                        </a:spcAft>
                      </a:pPr>
                      <a:r>
                        <a:rPr lang="en-US" sz="900">
                          <a:effectLst/>
                          <a:latin typeface="Cambria" panose="02040503050406030204" pitchFamily="18" charset="0"/>
                          <a:ea typeface="Cambria" panose="02040503050406030204" pitchFamily="18" charset="0"/>
                          <a:cs typeface="Cambria" panose="02040503050406030204" pitchFamily="18" charset="0"/>
                        </a:rPr>
                        <a:t>State</a:t>
                      </a:r>
                      <a:r>
                        <a:rPr lang="en-US" sz="900" spc="-20">
                          <a:effectLst/>
                          <a:latin typeface="Cambria" panose="02040503050406030204" pitchFamily="18" charset="0"/>
                          <a:ea typeface="Cambria" panose="02040503050406030204" pitchFamily="18" charset="0"/>
                          <a:cs typeface="Cambria" panose="02040503050406030204" pitchFamily="18" charset="0"/>
                        </a:rPr>
                        <a:t> </a:t>
                      </a:r>
                      <a:r>
                        <a:rPr lang="en-US" sz="900" spc="-25">
                          <a:effectLst/>
                          <a:latin typeface="Cambria" panose="02040503050406030204" pitchFamily="18" charset="0"/>
                          <a:ea typeface="Cambria" panose="02040503050406030204" pitchFamily="18" charset="0"/>
                          <a:cs typeface="Cambria" panose="02040503050406030204" pitchFamily="18" charset="0"/>
                        </a:rPr>
                        <a:t>FE</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No</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322656681"/>
                  </a:ext>
                </a:extLst>
              </a:tr>
              <a:tr h="91440">
                <a:tc>
                  <a:txBody>
                    <a:bodyPr/>
                    <a:lstStyle/>
                    <a:p>
                      <a:pPr marL="75565" marR="0" algn="l">
                        <a:lnSpc>
                          <a:spcPts val="1125"/>
                        </a:lnSpc>
                        <a:spcBef>
                          <a:spcPts val="0"/>
                        </a:spcBef>
                        <a:spcAft>
                          <a:spcPts val="0"/>
                        </a:spcAft>
                      </a:pPr>
                      <a:r>
                        <a:rPr lang="en-US" sz="900" dirty="0">
                          <a:effectLst/>
                          <a:latin typeface="Cambria" panose="02040503050406030204" pitchFamily="18" charset="0"/>
                          <a:ea typeface="Cambria" panose="02040503050406030204" pitchFamily="18" charset="0"/>
                          <a:cs typeface="Cambria" panose="02040503050406030204" pitchFamily="18" charset="0"/>
                        </a:rPr>
                        <a:t>Time</a:t>
                      </a:r>
                      <a:r>
                        <a:rPr lang="en-US" sz="900" spc="40" dirty="0">
                          <a:effectLst/>
                          <a:latin typeface="Cambria" panose="02040503050406030204" pitchFamily="18" charset="0"/>
                          <a:ea typeface="Cambria" panose="02040503050406030204" pitchFamily="18" charset="0"/>
                          <a:cs typeface="Cambria" panose="02040503050406030204" pitchFamily="18" charset="0"/>
                        </a:rPr>
                        <a:t> </a:t>
                      </a:r>
                      <a:r>
                        <a:rPr lang="en-US" sz="900" spc="-25" dirty="0">
                          <a:effectLst/>
                          <a:latin typeface="Cambria" panose="02040503050406030204" pitchFamily="18" charset="0"/>
                          <a:ea typeface="Cambria" panose="02040503050406030204" pitchFamily="18" charset="0"/>
                          <a:cs typeface="Cambria" panose="02040503050406030204" pitchFamily="18" charset="0"/>
                        </a:rPr>
                        <a:t>FE</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1905"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a:effectLst/>
                          <a:latin typeface="Cambria" panose="02040503050406030204" pitchFamily="18" charset="0"/>
                          <a:ea typeface="Cambria" panose="02040503050406030204" pitchFamily="18" charset="0"/>
                          <a:cs typeface="Cambria" panose="02040503050406030204" pitchFamily="18" charset="0"/>
                        </a:rPr>
                        <a:t>Yes</a:t>
                      </a:r>
                      <a:endParaRPr lang="en-US" sz="105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2540" algn="ctr">
                        <a:lnSpc>
                          <a:spcPts val="1125"/>
                        </a:lnSpc>
                        <a:spcBef>
                          <a:spcPts val="0"/>
                        </a:spcBef>
                        <a:spcAft>
                          <a:spcPts val="0"/>
                        </a:spcAft>
                      </a:pPr>
                      <a:r>
                        <a:rPr lang="en-US" sz="900" spc="-25" dirty="0">
                          <a:effectLst/>
                          <a:latin typeface="Cambria" panose="02040503050406030204" pitchFamily="18" charset="0"/>
                          <a:ea typeface="Cambria" panose="02040503050406030204" pitchFamily="18" charset="0"/>
                          <a:cs typeface="Cambria" panose="02040503050406030204" pitchFamily="18" charset="0"/>
                        </a:rPr>
                        <a:t>Yes</a:t>
                      </a:r>
                      <a:endParaRPr lang="en-US" sz="105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7728186"/>
                  </a:ext>
                </a:extLst>
              </a:tr>
            </a:tbl>
          </a:graphicData>
        </a:graphic>
      </p:graphicFrame>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9FC0D76E-2208-0738-81C2-8D498A0BC03D}"/>
                  </a:ext>
                </a:extLst>
              </p:cNvPr>
              <p:cNvSpPr txBox="1"/>
              <p:nvPr/>
            </p:nvSpPr>
            <p:spPr>
              <a:xfrm>
                <a:off x="3909208" y="605662"/>
                <a:ext cx="2162051" cy="144449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dirty="0">
                    <a:solidFill>
                      <a:schemeClr val="tx1"/>
                    </a:solidFill>
                    <a:latin typeface="Arial" panose="020B0604020202020204" pitchFamily="34" charset="0"/>
                    <a:cs typeface="Arial" panose="020B0604020202020204" pitchFamily="34" charset="0"/>
                  </a:rPr>
                  <a:t>FGP Timing Errors do not predict state economic activity.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Measures tested: </a:t>
                </a:r>
                <a:r>
                  <a:rPr lang="en-US" sz="900" dirty="0">
                    <a:solidFill>
                      <a:schemeClr val="tx1"/>
                    </a:solidFill>
                    <a:latin typeface="Arial" panose="020B0604020202020204" pitchFamily="34" charset="0"/>
                    <a:cs typeface="Arial" panose="020B0604020202020204" pitchFamily="34" charset="0"/>
                  </a:rPr>
                  <a:t>unemployment rate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Q4: </a:t>
                </a:r>
                <a:r>
                  <a:rPr lang="en-US" sz="900" b="1" spc="-45" dirty="0">
                    <a:solidFill>
                      <a:schemeClr val="tx1"/>
                    </a:solidFill>
                    <a:latin typeface="Arial"/>
                    <a:cs typeface="Arial"/>
                  </a:rPr>
                  <a:t>⬆️ </a:t>
                </a:r>
                <a:r>
                  <a:rPr lang="en-US" sz="900" spc="-45" dirty="0">
                    <a:solidFill>
                      <a:schemeClr val="tx1"/>
                    </a:solidFill>
                    <a:latin typeface="Arial"/>
                    <a:cs typeface="Arial"/>
                  </a:rPr>
                  <a:t>6.7</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0.85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Implication: </a:t>
                </a:r>
                <a:r>
                  <a:rPr lang="en-US" sz="900" dirty="0">
                    <a:solidFill>
                      <a:schemeClr val="tx1"/>
                    </a:solidFill>
                    <a:latin typeface="Arial" panose="020B0604020202020204" pitchFamily="34" charset="0"/>
                    <a:cs typeface="Arial" panose="020B0604020202020204" pitchFamily="34" charset="0"/>
                  </a:rPr>
                  <a:t>States smooth cash-flows via short-term debt and preserve cash-reserves. </a:t>
                </a:r>
                <a:endParaRPr lang="en-US" sz="900" b="1" dirty="0">
                  <a:solidFill>
                    <a:schemeClr val="tx1"/>
                  </a:solidFill>
                  <a:latin typeface="Arial" panose="020B0604020202020204" pitchFamily="34" charset="0"/>
                  <a:cs typeface="Arial" panose="020B0604020202020204" pitchFamily="34" charset="0"/>
                </a:endParaRPr>
              </a:p>
            </p:txBody>
          </p:sp>
        </mc:Choice>
        <mc:Fallback xmlns="">
          <p:sp>
            <p:nvSpPr>
              <p:cNvPr id="8" name="object 3">
                <a:extLst>
                  <a:ext uri="{FF2B5EF4-FFF2-40B4-BE49-F238E27FC236}">
                    <a16:creationId xmlns:a16="http://schemas.microsoft.com/office/drawing/2014/main" id="{9FC0D76E-2208-0738-81C2-8D498A0BC03D}"/>
                  </a:ext>
                </a:extLst>
              </p:cNvPr>
              <p:cNvSpPr txBox="1">
                <a:spLocks noRot="1" noChangeAspect="1" noMove="1" noResize="1" noEditPoints="1" noAdjustHandles="1" noChangeArrowheads="1" noChangeShapeType="1" noTextEdit="1"/>
              </p:cNvSpPr>
              <p:nvPr/>
            </p:nvSpPr>
            <p:spPr>
              <a:xfrm>
                <a:off x="3909208" y="605662"/>
                <a:ext cx="2162051" cy="1444498"/>
              </a:xfrm>
              <a:prstGeom prst="rect">
                <a:avLst/>
              </a:prstGeom>
              <a:blipFill>
                <a:blip r:embed="rId2"/>
                <a:stretch>
                  <a:fillRect l="-581" t="-2609" r="-2907" b="-4348"/>
                </a:stretch>
              </a:blipFill>
            </p:spPr>
            <p:txBody>
              <a:bodyPr/>
              <a:lstStyle/>
              <a:p>
                <a:r>
                  <a:rPr lang="en-US">
                    <a:noFill/>
                  </a:rPr>
                  <a:t> </a:t>
                </a:r>
              </a:p>
            </p:txBody>
          </p:sp>
        </mc:Fallback>
      </mc:AlternateContent>
    </p:spTree>
    <p:extLst>
      <p:ext uri="{BB962C8B-B14F-4D97-AF65-F5344CB8AC3E}">
        <p14:creationId xmlns:p14="http://schemas.microsoft.com/office/powerpoint/2010/main" val="14892236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5">
            <a:extLst>
              <a:ext uri="{FF2B5EF4-FFF2-40B4-BE49-F238E27FC236}">
                <a16:creationId xmlns:a16="http://schemas.microsoft.com/office/drawing/2014/main" id="{A64700E3-F485-FF30-BB8B-23AD1463271C}"/>
              </a:ext>
            </a:extLst>
          </p:cNvPr>
          <p:cNvSpPr txBox="1"/>
          <p:nvPr/>
        </p:nvSpPr>
        <p:spPr>
          <a:xfrm>
            <a:off x="3471643" y="2720975"/>
            <a:ext cx="2665703" cy="560923"/>
          </a:xfrm>
          <a:prstGeom prst="rect">
            <a:avLst/>
          </a:prstGeom>
        </p:spPr>
        <p:txBody>
          <a:bodyPr vert="horz" wrap="square" lIns="0" tIns="17145" rIns="0" bIns="0" rtlCol="0">
            <a:spAutoFit/>
          </a:bodyPr>
          <a:lstStyle/>
          <a:p>
            <a:pPr marL="12700" marR="5080">
              <a:lnSpc>
                <a:spcPts val="700"/>
              </a:lnSpc>
              <a:spcBef>
                <a:spcPts val="135"/>
              </a:spcBef>
            </a:pPr>
            <a:r>
              <a:rPr lang="en-US" sz="500" b="1" dirty="0">
                <a:latin typeface="Arial"/>
                <a:cs typeface="Arial"/>
              </a:rPr>
              <a:t>Notes: </a:t>
            </a:r>
            <a:r>
              <a:rPr lang="en-US" sz="500" dirty="0">
                <a:latin typeface="Arial"/>
                <a:cs typeface="Arial"/>
              </a:rPr>
              <a:t>This table show the results from estimating baseline model through 2SLS using different instrumental variables. First stage coefficients are also reported. All the dependent, independent, and instrumental variables are expressed as a percentage of each state’s average discretionary revenues (DR) from 2009-2016. Time FE = Quarter-Year FE. Standard errors clustered by state. Significance level: +p &lt; 0.10, *p &lt; 0.05 , ** p &lt; 0.01 , *** p &lt; 0.001</a:t>
            </a:r>
          </a:p>
          <a:p>
            <a:pPr marL="12700" marR="5080">
              <a:lnSpc>
                <a:spcPts val="700"/>
              </a:lnSpc>
              <a:spcBef>
                <a:spcPts val="135"/>
              </a:spcBef>
            </a:pPr>
            <a:endParaRPr lang="en-US" sz="500" b="1" dirty="0">
              <a:latin typeface="Arial"/>
              <a:cs typeface="Arial"/>
            </a:endParaRPr>
          </a:p>
        </p:txBody>
      </p:sp>
      <p:sp>
        <p:nvSpPr>
          <p:cNvPr id="2" name="TextBox 1">
            <a:extLst>
              <a:ext uri="{FF2B5EF4-FFF2-40B4-BE49-F238E27FC236}">
                <a16:creationId xmlns:a16="http://schemas.microsoft.com/office/drawing/2014/main" id="{8ECE5494-56C8-337F-FBDB-2C7CD7B649E4}"/>
              </a:ext>
            </a:extLst>
          </p:cNvPr>
          <p:cNvSpPr txBox="1"/>
          <p:nvPr/>
        </p:nvSpPr>
        <p:spPr>
          <a:xfrm>
            <a:off x="-47625" y="-11875"/>
            <a:ext cx="6096000"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Alternative IV: Effects of Cash Reserves on Short-Term Debt</a:t>
            </a:r>
          </a:p>
        </p:txBody>
      </p:sp>
      <p:graphicFrame>
        <p:nvGraphicFramePr>
          <p:cNvPr id="7" name="Table 6">
            <a:extLst>
              <a:ext uri="{FF2B5EF4-FFF2-40B4-BE49-F238E27FC236}">
                <a16:creationId xmlns:a16="http://schemas.microsoft.com/office/drawing/2014/main" id="{EAF1B523-76A3-7275-EF65-6E4F8CFF379B}"/>
              </a:ext>
            </a:extLst>
          </p:cNvPr>
          <p:cNvGraphicFramePr>
            <a:graphicFrameLocks noGrp="1"/>
          </p:cNvGraphicFramePr>
          <p:nvPr/>
        </p:nvGraphicFramePr>
        <p:xfrm>
          <a:off x="28575" y="330897"/>
          <a:ext cx="3458872" cy="2848174"/>
        </p:xfrm>
        <a:graphic>
          <a:graphicData uri="http://schemas.openxmlformats.org/drawingml/2006/table">
            <a:tbl>
              <a:tblPr firstRow="1" firstCol="1" lastRow="1" lastCol="1" bandRow="1" bandCol="1"/>
              <a:tblGrid>
                <a:gridCol w="1868509">
                  <a:extLst>
                    <a:ext uri="{9D8B030D-6E8A-4147-A177-3AD203B41FA5}">
                      <a16:colId xmlns:a16="http://schemas.microsoft.com/office/drawing/2014/main" val="1850834146"/>
                    </a:ext>
                  </a:extLst>
                </a:gridCol>
                <a:gridCol w="376910">
                  <a:extLst>
                    <a:ext uri="{9D8B030D-6E8A-4147-A177-3AD203B41FA5}">
                      <a16:colId xmlns:a16="http://schemas.microsoft.com/office/drawing/2014/main" val="422408512"/>
                    </a:ext>
                  </a:extLst>
                </a:gridCol>
                <a:gridCol w="376487">
                  <a:extLst>
                    <a:ext uri="{9D8B030D-6E8A-4147-A177-3AD203B41FA5}">
                      <a16:colId xmlns:a16="http://schemas.microsoft.com/office/drawing/2014/main" val="3200709769"/>
                    </a:ext>
                  </a:extLst>
                </a:gridCol>
                <a:gridCol w="418272">
                  <a:extLst>
                    <a:ext uri="{9D8B030D-6E8A-4147-A177-3AD203B41FA5}">
                      <a16:colId xmlns:a16="http://schemas.microsoft.com/office/drawing/2014/main" val="2604031265"/>
                    </a:ext>
                  </a:extLst>
                </a:gridCol>
                <a:gridCol w="418694">
                  <a:extLst>
                    <a:ext uri="{9D8B030D-6E8A-4147-A177-3AD203B41FA5}">
                      <a16:colId xmlns:a16="http://schemas.microsoft.com/office/drawing/2014/main" val="344683270"/>
                    </a:ext>
                  </a:extLst>
                </a:gridCol>
              </a:tblGrid>
              <a:tr h="91440">
                <a:tc>
                  <a:txBody>
                    <a:bodyPr/>
                    <a:lstStyle/>
                    <a:p>
                      <a:pPr marL="75565" marR="0" algn="l">
                        <a:lnSpc>
                          <a:spcPts val="1040"/>
                        </a:lnSpc>
                        <a:spcBef>
                          <a:spcPts val="0"/>
                        </a:spcBef>
                        <a:spcAft>
                          <a:spcPts val="0"/>
                        </a:spcAft>
                      </a:pPr>
                      <a:r>
                        <a:rPr lang="en-US" sz="600" b="1" spc="-10" dirty="0">
                          <a:effectLst/>
                          <a:latin typeface="Georgia" panose="02040502050405020303" pitchFamily="18" charset="0"/>
                          <a:ea typeface="Cambria" panose="02040503050406030204" pitchFamily="18" charset="0"/>
                          <a:cs typeface="Cambria" panose="02040503050406030204" pitchFamily="18" charset="0"/>
                        </a:rPr>
                        <a:t>IV:</a:t>
                      </a:r>
                      <a:r>
                        <a:rPr lang="en-US" sz="600" b="1" spc="-15" dirty="0">
                          <a:effectLst/>
                          <a:latin typeface="Georgia" panose="02040502050405020303" pitchFamily="18" charset="0"/>
                          <a:ea typeface="Cambria" panose="02040503050406030204" pitchFamily="18" charset="0"/>
                          <a:cs typeface="Cambria" panose="02040503050406030204" pitchFamily="18" charset="0"/>
                        </a:rPr>
                        <a:t> </a:t>
                      </a:r>
                      <a:r>
                        <a:rPr lang="en-US" sz="600" b="1" spc="-10" dirty="0">
                          <a:effectLst/>
                          <a:latin typeface="Georgia" panose="02040502050405020303" pitchFamily="18" charset="0"/>
                          <a:ea typeface="Cambria" panose="02040503050406030204" pitchFamily="18" charset="0"/>
                          <a:cs typeface="Cambria" panose="02040503050406030204" pitchFamily="18" charset="0"/>
                        </a:rPr>
                        <a:t>Discretionary Revenues Timing Error</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299587002"/>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Cash</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Reserves</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4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DR)</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err="1">
                          <a:effectLst/>
                          <a:latin typeface="Georgia" panose="02040502050405020303" pitchFamily="18" charset="0"/>
                          <a:ea typeface="Cambria" panose="02040503050406030204" pitchFamily="18" charset="0"/>
                          <a:cs typeface="Cambria" panose="02040503050406030204" pitchFamily="18" charset="0"/>
                        </a:rPr>
                        <a:t>δ</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0.040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0.048</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0.002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0.037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69307969"/>
                  </a:ext>
                </a:extLst>
              </a:tr>
              <a:tr h="91440">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(0.116)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(0.072)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633786719"/>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First</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Stage:</a:t>
                      </a:r>
                      <a:r>
                        <a:rPr lang="en-US" sz="600" spc="12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Timing</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Error</a:t>
                      </a:r>
                      <a:r>
                        <a:rPr lang="en-US" sz="600" spc="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a:effectLst/>
                          <a:latin typeface="Georgia" panose="02040502050405020303" pitchFamily="18" charset="0"/>
                          <a:ea typeface="Cambria" panose="02040503050406030204" pitchFamily="18" charset="0"/>
                          <a:cs typeface="Cambria" panose="02040503050406030204" pitchFamily="18" charset="0"/>
                        </a:rPr>
                        <a:t>β</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1.282**</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0.837**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0.968***</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2540" marR="2540"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0.829***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3109439931"/>
                  </a:ext>
                </a:extLst>
              </a:tr>
              <a:tr h="91440">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(0.456)</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(0.267)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(0.240)</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tc>
                  <a:txBody>
                    <a:bodyPr/>
                    <a:lstStyle/>
                    <a:p>
                      <a:pPr marL="2540" marR="2540"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(0.211)</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452323931"/>
                  </a:ext>
                </a:extLst>
              </a:tr>
              <a:tr h="91440">
                <a:tc>
                  <a:txBody>
                    <a:bodyPr/>
                    <a:lstStyle/>
                    <a:p>
                      <a:pPr marL="75565" marR="0" algn="l">
                        <a:lnSpc>
                          <a:spcPts val="112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Cragg-Donald</a:t>
                      </a:r>
                      <a:r>
                        <a:rPr lang="en-US" sz="600" spc="-1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F-</a:t>
                      </a:r>
                      <a:r>
                        <a:rPr lang="en-US" sz="600" spc="-10" dirty="0">
                          <a:effectLst/>
                          <a:latin typeface="Cambria" panose="02040503050406030204" pitchFamily="18" charset="0"/>
                          <a:ea typeface="Cambria" panose="02040503050406030204" pitchFamily="18" charset="0"/>
                          <a:cs typeface="Cambria" panose="02040503050406030204" pitchFamily="18" charset="0"/>
                        </a:rPr>
                        <a:t>Statistic</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21.5163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15.9941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38.1511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3810" marR="1270"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28.4921</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252861816"/>
                  </a:ext>
                </a:extLst>
              </a:tr>
              <a:tr h="91440">
                <a:tc>
                  <a:txBody>
                    <a:bodyPr/>
                    <a:lstStyle/>
                    <a:p>
                      <a:pPr marL="75565" marR="0" algn="l">
                        <a:lnSpc>
                          <a:spcPts val="1040"/>
                        </a:lnSpc>
                        <a:spcBef>
                          <a:spcPts val="0"/>
                        </a:spcBef>
                        <a:spcAft>
                          <a:spcPts val="0"/>
                        </a:spcAft>
                      </a:pPr>
                      <a:r>
                        <a:rPr lang="en-US" sz="600" b="1" spc="-20" dirty="0">
                          <a:effectLst/>
                          <a:latin typeface="Georgia" panose="02040502050405020303" pitchFamily="18" charset="0"/>
                          <a:ea typeface="Cambria" panose="02040503050406030204" pitchFamily="18" charset="0"/>
                          <a:cs typeface="Cambria" panose="02040503050406030204" pitchFamily="18" charset="0"/>
                        </a:rPr>
                        <a:t>IV:</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Earmarked</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Revenues</a:t>
                      </a:r>
                      <a:r>
                        <a:rPr lang="en-US" sz="600" b="1" spc="45"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Timing</a:t>
                      </a:r>
                      <a:r>
                        <a:rPr lang="en-US" sz="600" b="1" spc="40" dirty="0">
                          <a:effectLst/>
                          <a:latin typeface="Georgia" panose="02040502050405020303" pitchFamily="18" charset="0"/>
                          <a:ea typeface="Cambria" panose="02040503050406030204" pitchFamily="18" charset="0"/>
                          <a:cs typeface="Cambria" panose="02040503050406030204" pitchFamily="18" charset="0"/>
                        </a:rPr>
                        <a:t> </a:t>
                      </a:r>
                      <a:r>
                        <a:rPr lang="en-US" sz="600" b="1" spc="-20" dirty="0">
                          <a:effectLst/>
                          <a:latin typeface="Georgia" panose="02040502050405020303" pitchFamily="18" charset="0"/>
                          <a:ea typeface="Cambria" panose="02040503050406030204" pitchFamily="18" charset="0"/>
                          <a:cs typeface="Cambria" panose="02040503050406030204" pitchFamily="18" charset="0"/>
                        </a:rPr>
                        <a:t>Error</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08646132"/>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Cash</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Reserves</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4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DR)</a:t>
                      </a:r>
                      <a:r>
                        <a:rPr lang="en-US" sz="600" spc="1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err="1">
                          <a:effectLst/>
                          <a:latin typeface="Georgia" panose="02040502050405020303" pitchFamily="18" charset="0"/>
                          <a:ea typeface="Cambria" panose="02040503050406030204" pitchFamily="18" charset="0"/>
                          <a:cs typeface="Cambria" panose="02040503050406030204" pitchFamily="18" charset="0"/>
                        </a:rPr>
                        <a:t>δ</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0.150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0.435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51573314"/>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(1.604)</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(0.660)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(0.332)</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(0.345)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288955988"/>
                  </a:ext>
                </a:extLst>
              </a:tr>
              <a:tr h="91440">
                <a:tc>
                  <a:txBody>
                    <a:bodyPr/>
                    <a:lstStyle/>
                    <a:p>
                      <a:pPr marL="75565" marR="0" algn="l">
                        <a:lnSpc>
                          <a:spcPts val="11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First</a:t>
                      </a:r>
                      <a:r>
                        <a:rPr lang="en-US" sz="600" spc="3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Stage:</a:t>
                      </a:r>
                      <a:r>
                        <a:rPr lang="en-US" sz="600" spc="12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Timing</a:t>
                      </a:r>
                      <a:r>
                        <a:rPr lang="en-US" sz="600" spc="3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Error</a:t>
                      </a:r>
                      <a:r>
                        <a:rPr lang="en-US" sz="600" spc="35">
                          <a:effectLst/>
                          <a:latin typeface="Cambria" panose="02040503050406030204" pitchFamily="18" charset="0"/>
                          <a:ea typeface="Cambria" panose="02040503050406030204" pitchFamily="18" charset="0"/>
                          <a:cs typeface="Cambria" panose="02040503050406030204" pitchFamily="18" charset="0"/>
                        </a:rPr>
                        <a:t> </a:t>
                      </a:r>
                      <a:r>
                        <a:rPr lang="en-US" sz="600" i="1" spc="-25">
                          <a:effectLst/>
                          <a:latin typeface="Georgia" panose="02040502050405020303" pitchFamily="18" charset="0"/>
                          <a:ea typeface="Cambria" panose="02040503050406030204" pitchFamily="18" charset="0"/>
                          <a:cs typeface="Cambria" panose="02040503050406030204" pitchFamily="18" charset="0"/>
                        </a:rPr>
                        <a:t>β</a:t>
                      </a:r>
                      <a:r>
                        <a:rPr lang="en-US" sz="600" spc="-25">
                          <a:effectLst/>
                          <a:latin typeface="Tahoma" panose="020B0604030504040204" pitchFamily="34" charset="0"/>
                          <a:ea typeface="Cambria" panose="02040503050406030204" pitchFamily="18" charset="0"/>
                          <a:cs typeface="Cambria" panose="02040503050406030204" pitchFamily="18" charset="0"/>
                        </a:rPr>
                        <a:t>ˆ</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0.287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0.303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0.301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28965396"/>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(0.374)</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(0.254)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(0.206)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(0.237)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580487892"/>
                  </a:ext>
                </a:extLst>
              </a:tr>
              <a:tr h="91440">
                <a:tc>
                  <a:txBody>
                    <a:bodyPr/>
                    <a:lstStyle/>
                    <a:p>
                      <a:pPr marL="75565" marR="0" algn="l">
                        <a:lnSpc>
                          <a:spcPts val="112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Cragg-Donald</a:t>
                      </a:r>
                      <a:r>
                        <a:rPr lang="en-US" sz="600" spc="-1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F-</a:t>
                      </a:r>
                      <a:r>
                        <a:rPr lang="en-US" sz="600" spc="-10" dirty="0">
                          <a:effectLst/>
                          <a:latin typeface="Cambria" panose="02040503050406030204" pitchFamily="18" charset="0"/>
                          <a:ea typeface="Cambria" panose="02040503050406030204" pitchFamily="18" charset="0"/>
                          <a:cs typeface="Cambria" panose="02040503050406030204" pitchFamily="18" charset="0"/>
                        </a:rPr>
                        <a:t>Statistic</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0.2911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1.5095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3.0999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3810" marR="127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3.3204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9039329"/>
                  </a:ext>
                </a:extLst>
              </a:tr>
              <a:tr h="91440">
                <a:tc>
                  <a:txBody>
                    <a:bodyPr/>
                    <a:lstStyle/>
                    <a:p>
                      <a:pPr marL="75565" marR="0" algn="l">
                        <a:lnSpc>
                          <a:spcPts val="1040"/>
                        </a:lnSpc>
                        <a:spcBef>
                          <a:spcPts val="0"/>
                        </a:spcBef>
                        <a:spcAft>
                          <a:spcPts val="0"/>
                        </a:spcAft>
                      </a:pPr>
                      <a:r>
                        <a:rPr lang="en-US" sz="600" b="1">
                          <a:effectLst/>
                          <a:latin typeface="Georgia" panose="02040502050405020303" pitchFamily="18" charset="0"/>
                          <a:ea typeface="Cambria" panose="02040503050406030204" pitchFamily="18" charset="0"/>
                          <a:cs typeface="Cambria" panose="02040503050406030204" pitchFamily="18" charset="0"/>
                        </a:rPr>
                        <a:t>IV:</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a:effectLst/>
                          <a:latin typeface="Georgia" panose="02040502050405020303" pitchFamily="18" charset="0"/>
                          <a:ea typeface="Cambria" panose="02040503050406030204" pitchFamily="18" charset="0"/>
                          <a:cs typeface="Cambria" panose="02040503050406030204" pitchFamily="18" charset="0"/>
                        </a:rPr>
                        <a:t>IG</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a:effectLst/>
                          <a:latin typeface="Georgia" panose="02040502050405020303" pitchFamily="18" charset="0"/>
                          <a:ea typeface="Cambria" panose="02040503050406030204" pitchFamily="18" charset="0"/>
                          <a:cs typeface="Cambria" panose="02040503050406030204" pitchFamily="18" charset="0"/>
                        </a:rPr>
                        <a:t>Transfers Timing</a:t>
                      </a:r>
                      <a:r>
                        <a:rPr lang="en-US" sz="600" b="1" spc="-5">
                          <a:effectLst/>
                          <a:latin typeface="Georgia" panose="02040502050405020303" pitchFamily="18" charset="0"/>
                          <a:ea typeface="Cambria" panose="02040503050406030204" pitchFamily="18" charset="0"/>
                          <a:cs typeface="Cambria" panose="02040503050406030204" pitchFamily="18" charset="0"/>
                        </a:rPr>
                        <a:t> </a:t>
                      </a:r>
                      <a:r>
                        <a:rPr lang="en-US" sz="600" b="1" spc="-10">
                          <a:effectLst/>
                          <a:latin typeface="Georgia" panose="02040502050405020303" pitchFamily="18" charset="0"/>
                          <a:ea typeface="Cambria" panose="02040503050406030204" pitchFamily="18" charset="0"/>
                          <a:cs typeface="Cambria" panose="02040503050406030204" pitchFamily="18" charset="0"/>
                        </a:rPr>
                        <a:t>Error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dirty="0">
                          <a:effectLst/>
                          <a:latin typeface="Times New Roman" panose="02020603050405020304" pitchFamily="18" charset="0"/>
                          <a:ea typeface="Cambria" panose="02040503050406030204" pitchFamily="18" charset="0"/>
                          <a:cs typeface="Cambria" panose="02040503050406030204" pitchFamily="18" charset="0"/>
                        </a:rPr>
                        <a:t> </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84887448"/>
                  </a:ext>
                </a:extLst>
              </a:tr>
              <a:tr h="91440">
                <a:tc>
                  <a:txBody>
                    <a:bodyPr/>
                    <a:lstStyle/>
                    <a:p>
                      <a:pPr marL="75565" marR="0" algn="l">
                        <a:lnSpc>
                          <a:spcPts val="11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Cash</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Reserves</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4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DR)</a:t>
                      </a:r>
                      <a:r>
                        <a:rPr lang="en-US" sz="600" spc="135">
                          <a:effectLst/>
                          <a:latin typeface="Cambria" panose="02040503050406030204" pitchFamily="18" charset="0"/>
                          <a:ea typeface="Cambria" panose="02040503050406030204" pitchFamily="18" charset="0"/>
                          <a:cs typeface="Cambria" panose="02040503050406030204" pitchFamily="18" charset="0"/>
                        </a:rPr>
                        <a:t> </a:t>
                      </a:r>
                      <a:r>
                        <a:rPr lang="en-US" sz="600" i="1" spc="-25">
                          <a:effectLst/>
                          <a:latin typeface="Georgia" panose="02040502050405020303" pitchFamily="18" charset="0"/>
                          <a:ea typeface="Cambria" panose="02040503050406030204" pitchFamily="18" charset="0"/>
                          <a:cs typeface="Cambria" panose="02040503050406030204" pitchFamily="18" charset="0"/>
                        </a:rPr>
                        <a:t>δ</a:t>
                      </a:r>
                      <a:r>
                        <a:rPr lang="en-US" sz="600" spc="-25">
                          <a:effectLst/>
                          <a:latin typeface="Tahoma" panose="020B0604030504040204" pitchFamily="34" charset="0"/>
                          <a:ea typeface="Cambria" panose="02040503050406030204" pitchFamily="18" charset="0"/>
                          <a:cs typeface="Cambria" panose="02040503050406030204" pitchFamily="18" charset="0"/>
                        </a:rPr>
                        <a:t>ˆ</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0.064</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0.103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5"/>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a:t>
                      </a:r>
                      <a:r>
                        <a:rPr lang="en-US" sz="600" spc="-10" dirty="0">
                          <a:effectLst/>
                          <a:latin typeface="Cambria" panose="02040503050406030204" pitchFamily="18" charset="0"/>
                          <a:ea typeface="Cambria" panose="02040503050406030204" pitchFamily="18" charset="0"/>
                          <a:cs typeface="Cambria" panose="02040503050406030204" pitchFamily="18" charset="0"/>
                        </a:rPr>
                        <a:t>0.163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5"/>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a:t>
                      </a:r>
                      <a:r>
                        <a:rPr lang="en-US" sz="600" spc="-10">
                          <a:effectLst/>
                          <a:latin typeface="Cambria" panose="02040503050406030204" pitchFamily="18" charset="0"/>
                          <a:ea typeface="Cambria" panose="02040503050406030204" pitchFamily="18" charset="0"/>
                          <a:cs typeface="Cambria" panose="02040503050406030204" pitchFamily="18" charset="0"/>
                        </a:rPr>
                        <a:t>0.163</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524476937"/>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(0.259)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(0.340)</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1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(0.273)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1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(0.351)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4030531091"/>
                  </a:ext>
                </a:extLst>
              </a:tr>
              <a:tr h="91440">
                <a:tc>
                  <a:txBody>
                    <a:bodyPr/>
                    <a:lstStyle/>
                    <a:p>
                      <a:pPr marL="75565" marR="0" algn="l">
                        <a:lnSpc>
                          <a:spcPts val="11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First</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Stage:</a:t>
                      </a:r>
                      <a:r>
                        <a:rPr lang="en-US" sz="600" spc="12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Timing</a:t>
                      </a:r>
                      <a:r>
                        <a:rPr lang="en-US" sz="600" spc="30" dirty="0">
                          <a:effectLst/>
                          <a:latin typeface="Cambria" panose="02040503050406030204" pitchFamily="18" charset="0"/>
                          <a:ea typeface="Cambria" panose="02040503050406030204" pitchFamily="18" charset="0"/>
                          <a:cs typeface="Cambria" panose="02040503050406030204" pitchFamily="18" charset="0"/>
                        </a:rPr>
                        <a:t> </a:t>
                      </a:r>
                      <a:r>
                        <a:rPr lang="en-US" sz="600" dirty="0">
                          <a:effectLst/>
                          <a:latin typeface="Cambria" panose="02040503050406030204" pitchFamily="18" charset="0"/>
                          <a:ea typeface="Cambria" panose="02040503050406030204" pitchFamily="18" charset="0"/>
                          <a:cs typeface="Cambria" panose="02040503050406030204" pitchFamily="18" charset="0"/>
                        </a:rPr>
                        <a:t>Error</a:t>
                      </a:r>
                      <a:r>
                        <a:rPr lang="en-US" sz="600" spc="35" dirty="0">
                          <a:effectLst/>
                          <a:latin typeface="Cambria" panose="02040503050406030204" pitchFamily="18" charset="0"/>
                          <a:ea typeface="Cambria" panose="02040503050406030204" pitchFamily="18" charset="0"/>
                          <a:cs typeface="Cambria" panose="02040503050406030204" pitchFamily="18" charset="0"/>
                        </a:rPr>
                        <a:t> </a:t>
                      </a:r>
                      <a:r>
                        <a:rPr lang="en-US" sz="600" i="1" spc="-25" dirty="0">
                          <a:effectLst/>
                          <a:latin typeface="Georgia" panose="02040502050405020303" pitchFamily="18" charset="0"/>
                          <a:ea typeface="Cambria" panose="02040503050406030204" pitchFamily="18" charset="0"/>
                          <a:cs typeface="Cambria" panose="02040503050406030204" pitchFamily="18" charset="0"/>
                        </a:rPr>
                        <a:t>β</a:t>
                      </a:r>
                      <a:r>
                        <a:rPr lang="en-US" sz="600" spc="-25" dirty="0">
                          <a:effectLst/>
                          <a:latin typeface="Tahoma" panose="020B0604030504040204" pitchFamily="34" charset="0"/>
                          <a:ea typeface="Cambria" panose="02040503050406030204" pitchFamily="18" charset="0"/>
                          <a:cs typeface="Cambria" panose="02040503050406030204" pitchFamily="18" charset="0"/>
                        </a:rPr>
                        <a:t>ˆ</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0.576+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140"/>
                        </a:lnSpc>
                        <a:spcBef>
                          <a:spcPts val="5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0.317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140"/>
                        </a:lnSpc>
                        <a:spcBef>
                          <a:spcPts val="5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0.373+</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140"/>
                        </a:lnSpc>
                        <a:spcBef>
                          <a:spcPts val="50"/>
                        </a:spcBef>
                        <a:spcAft>
                          <a:spcPts val="0"/>
                        </a:spcAft>
                      </a:pPr>
                      <a:r>
                        <a:rPr lang="en-US" sz="600" spc="-20">
                          <a:effectLst/>
                          <a:latin typeface="Cambria" panose="02040503050406030204" pitchFamily="18" charset="0"/>
                          <a:ea typeface="Cambria" panose="02040503050406030204" pitchFamily="18" charset="0"/>
                          <a:cs typeface="Cambria" panose="02040503050406030204" pitchFamily="18" charset="0"/>
                        </a:rPr>
                        <a:t>0.287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88622452"/>
                  </a:ext>
                </a:extLst>
              </a:tr>
              <a:tr h="91440">
                <a:tc>
                  <a:txBody>
                    <a:bodyPr/>
                    <a:lstStyle/>
                    <a:p>
                      <a:pPr marL="0" marR="0" algn="l">
                        <a:lnSpc>
                          <a:spcPts val="1095"/>
                        </a:lnSpc>
                        <a:spcBef>
                          <a:spcPts val="0"/>
                        </a:spcBef>
                        <a:spcAft>
                          <a:spcPts val="0"/>
                        </a:spcAft>
                      </a:pPr>
                      <a:r>
                        <a:rPr lang="en-US" sz="500">
                          <a:effectLst/>
                          <a:latin typeface="Times New Roman" panose="02020603050405020304" pitchFamily="18" charset="0"/>
                          <a:ea typeface="Cambria" panose="02040503050406030204" pitchFamily="18" charset="0"/>
                          <a:cs typeface="Cambria" panose="02040503050406030204" pitchFamily="18" charset="0"/>
                        </a:rPr>
                        <a:t> </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(0.316)</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(0.228)</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(0.197)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(0.189)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542323223"/>
                  </a:ext>
                </a:extLst>
              </a:tr>
              <a:tr h="91440">
                <a:tc>
                  <a:txBody>
                    <a:bodyPr/>
                    <a:lstStyle/>
                    <a:p>
                      <a:pPr marL="75565" marR="0" algn="l">
                        <a:lnSpc>
                          <a:spcPts val="112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Cragg-Donald</a:t>
                      </a:r>
                      <a:r>
                        <a:rPr lang="en-US" sz="600" spc="-10">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F-</a:t>
                      </a:r>
                      <a:r>
                        <a:rPr lang="en-US" sz="600" spc="-10">
                          <a:effectLst/>
                          <a:latin typeface="Cambria" panose="02040503050406030204" pitchFamily="18" charset="0"/>
                          <a:ea typeface="Cambria" panose="02040503050406030204" pitchFamily="18" charset="0"/>
                          <a:cs typeface="Cambria" panose="02040503050406030204" pitchFamily="18" charset="0"/>
                        </a:rPr>
                        <a:t>Statistic</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0" algn="ctr">
                        <a:lnSpc>
                          <a:spcPts val="1125"/>
                        </a:lnSpc>
                        <a:spcBef>
                          <a:spcPts val="0"/>
                        </a:spcBef>
                        <a:spcAft>
                          <a:spcPts val="0"/>
                        </a:spcAft>
                      </a:pPr>
                      <a:r>
                        <a:rPr lang="en-US" sz="600" spc="-20">
                          <a:effectLst/>
                          <a:latin typeface="Cambria" panose="02040503050406030204" pitchFamily="18" charset="0"/>
                          <a:ea typeface="Cambria" panose="02040503050406030204" pitchFamily="18" charset="0"/>
                          <a:cs typeface="Cambria" panose="02040503050406030204" pitchFamily="18" charset="0"/>
                        </a:rPr>
                        <a:t>8.41</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1905" marR="635"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4.2607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2540" marR="635" algn="ctr">
                        <a:lnSpc>
                          <a:spcPts val="11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10.149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3810" marR="1270" algn="ctr">
                        <a:lnSpc>
                          <a:spcPts val="11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6.3185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1553803"/>
                  </a:ext>
                </a:extLst>
              </a:tr>
              <a:tr h="91440">
                <a:tc>
                  <a:txBody>
                    <a:bodyPr/>
                    <a:lstStyle/>
                    <a:p>
                      <a:pPr marL="75565" marR="0" algn="l">
                        <a:lnSpc>
                          <a:spcPts val="102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Mean</a:t>
                      </a:r>
                      <a:r>
                        <a:rPr lang="en-US" sz="600" spc="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Dep</a:t>
                      </a:r>
                      <a:r>
                        <a:rPr lang="en-US" sz="600" spc="40">
                          <a:effectLst/>
                          <a:latin typeface="Cambria" panose="02040503050406030204" pitchFamily="18" charset="0"/>
                          <a:ea typeface="Cambria" panose="02040503050406030204" pitchFamily="18" charset="0"/>
                          <a:cs typeface="Cambria" panose="02040503050406030204" pitchFamily="18" charset="0"/>
                        </a:rPr>
                        <a:t> </a:t>
                      </a:r>
                      <a:r>
                        <a:rPr lang="en-US" sz="600" spc="-25">
                          <a:effectLst/>
                          <a:latin typeface="Cambria" panose="02040503050406030204" pitchFamily="18" charset="0"/>
                          <a:ea typeface="Cambria" panose="02040503050406030204" pitchFamily="18" charset="0"/>
                          <a:cs typeface="Cambria" panose="02040503050406030204" pitchFamily="18" charset="0"/>
                        </a:rPr>
                        <a:t>Var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1905" marR="1905" algn="ctr">
                        <a:lnSpc>
                          <a:spcPts val="102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0.0519</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2540" marR="2540" algn="ctr">
                        <a:lnSpc>
                          <a:spcPts val="102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0.0519</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4491047"/>
                  </a:ext>
                </a:extLst>
              </a:tr>
              <a:tr h="91440">
                <a:tc>
                  <a:txBody>
                    <a:bodyPr/>
                    <a:lstStyle/>
                    <a:p>
                      <a:pPr marL="75565" marR="0" algn="l">
                        <a:lnSpc>
                          <a:spcPts val="1095"/>
                        </a:lnSpc>
                        <a:spcBef>
                          <a:spcPts val="0"/>
                        </a:spcBef>
                        <a:spcAft>
                          <a:spcPts val="0"/>
                        </a:spcAft>
                      </a:pPr>
                      <a:r>
                        <a:rPr lang="en-US" sz="600">
                          <a:effectLst/>
                          <a:latin typeface="Cambria" panose="02040503050406030204" pitchFamily="18" charset="0"/>
                          <a:ea typeface="Cambria" panose="02040503050406030204" pitchFamily="18" charset="0"/>
                          <a:cs typeface="Cambria" panose="02040503050406030204" pitchFamily="18" charset="0"/>
                        </a:rPr>
                        <a:t>Std.Dev.</a:t>
                      </a:r>
                      <a:r>
                        <a:rPr lang="en-US" sz="600" spc="235">
                          <a:effectLst/>
                          <a:latin typeface="Cambria" panose="02040503050406030204" pitchFamily="18" charset="0"/>
                          <a:ea typeface="Cambria" panose="02040503050406030204" pitchFamily="18" charset="0"/>
                          <a:cs typeface="Cambria" panose="02040503050406030204" pitchFamily="18" charset="0"/>
                        </a:rPr>
                        <a:t> </a:t>
                      </a:r>
                      <a:r>
                        <a:rPr lang="en-US" sz="600">
                          <a:effectLst/>
                          <a:latin typeface="Cambria" panose="02040503050406030204" pitchFamily="18" charset="0"/>
                          <a:ea typeface="Cambria" panose="02040503050406030204" pitchFamily="18" charset="0"/>
                          <a:cs typeface="Cambria" panose="02040503050406030204" pitchFamily="18" charset="0"/>
                        </a:rPr>
                        <a:t>Dep</a:t>
                      </a:r>
                      <a:r>
                        <a:rPr lang="en-US" sz="600" spc="125">
                          <a:effectLst/>
                          <a:latin typeface="Cambria" panose="02040503050406030204" pitchFamily="18" charset="0"/>
                          <a:ea typeface="Cambria" panose="02040503050406030204" pitchFamily="18" charset="0"/>
                          <a:cs typeface="Cambria" panose="02040503050406030204" pitchFamily="18" charset="0"/>
                        </a:rPr>
                        <a:t> </a:t>
                      </a:r>
                      <a:r>
                        <a:rPr lang="en-US" sz="600" spc="-25">
                          <a:effectLst/>
                          <a:latin typeface="Cambria" panose="02040503050406030204" pitchFamily="18" charset="0"/>
                          <a:ea typeface="Cambria" panose="02040503050406030204" pitchFamily="18" charset="0"/>
                          <a:cs typeface="Cambria" panose="02040503050406030204" pitchFamily="18" charset="0"/>
                        </a:rPr>
                        <a:t>Var</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0.0635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0.0635</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0.0635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10" dirty="0">
                          <a:effectLst/>
                          <a:latin typeface="Cambria" panose="02040503050406030204" pitchFamily="18" charset="0"/>
                          <a:ea typeface="Cambria" panose="02040503050406030204" pitchFamily="18" charset="0"/>
                          <a:cs typeface="Cambria" panose="02040503050406030204" pitchFamily="18" charset="0"/>
                        </a:rPr>
                        <a:t>0.0635</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242293588"/>
                  </a:ext>
                </a:extLst>
              </a:tr>
              <a:tr h="91440">
                <a:tc>
                  <a:txBody>
                    <a:bodyPr/>
                    <a:lstStyle/>
                    <a:p>
                      <a:pPr marL="75565" marR="0" algn="l">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Num.Obs.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254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597</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2540"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597</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3950952271"/>
                  </a:ext>
                </a:extLst>
              </a:tr>
              <a:tr h="91440">
                <a:tc>
                  <a:txBody>
                    <a:bodyPr/>
                    <a:lstStyle/>
                    <a:p>
                      <a:pPr marL="75565" marR="0" algn="l">
                        <a:lnSpc>
                          <a:spcPts val="1095"/>
                        </a:lnSpc>
                        <a:spcBef>
                          <a:spcPts val="0"/>
                        </a:spcBef>
                        <a:spcAft>
                          <a:spcPts val="0"/>
                        </a:spcAft>
                      </a:pPr>
                      <a:r>
                        <a:rPr lang="en-US" sz="600" spc="-10">
                          <a:effectLst/>
                          <a:latin typeface="Cambria" panose="02040503050406030204" pitchFamily="18" charset="0"/>
                          <a:ea typeface="Cambria" panose="02040503050406030204" pitchFamily="18" charset="0"/>
                          <a:cs typeface="Cambria" panose="02040503050406030204" pitchFamily="18" charset="0"/>
                        </a:rPr>
                        <a:t>Controls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27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Yes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270"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Yes</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132543821"/>
                  </a:ext>
                </a:extLst>
              </a:tr>
              <a:tr h="91440">
                <a:tc>
                  <a:txBody>
                    <a:bodyPr/>
                    <a:lstStyle/>
                    <a:p>
                      <a:pPr marL="75565" marR="0" algn="l">
                        <a:lnSpc>
                          <a:spcPts val="1095"/>
                        </a:lnSpc>
                        <a:spcBef>
                          <a:spcPts val="0"/>
                        </a:spcBef>
                        <a:spcAft>
                          <a:spcPts val="0"/>
                        </a:spcAft>
                      </a:pPr>
                      <a:r>
                        <a:rPr lang="en-US" sz="600" dirty="0">
                          <a:effectLst/>
                          <a:latin typeface="Cambria" panose="02040503050406030204" pitchFamily="18" charset="0"/>
                          <a:ea typeface="Cambria" panose="02040503050406030204" pitchFamily="18" charset="0"/>
                          <a:cs typeface="Cambria" panose="02040503050406030204" pitchFamily="18" charset="0"/>
                        </a:rPr>
                        <a:t>State</a:t>
                      </a:r>
                      <a:r>
                        <a:rPr lang="en-US" sz="600" spc="-20" dirty="0">
                          <a:effectLst/>
                          <a:latin typeface="Cambria" panose="02040503050406030204" pitchFamily="18" charset="0"/>
                          <a:ea typeface="Cambria" panose="02040503050406030204" pitchFamily="18" charset="0"/>
                          <a:cs typeface="Cambria" panose="02040503050406030204" pitchFamily="18" charset="0"/>
                        </a:rPr>
                        <a:t> </a:t>
                      </a:r>
                      <a:r>
                        <a:rPr lang="en-US" sz="600" spc="-25" dirty="0">
                          <a:effectLst/>
                          <a:latin typeface="Cambria" panose="02040503050406030204" pitchFamily="18" charset="0"/>
                          <a:ea typeface="Cambria" panose="02040503050406030204" pitchFamily="18" charset="0"/>
                          <a:cs typeface="Cambria" panose="02040503050406030204" pitchFamily="18" charset="0"/>
                        </a:rPr>
                        <a:t>FE</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No</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1905" marR="1905" algn="ctr">
                        <a:lnSpc>
                          <a:spcPts val="1095"/>
                        </a:lnSpc>
                        <a:spcBef>
                          <a:spcPts val="0"/>
                        </a:spcBef>
                        <a:spcAft>
                          <a:spcPts val="0"/>
                        </a:spcAft>
                      </a:pPr>
                      <a:r>
                        <a:rPr lang="en-US" sz="600" spc="-25">
                          <a:effectLst/>
                          <a:latin typeface="Cambria" panose="02040503050406030204" pitchFamily="18" charset="0"/>
                          <a:ea typeface="Cambria" panose="02040503050406030204" pitchFamily="18" charset="0"/>
                          <a:cs typeface="Cambria" panose="02040503050406030204" pitchFamily="18" charset="0"/>
                        </a:rPr>
                        <a:t>Yes</a:t>
                      </a:r>
                      <a:endParaRPr lang="en-US" sz="60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tc>
                  <a:txBody>
                    <a:bodyPr/>
                    <a:lstStyle/>
                    <a:p>
                      <a:pPr marL="2540" marR="1905" algn="ctr">
                        <a:lnSpc>
                          <a:spcPts val="1095"/>
                        </a:lnSpc>
                        <a:spcBef>
                          <a:spcPts val="0"/>
                        </a:spcBef>
                        <a:spcAft>
                          <a:spcPts val="0"/>
                        </a:spcAft>
                      </a:pPr>
                      <a:r>
                        <a:rPr lang="en-US" sz="600" spc="-25" dirty="0">
                          <a:effectLst/>
                          <a:latin typeface="Cambria" panose="02040503050406030204" pitchFamily="18" charset="0"/>
                          <a:ea typeface="Cambria" panose="02040503050406030204" pitchFamily="18" charset="0"/>
                          <a:cs typeface="Cambria" panose="02040503050406030204" pitchFamily="18" charset="0"/>
                        </a:rPr>
                        <a:t>Yes</a:t>
                      </a:r>
                      <a:endParaRPr lang="en-US" sz="600"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a:noFill/>
                    </a:lnL>
                    <a:lnR>
                      <a:noFill/>
                    </a:lnR>
                    <a:lnT>
                      <a:noFill/>
                    </a:lnT>
                    <a:lnB>
                      <a:noFill/>
                    </a:lnB>
                    <a:noFill/>
                  </a:tcPr>
                </a:tc>
                <a:extLst>
                  <a:ext uri="{0D108BD9-81ED-4DB2-BD59-A6C34878D82A}">
                    <a16:rowId xmlns:a16="http://schemas.microsoft.com/office/drawing/2014/main" val="892652502"/>
                  </a:ext>
                </a:extLst>
              </a:tr>
            </a:tbl>
          </a:graphicData>
        </a:graphic>
      </p:graphicFrame>
      <p:sp>
        <p:nvSpPr>
          <p:cNvPr id="8" name="object 3">
            <a:extLst>
              <a:ext uri="{FF2B5EF4-FFF2-40B4-BE49-F238E27FC236}">
                <a16:creationId xmlns:a16="http://schemas.microsoft.com/office/drawing/2014/main" id="{7A158B73-2C95-31DF-90A0-C1CDD0428316}"/>
              </a:ext>
            </a:extLst>
          </p:cNvPr>
          <p:cNvSpPr txBox="1"/>
          <p:nvPr/>
        </p:nvSpPr>
        <p:spPr>
          <a:xfrm>
            <a:off x="3504147" y="445924"/>
            <a:ext cx="2544228" cy="2172711"/>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1100" dirty="0">
                <a:solidFill>
                  <a:srgbClr val="990000"/>
                </a:solidFill>
                <a:latin typeface="Arial" panose="020B0604020202020204" pitchFamily="34" charset="0"/>
                <a:cs typeface="Arial" panose="020B0604020202020204" pitchFamily="34" charset="0"/>
              </a:rPr>
              <a:t>Discretionary IG Transfers have predictive power, yet estimates are smaller and noisy. </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Challenge: </a:t>
            </a:r>
            <a:r>
              <a:rPr lang="en-US" sz="1100" dirty="0">
                <a:solidFill>
                  <a:srgbClr val="990000"/>
                </a:solidFill>
                <a:latin typeface="Arial" panose="020B0604020202020204" pitchFamily="34" charset="0"/>
                <a:cs typeface="Arial" panose="020B0604020202020204" pitchFamily="34" charset="0"/>
              </a:rPr>
              <a:t>this instrument might violate the exclusion restriction. </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Earmarked and all IG transfers: </a:t>
            </a:r>
            <a:r>
              <a:rPr lang="en-US" sz="1100" dirty="0">
                <a:solidFill>
                  <a:srgbClr val="990000"/>
                </a:solidFill>
                <a:latin typeface="Arial" panose="020B0604020202020204" pitchFamily="34" charset="0"/>
                <a:cs typeface="Arial" panose="020B0604020202020204" pitchFamily="34" charset="0"/>
              </a:rPr>
              <a:t>weak instruments.</a:t>
            </a:r>
          </a:p>
          <a:p>
            <a:pPr marL="167640" marR="30480" indent="-117475">
              <a:lnSpc>
                <a:spcPct val="101000"/>
              </a:lnSpc>
              <a:spcBef>
                <a:spcPts val="600"/>
              </a:spcBef>
              <a:spcAft>
                <a:spcPts val="600"/>
              </a:spcAft>
              <a:buFont typeface="Arial"/>
              <a:buChar char="•"/>
              <a:tabLst>
                <a:tab pos="167640" algn="l"/>
              </a:tabLst>
            </a:pPr>
            <a:r>
              <a:rPr lang="en-US" sz="1100" b="1" dirty="0">
                <a:solidFill>
                  <a:srgbClr val="990000"/>
                </a:solidFill>
                <a:latin typeface="Arial" panose="020B0604020202020204" pitchFamily="34" charset="0"/>
                <a:cs typeface="Arial" panose="020B0604020202020204" pitchFamily="34" charset="0"/>
              </a:rPr>
              <a:t>Takeaway: </a:t>
            </a:r>
            <a:r>
              <a:rPr lang="en-US" sz="1100" dirty="0">
                <a:solidFill>
                  <a:srgbClr val="990000"/>
                </a:solidFill>
                <a:latin typeface="Arial" panose="020B0604020202020204" pitchFamily="34" charset="0"/>
                <a:cs typeface="Arial" panose="020B0604020202020204" pitchFamily="34" charset="0"/>
              </a:rPr>
              <a:t>FGP timing errors are the best candidate for exogenous variation. </a:t>
            </a:r>
            <a:endParaRPr lang="en-US" sz="1100" b="1" dirty="0">
              <a:solidFill>
                <a:srgbClr val="99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73665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AAB08-1E14-E2B2-0CA3-B9DD17812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F9A01-3C75-3F50-7EB0-15F25BD70AA2}"/>
              </a:ext>
            </a:extLst>
          </p:cNvPr>
          <p:cNvSpPr>
            <a:spLocks noGrp="1"/>
          </p:cNvSpPr>
          <p:nvPr>
            <p:ph type="title"/>
          </p:nvPr>
        </p:nvSpPr>
        <p:spPr/>
        <p:txBody>
          <a:bodyPr/>
          <a:lstStyle/>
          <a:p>
            <a:r>
              <a:rPr lang="en-US" dirty="0"/>
              <a:t>Robustness Checks</a:t>
            </a:r>
          </a:p>
        </p:txBody>
      </p:sp>
      <p:sp>
        <p:nvSpPr>
          <p:cNvPr id="3" name="Text Placeholder 2">
            <a:extLst>
              <a:ext uri="{FF2B5EF4-FFF2-40B4-BE49-F238E27FC236}">
                <a16:creationId xmlns:a16="http://schemas.microsoft.com/office/drawing/2014/main" id="{2C3DCEF8-718C-F801-4817-782E8738268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179930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AB0A0-323D-D044-6965-9DA9ED85B01B}"/>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8D8FEE06-F292-D41A-ECBA-8ABD98AE5D46}"/>
              </a:ext>
            </a:extLst>
          </p:cNvPr>
          <p:cNvSpPr txBox="1"/>
          <p:nvPr/>
        </p:nvSpPr>
        <p:spPr>
          <a:xfrm>
            <a:off x="90486" y="2799618"/>
            <a:ext cx="5972175" cy="286617"/>
          </a:xfrm>
          <a:prstGeom prst="rect">
            <a:avLst/>
          </a:prstGeom>
        </p:spPr>
        <p:txBody>
          <a:bodyPr vert="horz" wrap="square" lIns="0" tIns="17145" rIns="0" bIns="0" rtlCol="0">
            <a:spAutoFit/>
          </a:bodyPr>
          <a:lstStyle/>
          <a:p>
            <a:pPr marL="12700" marR="5080">
              <a:lnSpc>
                <a:spcPts val="700"/>
              </a:lnSpc>
              <a:spcBef>
                <a:spcPts val="135"/>
              </a:spcBef>
            </a:pPr>
            <a:r>
              <a:rPr lang="en-US" sz="600" b="1" spc="-10" dirty="0">
                <a:latin typeface="Arial"/>
                <a:cs typeface="Arial"/>
              </a:rPr>
              <a:t>Notes: </a:t>
            </a:r>
            <a:r>
              <a:rPr lang="en-US" sz="600" spc="-10" dirty="0">
                <a:latin typeface="Arial"/>
                <a:cs typeface="Arial"/>
              </a:rPr>
              <a:t>Each panel shows the distribution of the main dependent (outstanding short-term debt, left) and independent (cash reserves) variables, both expressed as percentage of discretionary revenues. The solid line represents the mean across states by year. The dark-shaded area shows the percentiles between 25%-75%, as well as the area within one standard deviation form the mean, while the light-shaded areas percentiles 1% to 99% (excluding outliers) and 5%-95%.</a:t>
            </a:r>
          </a:p>
        </p:txBody>
      </p:sp>
      <p:sp>
        <p:nvSpPr>
          <p:cNvPr id="7" name="TextBox 6">
            <a:extLst>
              <a:ext uri="{FF2B5EF4-FFF2-40B4-BE49-F238E27FC236}">
                <a16:creationId xmlns:a16="http://schemas.microsoft.com/office/drawing/2014/main" id="{A91CA6A4-97EE-2469-9AAF-6672AE116C24}"/>
              </a:ext>
            </a:extLst>
          </p:cNvPr>
          <p:cNvSpPr txBox="1"/>
          <p:nvPr/>
        </p:nvSpPr>
        <p:spPr>
          <a:xfrm>
            <a:off x="-47625" y="-11875"/>
            <a:ext cx="5972175" cy="338554"/>
          </a:xfrm>
          <a:prstGeom prst="rect">
            <a:avLst/>
          </a:prstGeom>
          <a:noFill/>
        </p:spPr>
        <p:txBody>
          <a:bodyPr wrap="square">
            <a:spAutoFit/>
          </a:bodyPr>
          <a:lstStyle/>
          <a:p>
            <a:pPr marL="50801" algn="l">
              <a:spcBef>
                <a:spcPts val="95"/>
              </a:spcBef>
              <a:tabLst>
                <a:tab pos="167640" algn="l"/>
              </a:tabLst>
            </a:pPr>
            <a:r>
              <a:rPr lang="en-US" sz="1600" b="1" dirty="0">
                <a:solidFill>
                  <a:srgbClr val="690204"/>
                </a:solidFill>
                <a:latin typeface="Arial" panose="020B0604020202020204" pitchFamily="34" charset="0"/>
                <a:cs typeface="Arial" panose="020B0604020202020204" pitchFamily="34" charset="0"/>
              </a:rPr>
              <a:t>Dependent and Independent Variables</a:t>
            </a:r>
          </a:p>
        </p:txBody>
      </p:sp>
      <p:pic>
        <p:nvPicPr>
          <p:cNvPr id="8" name="Picture 7" descr="A graph of a financial chart&#10;&#10;Description automatically generated with low confidence">
            <a:extLst>
              <a:ext uri="{FF2B5EF4-FFF2-40B4-BE49-F238E27FC236}">
                <a16:creationId xmlns:a16="http://schemas.microsoft.com/office/drawing/2014/main" id="{60628700-01D7-C330-7299-6BA306DB9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157" y="374515"/>
            <a:ext cx="4786831" cy="2393416"/>
          </a:xfrm>
          <a:prstGeom prst="rect">
            <a:avLst/>
          </a:prstGeom>
        </p:spPr>
      </p:pic>
    </p:spTree>
    <p:extLst>
      <p:ext uri="{BB962C8B-B14F-4D97-AF65-F5344CB8AC3E}">
        <p14:creationId xmlns:p14="http://schemas.microsoft.com/office/powerpoint/2010/main" val="20206965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E8CD3-C202-8877-0224-FB03A488F770}"/>
            </a:ext>
          </a:extLst>
        </p:cNvPr>
        <p:cNvGrpSpPr/>
        <p:nvPr/>
      </p:nvGrpSpPr>
      <p:grpSpPr>
        <a:xfrm>
          <a:off x="0" y="0"/>
          <a:ext cx="0" cy="0"/>
          <a:chOff x="0" y="0"/>
          <a:chExt cx="0" cy="0"/>
        </a:xfrm>
      </p:grpSpPr>
      <p:sp>
        <p:nvSpPr>
          <p:cNvPr id="9" name="object 5">
            <a:extLst>
              <a:ext uri="{FF2B5EF4-FFF2-40B4-BE49-F238E27FC236}">
                <a16:creationId xmlns:a16="http://schemas.microsoft.com/office/drawing/2014/main" id="{B48369F3-5C81-B1FC-9499-266314541E09}"/>
              </a:ext>
            </a:extLst>
          </p:cNvPr>
          <p:cNvSpPr txBox="1"/>
          <p:nvPr/>
        </p:nvSpPr>
        <p:spPr>
          <a:xfrm>
            <a:off x="55752" y="2598803"/>
            <a:ext cx="6710384" cy="478977"/>
          </a:xfrm>
          <a:prstGeom prst="rect">
            <a:avLst/>
          </a:prstGeom>
        </p:spPr>
        <p:txBody>
          <a:bodyPr vert="horz" wrap="square" lIns="0" tIns="17145" rIns="0" bIns="0" rtlCol="0">
            <a:spAutoFit/>
          </a:bodyPr>
          <a:lstStyle/>
          <a:p>
            <a:pPr marL="73660" marR="731520">
              <a:spcAft>
                <a:spcPts val="0"/>
              </a:spcAft>
            </a:pPr>
            <a:r>
              <a:rPr lang="en-US" sz="600" b="1" dirty="0">
                <a:effectLst/>
                <a:latin typeface="Arial" panose="020B0604020202020204" pitchFamily="34" charset="0"/>
                <a:ea typeface="Times New Roman" panose="02020603050405020304" pitchFamily="18" charset="0"/>
                <a:cs typeface="Arial" panose="020B0604020202020204" pitchFamily="34" charset="0"/>
              </a:rPr>
              <a:t>Notes: </a:t>
            </a:r>
            <a:r>
              <a:rPr lang="en-US" sz="600" dirty="0">
                <a:effectLst/>
                <a:latin typeface="Arial" panose="020B0604020202020204" pitchFamily="34" charset="0"/>
                <a:ea typeface="Times New Roman" panose="02020603050405020304" pitchFamily="18" charset="0"/>
                <a:cs typeface="Arial" panose="020B0604020202020204" pitchFamily="34" charset="0"/>
              </a:rPr>
              <a:t>This panel shows the descriptive statistics of the main variables used for the analysis.  N= 597 for all variables. The first two columns show the sample mean and standard deviation. P25, P50 and P75 show the 25, 50 and 75 percentiles, respectively. Credit rating is coded such that a higher number is associated with a higher credit rating. Considering the distribution of ratings I grouped them in 3 categories AAA,AA = 1, A = 2, and BBB,BB,NR = 3. Short-Term borrowing, cash reserves, FGP budget error, and fiscal balance measures are expressed as a percentage of the average discretionary revenues (DR) observed between 2009 and 2016. That is, outside the analysis period to avoid endogeneity concerns. All these fiscal variables correspond to one-year lagged measures.</a:t>
            </a:r>
          </a:p>
        </p:txBody>
      </p:sp>
      <p:sp>
        <p:nvSpPr>
          <p:cNvPr id="2" name="TextBox 1">
            <a:extLst>
              <a:ext uri="{FF2B5EF4-FFF2-40B4-BE49-F238E27FC236}">
                <a16:creationId xmlns:a16="http://schemas.microsoft.com/office/drawing/2014/main" id="{B96CC86E-88FE-7143-F833-1B0B3489187A}"/>
              </a:ext>
            </a:extLst>
          </p:cNvPr>
          <p:cNvSpPr txBox="1"/>
          <p:nvPr/>
        </p:nvSpPr>
        <p:spPr>
          <a:xfrm>
            <a:off x="23791" y="16867"/>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Descriptive Statistics</a:t>
            </a:r>
          </a:p>
        </p:txBody>
      </p:sp>
      <p:graphicFrame>
        <p:nvGraphicFramePr>
          <p:cNvPr id="5" name="Table 4">
            <a:extLst>
              <a:ext uri="{FF2B5EF4-FFF2-40B4-BE49-F238E27FC236}">
                <a16:creationId xmlns:a16="http://schemas.microsoft.com/office/drawing/2014/main" id="{2304F997-9296-B04E-27F5-4B4B91F841E9}"/>
              </a:ext>
            </a:extLst>
          </p:cNvPr>
          <p:cNvGraphicFramePr>
            <a:graphicFrameLocks noGrp="1"/>
          </p:cNvGraphicFramePr>
          <p:nvPr/>
        </p:nvGraphicFramePr>
        <p:xfrm>
          <a:off x="101208" y="382970"/>
          <a:ext cx="5817339" cy="2194560"/>
        </p:xfrm>
        <a:graphic>
          <a:graphicData uri="http://schemas.openxmlformats.org/drawingml/2006/table">
            <a:tbl>
              <a:tblPr firstRow="1" firstCol="1" lastRow="1" lastCol="1" bandRow="1" bandCol="1"/>
              <a:tblGrid>
                <a:gridCol w="2115396">
                  <a:extLst>
                    <a:ext uri="{9D8B030D-6E8A-4147-A177-3AD203B41FA5}">
                      <a16:colId xmlns:a16="http://schemas.microsoft.com/office/drawing/2014/main" val="3543273419"/>
                    </a:ext>
                  </a:extLst>
                </a:gridCol>
                <a:gridCol w="528849">
                  <a:extLst>
                    <a:ext uri="{9D8B030D-6E8A-4147-A177-3AD203B41FA5}">
                      <a16:colId xmlns:a16="http://schemas.microsoft.com/office/drawing/2014/main" val="2081524775"/>
                    </a:ext>
                  </a:extLst>
                </a:gridCol>
                <a:gridCol w="528849">
                  <a:extLst>
                    <a:ext uri="{9D8B030D-6E8A-4147-A177-3AD203B41FA5}">
                      <a16:colId xmlns:a16="http://schemas.microsoft.com/office/drawing/2014/main" val="1573361521"/>
                    </a:ext>
                  </a:extLst>
                </a:gridCol>
                <a:gridCol w="528849">
                  <a:extLst>
                    <a:ext uri="{9D8B030D-6E8A-4147-A177-3AD203B41FA5}">
                      <a16:colId xmlns:a16="http://schemas.microsoft.com/office/drawing/2014/main" val="200480200"/>
                    </a:ext>
                  </a:extLst>
                </a:gridCol>
                <a:gridCol w="528849">
                  <a:extLst>
                    <a:ext uri="{9D8B030D-6E8A-4147-A177-3AD203B41FA5}">
                      <a16:colId xmlns:a16="http://schemas.microsoft.com/office/drawing/2014/main" val="2913387042"/>
                    </a:ext>
                  </a:extLst>
                </a:gridCol>
                <a:gridCol w="528849">
                  <a:extLst>
                    <a:ext uri="{9D8B030D-6E8A-4147-A177-3AD203B41FA5}">
                      <a16:colId xmlns:a16="http://schemas.microsoft.com/office/drawing/2014/main" val="3371903974"/>
                    </a:ext>
                  </a:extLst>
                </a:gridCol>
                <a:gridCol w="528849">
                  <a:extLst>
                    <a:ext uri="{9D8B030D-6E8A-4147-A177-3AD203B41FA5}">
                      <a16:colId xmlns:a16="http://schemas.microsoft.com/office/drawing/2014/main" val="2190124866"/>
                    </a:ext>
                  </a:extLst>
                </a:gridCol>
                <a:gridCol w="528849">
                  <a:extLst>
                    <a:ext uri="{9D8B030D-6E8A-4147-A177-3AD203B41FA5}">
                      <a16:colId xmlns:a16="http://schemas.microsoft.com/office/drawing/2014/main" val="3533557470"/>
                    </a:ext>
                  </a:extLst>
                </a:gridCol>
              </a:tblGrid>
              <a:tr h="137160">
                <a:tc>
                  <a:txBody>
                    <a:bodyPr/>
                    <a:lstStyle/>
                    <a:p>
                      <a:pPr marL="0" marR="0" algn="l">
                        <a:lnSpc>
                          <a:spcPts val="1095"/>
                        </a:lnSpc>
                        <a:spcBef>
                          <a:spcPts val="0"/>
                        </a:spcBef>
                        <a:spcAft>
                          <a:spcPts val="0"/>
                        </a:spcAft>
                      </a:pPr>
                      <a:r>
                        <a:rPr lang="en-US" sz="600" dirty="0">
                          <a:effectLst/>
                          <a:latin typeface="Arial" panose="020B0604020202020204" pitchFamily="34" charset="0"/>
                          <a:ea typeface="Cambria" panose="02040503050406030204" pitchFamily="18" charset="0"/>
                          <a:cs typeface="Arial" panose="020B0604020202020204" pitchFamily="34" charset="0"/>
                        </a:rPr>
                        <a:t> </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635" algn="ctr">
                        <a:lnSpc>
                          <a:spcPts val="83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Mean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1270" algn="ctr">
                        <a:lnSpc>
                          <a:spcPts val="83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Std.Dev.</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Min</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270"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P25</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marR="1905" algn="ctr">
                        <a:lnSpc>
                          <a:spcPts val="835"/>
                        </a:lnSpc>
                        <a:spcBef>
                          <a:spcPts val="0"/>
                        </a:spcBef>
                        <a:spcAft>
                          <a:spcPts val="0"/>
                        </a:spcAft>
                      </a:pPr>
                      <a:r>
                        <a:rPr lang="en-US" sz="800" spc="-25">
                          <a:effectLst/>
                          <a:latin typeface="Arial" panose="020B0604020202020204" pitchFamily="34" charset="0"/>
                          <a:ea typeface="Cambria" panose="02040503050406030204" pitchFamily="18" charset="0"/>
                          <a:cs typeface="Arial" panose="020B0604020202020204" pitchFamily="34" charset="0"/>
                        </a:rPr>
                        <a:t>P50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540" marR="2540" algn="ctr">
                        <a:lnSpc>
                          <a:spcPts val="83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P75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905" marR="2540" algn="ctr">
                        <a:lnSpc>
                          <a:spcPts val="835"/>
                        </a:lnSpc>
                        <a:spcBef>
                          <a:spcPts val="0"/>
                        </a:spcBef>
                        <a:spcAft>
                          <a:spcPts val="0"/>
                        </a:spcAft>
                      </a:pPr>
                      <a:r>
                        <a:rPr lang="en-US" sz="800" spc="-25" dirty="0">
                          <a:effectLst/>
                          <a:latin typeface="Arial" panose="020B0604020202020204" pitchFamily="34" charset="0"/>
                          <a:ea typeface="Cambria" panose="02040503050406030204" pitchFamily="18" charset="0"/>
                          <a:cs typeface="Arial" panose="020B0604020202020204" pitchFamily="34" charset="0"/>
                        </a:rPr>
                        <a:t>Max</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7404150"/>
                  </a:ext>
                </a:extLst>
              </a:tr>
              <a:tr h="137160">
                <a:tc>
                  <a:txBody>
                    <a:bodyPr/>
                    <a:lstStyle/>
                    <a:p>
                      <a:pPr marL="75565" marR="0" algn="l">
                        <a:lnSpc>
                          <a:spcPts val="78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DepVar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Short-Term</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63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635" marR="1270"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270" marR="1905" algn="ctr">
                        <a:lnSpc>
                          <a:spcPts val="78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0.0244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2540" marR="2540"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0.0940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tc>
                  <a:txBody>
                    <a:bodyPr/>
                    <a:lstStyle/>
                    <a:p>
                      <a:pPr marL="1905" marR="2540" algn="ctr">
                        <a:lnSpc>
                          <a:spcPts val="78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0.2890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D78"/>
                    </a:solidFill>
                  </a:tcPr>
                </a:tc>
                <a:extLst>
                  <a:ext uri="{0D108BD9-81ED-4DB2-BD59-A6C34878D82A}">
                    <a16:rowId xmlns:a16="http://schemas.microsoft.com/office/drawing/2014/main" val="3092835447"/>
                  </a:ext>
                </a:extLst>
              </a:tr>
              <a:tr h="137160">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EndVar</a:t>
                      </a:r>
                      <a:r>
                        <a:rPr lang="en-US" sz="800" b="1" dirty="0">
                          <a:effectLst/>
                          <a:latin typeface="Arial" panose="020B0604020202020204" pitchFamily="34" charset="0"/>
                          <a:ea typeface="Cambria" panose="02040503050406030204" pitchFamily="18" charset="0"/>
                          <a:cs typeface="Arial" panose="020B0604020202020204" pitchFamily="34" charset="0"/>
                        </a:rPr>
                        <a:t>:</a:t>
                      </a:r>
                      <a:r>
                        <a:rPr lang="en-US" sz="800" dirty="0">
                          <a:effectLst/>
                          <a:latin typeface="Arial" panose="020B0604020202020204" pitchFamily="34" charset="0"/>
                          <a:ea typeface="Cambria" panose="02040503050406030204" pitchFamily="18" charset="0"/>
                          <a:cs typeface="Arial" panose="020B0604020202020204" pitchFamily="34" charset="0"/>
                        </a:rPr>
                        <a:t> Cash</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Reserves</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3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0.2289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0.1548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-0.0157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0.1174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0.1897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0.3117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63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0.9322</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extLst>
                  <a:ext uri="{0D108BD9-81ED-4DB2-BD59-A6C34878D82A}">
                    <a16:rowId xmlns:a16="http://schemas.microsoft.com/office/drawing/2014/main" val="419754814"/>
                  </a:ext>
                </a:extLst>
              </a:tr>
              <a:tr h="137160">
                <a:tc>
                  <a:txBody>
                    <a:bodyPr/>
                    <a:lstStyle/>
                    <a:p>
                      <a:pPr marL="75565" marR="0" algn="l">
                        <a:lnSpc>
                          <a:spcPts val="845"/>
                        </a:lnSpc>
                        <a:spcBef>
                          <a:spcPts val="0"/>
                        </a:spcBef>
                        <a:spcAft>
                          <a:spcPts val="0"/>
                        </a:spcAft>
                      </a:pPr>
                      <a:r>
                        <a:rPr lang="en-US" sz="800" b="1" dirty="0" err="1">
                          <a:effectLst/>
                          <a:latin typeface="Arial" panose="020B0604020202020204" pitchFamily="34" charset="0"/>
                          <a:ea typeface="Cambria" panose="02040503050406030204" pitchFamily="18" charset="0"/>
                          <a:cs typeface="Arial" panose="020B0604020202020204" pitchFamily="34" charset="0"/>
                        </a:rPr>
                        <a:t>InstVar</a:t>
                      </a:r>
                      <a:r>
                        <a:rPr lang="en-US" sz="800" b="1"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Error</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DR)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0.0043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0.1135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spc="-2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0.0185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0.0039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rgbClr val="FFFD78"/>
                    </a:solidFill>
                  </a:tcPr>
                </a:tc>
                <a:extLst>
                  <a:ext uri="{0D108BD9-81ED-4DB2-BD59-A6C34878D82A}">
                    <a16:rowId xmlns:a16="http://schemas.microsoft.com/office/drawing/2014/main" val="290217258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9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Annual</a:t>
                      </a:r>
                      <a:r>
                        <a:rPr lang="en-US" sz="800" spc="10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Difference (%DR,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0.0130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0.0655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0.2141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spc="-15"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0.0641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-0.0114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0.0484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0.0964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643694425"/>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Primary</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Balance</a:t>
                      </a:r>
                      <a:r>
                        <a:rPr lang="en-US" sz="800" spc="7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7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63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0.0623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0.1261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spc="-15"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0.7499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0.0833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1905" algn="ctr">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10" dirty="0">
                          <a:effectLst/>
                          <a:latin typeface="Arial" panose="020B0604020202020204" pitchFamily="34" charset="0"/>
                          <a:ea typeface="Cambria" panose="02040503050406030204" pitchFamily="18" charset="0"/>
                          <a:cs typeface="Arial" panose="020B0604020202020204" pitchFamily="34" charset="0"/>
                        </a:rPr>
                        <a:t>0.0296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tc>
                  <a:txBody>
                    <a:bodyPr/>
                    <a:lstStyle/>
                    <a:p>
                      <a:pPr marL="63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0.0853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5">
                        <a:lumMod val="40000"/>
                        <a:lumOff val="60000"/>
                      </a:schemeClr>
                    </a:solidFill>
                  </a:tcPr>
                </a:tc>
                <a:extLst>
                  <a:ext uri="{0D108BD9-81ED-4DB2-BD59-A6C34878D82A}">
                    <a16:rowId xmlns:a16="http://schemas.microsoft.com/office/drawing/2014/main" val="182108631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Current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Expenditures</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E</a:t>
                      </a:r>
                      <a:r>
                        <a:rPr lang="en-US" sz="800" spc="-10" dirty="0">
                          <a:effectLst/>
                          <a:latin typeface="Arial" panose="020B0604020202020204" pitchFamily="34" charset="0"/>
                          <a:ea typeface="Cambria" panose="02040503050406030204" pitchFamily="18" charset="0"/>
                          <a:cs typeface="Arial" panose="020B0604020202020204" pitchFamily="34" charset="0"/>
                        </a:rPr>
                        <a:t>xp, Lag = 1 </a:t>
                      </a:r>
                      <a:r>
                        <a:rPr lang="en-US" sz="800" spc="-10" dirty="0" err="1">
                          <a:effectLst/>
                          <a:latin typeface="Arial" panose="020B0604020202020204" pitchFamily="34" charset="0"/>
                          <a:ea typeface="Cambria" panose="02040503050406030204" pitchFamily="18" charset="0"/>
                          <a:cs typeface="Arial" panose="020B0604020202020204" pitchFamily="34" charset="0"/>
                        </a:rPr>
                        <a:t>yr</a:t>
                      </a:r>
                      <a:r>
                        <a:rPr lang="en-US" sz="800" spc="-10" dirty="0">
                          <a:effectLst/>
                          <a:latin typeface="Arial" panose="020B0604020202020204" pitchFamily="34" charset="0"/>
                          <a:ea typeface="Cambria" panose="02040503050406030204" pitchFamily="18" charset="0"/>
                          <a:cs typeface="Arial" panose="020B0604020202020204" pitchFamily="34" charset="0"/>
                        </a:rPr>
                        <a:t>)</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0.4278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0.7121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0.7515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0.7775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0.8212</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1995047142"/>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Discretionary Revenues</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Rev,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0.4766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0.0781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0.3016</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0.4186</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0.4731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63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0.5394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tc>
                  <a:txBody>
                    <a:bodyPr/>
                    <a:lstStyle/>
                    <a:p>
                      <a:pPr marL="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0.6562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23780374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Long</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Term</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Debt</a:t>
                      </a:r>
                      <a:r>
                        <a:rPr lang="en-US" sz="800" spc="6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Debt, Lag = 1yr)</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0.6726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0.5133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0.2834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0.5727</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0.8585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2.2558</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527996903"/>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Credit</a:t>
                      </a:r>
                      <a:r>
                        <a:rPr lang="en-US" sz="800" spc="11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Rating</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3.1273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1.0700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3.0000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4.0000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6.0000</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3819815706"/>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FGP</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as</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Collateral</a:t>
                      </a:r>
                      <a:r>
                        <a:rPr lang="en-US" sz="800" spc="110" dirty="0">
                          <a:effectLst/>
                          <a:latin typeface="Arial" panose="020B0604020202020204" pitchFamily="34" charset="0"/>
                          <a:ea typeface="Cambria" panose="02040503050406030204" pitchFamily="18" charset="0"/>
                          <a:cs typeface="Arial" panose="020B0604020202020204" pitchFamily="34" charset="0"/>
                        </a:rPr>
                        <a:t> </a:t>
                      </a:r>
                      <a:r>
                        <a:rPr lang="en-US" sz="800" spc="-25" dirty="0">
                          <a:effectLst/>
                          <a:latin typeface="Arial" panose="020B0604020202020204" pitchFamily="34" charset="0"/>
                          <a:ea typeface="Cambria" panose="02040503050406030204" pitchFamily="18" charset="0"/>
                          <a:cs typeface="Arial" panose="020B0604020202020204" pitchFamily="34" charset="0"/>
                        </a:rPr>
                        <a:t>(%)</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0.5332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0.2163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0.0880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0.3317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0.5477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0.7500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1.0000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393218592"/>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Unemployment</a:t>
                      </a:r>
                      <a:r>
                        <a:rPr lang="en-US" sz="800" spc="125" dirty="0">
                          <a:effectLst/>
                          <a:latin typeface="Arial" panose="020B0604020202020204" pitchFamily="34" charset="0"/>
                          <a:ea typeface="Cambria" panose="02040503050406030204" pitchFamily="18" charset="0"/>
                          <a:cs typeface="Arial" panose="020B0604020202020204" pitchFamily="34" charset="0"/>
                        </a:rPr>
                        <a:t> </a:t>
                      </a:r>
                      <a:r>
                        <a:rPr lang="en-US" sz="800" spc="-20" dirty="0">
                          <a:effectLst/>
                          <a:latin typeface="Arial" panose="020B0604020202020204" pitchFamily="34" charset="0"/>
                          <a:ea typeface="Cambria" panose="02040503050406030204" pitchFamily="18" charset="0"/>
                          <a:cs typeface="Arial" panose="020B0604020202020204" pitchFamily="34" charset="0"/>
                        </a:rPr>
                        <a:t>Rate</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0.0346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0.0129</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0.0081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0.0259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0.0326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0.0401</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3530893457"/>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Taxpayers</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4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0.5574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0.1015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0.2840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0.4850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0.5565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0.6376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0.7356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2420418218"/>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i="1" dirty="0">
                          <a:effectLst/>
                          <a:latin typeface="Arial" panose="020B0604020202020204" pitchFamily="34" charset="0"/>
                          <a:ea typeface="Cambria" panose="02040503050406030204" pitchFamily="18" charset="0"/>
                          <a:cs typeface="Arial" panose="020B0604020202020204" pitchFamily="34" charset="0"/>
                        </a:rPr>
                        <a:t>&lt;</a:t>
                      </a:r>
                      <a:r>
                        <a:rPr lang="en-US" sz="800" i="1"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18</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5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0.0584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0.0040</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0.0518</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0.0554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0.0578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0.0606</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0.0724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3397844899"/>
                  </a:ext>
                </a:extLst>
              </a:tr>
              <a:tr h="137160">
                <a:tc>
                  <a:txBody>
                    <a:bodyPr/>
                    <a:lstStyle/>
                    <a:p>
                      <a:pPr marL="75565" marR="0" algn="l">
                        <a:lnSpc>
                          <a:spcPts val="84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19-35</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60"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63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635" marR="127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0.0022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270"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0.0405</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a:effectLst/>
                          <a:latin typeface="Arial" panose="020B0604020202020204" pitchFamily="34" charset="0"/>
                          <a:ea typeface="Cambria" panose="02040503050406030204" pitchFamily="18" charset="0"/>
                          <a:cs typeface="Arial" panose="020B0604020202020204" pitchFamily="34" charset="0"/>
                        </a:rPr>
                        <a:t>0.0425</a:t>
                      </a:r>
                      <a:endParaRPr lang="en-US" sz="105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1905"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0.0433</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2540"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0.0449</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tc>
                  <a:txBody>
                    <a:bodyPr/>
                    <a:lstStyle/>
                    <a:p>
                      <a:pPr marL="1905" marR="2540" algn="ctr">
                        <a:lnSpc>
                          <a:spcPts val="84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0.0514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a:noFill/>
                    </a:lnB>
                    <a:solidFill>
                      <a:schemeClr val="bg1">
                        <a:lumMod val="85000"/>
                      </a:schemeClr>
                    </a:solidFill>
                  </a:tcPr>
                </a:tc>
                <a:extLst>
                  <a:ext uri="{0D108BD9-81ED-4DB2-BD59-A6C34878D82A}">
                    <a16:rowId xmlns:a16="http://schemas.microsoft.com/office/drawing/2014/main" val="2798844361"/>
                  </a:ext>
                </a:extLst>
              </a:tr>
              <a:tr h="137160">
                <a:tc>
                  <a:txBody>
                    <a:bodyPr/>
                    <a:lstStyle/>
                    <a:p>
                      <a:pPr marL="75565" marR="0" algn="l">
                        <a:lnSpc>
                          <a:spcPts val="895"/>
                        </a:lnSpc>
                        <a:spcBef>
                          <a:spcPts val="0"/>
                        </a:spcBef>
                        <a:spcAft>
                          <a:spcPts val="0"/>
                        </a:spcAft>
                      </a:pPr>
                      <a:r>
                        <a:rPr lang="en-US" sz="800" dirty="0">
                          <a:effectLst/>
                          <a:latin typeface="Arial" panose="020B0604020202020204" pitchFamily="34" charset="0"/>
                          <a:ea typeface="Cambria" panose="02040503050406030204" pitchFamily="18" charset="0"/>
                          <a:cs typeface="Arial" panose="020B0604020202020204" pitchFamily="34" charset="0"/>
                        </a:rPr>
                        <a:t>Age</a:t>
                      </a:r>
                      <a:r>
                        <a:rPr lang="en-US" sz="800" spc="20"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36-65</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dirty="0">
                          <a:effectLst/>
                          <a:latin typeface="Arial" panose="020B0604020202020204" pitchFamily="34" charset="0"/>
                          <a:ea typeface="Cambria" panose="02040503050406030204" pitchFamily="18" charset="0"/>
                          <a:cs typeface="Arial" panose="020B0604020202020204" pitchFamily="34" charset="0"/>
                        </a:rPr>
                        <a:t>(%</a:t>
                      </a:r>
                      <a:r>
                        <a:rPr lang="en-US" sz="800" spc="25" dirty="0">
                          <a:effectLst/>
                          <a:latin typeface="Arial" panose="020B0604020202020204" pitchFamily="34" charset="0"/>
                          <a:ea typeface="Cambria" panose="02040503050406030204" pitchFamily="18" charset="0"/>
                          <a:cs typeface="Arial" panose="020B0604020202020204" pitchFamily="34" charset="0"/>
                        </a:rPr>
                        <a:t> </a:t>
                      </a:r>
                      <a:r>
                        <a:rPr lang="en-US" sz="800" spc="-10" dirty="0">
                          <a:effectLst/>
                          <a:latin typeface="Arial" panose="020B0604020202020204" pitchFamily="34" charset="0"/>
                          <a:ea typeface="Cambria" panose="02040503050406030204" pitchFamily="18" charset="0"/>
                          <a:cs typeface="Arial" panose="020B0604020202020204" pitchFamily="34" charset="0"/>
                        </a:rPr>
                        <a:t>Population)</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63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0.0847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635" marR="127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0.0047</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270"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0.0691</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0.0814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1905"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0.0858</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2540" marR="254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0.0882</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1905" marR="2540" algn="ctr">
                        <a:lnSpc>
                          <a:spcPts val="895"/>
                        </a:lnSpc>
                        <a:spcBef>
                          <a:spcPts val="0"/>
                        </a:spcBef>
                        <a:spcAft>
                          <a:spcPts val="0"/>
                        </a:spcAft>
                      </a:pPr>
                      <a:r>
                        <a:rPr lang="en-US" sz="800" spc="-10" dirty="0">
                          <a:effectLst/>
                          <a:latin typeface="Arial" panose="020B0604020202020204" pitchFamily="34" charset="0"/>
                          <a:ea typeface="Cambria" panose="02040503050406030204" pitchFamily="18" charset="0"/>
                          <a:cs typeface="Arial" panose="020B0604020202020204" pitchFamily="34" charset="0"/>
                        </a:rPr>
                        <a:t>0.0924</a:t>
                      </a:r>
                      <a:endParaRPr lang="en-US" sz="1050" dirty="0">
                        <a:effectLst/>
                        <a:latin typeface="Arial" panose="020B0604020202020204" pitchFamily="34" charset="0"/>
                        <a:ea typeface="Cambria" panose="02040503050406030204" pitchFamily="18" charset="0"/>
                        <a:cs typeface="Arial" panose="020B0604020202020204" pitchFamily="34"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05305137"/>
                  </a:ext>
                </a:extLst>
              </a:tr>
            </a:tbl>
          </a:graphicData>
        </a:graphic>
      </p:graphicFrame>
    </p:spTree>
    <p:extLst>
      <p:ext uri="{BB962C8B-B14F-4D97-AF65-F5344CB8AC3E}">
        <p14:creationId xmlns:p14="http://schemas.microsoft.com/office/powerpoint/2010/main" val="17979165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Levels of Cash Reserves</a:t>
            </a:r>
          </a:p>
        </p:txBody>
      </p:sp>
      <mc:AlternateContent xmlns:mc="http://schemas.openxmlformats.org/markup-compatibility/2006">
        <mc:Choice xmlns:a14="http://schemas.microsoft.com/office/drawing/2010/main" Requires="a14">
          <p:sp>
            <p:nvSpPr>
              <p:cNvPr id="3" name="object 3">
                <a:extLst>
                  <a:ext uri="{FF2B5EF4-FFF2-40B4-BE49-F238E27FC236}">
                    <a16:creationId xmlns:a16="http://schemas.microsoft.com/office/drawing/2014/main" id="{321CF399-F907-3F6D-984F-EFB183463A27}"/>
                  </a:ext>
                </a:extLst>
              </p:cNvPr>
              <p:cNvSpPr txBox="1"/>
              <p:nvPr/>
            </p:nvSpPr>
            <p:spPr>
              <a:xfrm>
                <a:off x="4266217" y="663575"/>
                <a:ext cx="1857375" cy="144449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States with less cash rely more on debt.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Timing errors have more predictive power for states with less cash.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IV 2</a:t>
                </a:r>
                <a:r>
                  <a:rPr lang="en-US" sz="900" b="1" baseline="30000" dirty="0">
                    <a:solidFill>
                      <a:schemeClr val="tx1"/>
                    </a:solidFill>
                    <a:latin typeface="Arial" panose="020B0604020202020204" pitchFamily="34" charset="0"/>
                    <a:cs typeface="Arial" panose="020B0604020202020204" pitchFamily="34" charset="0"/>
                  </a:rPr>
                  <a:t>nd</a:t>
                </a:r>
                <a:r>
                  <a:rPr lang="en-US" sz="900" b="1" dirty="0">
                    <a:solidFill>
                      <a:schemeClr val="tx1"/>
                    </a:solidFill>
                    <a:latin typeface="Arial" panose="020B0604020202020204" pitchFamily="34" charset="0"/>
                    <a:cs typeface="Arial" panose="020B0604020202020204" pitchFamily="34" charset="0"/>
                  </a:rPr>
                  <a:t> Quartile: </a:t>
                </a:r>
                <a:r>
                  <a:rPr lang="en-US" sz="900" b="1" spc="-45" dirty="0">
                    <a:solidFill>
                      <a:schemeClr val="tx1"/>
                    </a:solidFill>
                    <a:latin typeface="Arial"/>
                    <a:cs typeface="Arial"/>
                  </a:rPr>
                  <a:t>⬆️ </a:t>
                </a:r>
                <a:r>
                  <a:rPr lang="en-US" sz="900" spc="-45" dirty="0">
                    <a:solidFill>
                      <a:schemeClr val="tx1"/>
                    </a:solidFill>
                    <a:latin typeface="Arial"/>
                    <a:cs typeface="Arial"/>
                  </a:rPr>
                  <a:t>5.3</a:t>
                </a:r>
                <a:r>
                  <a:rPr lang="en-US" sz="900" spc="-45" dirty="0">
                    <a:solidFill>
                      <a:schemeClr val="tx1"/>
                    </a:solidFill>
                    <a:latin typeface="Arial" panose="020B0604020202020204" pitchFamily="34" charset="0"/>
                    <a:cs typeface="Arial" panose="020B0604020202020204" pitchFamily="34" charset="0"/>
                  </a:rPr>
                  <a:t>% DR.</a:t>
                </a:r>
              </a:p>
              <a:p>
                <a:pPr marL="167640" marR="30480" indent="-117475">
                  <a:lnSpc>
                    <a:spcPct val="101000"/>
                  </a:lnSpc>
                  <a:spcBef>
                    <a:spcPts val="600"/>
                  </a:spcBef>
                  <a:spcAft>
                    <a:spcPts val="600"/>
                  </a:spcAft>
                  <a:buFont typeface="Arial"/>
                  <a:buChar char="•"/>
                  <a:tabLst>
                    <a:tab pos="167640" algn="l"/>
                  </a:tabLst>
                </a:pP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0.77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p:txBody>
          </p:sp>
        </mc:Choice>
        <mc:Fallback>
          <p:sp>
            <p:nvSpPr>
              <p:cNvPr id="3" name="object 3">
                <a:extLst>
                  <a:ext uri="{FF2B5EF4-FFF2-40B4-BE49-F238E27FC236}">
                    <a16:creationId xmlns:a16="http://schemas.microsoft.com/office/drawing/2014/main" id="{321CF399-F907-3F6D-984F-EFB183463A27}"/>
                  </a:ext>
                </a:extLst>
              </p:cNvPr>
              <p:cNvSpPr txBox="1">
                <a:spLocks noRot="1" noChangeAspect="1" noMove="1" noResize="1" noEditPoints="1" noAdjustHandles="1" noChangeArrowheads="1" noChangeShapeType="1" noTextEdit="1"/>
              </p:cNvSpPr>
              <p:nvPr/>
            </p:nvSpPr>
            <p:spPr>
              <a:xfrm>
                <a:off x="4266217" y="663575"/>
                <a:ext cx="1857375" cy="1444498"/>
              </a:xfrm>
              <a:prstGeom prst="rect">
                <a:avLst/>
              </a:prstGeom>
              <a:blipFill>
                <a:blip r:embed="rId2"/>
                <a:stretch>
                  <a:fillRect l="-1361" t="-2609" r="-680" b="-347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7384F53-B5B1-6DC7-CF41-6D6F88EE8702}"/>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11" name="Picture 10" descr="A screenshot of a report&#10;&#10;Description automatically generated">
            <a:extLst>
              <a:ext uri="{FF2B5EF4-FFF2-40B4-BE49-F238E27FC236}">
                <a16:creationId xmlns:a16="http://schemas.microsoft.com/office/drawing/2014/main" id="{0F2D6039-F971-CAC2-4F02-A2931F6F006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291178"/>
            <a:ext cx="5200507" cy="2925285"/>
          </a:xfrm>
          <a:prstGeom prst="rect">
            <a:avLst/>
          </a:prstGeom>
        </p:spPr>
      </p:pic>
    </p:spTree>
    <p:extLst>
      <p:ext uri="{BB962C8B-B14F-4D97-AF65-F5344CB8AC3E}">
        <p14:creationId xmlns:p14="http://schemas.microsoft.com/office/powerpoint/2010/main" val="31083697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Temporal Heterogeneity and Anticipation Effects </a:t>
            </a:r>
          </a:p>
        </p:txBody>
      </p:sp>
      <mc:AlternateContent xmlns:mc="http://schemas.openxmlformats.org/markup-compatibility/2006">
        <mc:Choice xmlns:a14="http://schemas.microsoft.com/office/drawing/2010/main" Requires="a14">
          <p:sp>
            <p:nvSpPr>
              <p:cNvPr id="4" name="object 3">
                <a:extLst>
                  <a:ext uri="{FF2B5EF4-FFF2-40B4-BE49-F238E27FC236}">
                    <a16:creationId xmlns:a16="http://schemas.microsoft.com/office/drawing/2014/main" id="{7ACEEFF2-3A38-12CE-B4F3-EEB913488FA8}"/>
                  </a:ext>
                </a:extLst>
              </p:cNvPr>
              <p:cNvSpPr txBox="1"/>
              <p:nvPr/>
            </p:nvSpPr>
            <p:spPr>
              <a:xfrm>
                <a:off x="3847726" y="777543"/>
                <a:ext cx="2305424" cy="1724318"/>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Debt stocks are higher closer to the end/beginning of the FY.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errors have more predictive power in Q2 and Q4</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Q4: </a:t>
                </a:r>
                <a:r>
                  <a:rPr lang="en-US" sz="900" b="1" spc="-45" dirty="0">
                    <a:solidFill>
                      <a:schemeClr val="tx1"/>
                    </a:solidFill>
                    <a:latin typeface="Arial"/>
                    <a:cs typeface="Arial"/>
                  </a:rPr>
                  <a:t>⬆️ </a:t>
                </a:r>
                <a:r>
                  <a:rPr lang="en-US" sz="900" spc="-45" dirty="0">
                    <a:solidFill>
                      <a:schemeClr val="tx1"/>
                    </a:solidFill>
                    <a:latin typeface="Arial"/>
                    <a:cs typeface="Arial"/>
                  </a:rPr>
                  <a:t>6.7</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0.85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Implication: </a:t>
                </a:r>
                <a:r>
                  <a:rPr lang="en-US" sz="900" dirty="0">
                    <a:solidFill>
                      <a:schemeClr val="tx1"/>
                    </a:solidFill>
                    <a:latin typeface="Arial" panose="020B0604020202020204" pitchFamily="34" charset="0"/>
                    <a:cs typeface="Arial" panose="020B0604020202020204" pitchFamily="34" charset="0"/>
                  </a:rPr>
                  <a:t>States smooth cash-flows via short-term debt and preserve cash-reserves. </a:t>
                </a:r>
                <a:endParaRPr lang="en-US" sz="900" b="1" dirty="0">
                  <a:solidFill>
                    <a:schemeClr val="tx1"/>
                  </a:solidFill>
                  <a:latin typeface="Arial" panose="020B0604020202020204" pitchFamily="34" charset="0"/>
                  <a:cs typeface="Arial" panose="020B0604020202020204" pitchFamily="34" charset="0"/>
                </a:endParaRPr>
              </a:p>
            </p:txBody>
          </p:sp>
        </mc:Choice>
        <mc:Fallback>
          <p:sp>
            <p:nvSpPr>
              <p:cNvPr id="4" name="object 3">
                <a:extLst>
                  <a:ext uri="{FF2B5EF4-FFF2-40B4-BE49-F238E27FC236}">
                    <a16:creationId xmlns:a16="http://schemas.microsoft.com/office/drawing/2014/main" id="{7ACEEFF2-3A38-12CE-B4F3-EEB913488FA8}"/>
                  </a:ext>
                </a:extLst>
              </p:cNvPr>
              <p:cNvSpPr txBox="1">
                <a:spLocks noRot="1" noChangeAspect="1" noMove="1" noResize="1" noEditPoints="1" noAdjustHandles="1" noChangeArrowheads="1" noChangeShapeType="1" noTextEdit="1"/>
              </p:cNvSpPr>
              <p:nvPr/>
            </p:nvSpPr>
            <p:spPr>
              <a:xfrm>
                <a:off x="3847726" y="777543"/>
                <a:ext cx="2305424" cy="1724318"/>
              </a:xfrm>
              <a:prstGeom prst="rect">
                <a:avLst/>
              </a:prstGeom>
              <a:blipFill>
                <a:blip r:embed="rId2"/>
                <a:stretch>
                  <a:fillRect l="-546" t="-2206" b="-367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0FD5629-E8BE-80B3-97A4-A5EBFA04F3EE}"/>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8" name="Picture 7" descr="A screenshot of a report&#10;&#10;Description automatically generated">
            <a:extLst>
              <a:ext uri="{FF2B5EF4-FFF2-40B4-BE49-F238E27FC236}">
                <a16:creationId xmlns:a16="http://schemas.microsoft.com/office/drawing/2014/main" id="{36EA35D8-AF4F-735A-916A-6DA3301EF4D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395662"/>
            <a:ext cx="4745646" cy="2669426"/>
          </a:xfrm>
          <a:prstGeom prst="rect">
            <a:avLst/>
          </a:prstGeom>
        </p:spPr>
      </p:pic>
    </p:spTree>
    <p:extLst>
      <p:ext uri="{BB962C8B-B14F-4D97-AF65-F5344CB8AC3E}">
        <p14:creationId xmlns:p14="http://schemas.microsoft.com/office/powerpoint/2010/main" val="9995629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Mechanisms: Credit Quality</a:t>
            </a:r>
          </a:p>
        </p:txBody>
      </p:sp>
      <mc:AlternateContent xmlns:mc="http://schemas.openxmlformats.org/markup-compatibility/2006">
        <mc:Choice xmlns:a14="http://schemas.microsoft.com/office/drawing/2010/main" Requires="a14">
          <p:sp>
            <p:nvSpPr>
              <p:cNvPr id="4" name="object 3">
                <a:extLst>
                  <a:ext uri="{FF2B5EF4-FFF2-40B4-BE49-F238E27FC236}">
                    <a16:creationId xmlns:a16="http://schemas.microsoft.com/office/drawing/2014/main" id="{20CF1195-8604-5103-FFA8-F17A5639B7C6}"/>
                  </a:ext>
                </a:extLst>
              </p:cNvPr>
              <p:cNvSpPr txBox="1"/>
              <p:nvPr/>
            </p:nvSpPr>
            <p:spPr>
              <a:xfrm>
                <a:off x="3838575" y="815975"/>
                <a:ext cx="2314575" cy="1309846"/>
              </a:xfrm>
              <a:prstGeom prst="rect">
                <a:avLst/>
              </a:prstGeom>
            </p:spPr>
            <p:txBody>
              <a:bodyPr vert="horz" wrap="square" lIns="0" tIns="12065" rIns="0" bIns="0" rtlCol="0">
                <a:spAutoFit/>
              </a:bodyPr>
              <a:lstStyle/>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Descriptive Stats: </a:t>
                </a:r>
                <a:r>
                  <a:rPr lang="en-US" sz="900" dirty="0">
                    <a:solidFill>
                      <a:schemeClr val="tx1"/>
                    </a:solidFill>
                    <a:latin typeface="Arial" panose="020B0604020202020204" pitchFamily="34" charset="0"/>
                    <a:cs typeface="Arial" panose="020B0604020202020204" pitchFamily="34" charset="0"/>
                  </a:rPr>
                  <a:t>Lower rated states rely more on debt.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First Stage: </a:t>
                </a:r>
                <a:r>
                  <a:rPr lang="en-US" sz="900" dirty="0">
                    <a:solidFill>
                      <a:schemeClr val="tx1"/>
                    </a:solidFill>
                    <a:latin typeface="Arial" panose="020B0604020202020204" pitchFamily="34" charset="0"/>
                    <a:cs typeface="Arial" panose="020B0604020202020204" pitchFamily="34" charset="0"/>
                  </a:rPr>
                  <a:t>FGP errors have more predictive power for lower rated states. </a:t>
                </a: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A: </a:t>
                </a:r>
                <a:r>
                  <a:rPr lang="en-US" sz="900" b="1" spc="-45" dirty="0">
                    <a:solidFill>
                      <a:schemeClr val="tx1"/>
                    </a:solidFill>
                    <a:latin typeface="Arial"/>
                    <a:cs typeface="Arial"/>
                  </a:rPr>
                  <a:t>⬆️ </a:t>
                </a:r>
                <a:r>
                  <a:rPr lang="en-US" sz="900" spc="-45" dirty="0">
                    <a:solidFill>
                      <a:schemeClr val="tx1"/>
                    </a:solidFill>
                    <a:latin typeface="Arial"/>
                    <a:cs typeface="Arial"/>
                  </a:rPr>
                  <a:t>3.3</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0.54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a:p>
                <a:pPr marL="167640" marR="30480" indent="-117475">
                  <a:lnSpc>
                    <a:spcPct val="101000"/>
                  </a:lnSpc>
                  <a:spcBef>
                    <a:spcPts val="600"/>
                  </a:spcBef>
                  <a:spcAft>
                    <a:spcPts val="600"/>
                  </a:spcAft>
                  <a:buFont typeface="Arial"/>
                  <a:buChar char="•"/>
                  <a:tabLst>
                    <a:tab pos="167640" algn="l"/>
                  </a:tabLst>
                </a:pPr>
                <a:r>
                  <a:rPr lang="en-US" sz="900" b="1" dirty="0">
                    <a:solidFill>
                      <a:schemeClr val="tx1"/>
                    </a:solidFill>
                    <a:latin typeface="Arial" panose="020B0604020202020204" pitchFamily="34" charset="0"/>
                    <a:cs typeface="Arial" panose="020B0604020202020204" pitchFamily="34" charset="0"/>
                  </a:rPr>
                  <a:t>BBB,BB: </a:t>
                </a:r>
                <a:r>
                  <a:rPr lang="en-US" sz="900" b="1" spc="-45" dirty="0">
                    <a:solidFill>
                      <a:schemeClr val="tx1"/>
                    </a:solidFill>
                    <a:latin typeface="Arial"/>
                    <a:cs typeface="Arial"/>
                  </a:rPr>
                  <a:t>⬆️ </a:t>
                </a:r>
                <a:r>
                  <a:rPr lang="en-US" sz="900" spc="-45" dirty="0">
                    <a:solidFill>
                      <a:schemeClr val="tx1"/>
                    </a:solidFill>
                    <a:latin typeface="Arial"/>
                    <a:cs typeface="Arial"/>
                  </a:rPr>
                  <a:t>8.3</a:t>
                </a:r>
                <a:r>
                  <a:rPr lang="en-US" sz="900" spc="-45" dirty="0">
                    <a:solidFill>
                      <a:schemeClr val="tx1"/>
                    </a:solidFill>
                    <a:latin typeface="Arial" panose="020B0604020202020204" pitchFamily="34" charset="0"/>
                    <a:cs typeface="Arial" panose="020B0604020202020204" pitchFamily="34" charset="0"/>
                  </a:rPr>
                  <a:t>% DR. </a:t>
                </a:r>
                <a:r>
                  <a:rPr lang="en-US" sz="900" b="1" spc="-45" dirty="0">
                    <a:solidFill>
                      <a:schemeClr val="tx1"/>
                    </a:solidFill>
                    <a:latin typeface="Arial" panose="020B0604020202020204" pitchFamily="34" charset="0"/>
                    <a:cs typeface="Arial" panose="020B0604020202020204" pitchFamily="34" charset="0"/>
                  </a:rPr>
                  <a:t>Eff Size: </a:t>
                </a:r>
                <a:r>
                  <a:rPr lang="en-US" sz="900" spc="-45" dirty="0">
                    <a:solidFill>
                      <a:schemeClr val="tx1"/>
                    </a:solidFill>
                    <a:latin typeface="Arial" panose="020B0604020202020204" pitchFamily="34" charset="0"/>
                    <a:cs typeface="Arial" panose="020B0604020202020204" pitchFamily="34" charset="0"/>
                  </a:rPr>
                  <a:t>1.33 </a:t>
                </a:r>
                <a14:m>
                  <m:oMath xmlns:m="http://schemas.openxmlformats.org/officeDocument/2006/math">
                    <m:r>
                      <a:rPr lang="en-US" sz="900" b="0" i="1" smtClean="0">
                        <a:solidFill>
                          <a:schemeClr val="tx1"/>
                        </a:solidFill>
                        <a:latin typeface="Cambria Math" panose="02040503050406030204" pitchFamily="18" charset="0"/>
                        <a:cs typeface="Arial" panose="020B0604020202020204" pitchFamily="34" charset="0"/>
                      </a:rPr>
                      <m:t>𝑆</m:t>
                    </m:r>
                    <m:sSub>
                      <m:sSubPr>
                        <m:ctrlPr>
                          <a:rPr lang="en-US" sz="900" b="0" i="1" smtClean="0">
                            <a:solidFill>
                              <a:schemeClr val="tx1"/>
                            </a:solidFill>
                            <a:latin typeface="Cambria Math" panose="02040503050406030204" pitchFamily="18" charset="0"/>
                            <a:cs typeface="Arial" panose="020B0604020202020204" pitchFamily="34" charset="0"/>
                          </a:rPr>
                        </m:ctrlPr>
                      </m:sSubPr>
                      <m:e>
                        <m:r>
                          <a:rPr lang="en-US" sz="900" b="0" i="1" smtClean="0">
                            <a:solidFill>
                              <a:schemeClr val="tx1"/>
                            </a:solidFill>
                            <a:latin typeface="Cambria Math" panose="02040503050406030204" pitchFamily="18" charset="0"/>
                            <a:cs typeface="Arial" panose="020B0604020202020204" pitchFamily="34" charset="0"/>
                          </a:rPr>
                          <m:t>𝐷</m:t>
                        </m:r>
                      </m:e>
                      <m:sub>
                        <m:r>
                          <a:rPr lang="en-US" sz="900" b="0" i="1" smtClean="0">
                            <a:solidFill>
                              <a:schemeClr val="tx1"/>
                            </a:solidFill>
                            <a:latin typeface="Cambria Math" panose="02040503050406030204" pitchFamily="18" charset="0"/>
                            <a:cs typeface="Arial" panose="020B0604020202020204" pitchFamily="34" charset="0"/>
                          </a:rPr>
                          <m:t>𝑑𝑒𝑏𝑡</m:t>
                        </m:r>
                      </m:sub>
                    </m:sSub>
                  </m:oMath>
                </a14:m>
                <a:endParaRPr lang="en-US" sz="900" b="1" dirty="0">
                  <a:solidFill>
                    <a:schemeClr val="tx1"/>
                  </a:solidFill>
                  <a:latin typeface="Arial" panose="020B0604020202020204" pitchFamily="34" charset="0"/>
                  <a:cs typeface="Arial" panose="020B0604020202020204" pitchFamily="34" charset="0"/>
                </a:endParaRPr>
              </a:p>
            </p:txBody>
          </p:sp>
        </mc:Choice>
        <mc:Fallback>
          <p:sp>
            <p:nvSpPr>
              <p:cNvPr id="4" name="object 3">
                <a:extLst>
                  <a:ext uri="{FF2B5EF4-FFF2-40B4-BE49-F238E27FC236}">
                    <a16:creationId xmlns:a16="http://schemas.microsoft.com/office/drawing/2014/main" id="{20CF1195-8604-5103-FFA8-F17A5639B7C6}"/>
                  </a:ext>
                </a:extLst>
              </p:cNvPr>
              <p:cNvSpPr txBox="1">
                <a:spLocks noRot="1" noChangeAspect="1" noMove="1" noResize="1" noEditPoints="1" noAdjustHandles="1" noChangeArrowheads="1" noChangeShapeType="1" noTextEdit="1"/>
              </p:cNvSpPr>
              <p:nvPr/>
            </p:nvSpPr>
            <p:spPr>
              <a:xfrm>
                <a:off x="3838575" y="815975"/>
                <a:ext cx="2314575" cy="1309846"/>
              </a:xfrm>
              <a:prstGeom prst="rect">
                <a:avLst/>
              </a:prstGeom>
              <a:blipFill>
                <a:blip r:embed="rId2"/>
                <a:stretch>
                  <a:fillRect l="-1093" t="-2885" b="-480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07678CF-F71C-D328-7B26-88D93396D4BC}"/>
              </a:ext>
            </a:extLst>
          </p:cNvPr>
          <p:cNvSpPr txBox="1"/>
          <p:nvPr/>
        </p:nvSpPr>
        <p:spPr>
          <a:xfrm>
            <a:off x="3035342" y="2960604"/>
            <a:ext cx="3117808" cy="208968"/>
          </a:xfrm>
          <a:prstGeom prst="rect">
            <a:avLst/>
          </a:prstGeom>
          <a:noFill/>
        </p:spPr>
        <p:txBody>
          <a:bodyPr wrap="square">
            <a:spAutoFit/>
          </a:bodyPr>
          <a:lstStyle/>
          <a:p>
            <a:pPr marL="50165" marR="30480" algn="r">
              <a:lnSpc>
                <a:spcPct val="101000"/>
              </a:lnSpc>
              <a:spcBef>
                <a:spcPts val="600"/>
              </a:spcBef>
              <a:spcAft>
                <a:spcPts val="600"/>
              </a:spcAft>
              <a:tabLst>
                <a:tab pos="167640" algn="l"/>
              </a:tabLst>
            </a:pPr>
            <a:r>
              <a:rPr lang="en-US" sz="800" dirty="0">
                <a:solidFill>
                  <a:schemeClr val="tx1"/>
                </a:solidFill>
                <a:latin typeface="Arial" panose="020B0604020202020204" pitchFamily="34" charset="0"/>
                <a:cs typeface="Arial" panose="020B0604020202020204" pitchFamily="34" charset="0"/>
                <a:hlinkClick r:id="rId3" action="ppaction://hlinksldjump"/>
              </a:rPr>
              <a:t>Back to Results</a:t>
            </a:r>
            <a:endParaRPr lang="en-US" sz="800" dirty="0">
              <a:solidFill>
                <a:schemeClr val="tx1"/>
              </a:solidFill>
              <a:latin typeface="Arial" panose="020B0604020202020204" pitchFamily="34" charset="0"/>
              <a:cs typeface="Arial" panose="020B0604020202020204" pitchFamily="34" charset="0"/>
            </a:endParaRPr>
          </a:p>
        </p:txBody>
      </p:sp>
      <p:pic>
        <p:nvPicPr>
          <p:cNvPr id="8" name="Picture 7" descr="A screenshot of a report&#10;&#10;Description automatically generated">
            <a:extLst>
              <a:ext uri="{FF2B5EF4-FFF2-40B4-BE49-F238E27FC236}">
                <a16:creationId xmlns:a16="http://schemas.microsoft.com/office/drawing/2014/main" id="{E55188DA-C1FD-1EE4-8D30-9BB60258868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425" y="358775"/>
            <a:ext cx="5199636" cy="2924796"/>
          </a:xfrm>
          <a:prstGeom prst="rect">
            <a:avLst/>
          </a:prstGeom>
        </p:spPr>
      </p:pic>
    </p:spTree>
    <p:extLst>
      <p:ext uri="{BB962C8B-B14F-4D97-AF65-F5344CB8AC3E}">
        <p14:creationId xmlns:p14="http://schemas.microsoft.com/office/powerpoint/2010/main" val="42040681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CE5494-56C8-337F-FBDB-2C7CD7B649E4}"/>
              </a:ext>
            </a:extLst>
          </p:cNvPr>
          <p:cNvSpPr txBox="1"/>
          <p:nvPr/>
        </p:nvSpPr>
        <p:spPr>
          <a:xfrm>
            <a:off x="-47625" y="-11875"/>
            <a:ext cx="5972175" cy="276999"/>
          </a:xfrm>
          <a:prstGeom prst="rect">
            <a:avLst/>
          </a:prstGeom>
          <a:noFill/>
        </p:spPr>
        <p:txBody>
          <a:bodyPr wrap="square">
            <a:spAutoFit/>
          </a:bodyPr>
          <a:lstStyle/>
          <a:p>
            <a:pPr marL="50801" algn="l">
              <a:spcBef>
                <a:spcPts val="95"/>
              </a:spcBef>
              <a:tabLst>
                <a:tab pos="167640" algn="l"/>
              </a:tabLst>
            </a:pPr>
            <a:r>
              <a:rPr lang="en-US" sz="1200" b="1" dirty="0">
                <a:solidFill>
                  <a:srgbClr val="690204"/>
                </a:solidFill>
                <a:latin typeface="Arial" panose="020B0604020202020204" pitchFamily="34" charset="0"/>
                <a:cs typeface="Arial" panose="020B0604020202020204" pitchFamily="34" charset="0"/>
              </a:rPr>
              <a:t>Robustness Checks: Heckman Selection Model</a:t>
            </a:r>
          </a:p>
        </p:txBody>
      </p:sp>
      <p:pic>
        <p:nvPicPr>
          <p:cNvPr id="7" name="Picture 6">
            <a:extLst>
              <a:ext uri="{FF2B5EF4-FFF2-40B4-BE49-F238E27FC236}">
                <a16:creationId xmlns:a16="http://schemas.microsoft.com/office/drawing/2014/main" id="{FB8EB9EB-A24D-108E-0A63-F6D354D82FF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9575" y="284023"/>
            <a:ext cx="5411792" cy="3044133"/>
          </a:xfrm>
          <a:prstGeom prst="rect">
            <a:avLst/>
          </a:prstGeom>
        </p:spPr>
      </p:pic>
    </p:spTree>
    <p:extLst>
      <p:ext uri="{BB962C8B-B14F-4D97-AF65-F5344CB8AC3E}">
        <p14:creationId xmlns:p14="http://schemas.microsoft.com/office/powerpoint/2010/main" val="33180044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E27C2B-1EE9-6BDB-488F-0F2B50CC8B05}"/>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936F0F13-DDC1-0157-5588-CA0220EB7BDC}"/>
              </a:ext>
            </a:extLst>
          </p:cNvPr>
          <p:cNvSpPr txBox="1">
            <a:spLocks/>
          </p:cNvSpPr>
          <p:nvPr/>
        </p:nvSpPr>
        <p:spPr>
          <a:xfrm>
            <a:off x="21891" y="0"/>
            <a:ext cx="6131259" cy="257763"/>
          </a:xfrm>
          <a:prstGeom prst="rect">
            <a:avLst/>
          </a:prstGeom>
        </p:spPr>
        <p:txBody>
          <a:bodyPr vert="horz" wrap="square" lIns="0" tIns="11430" rIns="0" bIns="0" rtlCol="0">
            <a:spAutoFit/>
          </a:bodyPr>
          <a:lstStyle>
            <a:lvl1pPr>
              <a:defRPr>
                <a:latin typeface="+mj-lt"/>
                <a:ea typeface="+mj-ea"/>
                <a:cs typeface="+mj-cs"/>
              </a:defRPr>
            </a:lvl1pPr>
          </a:lstStyle>
          <a:p>
            <a:pPr marL="12700">
              <a:spcBef>
                <a:spcPts val="90"/>
              </a:spcBef>
            </a:pPr>
            <a:r>
              <a:rPr lang="en-US" sz="1600" b="1" spc="-35" dirty="0">
                <a:solidFill>
                  <a:srgbClr val="690204"/>
                </a:solidFill>
                <a:latin typeface="Arial" panose="020B0604020202020204" pitchFamily="34" charset="0"/>
                <a:cs typeface="Arial" panose="020B0604020202020204" pitchFamily="34" charset="0"/>
              </a:rPr>
              <a:t>Balance Between Cash and Debt </a:t>
            </a:r>
          </a:p>
        </p:txBody>
      </p:sp>
      <p:sp>
        <p:nvSpPr>
          <p:cNvPr id="6" name="object 3">
            <a:extLst>
              <a:ext uri="{FF2B5EF4-FFF2-40B4-BE49-F238E27FC236}">
                <a16:creationId xmlns:a16="http://schemas.microsoft.com/office/drawing/2014/main" id="{04BFC77A-C182-0113-1804-1A549A86FD17}"/>
              </a:ext>
            </a:extLst>
          </p:cNvPr>
          <p:cNvSpPr txBox="1"/>
          <p:nvPr/>
        </p:nvSpPr>
        <p:spPr>
          <a:xfrm>
            <a:off x="104775" y="500615"/>
            <a:ext cx="5827880" cy="1229760"/>
          </a:xfrm>
          <a:prstGeom prst="rect">
            <a:avLst/>
          </a:prstGeom>
        </p:spPr>
        <p:txBody>
          <a:bodyPr vert="horz" wrap="square" lIns="0" tIns="12065" rIns="0" bIns="0" rtlCol="0">
            <a:spAutoFit/>
          </a:bodyPr>
          <a:lstStyle/>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Holding too much cash might be inefficient. Opportunity cost of investments. Over-taxation.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Holding too few cash might be risky.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Issuing too much debt might be unsustainable/fiscally irresponsible. </a:t>
            </a:r>
          </a:p>
          <a:p>
            <a:pPr marL="167640" indent="-116839">
              <a:lnSpc>
                <a:spcPct val="114000"/>
              </a:lnSpc>
              <a:spcBef>
                <a:spcPts val="600"/>
              </a:spcBef>
              <a:spcAft>
                <a:spcPts val="600"/>
              </a:spcAft>
              <a:buFont typeface="Arial"/>
              <a:buChar char="•"/>
              <a:tabLst>
                <a:tab pos="167640" algn="l"/>
              </a:tabLst>
            </a:pPr>
            <a:r>
              <a:rPr lang="en-US" sz="1100" spc="-45" dirty="0">
                <a:latin typeface="Arial" panose="020B0604020202020204" pitchFamily="34" charset="0"/>
                <a:cs typeface="Arial" panose="020B0604020202020204" pitchFamily="34" charset="0"/>
              </a:rPr>
              <a:t>Issuing too few debt might not be enough. </a:t>
            </a:r>
          </a:p>
        </p:txBody>
      </p:sp>
    </p:spTree>
    <p:extLst>
      <p:ext uri="{BB962C8B-B14F-4D97-AF65-F5344CB8AC3E}">
        <p14:creationId xmlns:p14="http://schemas.microsoft.com/office/powerpoint/2010/main" val="29706796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84" y="1645716"/>
            <a:ext cx="5450404" cy="965586"/>
          </a:xfrm>
        </p:spPr>
        <p:txBody>
          <a:bodyPr vert="horz" wrap="square" lIns="61524" tIns="30762" rIns="61524" bIns="30762" rtlCol="0" anchor="ctr">
            <a:noAutofit/>
          </a:bodyPr>
          <a:lstStyle/>
          <a:p>
            <a:r>
              <a:rPr lang="en-US" sz="1600" dirty="0"/>
              <a:t>Cash Reserves and Short-Term Debt Under Liquidity Constraints</a:t>
            </a:r>
          </a:p>
        </p:txBody>
      </p:sp>
      <p:sp>
        <p:nvSpPr>
          <p:cNvPr id="3" name="Text Placeholder 2"/>
          <p:cNvSpPr>
            <a:spLocks noGrp="1"/>
          </p:cNvSpPr>
          <p:nvPr>
            <p:ph type="body" sz="quarter" idx="10"/>
          </p:nvPr>
        </p:nvSpPr>
        <p:spPr/>
        <p:txBody>
          <a:bodyPr/>
          <a:lstStyle/>
          <a:p>
            <a:r>
              <a:rPr lang="en-US" sz="500" dirty="0"/>
              <a:t>INDIANA UNIVERSITY BLOOMINGTON</a:t>
            </a:r>
          </a:p>
        </p:txBody>
      </p:sp>
      <p:sp>
        <p:nvSpPr>
          <p:cNvPr id="4" name="Text Placeholder 3"/>
          <p:cNvSpPr>
            <a:spLocks noGrp="1"/>
          </p:cNvSpPr>
          <p:nvPr>
            <p:ph type="body" sz="quarter" idx="11"/>
          </p:nvPr>
        </p:nvSpPr>
        <p:spPr>
          <a:xfrm>
            <a:off x="357425" y="1409856"/>
            <a:ext cx="5203890" cy="169833"/>
          </a:xfrm>
        </p:spPr>
        <p:txBody>
          <a:bodyPr/>
          <a:lstStyle/>
          <a:p>
            <a:r>
              <a:rPr lang="en-US" sz="1100"/>
              <a:t>O’Neill School of Public and Environmental Affairs</a:t>
            </a:r>
          </a:p>
        </p:txBody>
      </p:sp>
      <p:sp>
        <p:nvSpPr>
          <p:cNvPr id="5" name="TextBox 4">
            <a:extLst>
              <a:ext uri="{FF2B5EF4-FFF2-40B4-BE49-F238E27FC236}">
                <a16:creationId xmlns:a16="http://schemas.microsoft.com/office/drawing/2014/main" id="{E22B7186-A936-9746-A155-796B13E0033F}"/>
              </a:ext>
            </a:extLst>
          </p:cNvPr>
          <p:cNvSpPr txBox="1"/>
          <p:nvPr/>
        </p:nvSpPr>
        <p:spPr>
          <a:xfrm>
            <a:off x="357425" y="2611302"/>
            <a:ext cx="1354912" cy="277568"/>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r>
              <a:rPr lang="en-US" sz="1400" b="1" dirty="0">
                <a:solidFill>
                  <a:schemeClr val="bg1">
                    <a:lumMod val="65000"/>
                  </a:schemeClr>
                </a:solidFill>
                <a:cs typeface="Arial"/>
              </a:rPr>
              <a:t>Luis Navarro</a:t>
            </a:r>
          </a:p>
        </p:txBody>
      </p:sp>
      <p:sp>
        <p:nvSpPr>
          <p:cNvPr id="6" name="TextBox 5">
            <a:extLst>
              <a:ext uri="{FF2B5EF4-FFF2-40B4-BE49-F238E27FC236}">
                <a16:creationId xmlns:a16="http://schemas.microsoft.com/office/drawing/2014/main" id="{F8B69257-E43E-F056-0981-6299885388AA}"/>
              </a:ext>
            </a:extLst>
          </p:cNvPr>
          <p:cNvSpPr txBox="1"/>
          <p:nvPr/>
        </p:nvSpPr>
        <p:spPr>
          <a:xfrm>
            <a:off x="4034217" y="2649458"/>
            <a:ext cx="1848571" cy="308346"/>
          </a:xfrm>
          <a:prstGeom prst="rect">
            <a:avLst/>
          </a:prstGeom>
          <a:noFill/>
        </p:spPr>
        <p:txBody>
          <a:bodyPr rot="0" spcFirstLastPara="0" vertOverflow="overflow" horzOverflow="overflow" vert="horz" wrap="square" lIns="61524" tIns="30762" rIns="61524" bIns="30762" numCol="1" spcCol="0" rtlCol="0" fromWordArt="0" anchor="t" anchorCtr="0" forceAA="0" compatLnSpc="1">
            <a:prstTxWarp prst="textNoShape">
              <a:avLst/>
            </a:prstTxWarp>
            <a:spAutoFit/>
          </a:bodyPr>
          <a:lstStyle/>
          <a:p>
            <a:pPr algn="r"/>
            <a:r>
              <a:rPr lang="en-US" sz="800" dirty="0">
                <a:solidFill>
                  <a:schemeClr val="bg1"/>
                </a:solidFill>
                <a:cs typeface="Arial"/>
              </a:rPr>
              <a:t>Practice Presentation</a:t>
            </a:r>
          </a:p>
          <a:p>
            <a:pPr algn="r"/>
            <a:r>
              <a:rPr lang="en-US" sz="800" dirty="0">
                <a:solidFill>
                  <a:schemeClr val="bg1"/>
                </a:solidFill>
                <a:cs typeface="Arial"/>
              </a:rPr>
              <a:t>August 2024</a:t>
            </a:r>
          </a:p>
        </p:txBody>
      </p:sp>
    </p:spTree>
    <p:extLst>
      <p:ext uri="{BB962C8B-B14F-4D97-AF65-F5344CB8AC3E}">
        <p14:creationId xmlns:p14="http://schemas.microsoft.com/office/powerpoint/2010/main" val="2155052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12172</TotalTime>
  <Words>8250</Words>
  <Application>Microsoft Macintosh PowerPoint</Application>
  <PresentationFormat>Custom</PresentationFormat>
  <Paragraphs>1136</Paragraphs>
  <Slides>84</Slides>
  <Notes>39</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84</vt:i4>
      </vt:variant>
    </vt:vector>
  </HeadingPairs>
  <TitlesOfParts>
    <vt:vector size="93" baseType="lpstr">
      <vt:lpstr>Aptos</vt:lpstr>
      <vt:lpstr>Arial</vt:lpstr>
      <vt:lpstr>Cambria</vt:lpstr>
      <vt:lpstr>Cambria Math</vt:lpstr>
      <vt:lpstr>Georgia</vt:lpstr>
      <vt:lpstr>Palatino Linotype</vt:lpstr>
      <vt:lpstr>Tahoma</vt:lpstr>
      <vt:lpstr>Times New Roman</vt:lpstr>
      <vt:lpstr>Office Theme</vt:lpstr>
      <vt:lpstr>Cash Reserves and Short-Term Debt Under Liquidity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Theoretical Model</vt:lpstr>
      <vt:lpstr>PowerPoint Presentation</vt:lpstr>
      <vt:lpstr>PowerPoint Presentation</vt:lpstr>
      <vt:lpstr>Instrument Validity</vt:lpstr>
      <vt:lpstr>PowerPoint Presentation</vt:lpstr>
      <vt:lpstr>PowerPoint Presentation</vt:lpstr>
      <vt:lpstr>PowerPoint Presentation</vt:lpstr>
      <vt:lpstr>PowerPoint Presentation</vt:lpstr>
      <vt:lpstr>Robustness Checks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Cash Reserves and Short-Term Debt Under Liquidity Constraints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Assistance and Municipal Borrowing: Unpacking the effects of the CARES Act on Government Liquidity Management</dc:title>
  <dc:creator>Luis Navarro</dc:creator>
  <cp:lastModifiedBy>Navarro Ulloa, Luis Enrique</cp:lastModifiedBy>
  <cp:revision>32</cp:revision>
  <dcterms:created xsi:type="dcterms:W3CDTF">2024-07-10T04:16:11Z</dcterms:created>
  <dcterms:modified xsi:type="dcterms:W3CDTF">2024-10-09T15:53:37Z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2024-07-10T00:00:00Z</vt:filetime>
  </property>
  <property fmtid="{D5CDD505-2E9C-101B-9397-08002B2CF9AE}" pid="3" name="Creator">
    <vt:lpwstr>LaTeX with Beamer class</vt:lpwstr>
  </property>
  <property fmtid="{D5CDD505-2E9C-101B-9397-08002B2CF9AE}" pid="4" name="LastSaved">
    <vt:filetime>2024-07-10T00:00:00Z</vt:filetime>
  </property>
  <property fmtid="{D5CDD505-2E9C-101B-9397-08002B2CF9AE}" pid="5" name="PTEX.Fullbanner">
    <vt:lpwstr>This is pdfTeX, Version 3.141592653-2.6-1.40.23 (TeX Live 2021) kpathsea version 6.3.3</vt:lpwstr>
  </property>
  <property fmtid="{D5CDD505-2E9C-101B-9397-08002B2CF9AE}" pid="6" name="Producer">
    <vt:lpwstr>pdfTeX-1.40.23</vt:lpwstr>
  </property>
</Properties>
</file>